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7F8F"/>
    <a:srgbClr val="1DCAE1"/>
    <a:srgbClr val="18A9BC"/>
    <a:srgbClr val="468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044"/>
                </a:solidFill>
                <a:latin typeface="Arial"/>
              </a:defRPr>
            </a:pPr>
            <a:r>
              <a:rPr lang="pl-PL" sz="1100" b="0" i="0" u="none" strike="noStrike">
                <a:solidFill>
                  <a:srgbClr val="0F2044"/>
                </a:solidFill>
                <a:latin typeface="Arial"/>
              </a:rPr>
              <a:t>Efektywność komunikacji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Wskaźnik transferu informacji</c:v>
                </c:pt>
              </c:strCache>
            </c:strRef>
          </c:tx>
          <c:spPr>
            <a:solidFill>
              <a:srgbClr val="5E7A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E18-42F6-BBD1-DE4AB2BD1507}"/>
              </c:ext>
            </c:extLst>
          </c:dPt>
          <c:dPt>
            <c:idx val="1"/>
            <c:invertIfNegative val="0"/>
            <c:bubble3D val="0"/>
            <c:spPr>
              <a:solidFill>
                <a:srgbClr val="0D7F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18-42F6-BBD1-DE4AB2BD1507}"/>
              </c:ext>
            </c:extLst>
          </c:dPt>
          <c:dPt>
            <c:idx val="2"/>
            <c:invertIfNegative val="0"/>
            <c:bubble3D val="0"/>
            <c:spPr>
              <a:solidFill>
                <a:srgbClr val="C039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E18-42F6-BBD1-DE4AB2BD15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2044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NT↔NT</c:v>
                </c:pt>
                <c:pt idx="1">
                  <c:v>A↔A</c:v>
                </c:pt>
                <c:pt idx="2">
                  <c:v>NT↔A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68</c:v>
                </c:pt>
                <c:pt idx="2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18-42F6-BBD1-DE4AB2BD15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5166"/>
                </a:solidFill>
                <a:latin typeface="Arial"/>
              </a:defRPr>
            </a:pPr>
            <a:endParaRPr lang="pl-P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5166"/>
                </a:solidFill>
                <a:latin typeface="Arial"/>
              </a:defRPr>
            </a:pPr>
            <a:endParaRPr lang="pl-P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25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2739" y="4846638"/>
            <a:ext cx="924099" cy="2286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800"/>
            </a:lvl1pPr>
            <a:lvl2pPr marL="457200" indent="0" algn="r">
              <a:buNone/>
              <a:defRPr sz="800"/>
            </a:lvl2pPr>
            <a:lvl3pPr marL="914400" indent="0" algn="r">
              <a:buNone/>
              <a:defRPr sz="800"/>
            </a:lvl3pPr>
            <a:lvl4pPr marL="1371600" indent="0" algn="r">
              <a:buNone/>
              <a:defRPr sz="800"/>
            </a:lvl4pPr>
            <a:lvl5pPr marL="1828800" indent="0" algn="r">
              <a:buNone/>
              <a:defRPr sz="800"/>
            </a:lvl5pPr>
          </a:lstStyle>
          <a:p>
            <a:pPr lvl="0"/>
            <a:r>
              <a:rPr lang="pl-PL" dirty="0" smtClean="0"/>
              <a:t>&lt;#&gt;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l-PL" dirty="0" smtClean="0"/>
              <a:t>Kliknij, aby edytować styl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2739" y="4846638"/>
            <a:ext cx="924099" cy="228600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800"/>
            </a:lvl1pPr>
            <a:lvl2pPr marL="457200" indent="0" algn="r">
              <a:buNone/>
              <a:defRPr sz="800"/>
            </a:lvl2pPr>
            <a:lvl3pPr marL="914400" indent="0" algn="r">
              <a:buNone/>
              <a:defRPr sz="800"/>
            </a:lvl3pPr>
            <a:lvl4pPr marL="1371600" indent="0" algn="r">
              <a:buNone/>
              <a:defRPr sz="800"/>
            </a:lvl4pPr>
            <a:lvl5pPr marL="1828800" indent="0" algn="r">
              <a:buNone/>
              <a:defRPr sz="800"/>
            </a:lvl5pPr>
          </a:lstStyle>
          <a:p>
            <a:pPr lvl="0"/>
            <a:r>
              <a:rPr lang="pl-PL" dirty="0" smtClean="0"/>
              <a:t>&lt;#&gt;</a:t>
            </a:r>
          </a:p>
        </p:txBody>
      </p:sp>
    </p:spTree>
    <p:extLst>
      <p:ext uri="{BB962C8B-B14F-4D97-AF65-F5344CB8AC3E}">
        <p14:creationId xmlns:p14="http://schemas.microsoft.com/office/powerpoint/2010/main" val="200700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660"/>
          </a:solidFill>
          <a:ln w="12700">
            <a:solidFill>
              <a:srgbClr val="1A366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7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 smtClean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</a:t>
            </a:r>
            <a:r>
              <a:rPr lang="pl-PL" sz="1000" i="1" dirty="0" err="1" smtClean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róznorodność</a:t>
            </a:r>
            <a:r>
              <a:rPr lang="en-US" sz="1000" i="1" dirty="0" smtClean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i="1" dirty="0" err="1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Psychologia</a:t>
            </a:r>
            <a:r>
              <a:rPr lang="en-US" sz="1000" i="1" dirty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00" i="1" dirty="0" smtClean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000" i="1" dirty="0" err="1" smtClean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liniczna</a:t>
            </a:r>
            <a:r>
              <a:rPr lang="en-US" sz="1000" i="1" dirty="0" smtClean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Neuropsychologia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</a:t>
            </a: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Podwójnej Empatii</a:t>
            </a:r>
            <a:endParaRPr lang="en-US" sz="3600" dirty="0">
              <a:solidFill>
                <a:schemeClr val="accent6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2013242"/>
            <a:ext cx="59896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Empathy </a:t>
            </a:r>
            <a:r>
              <a:rPr lang="en-US" sz="1400" i="1" dirty="0" smtClean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400" i="1" dirty="0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err="1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rewizja</a:t>
            </a:r>
            <a:r>
              <a:rPr lang="en-US" sz="1400" i="1" dirty="0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założeń, nowe dowody, implikacje kliniczne</a:t>
            </a:r>
            <a:endParaRPr lang="en-US" sz="1400" i="1" dirty="0"/>
          </a:p>
        </p:txBody>
      </p:sp>
      <p:sp>
        <p:nvSpPr>
          <p:cNvPr id="8" name="Text 5"/>
          <p:cNvSpPr/>
          <p:nvPr/>
        </p:nvSpPr>
        <p:spPr>
          <a:xfrm>
            <a:off x="182880" y="460629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Damian Milton (2012) · Crompton et al. (2020) · Cameron &amp; Slessor (2021)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2560320"/>
            <a:ext cx="2560320" cy="2560320"/>
          </a:xfrm>
          <a:prstGeom prst="ellipse">
            <a:avLst/>
          </a:prstGeom>
          <a:solidFill>
            <a:srgbClr val="0D7F8F">
              <a:alpha val="12000"/>
            </a:srgbClr>
          </a:solidFill>
          <a:ln w="12700">
            <a:solidFill>
              <a:srgbClr val="0D7F8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0" y="1645920"/>
            <a:ext cx="1645920" cy="1645920"/>
          </a:xfrm>
          <a:prstGeom prst="ellipse">
            <a:avLst/>
          </a:prstGeom>
          <a:solidFill>
            <a:srgbClr val="18A9BC">
              <a:alpha val="8000"/>
            </a:srgbClr>
          </a:solidFill>
          <a:ln w="12700">
            <a:solidFill>
              <a:srgbClr val="18A9BC">
                <a:alpha val="30000"/>
              </a:srgbClr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182880" y="4013054"/>
            <a:ext cx="2528085" cy="374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400" dirty="0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</a:t>
            </a:r>
            <a:r>
              <a:rPr lang="pl-PL" sz="14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pl-PL" sz="1400" dirty="0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omianek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a 22"/>
          <p:cNvGrpSpPr/>
          <p:nvPr/>
        </p:nvGrpSpPr>
        <p:grpSpPr>
          <a:xfrm>
            <a:off x="0" y="0"/>
            <a:ext cx="2498206" cy="5143500"/>
            <a:chOff x="0" y="0"/>
            <a:chExt cx="3017520" cy="51435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3017520" cy="5143500"/>
            </a:xfrm>
            <a:prstGeom prst="rect">
              <a:avLst/>
            </a:prstGeom>
            <a:solidFill>
              <a:srgbClr val="1A3660"/>
            </a:solidFill>
            <a:ln w="12700">
              <a:solidFill>
                <a:srgbClr val="1A3660"/>
              </a:solidFill>
              <a:prstDash val="solid"/>
            </a:ln>
          </p:spPr>
          <p:txBody>
            <a:bodyPr/>
            <a:lstStyle/>
            <a:p>
              <a:endParaRPr lang="pl-PL" dirty="0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413" y="621792"/>
              <a:ext cx="1092694" cy="91440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82880" y="1691640"/>
              <a:ext cx="265176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Paradygmat</a:t>
              </a:r>
              <a:endParaRPr lang="en-US" sz="2800" dirty="0"/>
            </a:p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Deficytu</a:t>
              </a:r>
              <a:endParaRPr lang="en-US" sz="28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82879" y="2884932"/>
              <a:ext cx="265176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pl-PL" sz="1400" dirty="0" smtClean="0">
                  <a:solidFill>
                    <a:srgbClr val="A8C4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Dominujące ujęcie</a:t>
              </a:r>
              <a:endParaRPr lang="pl-PL" sz="1400" dirty="0" smtClean="0"/>
            </a:p>
            <a:p>
              <a:pPr marL="0" indent="0" algn="ctr">
                <a:buNone/>
              </a:pPr>
              <a:r>
                <a:rPr lang="pl-PL" sz="1400" dirty="0" smtClean="0">
                  <a:solidFill>
                    <a:srgbClr val="A8C4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autyzmu</a:t>
              </a:r>
              <a:endParaRPr lang="pl-PL" sz="1400" dirty="0" smtClean="0"/>
            </a:p>
            <a:p>
              <a:pPr marL="0" indent="0" algn="ctr">
                <a:buNone/>
              </a:pPr>
              <a:r>
                <a:rPr lang="pl-PL" sz="1400" dirty="0" smtClean="0">
                  <a:solidFill>
                    <a:srgbClr val="A8C4D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przed 2012 rokiem</a:t>
              </a:r>
              <a:endParaRPr lang="pl-PL" sz="1400" dirty="0"/>
            </a:p>
          </p:txBody>
        </p:sp>
      </p:grpSp>
      <p:sp>
        <p:nvSpPr>
          <p:cNvPr id="6" name="Shape 3"/>
          <p:cNvSpPr/>
          <p:nvPr/>
        </p:nvSpPr>
        <p:spPr>
          <a:xfrm>
            <a:off x="2689860" y="242316"/>
            <a:ext cx="2560320" cy="256032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89860" y="2423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KONTEKST HISTORYCZNY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689860" y="594360"/>
            <a:ext cx="61798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Tradycyjne modele teorii umysłu w ASD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689860" y="150876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89860" y="1508760"/>
            <a:ext cx="2011680" cy="54864"/>
          </a:xfrm>
          <a:prstGeom prst="rect">
            <a:avLst/>
          </a:prstGeom>
          <a:solidFill>
            <a:srgbClr val="C0394B"/>
          </a:solidFill>
          <a:ln w="12700">
            <a:solidFill>
              <a:srgbClr val="C039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99588" y="160020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Baron-Cohen</a:t>
            </a:r>
            <a:endParaRPr lang="pl-PL" sz="1400" dirty="0" smtClean="0"/>
          </a:p>
          <a:p>
            <a:pPr marL="0" indent="0" algn="ctr">
              <a:buNone/>
            </a:pPr>
            <a:r>
              <a:rPr lang="pl-PL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(1985)</a:t>
            </a:r>
            <a:endParaRPr lang="pl-PL" sz="1400" dirty="0"/>
          </a:p>
        </p:txBody>
      </p:sp>
      <p:sp>
        <p:nvSpPr>
          <p:cNvPr id="12" name="Text 9"/>
          <p:cNvSpPr/>
          <p:nvPr/>
        </p:nvSpPr>
        <p:spPr>
          <a:xfrm>
            <a:off x="2746248" y="2267712"/>
            <a:ext cx="1932432" cy="1031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l-PL" sz="1200" spc="-4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fałszywych przekonań, dzieci z ASD „nie przechodzą” zadania </a:t>
            </a:r>
            <a:r>
              <a:rPr lang="pl-PL" sz="1200" spc="-4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Sally-Anne</a:t>
            </a:r>
            <a:r>
              <a:rPr lang="pl-PL" sz="1200" spc="-4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Wniosek: deficyt </a:t>
            </a:r>
            <a:r>
              <a:rPr lang="pl-PL" sz="1200" spc="-4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r>
              <a:rPr lang="pl-PL" sz="1200" spc="-4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l-PL" sz="1200" spc="-40" dirty="0"/>
          </a:p>
        </p:txBody>
      </p:sp>
      <p:sp>
        <p:nvSpPr>
          <p:cNvPr id="13" name="Shape 10"/>
          <p:cNvSpPr/>
          <p:nvPr/>
        </p:nvSpPr>
        <p:spPr>
          <a:xfrm>
            <a:off x="4838700" y="150876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38700" y="1508760"/>
            <a:ext cx="2011680" cy="54864"/>
          </a:xfrm>
          <a:prstGeom prst="rect">
            <a:avLst/>
          </a:prstGeom>
          <a:solidFill>
            <a:srgbClr val="C0394B"/>
          </a:solidFill>
          <a:ln w="12700">
            <a:solidFill>
              <a:srgbClr val="C039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48428" y="160020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"Ślepota na umysł"</a:t>
            </a:r>
            <a:endParaRPr lang="pl-PL" sz="1400" dirty="0" smtClean="0"/>
          </a:p>
          <a:p>
            <a:pPr marL="0" indent="0" algn="ctr">
              <a:buNone/>
            </a:pPr>
            <a:r>
              <a:rPr lang="pl-PL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pl-PL" sz="1400" b="1" dirty="0" err="1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mindblindness</a:t>
            </a:r>
            <a:r>
              <a:rPr lang="pl-PL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pl-PL" sz="1400" dirty="0"/>
          </a:p>
        </p:txBody>
      </p:sp>
      <p:sp>
        <p:nvSpPr>
          <p:cNvPr id="16" name="Text 13"/>
          <p:cNvSpPr/>
          <p:nvPr/>
        </p:nvSpPr>
        <p:spPr>
          <a:xfrm>
            <a:off x="4902708" y="2267712"/>
            <a:ext cx="1894332" cy="1031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l-PL" sz="1200" spc="-4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Autyzm jako wrodzona niezdolność do modelowania stanów mentalnych innych.</a:t>
            </a:r>
            <a:endParaRPr lang="pl-PL" sz="1200" spc="-40" dirty="0"/>
          </a:p>
        </p:txBody>
      </p:sp>
      <p:sp>
        <p:nvSpPr>
          <p:cNvPr id="17" name="Shape 14"/>
          <p:cNvSpPr/>
          <p:nvPr/>
        </p:nvSpPr>
        <p:spPr>
          <a:xfrm>
            <a:off x="6987540" y="150876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87540" y="1508760"/>
            <a:ext cx="2011680" cy="54864"/>
          </a:xfrm>
          <a:prstGeom prst="rect">
            <a:avLst/>
          </a:prstGeom>
          <a:solidFill>
            <a:srgbClr val="C0394B"/>
          </a:solidFill>
          <a:ln w="12700">
            <a:solidFill>
              <a:srgbClr val="C039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97268" y="160020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Konsekwencja</a:t>
            </a:r>
            <a:endParaRPr lang="pl-PL" sz="1400" dirty="0" smtClean="0"/>
          </a:p>
          <a:p>
            <a:pPr marL="0" indent="0" algn="ctr">
              <a:buNone/>
            </a:pPr>
            <a:r>
              <a:rPr lang="pl-PL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kliniczna</a:t>
            </a:r>
            <a:endParaRPr lang="pl-PL" sz="1400" dirty="0"/>
          </a:p>
        </p:txBody>
      </p:sp>
      <p:sp>
        <p:nvSpPr>
          <p:cNvPr id="20" name="Text 17"/>
          <p:cNvSpPr/>
          <p:nvPr/>
        </p:nvSpPr>
        <p:spPr>
          <a:xfrm>
            <a:off x="7059167" y="2267712"/>
            <a:ext cx="1884055" cy="1031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l-PL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Trudności społeczne osób autystycznych = deficyt patologii jednostki, nie różnica między osobami.</a:t>
            </a:r>
            <a:endParaRPr lang="pl-PL" sz="1200" dirty="0"/>
          </a:p>
        </p:txBody>
      </p:sp>
      <p:sp>
        <p:nvSpPr>
          <p:cNvPr id="21" name="Shape 18"/>
          <p:cNvSpPr/>
          <p:nvPr/>
        </p:nvSpPr>
        <p:spPr>
          <a:xfrm>
            <a:off x="2689860" y="4023360"/>
            <a:ext cx="6309360" cy="822960"/>
          </a:xfrm>
          <a:prstGeom prst="rect">
            <a:avLst/>
          </a:prstGeom>
          <a:solidFill>
            <a:srgbClr val="D4F1F5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63286" y="4069080"/>
            <a:ext cx="617993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</a:t>
            </a:r>
            <a:r>
              <a:rPr lang="en-US" sz="1400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ignoruje perspektywę neurotypowych jako równie </a:t>
            </a:r>
            <a:r>
              <a:rPr lang="en-US" sz="1400" dirty="0" err="1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ograniczoną</a:t>
            </a: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rozumieniu </a:t>
            </a:r>
            <a:r>
              <a:rPr lang="en-US" sz="1400" dirty="0" err="1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</a:t>
            </a: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autystycznych</a:t>
            </a:r>
            <a:r>
              <a:rPr lang="en-US" sz="1400" dirty="0" smtClean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 </a:t>
            </a: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stało się punktem wyjścia dla Miltona (2012).</a:t>
            </a:r>
            <a:endParaRPr lang="en-US" sz="1400" dirty="0"/>
          </a:p>
        </p:txBody>
      </p:sp>
      <p:sp>
        <p:nvSpPr>
          <p:cNvPr id="24" name="Symbol zastępczy tekstu 2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C165082-1FA1-4557-8ECF-936AEEBBDD3C}" type="slidenum">
              <a:rPr lang="pl-PL" smtClean="0"/>
              <a:t>2</a:t>
            </a:fld>
            <a:endParaRPr lang="pl-P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548640"/>
            <a:ext cx="4114800" cy="4114800"/>
          </a:xfrm>
          <a:prstGeom prst="ellipse">
            <a:avLst/>
          </a:prstGeom>
          <a:solidFill>
            <a:srgbClr val="0D7F8F">
              <a:alpha val="12000"/>
            </a:srgbClr>
          </a:solidFill>
          <a:ln w="12700">
            <a:solidFill>
              <a:srgbClr val="0D7F8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0" cy="256032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DEFINICJA KLUCZOWA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</a:t>
            </a: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Podwójnej Empatii</a:t>
            </a:r>
            <a:endParaRPr lang="en-US" sz="3000" dirty="0">
              <a:solidFill>
                <a:schemeClr val="accent6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8321040" cy="1371600"/>
          </a:xfrm>
          <a:prstGeom prst="rect">
            <a:avLst/>
          </a:prstGeom>
          <a:solidFill>
            <a:srgbClr val="1A3660"/>
          </a:solidFill>
          <a:ln w="19050">
            <a:solidFill>
              <a:srgbClr val="0D7F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17320"/>
            <a:ext cx="109728" cy="1371600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790956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600" i="1" dirty="0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"Trudności w interakcjach społecznych między osobami autystycznymi, a neurotypowymi wynikają ze </a:t>
            </a:r>
            <a:r>
              <a:rPr lang="pl-PL" sz="1600" b="1" i="1" dirty="0" smtClean="0">
                <a:solidFill>
                  <a:srgbClr val="1D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wzajemnych</a:t>
            </a:r>
            <a:r>
              <a:rPr lang="pl-PL" sz="1600" i="1" dirty="0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problemów ze zrozumieniem oraz różnic w habituacji i socjalizacji, </a:t>
            </a:r>
            <a:br>
              <a:rPr lang="pl-PL" sz="1600" i="1" dirty="0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600" i="1" dirty="0" smtClean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nie z patologii charakterystycznej wyłącznie dla jednej strony."</a:t>
            </a:r>
            <a:endParaRPr lang="pl-PL" sz="1600" dirty="0"/>
          </a:p>
        </p:txBody>
      </p:sp>
      <p:sp>
        <p:nvSpPr>
          <p:cNvPr id="9" name="Text 7"/>
          <p:cNvSpPr/>
          <p:nvPr/>
        </p:nvSpPr>
        <p:spPr>
          <a:xfrm>
            <a:off x="5379720" y="2436876"/>
            <a:ext cx="30556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Damian Milton, Disability &amp; Society, 2012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3017520"/>
            <a:ext cx="2724912" cy="1810512"/>
          </a:xfrm>
          <a:prstGeom prst="rect">
            <a:avLst/>
          </a:prstGeom>
          <a:solidFill>
            <a:srgbClr val="1A3660"/>
          </a:solidFill>
          <a:ln w="9525">
            <a:solidFill>
              <a:srgbClr val="0D7F8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2724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3272" y="3127248"/>
            <a:ext cx="2011680" cy="411480"/>
          </a:xfrm>
          <a:prstGeom prst="rect">
            <a:avLst/>
          </a:prstGeom>
          <a:noFill/>
          <a:ln/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Wzajemność</a:t>
            </a:r>
            <a:endParaRPr lang="en-US" dirty="0">
              <a:solidFill>
                <a:srgbClr val="1DCAE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1208" y="3611880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6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dotyczy OBU stron, zarówno autystycznej, </a:t>
            </a:r>
          </a:p>
          <a:p>
            <a:pPr marL="0" indent="0">
              <a:buNone/>
            </a:pPr>
            <a:r>
              <a:rPr lang="pl-PL" sz="16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i neurotypowej.</a:t>
            </a:r>
            <a:endParaRPr lang="pl-PL" sz="1600" dirty="0"/>
          </a:p>
        </p:txBody>
      </p:sp>
      <p:sp>
        <p:nvSpPr>
          <p:cNvPr id="14" name="Shape 11"/>
          <p:cNvSpPr/>
          <p:nvPr/>
        </p:nvSpPr>
        <p:spPr>
          <a:xfrm>
            <a:off x="3246120" y="3017520"/>
            <a:ext cx="2724912" cy="1810512"/>
          </a:xfrm>
          <a:prstGeom prst="rect">
            <a:avLst/>
          </a:prstGeom>
          <a:solidFill>
            <a:srgbClr val="1A3660"/>
          </a:solidFill>
          <a:ln w="9525">
            <a:solidFill>
              <a:srgbClr val="0D7F8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12724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67912" y="3127248"/>
            <a:ext cx="2011680" cy="411480"/>
          </a:xfrm>
          <a:prstGeom prst="rect">
            <a:avLst/>
          </a:prstGeom>
          <a:noFill/>
          <a:ln/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Habituacja</a:t>
            </a:r>
            <a:endParaRPr lang="en-US" dirty="0">
              <a:solidFill>
                <a:srgbClr val="1DCAE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3355848" y="3611880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6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Trudności są efektem odmiennych doświadczeń socjalizacyjnych, nie wrodzonego deficytu.</a:t>
            </a:r>
            <a:endParaRPr lang="pl-PL" sz="1600" dirty="0"/>
          </a:p>
        </p:txBody>
      </p:sp>
      <p:sp>
        <p:nvSpPr>
          <p:cNvPr id="18" name="Shape 14"/>
          <p:cNvSpPr/>
          <p:nvPr/>
        </p:nvSpPr>
        <p:spPr>
          <a:xfrm>
            <a:off x="6080760" y="3017520"/>
            <a:ext cx="2724912" cy="1810512"/>
          </a:xfrm>
          <a:prstGeom prst="rect">
            <a:avLst/>
          </a:prstGeom>
          <a:solidFill>
            <a:srgbClr val="1A3660"/>
          </a:solidFill>
          <a:ln w="9525">
            <a:solidFill>
              <a:srgbClr val="0D7F8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12724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02552" y="3127248"/>
            <a:ext cx="2011680" cy="411480"/>
          </a:xfrm>
          <a:prstGeom prst="rect">
            <a:avLst/>
          </a:prstGeom>
          <a:noFill/>
          <a:ln/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Reframing</a:t>
            </a:r>
            <a:endParaRPr lang="en-US" dirty="0">
              <a:solidFill>
                <a:srgbClr val="1DCAE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6190488" y="3611880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6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 ≠ niedobór. </a:t>
            </a:r>
          </a:p>
          <a:p>
            <a:pPr marL="0" indent="0">
              <a:buNone/>
            </a:pPr>
            <a:r>
              <a:rPr lang="pl-PL" sz="16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Inny styl komunikacji </a:t>
            </a:r>
          </a:p>
          <a:p>
            <a:pPr marL="0" indent="0">
              <a:buNone/>
            </a:pPr>
            <a:r>
              <a:rPr lang="pl-PL" sz="16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patologia.</a:t>
            </a:r>
            <a:endParaRPr lang="pl-PL" sz="1600" dirty="0"/>
          </a:p>
        </p:txBody>
      </p:sp>
      <p:sp>
        <p:nvSpPr>
          <p:cNvPr id="22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062739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>
                <a:solidFill>
                  <a:schemeClr val="bg1"/>
                </a:solidFill>
              </a:rPr>
              <a:t>3</a:t>
            </a:fld>
            <a:endParaRPr lang="pl-P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DOWODY EMPIRYCZNE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Badania potwierdzające hipotezę DEP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188720"/>
          <a:ext cx="4023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11479" y="4306824"/>
            <a:ext cx="40198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Crompton, Sharp, Axbey, Fletcher-Watson et al. (2020). Autism.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80060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00600" y="1188720"/>
            <a:ext cx="91440" cy="1005840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6048" y="1252728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Crompton et al. (2020)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56048" y="1527048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Trójstronne badanie łańcucha telefonicznego: pary NT-NT, A-A, NT-A. Pary A↔A dorównywały efektywnością NT-NT. Mieszane pary wykazywały istotne obniżenie transferu informacji.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231343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313432"/>
            <a:ext cx="91440" cy="1005840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56048" y="2377440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Mitchell, Sheppard &amp; Cassidy (2021)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56048" y="2651760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Meta-analiza 87 badań: brak potwierdzenia globalnego deficytu </a:t>
            </a:r>
            <a:r>
              <a:rPr lang="en-US" sz="105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</a:t>
            </a: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 autystycznych. Wyniki zależne od kontekstu </a:t>
            </a:r>
            <a:r>
              <a:rPr lang="en-US" sz="105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społecznego</a:t>
            </a: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5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znajomości rozmówcy.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00600" y="3438144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3438144"/>
            <a:ext cx="91440" cy="1005840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56048" y="350215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Murray, Milton &amp; Spoor (2021)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56048" y="3776472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Badania nagrań interakcji: sędziowie neurotypowi oceniali </a:t>
            </a:r>
            <a:r>
              <a:rPr lang="en-US" sz="105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pary</a:t>
            </a: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5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5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NT-NT </a:t>
            </a:r>
            <a:r>
              <a:rPr lang="en-US" sz="105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5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A-A jako równie </a:t>
            </a:r>
            <a:r>
              <a:rPr lang="en-US" sz="105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kompetentne</a:t>
            </a: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społecznie</a:t>
            </a:r>
            <a:r>
              <a:rPr lang="en-US" sz="105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</a:t>
            </a:r>
            <a:r>
              <a:rPr lang="en-US" sz="105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pojawiała się tylko w parach mieszanych.</a:t>
            </a:r>
            <a:endParaRPr lang="en-US" sz="1050" dirty="0"/>
          </a:p>
        </p:txBody>
      </p:sp>
      <p:sp>
        <p:nvSpPr>
          <p:cNvPr id="19" name="Text 7"/>
          <p:cNvSpPr/>
          <p:nvPr/>
        </p:nvSpPr>
        <p:spPr>
          <a:xfrm>
            <a:off x="3015913" y="1606296"/>
            <a:ext cx="1415416" cy="28679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l-PL" sz="1000" i="1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NT- osoby neurotypowe</a:t>
            </a:r>
          </a:p>
          <a:p>
            <a:pPr marL="0" indent="0" algn="r">
              <a:buNone/>
            </a:pPr>
            <a:r>
              <a:rPr lang="pl-PL" sz="1000" i="1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osoby autystyczne</a:t>
            </a:r>
            <a:endParaRPr lang="en-US" sz="1000" i="1" dirty="0"/>
          </a:p>
        </p:txBody>
      </p:sp>
      <p:sp>
        <p:nvSpPr>
          <p:cNvPr id="20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062739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/>
              <a:t>4</a:t>
            </a:fld>
            <a:endParaRPr lang="pl-P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0" cy="256032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HOMOFILIA KOMUNIKACYJNA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98180" cy="49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Efektywność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komunikacji</a:t>
            </a:r>
            <a:r>
              <a:rPr lang="pl-PL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</a:t>
            </a: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podobieństwo neurotypu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377440" cy="2377440"/>
          </a:xfrm>
          <a:prstGeom prst="ellipse">
            <a:avLst/>
          </a:prstGeom>
          <a:solidFill>
            <a:srgbClr val="5E7A96"/>
          </a:solidFill>
          <a:ln w="25400">
            <a:solidFill>
              <a:srgbClr val="7FA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</a:t>
            </a:r>
            <a:r>
              <a:rPr lang="pl-PL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r>
              <a:rPr lang="pl-PL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8A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efektywności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83280" y="1487708"/>
            <a:ext cx="2307051" cy="2307051"/>
          </a:xfrm>
          <a:prstGeom prst="ellipse">
            <a:avLst/>
          </a:prstGeom>
          <a:solidFill>
            <a:srgbClr val="0D7F8F"/>
          </a:solidFill>
          <a:ln w="25400">
            <a:solidFill>
              <a:srgbClr val="18A9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17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pl-PL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r>
              <a:rPr lang="pl-PL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3886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efektywności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591574" y="1742292"/>
            <a:ext cx="1848536" cy="1848536"/>
          </a:xfrm>
          <a:prstGeom prst="ellipse">
            <a:avLst/>
          </a:prstGeom>
          <a:solidFill>
            <a:srgbClr val="C0394B"/>
          </a:solidFill>
          <a:ln w="25400">
            <a:solidFill>
              <a:srgbClr val="E877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17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</a:t>
            </a:r>
            <a:r>
              <a:rPr lang="pl-PL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r>
              <a:rPr lang="pl-PL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3886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E87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efektywności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3840" y="4617720"/>
            <a:ext cx="8602980" cy="365760"/>
          </a:xfrm>
          <a:prstGeom prst="rect">
            <a:avLst/>
          </a:prstGeom>
          <a:solidFill>
            <a:srgbClr val="1A3660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323" y="4645152"/>
            <a:ext cx="84611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200" b="1" dirty="0" smtClean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Osoby autystyczne wykazują pełną efektywność komunikacyjną, lecz wyłącznie w interakcjach z osobami o podobnym </a:t>
            </a:r>
            <a:r>
              <a:rPr lang="pl-PL" sz="1200" b="1" dirty="0" err="1" smtClean="0">
                <a:solidFill>
                  <a:srgbClr val="18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neurotypie</a:t>
            </a:r>
            <a:endParaRPr lang="pl-PL" sz="1200" dirty="0"/>
          </a:p>
        </p:txBody>
      </p:sp>
      <p:sp>
        <p:nvSpPr>
          <p:cNvPr id="16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161415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>
                <a:solidFill>
                  <a:schemeClr val="bg1"/>
                </a:solidFill>
              </a:rPr>
              <a:t>5</a:t>
            </a:fld>
            <a:endParaRPr lang="pl-P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F8F"/>
                </a:solidFill>
              </a:rPr>
              <a:t>IMPLIKACJE KLINICZNE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39122" y="347472"/>
            <a:ext cx="83933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Maskowanie </a:t>
            </a: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kamuflaż</a:t>
            </a:r>
            <a:r>
              <a:rPr lang="pl-PL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czyli jaka jest</a:t>
            </a: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 adaptacji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39122" y="116898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maskowanie?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3380" y="1541780"/>
            <a:ext cx="4348005" cy="1005840"/>
          </a:xfrm>
          <a:prstGeom prst="rect">
            <a:avLst/>
          </a:prstGeom>
          <a:noFill/>
          <a:ln/>
          <a:effectLst>
            <a:outerShdw blurRad="12700" dist="635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Maskowanie</a:t>
            </a:r>
            <a:r>
              <a:rPr lang="en-US" sz="1300" dirty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(ang. masking/camouflaging) to świadome lub nieświadome tłumienie autystycznych </a:t>
            </a:r>
            <a:r>
              <a:rPr lang="en-US" sz="1300" dirty="0" err="1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cech</a:t>
            </a:r>
            <a:r>
              <a:rPr lang="en-US" sz="1300" dirty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pl-PL" sz="1300" dirty="0" smtClean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naśladowanie</a:t>
            </a:r>
            <a:r>
              <a:rPr lang="en-US" sz="1300" dirty="0" smtClean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neurotypowych wzorców </a:t>
            </a:r>
            <a:r>
              <a:rPr lang="en-US" sz="1300" dirty="0" err="1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zachowania</a:t>
            </a:r>
            <a:r>
              <a:rPr lang="en-US" sz="1300" dirty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300" dirty="0">
                <a:solidFill>
                  <a:srgbClr val="0D7F8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celu uniknięcia stygmatyzacji lub odrzucenia społecznego.</a:t>
            </a:r>
            <a:endParaRPr lang="en-US" sz="1300" dirty="0">
              <a:solidFill>
                <a:srgbClr val="0D7F8F"/>
              </a:solidFill>
              <a:latin typeface="Candara" panose="020E0502030303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2724912"/>
            <a:ext cx="4023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724912"/>
            <a:ext cx="91440" cy="667512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523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Wyczerpanie poznawcze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Stałe monitorowanie i korygowanie własnych reakcji pochłania zasoby wykonawcze.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456432"/>
            <a:ext cx="4023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456432"/>
            <a:ext cx="91440" cy="667512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83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Opóźniona diagnoza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Zwłaszcza u kobiet i dziewcząt. Skuteczne maskowanie ukrywa symptomy przed klinicystami.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187952"/>
            <a:ext cx="4023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4187952"/>
            <a:ext cx="91440" cy="667512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153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Zdrowie psychiczne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462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Przewlekły stres maskowania → depresja, lęk, wypalenie autystyczne (autistic burnout).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7178" y="1155830"/>
            <a:ext cx="39641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Dane epidemiologiczne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68028" y="1627632"/>
            <a:ext cx="41159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59802" y="167335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080760" y="1627632"/>
            <a:ext cx="36576" cy="960120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1691640"/>
            <a:ext cx="2700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 autystycznych stosuje </a:t>
            </a:r>
            <a:r>
              <a:rPr lang="en-US" sz="16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maskowanie</a:t>
            </a:r>
            <a:r>
              <a:rPr lang="en-US" sz="16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 </a:t>
            </a:r>
            <a:r>
              <a:rPr lang="en-US" sz="16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 </a:t>
            </a:r>
            <a:r>
              <a:rPr lang="en-US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r>
              <a:rPr lang="en-US" sz="16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68028" y="2724912"/>
            <a:ext cx="411595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59802" y="277063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4–6×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080760" y="2724912"/>
            <a:ext cx="36576" cy="960120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788920"/>
            <a:ext cx="2700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wyższe ryzyko depresji u </a:t>
            </a:r>
            <a:r>
              <a:rPr lang="en-US" sz="16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</a:t>
            </a:r>
            <a:r>
              <a:rPr lang="en-US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autystycznych</a:t>
            </a:r>
            <a:r>
              <a:rPr lang="pl-PL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maskowaniem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68028" y="3822192"/>
            <a:ext cx="41159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59802" y="386791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lata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080760" y="3822192"/>
            <a:ext cx="36576" cy="960120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886200"/>
            <a:ext cx="2700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średnie opóźnienie </a:t>
            </a:r>
            <a:r>
              <a:rPr lang="en-US" sz="16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diagnozy</a:t>
            </a:r>
            <a:r>
              <a:rPr lang="en-US" sz="16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</a:t>
            </a:r>
            <a:r>
              <a:rPr lang="en-US" sz="16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</a:t>
            </a:r>
            <a:r>
              <a:rPr lang="pl-PL" sz="16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 względu na maskowanie</a:t>
            </a:r>
            <a:endParaRPr lang="en-US" sz="1600" dirty="0"/>
          </a:p>
        </p:txBody>
      </p:sp>
      <p:sp>
        <p:nvSpPr>
          <p:cNvPr id="32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062739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/>
              <a:t>6</a:t>
            </a:fld>
            <a:endParaRPr lang="pl-P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0" cy="256032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44"/>
                </a:solidFill>
              </a:rPr>
              <a:t>REWIZJA DIAGNOSTYCZNA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79"/>
            <a:ext cx="8732520" cy="820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Kwestionowanie </a:t>
            </a: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kanonicznego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modelu</a:t>
            </a:r>
            <a:r>
              <a:rPr lang="pl-PL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deficytu</a:t>
            </a:r>
            <a:r>
              <a:rPr lang="pl-PL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społecznego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719072"/>
            <a:ext cx="4005072" cy="3063240"/>
          </a:xfrm>
          <a:prstGeom prst="rect">
            <a:avLst/>
          </a:prstGeom>
          <a:solidFill>
            <a:srgbClr val="1A3660"/>
          </a:solidFill>
          <a:ln w="19050">
            <a:solidFill>
              <a:srgbClr val="C039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719072"/>
            <a:ext cx="4005072" cy="384048"/>
          </a:xfrm>
          <a:prstGeom prst="rect">
            <a:avLst/>
          </a:prstGeom>
          <a:solidFill>
            <a:srgbClr val="C0394B"/>
          </a:solidFill>
          <a:ln w="12700">
            <a:solidFill>
              <a:srgbClr val="C039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Stary paradygmat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39319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Deficyt ToM 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 cecha patologiczna osoby autystycznej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terapii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upodobnienie się do norm neurotypowych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Trudności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wynikiem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„braków” autystycznych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uwzględnienia 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asymetrii rozumienia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ABA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tłumienie </a:t>
            </a:r>
            <a:r>
              <a:rPr lang="en-US" sz="140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autystycznych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zachowań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(tragiczne w skutkach!)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18888" y="1719072"/>
            <a:ext cx="4005072" cy="3063240"/>
          </a:xfrm>
          <a:prstGeom prst="rect">
            <a:avLst/>
          </a:prstGeom>
          <a:solidFill>
            <a:srgbClr val="1A3660"/>
          </a:solidFill>
          <a:ln w="19050">
            <a:solidFill>
              <a:srgbClr val="0D7F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719072"/>
            <a:ext cx="4005072" cy="384048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71907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Paradygmat DEP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9243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40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Trudności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wzajemne, kontekstualne, relacyjne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Spektrum autyzmu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ą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neurobiologiczn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ą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deficyt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40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terapii</a:t>
            </a:r>
            <a:r>
              <a:rPr lang="pl-PL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</a:t>
            </a:r>
            <a:r>
              <a:rPr lang="en-US" sz="140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 środowisk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Uznanie asymetrii </a:t>
            </a: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wymagań adaptacyjnych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Interwencje wspierające tożsamość autystyczną</a:t>
            </a:r>
            <a:endParaRPr lang="en-US" sz="1400" dirty="0"/>
          </a:p>
          <a:p>
            <a:pPr marL="180000" indent="-180000"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3108" y="28346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943A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062739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>
                <a:solidFill>
                  <a:schemeClr val="bg1"/>
                </a:solidFill>
              </a:rPr>
              <a:t>7</a:t>
            </a:fld>
            <a:endParaRPr lang="pl-P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F8F"/>
                </a:solidFill>
              </a:rPr>
              <a:t>DIAGNOZA KLINICZNA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DEP zmienia proces diagnozy neuropsychologicznej?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258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3075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Obserwacja narzędzi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510" y="1801368"/>
            <a:ext cx="41224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ADOS-2 i ADI-R zostały znormalizowane na populacjach neurotypowych. DEP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sugeruje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onieczność</a:t>
            </a: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rewizji progów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klinicznych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pl-PL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uwzględnienia</a:t>
            </a: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kontekstu mieszanej interakcji.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73168" y="114300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31536" y="13075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Rola płci i maskowania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846320" y="1801368"/>
            <a:ext cx="4011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Kobiety i dziewczęta z ASD są częściej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pomijane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diagnozie właśnie wskutek skutecznego maskowania. 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</a:t>
            </a:r>
            <a:r>
              <a:rPr lang="pl-PL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</a:t>
            </a: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powinni wdrażać protokoły wrażliwe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płeć</a:t>
            </a: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303276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1564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1973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Środowisko badania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93192" y="3691128"/>
            <a:ext cx="40142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powinna uwzględniać interakcje z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rówieśnikami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podobnym neurotypie. Deficyty widoczne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mieszanych</a:t>
            </a:r>
            <a: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powinny być automatycznie klasyfikowane jako patologia.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773168" y="303276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156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31536" y="31973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adaptacji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4800600" y="369112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Wywiad diagnostyczny powinien eksplorować historię maskowania, wypalenia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autystycznego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kosztów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adaptacji</a:t>
            </a: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l-PL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3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obecną symptomatologię.</a:t>
            </a:r>
            <a:endParaRPr lang="en-US" sz="1300" dirty="0"/>
          </a:p>
        </p:txBody>
      </p:sp>
      <p:sp>
        <p:nvSpPr>
          <p:cNvPr id="21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062739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/>
              <a:t>8</a:t>
            </a:fld>
            <a:endParaRPr lang="pl-P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0" cy="256032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DOSTOSOWANIE PSYCHOTERAPII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Modyfikacje podejścia terapeutycznego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 </a:t>
            </a: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osób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</a:t>
            </a:r>
            <a:r>
              <a:rPr lang="pl-PL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różnorodnych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719072"/>
            <a:ext cx="2633472" cy="1353312"/>
          </a:xfrm>
          <a:prstGeom prst="rect">
            <a:avLst/>
          </a:prstGeom>
          <a:solidFill>
            <a:srgbClr val="1A3660"/>
          </a:solidFill>
          <a:ln w="9525">
            <a:solidFill>
              <a:srgbClr val="E894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828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7922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Odrzucenie celu neurotypizacji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2148" y="2240280"/>
            <a:ext cx="26075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nie powinna dążyć do upodobnienia zachowań autystycznych do neurotypowych norm. Celem jest dobrostan i autentyczność,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konformizm.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719072"/>
            <a:ext cx="2633472" cy="1353312"/>
          </a:xfrm>
          <a:prstGeom prst="rect">
            <a:avLst/>
          </a:prstGeom>
          <a:solidFill>
            <a:srgbClr val="1A3660"/>
          </a:solidFill>
          <a:ln w="9525">
            <a:solidFill>
              <a:srgbClr val="0D7F8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8288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76472" y="17922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Sojusz terapeutyczny</a:t>
            </a:r>
            <a:endParaRPr lang="en-US" sz="1400" dirty="0">
              <a:solidFill>
                <a:srgbClr val="1DCAE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3317748" y="224028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Budowanie sojuszu wymaga aktywnego dostosowania języka, tempa i modalności. Unikanie małomówności jako </a:t>
            </a:r>
            <a:r>
              <a:rPr lang="en-US" sz="105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wskaźnika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oporu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być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stylem komunikacji.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0760" y="1719072"/>
            <a:ext cx="2827020" cy="1353312"/>
          </a:xfrm>
          <a:prstGeom prst="rect">
            <a:avLst/>
          </a:prstGeom>
          <a:solidFill>
            <a:srgbClr val="1A3660"/>
          </a:solidFill>
          <a:ln w="9525">
            <a:solidFill>
              <a:srgbClr val="5E7A9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8288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11112" y="17922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Praca z maskowaniem</a:t>
            </a:r>
            <a:endParaRPr lang="en-US" sz="1400" dirty="0">
              <a:solidFill>
                <a:srgbClr val="1DCAE1"/>
              </a:solidFill>
            </a:endParaRPr>
          </a:p>
        </p:txBody>
      </p:sp>
      <p:sp>
        <p:nvSpPr>
          <p:cNvPr id="16" name="Text 11"/>
          <p:cNvSpPr/>
          <p:nvPr/>
        </p:nvSpPr>
        <p:spPr>
          <a:xfrm>
            <a:off x="6137148" y="2240280"/>
            <a:ext cx="26715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Bezpieczna przestrzeń do </a:t>
            </a:r>
            <a:r>
              <a:rPr lang="en-US" sz="105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rezygnacji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maskowania. </a:t>
            </a:r>
            <a:r>
              <a:rPr lang="en-US" sz="105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Edukacja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klienta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/pacjenta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realnych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kosztach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adaptacji i prawie do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swojej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autentyczności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autystycznej.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11480" y="3200400"/>
            <a:ext cx="2633472" cy="1353312"/>
          </a:xfrm>
          <a:prstGeom prst="rect">
            <a:avLst/>
          </a:prstGeom>
          <a:solidFill>
            <a:srgbClr val="1A3660"/>
          </a:solidFill>
          <a:ln w="9525">
            <a:solidFill>
              <a:srgbClr val="18A9B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31012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1832" y="3273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Dostosowanie modalności</a:t>
            </a:r>
            <a:endParaRPr lang="en-US" sz="1400" dirty="0">
              <a:solidFill>
                <a:srgbClr val="1DCAE1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391668" y="3721608"/>
            <a:ext cx="27142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Alternatywne formy komunikacji (pisemna, symboliczna), skrócone sesje, jasna struktura, unikanie idiomów i metafor wieloznacznych.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46120" y="3200400"/>
            <a:ext cx="2633472" cy="1353312"/>
          </a:xfrm>
          <a:prstGeom prst="rect">
            <a:avLst/>
          </a:prstGeom>
          <a:solidFill>
            <a:srgbClr val="1A3660"/>
          </a:solidFill>
          <a:ln w="9525">
            <a:solidFill>
              <a:srgbClr val="E8943A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310128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76472" y="3273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Walidacja doświadczeń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287268" y="3721608"/>
            <a:ext cx="2554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Uznanie autystycznych </a:t>
            </a:r>
            <a:r>
              <a:rPr lang="en-US" sz="105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doświadczeń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ważnych i autentycznych,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 symptomów wymagających korekty. Praca z tożsamością autystyczną jako zasobem.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080760" y="3200400"/>
            <a:ext cx="2827020" cy="1353312"/>
          </a:xfrm>
          <a:prstGeom prst="rect">
            <a:avLst/>
          </a:prstGeom>
          <a:solidFill>
            <a:srgbClr val="1A3660"/>
          </a:solidFill>
          <a:ln w="9525">
            <a:solidFill>
              <a:srgbClr val="0D7F8F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310128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11112" y="3273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Perspektywa</a:t>
            </a:r>
            <a:r>
              <a:rPr lang="en-US" sz="14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smtClean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</a:t>
            </a:r>
            <a:r>
              <a:rPr lang="pl-PL" sz="1400" b="1" dirty="0" err="1" smtClean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róznorodności</a:t>
            </a:r>
            <a:endParaRPr lang="en-US" sz="1400" dirty="0">
              <a:solidFill>
                <a:srgbClr val="1DCAE1"/>
              </a:solidFill>
            </a:endParaRPr>
          </a:p>
        </p:txBody>
      </p:sp>
      <p:sp>
        <p:nvSpPr>
          <p:cNvPr id="28" name="Text 20"/>
          <p:cNvSpPr/>
          <p:nvPr/>
        </p:nvSpPr>
        <p:spPr>
          <a:xfrm>
            <a:off x="6190488" y="3721608"/>
            <a:ext cx="2618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Włączenie </a:t>
            </a:r>
            <a:r>
              <a:rPr lang="en-US" sz="105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różnorodności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 medycznego. Terapeuta jako sojusznik,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ekspert normalizujący.</a:t>
            </a:r>
            <a:endParaRPr lang="en-US" sz="1050" dirty="0"/>
          </a:p>
        </p:txBody>
      </p:sp>
      <p:sp>
        <p:nvSpPr>
          <p:cNvPr id="29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062739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>
                <a:solidFill>
                  <a:schemeClr val="bg1"/>
                </a:solidFill>
              </a:rPr>
              <a:t>9</a:t>
            </a:fld>
            <a:endParaRPr lang="pl-P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F8F"/>
                </a:solidFill>
              </a:rPr>
              <a:t>PRAKTYKA KLINICZNA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Konkretne wytyczne dla psychologów i neuropsychologów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344168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0328" y="1234440"/>
            <a:ext cx="34488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Dokumentuj zasoby, </a:t>
            </a:r>
            <a:r>
              <a:rPr lang="pl-PL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400" b="1" dirty="0" err="1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</a:t>
            </a:r>
            <a:r>
              <a:rPr lang="en-US" sz="1400" b="1" dirty="0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tylko deficyty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4712" y="1618488"/>
            <a:ext cx="32918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neuropsychologiczny powinien uwzględniać silne strony komunikacji autystycznej, nie tylko odchylenia od norm.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73168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82896" y="1344168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23444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err="1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Pytaj</a:t>
            </a: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wprost</a:t>
            </a: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</a:t>
            </a:r>
            <a:r>
              <a:rPr lang="en-US" sz="1400" b="1" dirty="0" err="1" smtClean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maskowanie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618488"/>
            <a:ext cx="32918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Włącz do wywiadu pytania o stosowane strategie maskowania, ich koszt emocjonalny i historię wypalenia autystycznego.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350008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" y="250545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" y="239572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Dostosuj środowisko badania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4712" y="2779776"/>
            <a:ext cx="32918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 bodźce sensoryczne, zapewnij przewidywalną strukturę sesji, oferuj przerwy bez konieczności wyjaśnień.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2350008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82896" y="2505456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39572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Aktualizuj wiedzę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779776"/>
            <a:ext cx="32918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Uwzględniaj literaturę participatory </a:t>
            </a:r>
            <a:r>
              <a:rPr lang="en-US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</a:t>
            </a:r>
            <a:r>
              <a:rPr lang="pl-PL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badania</a:t>
            </a:r>
            <a:r>
              <a:rPr lang="en-US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współprowadzone z osobami autystycznymi jako ekspertami.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511296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" y="3666744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" y="355701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Unikaj neurotypowych miar empatii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3941064"/>
            <a:ext cx="32918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Standardowe skale empatii (np. IRI, EQ) zostały skalibrowane na neurotypowych </a:t>
            </a:r>
            <a:r>
              <a:rPr lang="en-US" sz="12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populacjach</a:t>
            </a: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mogą </a:t>
            </a:r>
            <a:r>
              <a:rPr lang="en-US" sz="12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być</a:t>
            </a: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niewymierne</a:t>
            </a:r>
            <a:r>
              <a:rPr lang="en-US" sz="1200" dirty="0" smtClean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osób autystycznych.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73168" y="3511296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82896" y="3666744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355701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Wspieraj tożsamość autystyczną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3941064"/>
            <a:ext cx="32918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Badania wykazują, że silna tożsamość autystyczna koreluje z wyższym dobrostanem i niższym poziomem lęku (Cage et al., 2018).</a:t>
            </a:r>
            <a:endParaRPr lang="en-US" sz="1200" dirty="0"/>
          </a:p>
        </p:txBody>
      </p:sp>
      <p:sp>
        <p:nvSpPr>
          <p:cNvPr id="35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062739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/>
              <a:t>10</a:t>
            </a:fld>
            <a:endParaRPr lang="pl-P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926080" cy="256032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b="1" dirty="0" smtClean="0">
                <a:solidFill>
                  <a:srgbClr val="FFFFFF"/>
                </a:solidFill>
              </a:rPr>
              <a:t>DALSZE </a:t>
            </a:r>
            <a:r>
              <a:rPr lang="en-US" sz="1000" b="1" dirty="0" smtClean="0">
                <a:solidFill>
                  <a:srgbClr val="FFFFFF"/>
                </a:solidFill>
              </a:rPr>
              <a:t>KIERUNKI </a:t>
            </a:r>
            <a:r>
              <a:rPr lang="en-US" sz="1000" b="1" dirty="0">
                <a:solidFill>
                  <a:srgbClr val="FFFFFF"/>
                </a:solidFill>
              </a:rPr>
              <a:t>BADAŃ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ytania</a:t>
            </a: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r>
              <a:rPr lang="en-US" sz="2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twarte</a:t>
            </a: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perspektywy badawcze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545336"/>
            <a:ext cx="256032" cy="256032"/>
          </a:xfrm>
          <a:prstGeom prst="ellipse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" y="1801368"/>
            <a:ext cx="0" cy="539496"/>
          </a:xfrm>
          <a:prstGeom prst="line">
            <a:avLst/>
          </a:prstGeom>
          <a:noFill/>
          <a:ln w="12700">
            <a:solidFill>
              <a:srgbClr val="0D7F8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00100" y="145694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Participatory research</a:t>
            </a:r>
            <a:endParaRPr lang="en-US" sz="1600" dirty="0">
              <a:solidFill>
                <a:srgbClr val="1DCAE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00099" y="1755648"/>
            <a:ext cx="389436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Współprojektowanie badań z </a:t>
            </a:r>
            <a:r>
              <a:rPr lang="en-US" sz="105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samorzecznikami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autystycznymi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naukowcami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przełamanie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asymetrii władzy epistemologicznej.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21992"/>
            <a:ext cx="256032" cy="256032"/>
          </a:xfrm>
          <a:prstGeom prst="ellipse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" y="2478024"/>
            <a:ext cx="0" cy="539496"/>
          </a:xfrm>
          <a:prstGeom prst="line">
            <a:avLst/>
          </a:prstGeom>
          <a:noFill/>
          <a:ln w="12700">
            <a:solidFill>
              <a:srgbClr val="0D7F8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00100" y="21336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Rewizja narzędzi ADOS/ADI</a:t>
            </a:r>
            <a:endParaRPr lang="en-US" sz="1400" dirty="0">
              <a:solidFill>
                <a:srgbClr val="1DCAE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0099" y="2432304"/>
            <a:ext cx="389436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protokołów diagnostycznych uwzględniających DEP </a:t>
            </a:r>
            <a: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zróżnicowanie kontekstualne komunikacji.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898648"/>
            <a:ext cx="256032" cy="256032"/>
          </a:xfrm>
          <a:prstGeom prst="ellipse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" y="3154680"/>
            <a:ext cx="0" cy="539496"/>
          </a:xfrm>
          <a:prstGeom prst="line">
            <a:avLst/>
          </a:prstGeom>
          <a:noFill/>
          <a:ln w="12700">
            <a:solidFill>
              <a:srgbClr val="0D7F8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00100" y="28102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Neurobiologia wypalenia</a:t>
            </a:r>
            <a:endParaRPr lang="en-US" sz="1400" dirty="0">
              <a:solidFill>
                <a:srgbClr val="1DCAE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0099" y="3108960"/>
            <a:ext cx="375012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Autistic burnout jako odrębna jednostka kliniczna: mechanizmy neurobiologiczne, biomarkery, interwencje.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575304"/>
            <a:ext cx="256032" cy="256032"/>
          </a:xfrm>
          <a:prstGeom prst="ellipse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" y="3831336"/>
            <a:ext cx="0" cy="539496"/>
          </a:xfrm>
          <a:prstGeom prst="line">
            <a:avLst/>
          </a:prstGeom>
          <a:noFill/>
          <a:ln w="12700">
            <a:solidFill>
              <a:srgbClr val="0D7F8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00100" y="348691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Interwencje środowiskowe</a:t>
            </a:r>
            <a:endParaRPr lang="en-US" sz="1400" dirty="0">
              <a:solidFill>
                <a:srgbClr val="1DCAE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4859" y="3785616"/>
            <a:ext cx="40386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Programy edukacyjne dla neurotypowych </a:t>
            </a:r>
            <a:r>
              <a:rPr lang="en-US" sz="1050" dirty="0" err="1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partnerów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interakcji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zmniejszenie</a:t>
            </a:r>
            <a:r>
              <a:rPr lang="en-US" sz="1050" dirty="0" smtClean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obciążenia adaptacyjnego po stronie osób autystycznych.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251960"/>
            <a:ext cx="256032" cy="256032"/>
          </a:xfrm>
          <a:prstGeom prst="ellipse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" y="4163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Tożsamość i dobrostan</a:t>
            </a:r>
            <a:endParaRPr lang="en-US" sz="1400" dirty="0">
              <a:solidFill>
                <a:srgbClr val="1DCAE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7719" y="4462272"/>
            <a:ext cx="375012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Longitudinalne badania związku między identifikacją autystyczną, maskowaniem i wskaźnikami zdrowia psychicznego.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40806" y="1371600"/>
            <a:ext cx="3997453" cy="3419856"/>
          </a:xfrm>
          <a:prstGeom prst="rect">
            <a:avLst/>
          </a:prstGeom>
          <a:solidFill>
            <a:srgbClr val="1A3660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0620" y="14813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C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publikacje</a:t>
            </a:r>
            <a:endParaRPr lang="en-US" sz="1600" dirty="0">
              <a:solidFill>
                <a:srgbClr val="1DCAE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60620" y="19202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Milton, D. (2012). On the ontological status of autism. Disability &amp; Society.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60620" y="23957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Crompton, C., et al. (2020). Autistic peer‑to‑peer information transfer. Autism.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60620" y="28712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Hull, L., et al. (2020). Towards operationalising camouflaging. J. Autism Dev. Disord.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60620" y="334670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Cage, E. &amp; Troxell‑Whitman, Z. (2019). Understanding reasons for masking. J. Autism Dev. Disord.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60620" y="38221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Pearson, A. &amp; Rose, K. (2021). A conceptual analysis of autistic masking. Autism Adulthood.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60620" y="42976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Murray, F., et al. (2022). Double empathy in everyday contexts. Front. Psychol.</a:t>
            </a:r>
            <a:endParaRPr lang="en-US" sz="1050" dirty="0"/>
          </a:p>
        </p:txBody>
      </p:sp>
      <p:sp>
        <p:nvSpPr>
          <p:cNvPr id="32" name="Symbol zastępczy tekstu 23"/>
          <p:cNvSpPr>
            <a:spLocks noGrp="1"/>
          </p:cNvSpPr>
          <p:nvPr>
            <p:ph type="body" sz="quarter" idx="10"/>
          </p:nvPr>
        </p:nvSpPr>
        <p:spPr>
          <a:xfrm>
            <a:off x="8062739" y="4846638"/>
            <a:ext cx="924099" cy="228600"/>
          </a:xfrm>
        </p:spPr>
        <p:txBody>
          <a:bodyPr/>
          <a:lstStyle/>
          <a:p>
            <a:fld id="{8C165082-1FA1-4557-8ECF-936AEEBBDD3C}" type="slidenum">
              <a:rPr lang="pl-PL" smtClean="0">
                <a:solidFill>
                  <a:schemeClr val="bg1"/>
                </a:solidFill>
              </a:rPr>
              <a:t>11</a:t>
            </a:fld>
            <a:endParaRPr lang="pl-P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0D7F8F">
              <a:alpha val="9000"/>
            </a:srgbClr>
          </a:solidFill>
          <a:ln w="12700">
            <a:solidFill>
              <a:srgbClr val="18A9BC">
                <a:alpha val="25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474720"/>
            <a:ext cx="1645920" cy="1645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274320"/>
            <a:ext cx="2560320" cy="256032"/>
          </a:xfrm>
          <a:prstGeom prst="rect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PODSUMOWANIE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640080"/>
            <a:ext cx="4526280" cy="803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</a:t>
            </a: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Podwójnej Empatii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to zmienia dla klinicysty?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755648"/>
            <a:ext cx="347472" cy="347472"/>
          </a:xfrm>
          <a:prstGeom prst="ellipse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1" y="1671828"/>
            <a:ext cx="66164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Trudności w interakcji NT↔A są wzajemne </a:t>
            </a:r>
            <a:r>
              <a:rPr lang="en-US" sz="1400" dirty="0" err="1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kontekstualne</a:t>
            </a:r>
            <a:r>
              <a:rPr lang="en-US" sz="1400" dirty="0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400" dirty="0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jednostronne.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2331720"/>
            <a:ext cx="347472" cy="347472"/>
          </a:xfrm>
          <a:prstGeom prst="ellipse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" y="2247900"/>
            <a:ext cx="548168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Osoby autystyczne komunikują się efektywnie z </a:t>
            </a:r>
            <a:r>
              <a:rPr lang="en-US" sz="1400" dirty="0" err="1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innymi</a:t>
            </a: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autysty</a:t>
            </a:r>
            <a:r>
              <a:rPr lang="pl-PL" sz="1400" dirty="0" err="1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</a:t>
            </a:r>
            <a:r>
              <a:rPr lang="en-US" sz="1400" dirty="0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l-PL" sz="1400" dirty="0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dirty="0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dirty="0" smtClean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falsyfikuje hipotezę globalnego deficytu społecznego.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" y="2907792"/>
            <a:ext cx="347472" cy="347472"/>
          </a:xfrm>
          <a:prstGeom prst="ellipse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6111" y="2823972"/>
            <a:ext cx="66164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Maskowanie ma realne koszty kliniczne: wyczerpanie, depresja, opóźnienie diagnozy.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3491484"/>
            <a:ext cx="347472" cy="347472"/>
          </a:xfrm>
          <a:prstGeom prst="ellipse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96111" y="3400044"/>
            <a:ext cx="66164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Psychoterapia powinna celować w dobrostan i autentyczność, nie w neurotypizację.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" y="4059936"/>
            <a:ext cx="347472" cy="347472"/>
          </a:xfrm>
          <a:prstGeom prst="ellipse">
            <a:avLst/>
          </a:prstGeom>
          <a:solidFill>
            <a:srgbClr val="0D7F8F"/>
          </a:solidFill>
          <a:ln w="12700">
            <a:solidFill>
              <a:srgbClr val="0D7F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6111" y="3976116"/>
            <a:ext cx="66164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Kliniści muszą dostosować narzędzia, środowisko i cele interwencji do DEP.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3660"/>
          </a:solidFill>
          <a:ln w="12700">
            <a:solidFill>
              <a:srgbClr val="1A36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64515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400" b="1" i="1" dirty="0" smtClean="0">
                <a:solidFill>
                  <a:srgbClr val="1D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Różnorodność neurologiczna jest cechą ludzkiej populacji, a nie zbiorem deficytów wymagających korekcji.</a:t>
            </a:r>
            <a:endParaRPr lang="pl-PL" sz="1400" dirty="0">
              <a:solidFill>
                <a:srgbClr val="1DCA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Microsoft Office PowerPoint</Application>
  <PresentationFormat>Pokaz na ekranie (16:9)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Candara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Podwójnej Empatii</dc:title>
  <dc:subject>PptxGenJS Presentation</dc:subject>
  <dc:creator>PsyHub</dc:creator>
  <cp:lastModifiedBy>Mateusz Pomianek</cp:lastModifiedBy>
  <cp:revision>42</cp:revision>
  <dcterms:created xsi:type="dcterms:W3CDTF">2026-06-02T20:19:33Z</dcterms:created>
  <dcterms:modified xsi:type="dcterms:W3CDTF">2026-06-02T21:10:48Z</dcterms:modified>
</cp:coreProperties>
</file>