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Liter" panose="020B0604020202020204" charset="0"/>
      <p:regular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Liczba badań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Depresja</c:v>
                </c:pt>
                <c:pt idx="1">
                  <c:v>Dwubiegunowe</c:v>
                </c:pt>
                <c:pt idx="2">
                  <c:v>Lęk/stres</c:v>
                </c:pt>
                <c:pt idx="3">
                  <c:v>Schizofrenia</c:v>
                </c:pt>
                <c:pt idx="4">
                  <c:v>SUD</c:v>
                </c:pt>
                <c:pt idx="5">
                  <c:v>Zaburzenia snu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11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E5-4623-A44D-18ABAECF0D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pl-P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4D-4C04-A34C-97782C357E5D}"/>
              </c:ext>
            </c:extLst>
          </c:dPt>
          <c:dPt>
            <c:idx val="1"/>
            <c:bubble3D val="0"/>
            <c:spPr>
              <a:solidFill>
                <a:srgbClr val="E07B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4D-4C04-A34C-97782C357E5D}"/>
              </c:ext>
            </c:extLst>
          </c:dPt>
          <c:dPt>
            <c:idx val="2"/>
            <c:bubble3D val="0"/>
            <c:spPr>
              <a:solidFill>
                <a:srgbClr val="6A9B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4D-4C04-A34C-97782C357E5D}"/>
              </c:ext>
            </c:extLst>
          </c:dPt>
          <c:dPt>
            <c:idx val="3"/>
            <c:bubble3D val="0"/>
            <c:spPr>
              <a:solidFill>
                <a:srgbClr val="8D8D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4D-4C04-A34C-97782C357E5D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l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34D-4C04-A34C-97782C357E5D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l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34D-4C04-A34C-97782C357E5D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l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34D-4C04-A34C-97782C357E5D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l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534D-4C04-A34C-97782C357E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Monitorowanie</c:v>
                </c:pt>
                <c:pt idx="1">
                  <c:v>Diagnostyka</c:v>
                </c:pt>
                <c:pt idx="2">
                  <c:v>Interwencje</c:v>
                </c:pt>
                <c:pt idx="3">
                  <c:v>Inne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23</c:v>
                </c:pt>
                <c:pt idx="2">
                  <c:v>3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4D-4C04-A34C-97782C357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400">
              <a:solidFill>
                <a:srgbClr val="333333"/>
              </a:solidFill>
            </a:defRPr>
          </a:pPr>
          <a:endParaRPr lang="pl-P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31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ntal.jmir.org/2026/1/e80765" TargetMode="External"/><Relationship Id="rId4" Type="http://schemas.openxmlformats.org/officeDocument/2006/relationships/hyperlink" Target="https://www.jmir.org/2026/1/e8414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rph.com/2025/12/digital-phenotyping-in-psychiatry-what-clinical-evidence-reveals-in-2025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mc.ncbi.nlm.nih.gov/articles/PMC10753422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0" y="0"/>
            <a:ext cx="5588000" cy="9144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kern="0" spc="1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Prezentacja akademicka | Psychiatria cyfrowa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2133600"/>
            <a:ext cx="838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5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Fenotypowanie cyfrowe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16000" y="4038600"/>
            <a:ext cx="838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Phenotyping in Mental Health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2286000" cy="0"/>
          </a:xfrm>
          <a:prstGeom prst="straightConnector1">
            <a:avLst/>
          </a:prstGeom>
          <a:noFill/>
          <a:ln w="31750">
            <a:solidFill>
              <a:srgbClr val="E07B5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52832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Nowa metoda obiektywnej i ciągłej oceny stanu zdrowia psychicznego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Literatura naukowa 2015–2026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0" y="8267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2025/2026 ACADEMIC YEAR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Spis treści</a:t>
            </a: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19200"/>
            <a:ext cx="142240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6256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5" name="Text 3"/>
          <p:cNvSpPr/>
          <p:nvPr/>
        </p:nvSpPr>
        <p:spPr>
          <a:xfrm>
            <a:off x="16256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336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5184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75184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264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4648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648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0" y="2654300"/>
            <a:ext cx="2438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ysDot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3411200" y="2413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13411200" y="241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Wprowadzenie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Definicja i źródła danych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56000" y="31369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Zdrowie psychiczne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6000" y="35687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Zastosowania kliniczne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2400" y="3105472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Aspekty technologiczne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2400" y="3791272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i metodologia badań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48800" y="3149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Wyzwania etyczne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48800" y="3581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Prywatność i bias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512233" y="31369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Perspektywy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512233" y="35687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Podsumowanie i wnioski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5999" y="4825999"/>
            <a:ext cx="14482501" cy="318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Prezentacja omawia fenomen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fenotypowania cyfrowego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 kontekście zdrowia psychicznego. </a:t>
            </a:r>
            <a:endParaRPr lang="pl-PL" sz="2400" dirty="0" smtClean="0">
              <a:solidFill>
                <a:srgbClr val="33333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60000"/>
              </a:lnSpc>
            </a:pPr>
            <a:endParaRPr lang="pl-PL" sz="2400" dirty="0">
              <a:solidFill>
                <a:srgbClr val="33333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Przedstawione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zostaną definicje, źródła danych, zastosowania kliniczne, </a:t>
            </a: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oraz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kluczowe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metody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analityczn</a:t>
            </a:r>
            <a:r>
              <a:rPr lang="pl-PL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</a:t>
            </a:r>
            <a:endParaRPr lang="pl-PL" sz="2400" dirty="0" smtClean="0">
              <a:solidFill>
                <a:srgbClr val="33333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60000"/>
              </a:lnSpc>
            </a:pPr>
            <a:endParaRPr lang="pl-PL" sz="2400" dirty="0" smtClean="0">
              <a:solidFill>
                <a:srgbClr val="33333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24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Czas</a:t>
            </a:r>
            <a:r>
              <a:rPr lang="en-US" sz="24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trwania: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20–25 minut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CZĘŚĆ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Definicja, geneza pojęcia i źródła danych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269607"/>
            <a:ext cx="14935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Wprowadzenie do fenotypowania cyfrowego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800" y="4425870"/>
            <a:ext cx="970987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Omówienie definicji, historycznego kontekstu oraz metod zbierania danych cyfrowych w badaniach nad zdrowiem psychicznym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W tej części zostaną omówione podstawy teoretyczne i metodologiczne fenotypowania cyfrowego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Definicja i geneza pojęcia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" y="11176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Definicja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„moment-by-moment quantification of the individual-level human phenotype in situ using data from personal digital devices" (Onnela &amp; Rauch, 2016)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89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092200" y="23114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Geneza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Pojęcie wprowadzone w 2016 r. przez badaczy z Harvard University jako odpowiedź na brak obiektywnych biomarkerów w psychiatrii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7084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" y="35052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Alternatywne nazwy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personal sensing, intelligent sensing, body computing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terminologia odzwierciedla różne aspekty metody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927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" y="46990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Cel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Częsty i ciągły pomiar fenotypu człowieka w naturalnym kontekście, bez konieczności obecności klinicysty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146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" y="59944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Kontekst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Rozwój technologii mobilnych i szeroka adopcja smartfonów stworzyły warunki do pasywnego zbierania danych behawioralnych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162800"/>
            <a:ext cx="69342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7289800"/>
            <a:ext cx="6426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Istota: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Fenotypowanie cyfrowe przekształca subiektywną, epizodyczną ocenę psychiatryczną w ciągły, obiektywny pomiar zachowań w naturalnym środowisku pacjenta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636000" y="1143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90000" y="133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1143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Urządzenia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39350" y="2133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27686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15400" y="29591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0" y="27686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Zbiór danych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39350" y="3759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6" name="Shape 24"/>
          <p:cNvSpPr/>
          <p:nvPr/>
        </p:nvSpPr>
        <p:spPr>
          <a:xfrm>
            <a:off x="8636000" y="43942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90000" y="4584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43942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Analiza ML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192000" y="1333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Smartfon, smartwatch, czujniki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192000" y="29591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Dane pasywne i aktywne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92000" y="4584700"/>
            <a:ext cx="355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Wykrywanie wzorców behawioralnych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5461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Rys. 1: Schemat procesu fenotypowania cyfrowego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36000" y="6096000"/>
            <a:ext cx="7112000" cy="2921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0800" y="6273800"/>
            <a:ext cx="650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Perspektywa historyczna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940800" y="6781800"/>
            <a:ext cx="6807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Thomas Insel, były dyrektor NIMH, przewidywał, że wpływ fenotypowania cyfrowego na psychiatrię do 2050 r. może przewyższyć postępy w genomice i neurobiologii. Obecnie (</a:t>
            </a:r>
            <a:r>
              <a:rPr lang="en-US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2026) </a:t>
            </a:r>
            <a:r>
              <a:rPr lang="en-US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obserwuje się gwałtowny wzrost liczby publikacji w tej dziedzinie.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Źródła danych i metody zbierania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1999" y="939800"/>
            <a:ext cx="7548623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939800"/>
            <a:ext cx="7213600" cy="101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Dane pasywne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Passive sensing </a:t>
            </a:r>
            <a:r>
              <a:rPr lang="en-US" sz="1600" dirty="0" smtClean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zbierane automatycznie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2209800"/>
            <a:ext cx="6604000" cy="0"/>
          </a:xfrm>
          <a:prstGeom prst="straightConnector1">
            <a:avLst/>
          </a:prstGeom>
          <a:noFill/>
          <a:ln w="12700">
            <a:solidFill>
              <a:srgbClr val="2C5F8A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97349" y="2387600"/>
            <a:ext cx="7189809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spc="-6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Akcelerometr</a:t>
            </a:r>
            <a:r>
              <a:rPr lang="en-US" sz="2400" spc="-6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aktywność fizyczna, kroki, wzorce ruchu</a:t>
            </a:r>
            <a:endParaRPr lang="en-US" spc="-60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lokalizacja, mobilność, czas w domu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Ekran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czas użycia, wzorce odblokowania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Komunikacja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logi połączeń/SMS (anonim.)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Klawiatura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dynamika pisania, tapów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Aplikacje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czas użycia, typy aplikacji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Nosniki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smartwatch (HRV, sen)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783899" y="939800"/>
            <a:ext cx="7213600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E07B54">
                <a:alpha val="941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83899" y="939800"/>
            <a:ext cx="7213600" cy="1016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4" name="Text 12"/>
          <p:cNvSpPr/>
          <p:nvPr/>
        </p:nvSpPr>
        <p:spPr>
          <a:xfrm>
            <a:off x="9088699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Dane aktywne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88699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sensing </a:t>
            </a:r>
            <a:r>
              <a:rPr lang="en-US" sz="1600" dirty="0" smtClean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wymagają zaangażowania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88699" y="2209800"/>
            <a:ext cx="6604000" cy="0"/>
          </a:xfrm>
          <a:prstGeom prst="straightConnector1">
            <a:avLst/>
          </a:prstGeom>
          <a:noFill/>
          <a:ln w="12700">
            <a:solidFill>
              <a:srgbClr val="E07B54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019248" y="2387600"/>
            <a:ext cx="6885009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eko-logiczne momentowe oceny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Kwestionariusze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PHQ-9, GAD-7, PANSS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Zadania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zadania poznawcze, testy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Samooceny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nastrój, poziom lęku, sen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Zaleta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kontekst subiektywny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Wada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obciążenie poznawcze</a:t>
            </a:r>
            <a:endParaRPr lang="en-US" dirty="0"/>
          </a:p>
          <a:p>
            <a:pPr>
              <a:lnSpc>
                <a:spcPct val="165000"/>
              </a:lnSpc>
            </a:pP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Hybryda</a:t>
            </a:r>
            <a:r>
              <a:rPr lang="en-US" sz="24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pasywne + aktywne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CZĘŚĆ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Monitorowanie, diagnostyka i predykcja epizodów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368875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Zastosowania w zdrowiu psychicznym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800" y="4489370"/>
            <a:ext cx="614487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Przegląd dowodów klinicznych w depresji, zaburzeniach dwubiegunowych i schizofrenii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Na podstawie: scoping review JMIR 2026 (n=65), PMC 2023, GlobalRPH 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Depresja i zaburzenia lękowe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2000" y="1092200"/>
          <a:ext cx="72136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289800"/>
            <a:ext cx="7213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Rys. 2: Liczba badań fenotypowania cyfrowego wg diagnozy (n=65, 2012–2025)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10922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Kluczowe markery behawioralne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382000" y="16002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8382000" y="17272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Zmniejszona zmienność lokalizacyjna (mniej miejsc, dłuższy czas w domu), zmiany w użyciu aplikacji społecznościowych, zaburzenia snu. Osoby z depresją przejawiają ograniczoną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mobilność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 odzwierciedla anhedonię i unikanie.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382000" y="3683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Badanie NESDA (Behapp)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382000" y="41910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8382000" y="4318000"/>
            <a:ext cx="742901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n=217 (109 sympt., 108 asympt.). Mniejsza liczba trajektorii GPS koreluje z objawami depresji i lęku (AUC = 0,60). Modele ML </a:t>
            </a:r>
            <a:r>
              <a:rPr lang="pl-PL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br>
              <a:rPr lang="pl-PL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</a:b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cechami behawioralnymi przewyższyły modele demograficzne.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382000" y="60198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Wnioski kliniczne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8382000" y="65278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8382000" y="6654800"/>
            <a:ext cx="753319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Markery behawioralne nie zastępują diagnostyki klinicznej, ale mogą ją wspierać. Zmiany w trajektoriach GPS mogą mieć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zastosowanie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pl-PL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br>
              <a:rPr lang="pl-PL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</a:b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monitorowaniu objawów oraz jako cel interwencji behawioralnej.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8382000" y="8254999"/>
            <a:ext cx="7112000" cy="5588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6000" y="8302262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Źródło: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u="sng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JMIR Scoping Review 2026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600" u="sng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JMIR Ment Health 2026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Zaburzenia dwubiegunowe i schizofrenia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143000"/>
            <a:ext cx="4572000" cy="711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7" name="Shape 5"/>
          <p:cNvSpPr/>
          <p:nvPr/>
        </p:nvSpPr>
        <p:spPr>
          <a:xfrm>
            <a:off x="2489200" y="165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97421" y="297780"/>
                </a:moveTo>
                <a:cubicBezTo>
                  <a:pt x="575593" y="296292"/>
                  <a:pt x="556617" y="312663"/>
                  <a:pt x="555005" y="334615"/>
                </a:cubicBezTo>
                <a:cubicBezTo>
                  <a:pt x="550912" y="392906"/>
                  <a:pt x="525735" y="445492"/>
                  <a:pt x="487040" y="484684"/>
                </a:cubicBezTo>
                <a:lnTo>
                  <a:pt x="447725" y="445244"/>
                </a:lnTo>
                <a:cubicBezTo>
                  <a:pt x="439167" y="436687"/>
                  <a:pt x="426393" y="434206"/>
                  <a:pt x="415230" y="438795"/>
                </a:cubicBezTo>
                <a:cubicBezTo>
                  <a:pt x="404068" y="443384"/>
                  <a:pt x="396875" y="454298"/>
                  <a:pt x="396875" y="466328"/>
                </a:cubicBezTo>
                <a:lnTo>
                  <a:pt x="396875" y="605234"/>
                </a:lnTo>
                <a:cubicBezTo>
                  <a:pt x="396875" y="621729"/>
                  <a:pt x="410146" y="635000"/>
                  <a:pt x="426641" y="635000"/>
                </a:cubicBezTo>
                <a:lnTo>
                  <a:pt x="565547" y="635000"/>
                </a:lnTo>
                <a:cubicBezTo>
                  <a:pt x="577577" y="635000"/>
                  <a:pt x="588491" y="627807"/>
                  <a:pt x="593080" y="616645"/>
                </a:cubicBezTo>
                <a:cubicBezTo>
                  <a:pt x="597669" y="605482"/>
                  <a:pt x="595188" y="592708"/>
                  <a:pt x="586631" y="584150"/>
                </a:cubicBezTo>
                <a:lnTo>
                  <a:pt x="543223" y="540742"/>
                </a:lnTo>
                <a:cubicBezTo>
                  <a:pt x="594940" y="488404"/>
                  <a:pt x="628675" y="418207"/>
                  <a:pt x="634256" y="340072"/>
                </a:cubicBezTo>
                <a:cubicBezTo>
                  <a:pt x="635744" y="318244"/>
                  <a:pt x="619373" y="299269"/>
                  <a:pt x="597421" y="297656"/>
                </a:cubicBezTo>
                <a:close/>
                <a:moveTo>
                  <a:pt x="48369" y="50850"/>
                </a:moveTo>
                <a:lnTo>
                  <a:pt x="91777" y="94258"/>
                </a:lnTo>
                <a:cubicBezTo>
                  <a:pt x="40060" y="146596"/>
                  <a:pt x="6325" y="216793"/>
                  <a:pt x="744" y="294928"/>
                </a:cubicBezTo>
                <a:cubicBezTo>
                  <a:pt x="-744" y="316756"/>
                  <a:pt x="15627" y="335731"/>
                  <a:pt x="37579" y="337344"/>
                </a:cubicBezTo>
                <a:cubicBezTo>
                  <a:pt x="59531" y="338956"/>
                  <a:pt x="78383" y="322461"/>
                  <a:pt x="79995" y="300509"/>
                </a:cubicBezTo>
                <a:cubicBezTo>
                  <a:pt x="84088" y="242218"/>
                  <a:pt x="109265" y="189632"/>
                  <a:pt x="147960" y="150440"/>
                </a:cubicBezTo>
                <a:lnTo>
                  <a:pt x="187275" y="189756"/>
                </a:lnTo>
                <a:cubicBezTo>
                  <a:pt x="195833" y="198313"/>
                  <a:pt x="208607" y="200794"/>
                  <a:pt x="219770" y="196205"/>
                </a:cubicBezTo>
                <a:cubicBezTo>
                  <a:pt x="230932" y="191616"/>
                  <a:pt x="238125" y="180702"/>
                  <a:pt x="238125" y="168672"/>
                </a:cubicBezTo>
                <a:lnTo>
                  <a:pt x="238125" y="29766"/>
                </a:lnTo>
                <a:cubicBezTo>
                  <a:pt x="238125" y="13271"/>
                  <a:pt x="224854" y="0"/>
                  <a:pt x="208359" y="0"/>
                </a:cubicBezTo>
                <a:lnTo>
                  <a:pt x="69453" y="0"/>
                </a:lnTo>
                <a:cubicBezTo>
                  <a:pt x="57423" y="0"/>
                  <a:pt x="46509" y="7193"/>
                  <a:pt x="41920" y="18355"/>
                </a:cubicBezTo>
                <a:cubicBezTo>
                  <a:pt x="37331" y="29518"/>
                  <a:pt x="39936" y="42292"/>
                  <a:pt x="48369" y="50850"/>
                </a:cubicBezTo>
                <a:close/>
                <a:moveTo>
                  <a:pt x="297656" y="37579"/>
                </a:moveTo>
                <a:cubicBezTo>
                  <a:pt x="296168" y="59407"/>
                  <a:pt x="312539" y="78383"/>
                  <a:pt x="334491" y="79995"/>
                </a:cubicBezTo>
                <a:cubicBezTo>
                  <a:pt x="392782" y="84088"/>
                  <a:pt x="445368" y="109265"/>
                  <a:pt x="484560" y="147960"/>
                </a:cubicBezTo>
                <a:lnTo>
                  <a:pt x="445244" y="187275"/>
                </a:lnTo>
                <a:cubicBezTo>
                  <a:pt x="436687" y="195833"/>
                  <a:pt x="434206" y="208607"/>
                  <a:pt x="438795" y="219770"/>
                </a:cubicBezTo>
                <a:cubicBezTo>
                  <a:pt x="443384" y="230932"/>
                  <a:pt x="454298" y="238125"/>
                  <a:pt x="466328" y="238125"/>
                </a:cubicBezTo>
                <a:lnTo>
                  <a:pt x="605234" y="238125"/>
                </a:lnTo>
                <a:cubicBezTo>
                  <a:pt x="621729" y="238125"/>
                  <a:pt x="635000" y="224854"/>
                  <a:pt x="635000" y="208359"/>
                </a:cubicBezTo>
                <a:lnTo>
                  <a:pt x="635000" y="69453"/>
                </a:lnTo>
                <a:cubicBezTo>
                  <a:pt x="635000" y="57423"/>
                  <a:pt x="627807" y="46509"/>
                  <a:pt x="616645" y="41920"/>
                </a:cubicBezTo>
                <a:cubicBezTo>
                  <a:pt x="605482" y="37331"/>
                  <a:pt x="592708" y="39936"/>
                  <a:pt x="584150" y="48369"/>
                </a:cubicBezTo>
                <a:lnTo>
                  <a:pt x="540742" y="91777"/>
                </a:lnTo>
                <a:cubicBezTo>
                  <a:pt x="488404" y="40060"/>
                  <a:pt x="418207" y="6325"/>
                  <a:pt x="340072" y="744"/>
                </a:cubicBezTo>
                <a:cubicBezTo>
                  <a:pt x="318244" y="-744"/>
                  <a:pt x="299269" y="15627"/>
                  <a:pt x="297656" y="37579"/>
                </a:cubicBezTo>
                <a:close/>
                <a:moveTo>
                  <a:pt x="50850" y="586631"/>
                </a:moveTo>
                <a:lnTo>
                  <a:pt x="94258" y="543223"/>
                </a:lnTo>
                <a:cubicBezTo>
                  <a:pt x="146596" y="594940"/>
                  <a:pt x="216793" y="628675"/>
                  <a:pt x="294928" y="634256"/>
                </a:cubicBezTo>
                <a:cubicBezTo>
                  <a:pt x="316756" y="635744"/>
                  <a:pt x="335731" y="619373"/>
                  <a:pt x="337344" y="597421"/>
                </a:cubicBezTo>
                <a:cubicBezTo>
                  <a:pt x="338956" y="575469"/>
                  <a:pt x="322461" y="556617"/>
                  <a:pt x="300509" y="555005"/>
                </a:cubicBezTo>
                <a:cubicBezTo>
                  <a:pt x="242218" y="550912"/>
                  <a:pt x="189632" y="525735"/>
                  <a:pt x="150440" y="487040"/>
                </a:cubicBezTo>
                <a:lnTo>
                  <a:pt x="189756" y="447725"/>
                </a:lnTo>
                <a:cubicBezTo>
                  <a:pt x="198313" y="439167"/>
                  <a:pt x="200794" y="426393"/>
                  <a:pt x="196205" y="415230"/>
                </a:cubicBezTo>
                <a:cubicBezTo>
                  <a:pt x="191616" y="404068"/>
                  <a:pt x="180702" y="396875"/>
                  <a:pt x="168672" y="396875"/>
                </a:cubicBezTo>
                <a:lnTo>
                  <a:pt x="29766" y="396875"/>
                </a:lnTo>
                <a:cubicBezTo>
                  <a:pt x="13271" y="396875"/>
                  <a:pt x="0" y="410146"/>
                  <a:pt x="0" y="426641"/>
                </a:cubicBezTo>
                <a:lnTo>
                  <a:pt x="0" y="565547"/>
                </a:lnTo>
                <a:cubicBezTo>
                  <a:pt x="0" y="577577"/>
                  <a:pt x="7193" y="588491"/>
                  <a:pt x="18355" y="593080"/>
                </a:cubicBezTo>
                <a:cubicBezTo>
                  <a:pt x="29518" y="597669"/>
                  <a:pt x="42292" y="595064"/>
                  <a:pt x="50850" y="586631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540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r>
              <a:rPr lang="en-US" sz="2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badań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7592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Zaburzenie dwubiegunowe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419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Parametry snu predykują epizody maniakalne i depresyjne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60706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MONARCA II: n=129, 9 mies., poprawa jakości życia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842000" y="1143000"/>
            <a:ext cx="4572000" cy="711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569200" y="165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323205" y="0"/>
                  <a:pt x="328910" y="1240"/>
                  <a:pt x="334119" y="3597"/>
                </a:cubicBezTo>
                <a:lnTo>
                  <a:pt x="567779" y="102691"/>
                </a:lnTo>
                <a:cubicBezTo>
                  <a:pt x="595064" y="114226"/>
                  <a:pt x="615404" y="141139"/>
                  <a:pt x="615280" y="173633"/>
                </a:cubicBezTo>
                <a:cubicBezTo>
                  <a:pt x="614660" y="296664"/>
                  <a:pt x="564059" y="521767"/>
                  <a:pt x="350366" y="624086"/>
                </a:cubicBezTo>
                <a:cubicBezTo>
                  <a:pt x="329654" y="634008"/>
                  <a:pt x="305594" y="634008"/>
                  <a:pt x="284882" y="624086"/>
                </a:cubicBezTo>
                <a:cubicBezTo>
                  <a:pt x="71065" y="521767"/>
                  <a:pt x="20588" y="296664"/>
                  <a:pt x="19968" y="173633"/>
                </a:cubicBezTo>
                <a:cubicBezTo>
                  <a:pt x="19844" y="141139"/>
                  <a:pt x="40184" y="114226"/>
                  <a:pt x="67469" y="102691"/>
                </a:cubicBezTo>
                <a:lnTo>
                  <a:pt x="301005" y="3597"/>
                </a:lnTo>
                <a:cubicBezTo>
                  <a:pt x="306214" y="1240"/>
                  <a:pt x="311795" y="0"/>
                  <a:pt x="317500" y="0"/>
                </a:cubicBezTo>
                <a:close/>
                <a:moveTo>
                  <a:pt x="317500" y="82848"/>
                </a:moveTo>
                <a:lnTo>
                  <a:pt x="317500" y="551780"/>
                </a:lnTo>
                <a:cubicBezTo>
                  <a:pt x="488652" y="468933"/>
                  <a:pt x="534665" y="285378"/>
                  <a:pt x="535781" y="175493"/>
                </a:cubicBezTo>
                <a:lnTo>
                  <a:pt x="317500" y="82972"/>
                </a:lnTo>
                <a:lnTo>
                  <a:pt x="317500" y="82972"/>
                </a:ln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2540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37592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Czułość predykcji nawrotu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4419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CrossCheck: 108% wzrost anomalii behawioralnych przed nawrotem schizofrenii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0" y="60706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Specyficzność: 75% </a:t>
            </a:r>
            <a:r>
              <a:rPr lang="pl-PL" dirty="0" smtClean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br>
              <a:rPr lang="pl-PL" dirty="0" smtClean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</a:br>
            <a:r>
              <a:rPr lang="en-US" dirty="0" smtClean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r>
              <a:rPr lang="en-US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Henson et al., 2021)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922000" y="1143000"/>
            <a:ext cx="4572000" cy="711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49200" y="165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119062"/>
                </a:moveTo>
                <a:cubicBezTo>
                  <a:pt x="79375" y="97110"/>
                  <a:pt x="97110" y="79375"/>
                  <a:pt x="119062" y="79375"/>
                </a:cubicBezTo>
                <a:lnTo>
                  <a:pt x="317500" y="79375"/>
                </a:lnTo>
                <a:cubicBezTo>
                  <a:pt x="339452" y="79375"/>
                  <a:pt x="357188" y="97110"/>
                  <a:pt x="357188" y="119062"/>
                </a:cubicBezTo>
                <a:lnTo>
                  <a:pt x="357188" y="476250"/>
                </a:lnTo>
                <a:lnTo>
                  <a:pt x="476250" y="476250"/>
                </a:lnTo>
                <a:lnTo>
                  <a:pt x="476250" y="317500"/>
                </a:lnTo>
                <a:cubicBezTo>
                  <a:pt x="476250" y="295548"/>
                  <a:pt x="493985" y="277813"/>
                  <a:pt x="515937" y="277813"/>
                </a:cubicBezTo>
                <a:lnTo>
                  <a:pt x="595313" y="277813"/>
                </a:lnTo>
                <a:cubicBezTo>
                  <a:pt x="617265" y="277813"/>
                  <a:pt x="635000" y="295548"/>
                  <a:pt x="635000" y="317500"/>
                </a:cubicBezTo>
                <a:cubicBezTo>
                  <a:pt x="635000" y="339452"/>
                  <a:pt x="617265" y="357188"/>
                  <a:pt x="595313" y="357188"/>
                </a:cubicBezTo>
                <a:lnTo>
                  <a:pt x="555625" y="357188"/>
                </a:lnTo>
                <a:lnTo>
                  <a:pt x="555625" y="515937"/>
                </a:lnTo>
                <a:cubicBezTo>
                  <a:pt x="555625" y="537890"/>
                  <a:pt x="537890" y="555625"/>
                  <a:pt x="515937" y="555625"/>
                </a:cubicBezTo>
                <a:lnTo>
                  <a:pt x="317500" y="555625"/>
                </a:lnTo>
                <a:cubicBezTo>
                  <a:pt x="295548" y="555625"/>
                  <a:pt x="277813" y="537890"/>
                  <a:pt x="277813" y="515937"/>
                </a:cubicBezTo>
                <a:lnTo>
                  <a:pt x="277813" y="158750"/>
                </a:lnTo>
                <a:lnTo>
                  <a:pt x="158750" y="158750"/>
                </a:lnTo>
                <a:lnTo>
                  <a:pt x="158750" y="317500"/>
                </a:lnTo>
                <a:cubicBezTo>
                  <a:pt x="158750" y="339452"/>
                  <a:pt x="141015" y="357188"/>
                  <a:pt x="119062" y="357188"/>
                </a:cubicBezTo>
                <a:lnTo>
                  <a:pt x="39688" y="357188"/>
                </a:lnTo>
                <a:cubicBezTo>
                  <a:pt x="17735" y="357188"/>
                  <a:pt x="0" y="339452"/>
                  <a:pt x="0" y="317500"/>
                </a:cubicBezTo>
                <a:cubicBezTo>
                  <a:pt x="0" y="295548"/>
                  <a:pt x="17735" y="277813"/>
                  <a:pt x="39688" y="277813"/>
                </a:cubicBezTo>
                <a:lnTo>
                  <a:pt x="79375" y="277813"/>
                </a:lnTo>
                <a:lnTo>
                  <a:pt x="79375" y="119062"/>
                </a:ln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540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r>
              <a:rPr lang="en-US" sz="2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badań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37592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Schizofrenia</a:t>
            </a: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objawy negatywne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76000" y="4419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Akcelerometr jako zwalidowana miara objawów negatywnych: anhedonia, awolicja, obniżenie afektu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76000" y="60706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Strauss et al. 2022: r=-0.45 z BNSS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147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Źródła: </a:t>
            </a:r>
            <a:r>
              <a:rPr lang="en-US" sz="1400" i="1" u="sng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GlobalRPH 2025</a:t>
            </a: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400" i="1" u="sng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PMC 2023</a:t>
            </a: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Henson et al. 2021, Strauss et al. 2022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CZĘŚĆ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Algorytmy uczenia maszynowego i wyzwania metodologiczne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345725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Aspekty technologiczne i analityczne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800" y="4445000"/>
            <a:ext cx="606384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Metody uczenia maszynowego, przetwarzanie danych i ograniczenia metodologiczne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Na podstawie: ScienceDirect 2025, JMIR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Algorytmy uczenia maszynowego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" y="11176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Dominujące metody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regresja logistyczna, Random Forest, SVM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tradycyjne techniki ML dominują w analizie danych fenotypowania cyfrowego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89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092200" y="23114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sprawdza się przy danych strukturalnych; dobrze radzi sobie z cechami wysoce skorelowanymi (typowymi dla danych sensorowych)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7084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" y="35052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lepiej modeluje zależności czasowe w danych behawioralnych; szczególnie użyteczny w predykcji epizodów nawrotu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927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" y="47752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XAI (Explainable AI)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wartości SHAP umożliwiają interpretację decyzji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modelu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kluczowe w kontekście klinicznym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096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" y="59690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Przykład interpretacji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SHAP wykazał ujemną relację między liczbą trajektorii GPS a prawdopodobieństwem depresji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162800"/>
            <a:ext cx="69342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7289800"/>
            <a:ext cx="6426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Kluczowe: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 psychiatrii precyzyjnej interpretowalność modelu jest równie ważna jak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jego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pl-PL" sz="18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dokładność</a:t>
            </a:r>
            <a:r>
              <a:rPr lang="pl-PL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r>
              <a:rPr lang="en-US" sz="18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pl-PL" sz="18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r>
              <a:rPr lang="en-US" sz="1800" dirty="0" err="1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linicysta</a:t>
            </a:r>
            <a:r>
              <a:rPr lang="en-US" sz="18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musi rozumieć podstawy decyzji algorytmu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1143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90000" y="133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1143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Ekstrakcja cech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9350" y="2133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27686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90000" y="2959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0" y="27686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Selekcja (Boruta)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9350" y="3759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</p:sp>
      <p:sp>
        <p:nvSpPr>
          <p:cNvPr id="26" name="Shape 24"/>
          <p:cNvSpPr/>
          <p:nvPr/>
        </p:nvSpPr>
        <p:spPr>
          <a:xfrm>
            <a:off x="8636000" y="43942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39200" y="45847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43942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+ SHAP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92000" y="13335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GPS, akcelerometr, aplikacje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192000" y="29591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Wybór cech informatywnych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92000" y="45847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Predykcja + interpretacja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5461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Rys. 3: Pipeline analityczny w fenotypowaniu cyfrowym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36000" y="60960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0800" y="6273800"/>
            <a:ext cx="650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Hybrydowe podejścia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40800" y="6781800"/>
            <a:ext cx="6502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Najnowsze badania wskazują, że modele hybrydowe łączące Random Forest z LSTM oraz dane pasywne z aktywnymi wykazują największy potencjał kliniczny. Balanced accuracy w predykcji epizodów: 58–73%.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Wyzwania metodologiczne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1430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430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473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14224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Niewielkie i niejednorodne próby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6800" y="20574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Rozmiary prób: od &lt;10 do &gt;18 000 uczestników, mediana n=52 (IQR=26–126). Większość badań ma charakter obserwacyjny. Wysoka stopa attrycji utrudnia uzyskanie wiarygodnych wyników.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432800" y="11430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32800" y="11430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3" name="Shape 11"/>
          <p:cNvSpPr/>
          <p:nvPr/>
        </p:nvSpPr>
        <p:spPr>
          <a:xfrm>
            <a:off x="8788400" y="14732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9321800" y="14224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Brak standaryzacji raportowania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37600" y="20574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Niepełne opisy sensorów, ograniczone raportowanie jakości danych (częstotliwość próbkowania, braki), heterogeniczne praktyki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walidacyjne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ogranicza odtwarzalność i porównywalność badań.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62000" y="49276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9276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7600" y="525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52400" y="196850"/>
                </a:moveTo>
                <a:cubicBezTo>
                  <a:pt x="165179" y="196850"/>
                  <a:pt x="175577" y="207248"/>
                  <a:pt x="175577" y="220027"/>
                </a:cubicBezTo>
                <a:cubicBezTo>
                  <a:pt x="175577" y="226933"/>
                  <a:pt x="173117" y="231061"/>
                  <a:pt x="170101" y="234077"/>
                </a:cubicBezTo>
                <a:cubicBezTo>
                  <a:pt x="166529" y="237569"/>
                  <a:pt x="161607" y="240030"/>
                  <a:pt x="156766" y="241618"/>
                </a:cubicBezTo>
                <a:cubicBezTo>
                  <a:pt x="144939" y="245586"/>
                  <a:pt x="133350" y="256937"/>
                  <a:pt x="133350" y="272971"/>
                </a:cubicBezTo>
                <a:cubicBezTo>
                  <a:pt x="133350" y="283528"/>
                  <a:pt x="141843" y="292021"/>
                  <a:pt x="152400" y="292021"/>
                </a:cubicBezTo>
                <a:cubicBezTo>
                  <a:pt x="161528" y="292021"/>
                  <a:pt x="169227" y="285591"/>
                  <a:pt x="171053" y="276939"/>
                </a:cubicBezTo>
                <a:cubicBezTo>
                  <a:pt x="186293" y="271304"/>
                  <a:pt x="213678" y="256064"/>
                  <a:pt x="213678" y="219948"/>
                </a:cubicBezTo>
                <a:cubicBezTo>
                  <a:pt x="213678" y="186134"/>
                  <a:pt x="186214" y="158671"/>
                  <a:pt x="152400" y="158671"/>
                </a:cubicBezTo>
                <a:cubicBezTo>
                  <a:pt x="118586" y="158671"/>
                  <a:pt x="91123" y="186134"/>
                  <a:pt x="91123" y="219948"/>
                </a:cubicBezTo>
                <a:cubicBezTo>
                  <a:pt x="91123" y="230505"/>
                  <a:pt x="99616" y="238998"/>
                  <a:pt x="110173" y="238998"/>
                </a:cubicBezTo>
                <a:cubicBezTo>
                  <a:pt x="120729" y="238998"/>
                  <a:pt x="129223" y="230505"/>
                  <a:pt x="129223" y="219948"/>
                </a:cubicBezTo>
                <a:cubicBezTo>
                  <a:pt x="129223" y="207169"/>
                  <a:pt x="139621" y="196771"/>
                  <a:pt x="152400" y="196771"/>
                </a:cubicBezTo>
                <a:close/>
                <a:moveTo>
                  <a:pt x="174625" y="330200"/>
                </a:moveTo>
                <a:cubicBezTo>
                  <a:pt x="174625" y="317897"/>
                  <a:pt x="164703" y="307975"/>
                  <a:pt x="152400" y="307975"/>
                </a:cubicBezTo>
                <a:cubicBezTo>
                  <a:pt x="140097" y="307975"/>
                  <a:pt x="130175" y="317897"/>
                  <a:pt x="130175" y="330200"/>
                </a:cubicBezTo>
                <a:cubicBezTo>
                  <a:pt x="130175" y="342503"/>
                  <a:pt x="140097" y="352425"/>
                  <a:pt x="152400" y="352425"/>
                </a:cubicBezTo>
                <a:cubicBezTo>
                  <a:pt x="164703" y="352425"/>
                  <a:pt x="174625" y="342503"/>
                  <a:pt x="174625" y="330200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207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Dominacja samoopisów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66800" y="58420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Większość badań opiera się na samoopisach stanu psychicznego (skale kliniczne), a nie na pasywnych danych sensorowych. Tylko 23% skupia się na diagnostyce, a 3% na interwencjach.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432800" y="49276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2800" y="49276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737600" y="525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21800" y="5207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Bias i braki danych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37600" y="5842000"/>
            <a:ext cx="655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Bias w doborze próbki oraz brakujące dane to główne wyzwania. Problemy z rekrutacją utrzymującym się uczestników i różnice międzyplatformowe (Android vs iOS) komplikują generalizację wyników.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CZĘŚĆ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Prywatność, zgoda świadoma, bias algorytmiczny i odpowiedzialność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345725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Wyzwania etyczne i prawne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800" y="4456250"/>
            <a:ext cx="543881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Analiza kwestii prywatności, zgody świadomej, RODO oraz biasu algorytmicznego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Na podstawie: JMIR mHealth 2021, Springer 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Prywatność, zgoda świadoma i RODO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939800"/>
            <a:ext cx="7213600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939800"/>
            <a:ext cx="7213600" cy="101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Zgoda świadoma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consent w kontekście pasywnego monitoringu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2209800"/>
            <a:ext cx="6604000" cy="0"/>
          </a:xfrm>
          <a:prstGeom prst="straightConnector1">
            <a:avLst/>
          </a:prstGeom>
          <a:noFill/>
          <a:ln w="12700">
            <a:solidFill>
              <a:srgbClr val="2C5F8A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66800" y="23876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Użytkownicy nie zdają sobie sprawy, jak dane „niewinne" (tapsy ekranu, lokalizacja) mogą ujawniać wrażliwe informacje o stanie psychicznym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Badanie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Delphi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(JMIR 2021): silna zgoda ekspertów co do potrzeby ochrony prywatności, transparentności i zgody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Osoby z zaburzeniami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psychicznymi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wahania zdolności decyzyjnych utrudniają wyrażenie świadomej zgody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Zgoda powinna być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procesem ciągłym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 nie jednorazowym wydarzeniem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80400" y="939800"/>
            <a:ext cx="7213600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E07B54">
                <a:alpha val="941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0400" y="939800"/>
            <a:ext cx="7213600" cy="1016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4" name="Text 12"/>
          <p:cNvSpPr/>
          <p:nvPr/>
        </p:nvSpPr>
        <p:spPr>
          <a:xfrm>
            <a:off x="8585200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RODO i re-identyfikacja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852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Regulacje prawne i ryzyka danych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85200" y="2209800"/>
            <a:ext cx="6604000" cy="0"/>
          </a:xfrm>
          <a:prstGeom prst="straightConnector1">
            <a:avLst/>
          </a:prstGeom>
          <a:noFill/>
          <a:ln w="12700">
            <a:solidFill>
              <a:srgbClr val="E07B54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585200" y="23876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RODO/GDPR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wymaga jasnej informacji o celu i czasie przechowywania danych; dane zdrowotne to kategoria szczególna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Re-identyfikacja danych zanonimizowanych staje się coraz łatwiejsza dzięki zaawansowanej analityce i dostępności publicznych baz danych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Dane surowe (raw data) nie mogą być uznane za „nieidentyfikujące"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zgoda powinna być normą przy udostępnianiu danych osobowych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HIPAA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(USA) nie obejmuje nowych form danych identyfikujących, takich jak kinematyka naciśnięć klawiszy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254000" y="1778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Liter" pitchFamily="34" charset="-122"/>
                <a:cs typeface="Liter" pitchFamily="34" charset="-120"/>
              </a:rPr>
              <a:t>Bias algorytmiczny i sprawiedliwość</a:t>
            </a:r>
            <a:endParaRPr lang="en-US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2000" y="1092200"/>
          <a:ext cx="72136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289800"/>
            <a:ext cx="7213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Rys. 4: Cel badań fenotypowania cyfrowego (n=65)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10922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+mj-lt"/>
                <a:ea typeface="Liter" pitchFamily="34" charset="-122"/>
                <a:cs typeface="Liter" pitchFamily="34" charset="-120"/>
              </a:rPr>
              <a:t>Bias w doborze próbki</a:t>
            </a:r>
            <a:endParaRPr lang="en-US" sz="2000" dirty="0"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382000" y="16002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8382000" y="1727200"/>
            <a:ext cx="787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Badania często obejmują wykształconych, młodych użytkowników Androida. W badaniu NESDA wykluczono użytkowników iOS </a:t>
            </a:r>
            <a:r>
              <a:rPr lang="en-US" sz="2000" dirty="0" err="1" smtClean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ryzyko</a:t>
            </a:r>
            <a:r>
              <a:rPr lang="en-US" sz="2000" dirty="0" smtClean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wykluczenia grup defaworyzowanych.</a:t>
            </a:r>
            <a:endParaRPr lang="en-US" dirty="0">
              <a:latin typeface="Liter" panose="020B0604020202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382000" y="3429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+mj-lt"/>
                <a:ea typeface="Liter" pitchFamily="34" charset="-122"/>
                <a:cs typeface="Liter" pitchFamily="34" charset="-120"/>
              </a:rPr>
              <a:t>Medykalizacja normy</a:t>
            </a:r>
            <a:endParaRPr lang="en-US" sz="2000" dirty="0">
              <a:latin typeface="+mj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82000" y="39370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8382000" y="4064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AI może prowadzić do medykalizacji normalnych zachowań </a:t>
            </a:r>
            <a:r>
              <a:rPr lang="en-US" sz="2000" dirty="0" smtClean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np. zmniejszenie aktywności społecznej u nastolatków (norma rozwojowa) może być klasyfikowane jako patologia.</a:t>
            </a:r>
            <a:endParaRPr lang="en-US" dirty="0">
              <a:latin typeface="Liter" panose="020B06040202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82000" y="57658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C5F8A"/>
                </a:solidFill>
                <a:latin typeface="+mj-lt"/>
                <a:ea typeface="Liter" pitchFamily="34" charset="-122"/>
                <a:cs typeface="Liter" pitchFamily="34" charset="-120"/>
              </a:rPr>
              <a:t>Brak różnorodności kulturowej</a:t>
            </a:r>
            <a:endParaRPr lang="en-US" sz="2000" dirty="0">
              <a:latin typeface="+mj-lt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382000" y="6273800"/>
            <a:ext cx="711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8382000" y="64008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Badania zachodnie </a:t>
            </a:r>
            <a:r>
              <a:rPr lang="en-US" sz="2000" dirty="0" err="1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dominują</a:t>
            </a: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anose="020B0604020202020204" charset="0"/>
                <a:ea typeface="Liter" pitchFamily="34" charset="-122"/>
                <a:cs typeface="Liter" pitchFamily="34" charset="-120"/>
              </a:rPr>
              <a:t>brak danych z innych kontekstów kulturowych. Koncepcja zdrowia psychicznego różni się między kulturami, co wpływa na walidację narzędzi.</a:t>
            </a:r>
            <a:endParaRPr lang="en-US" dirty="0">
              <a:latin typeface="Liter" panose="020B06040202020202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382000" y="8178800"/>
            <a:ext cx="7112000" cy="7112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6000" y="8255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Wniosek: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Dane zdeidentyfikowane wymagają ochrony.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CZĘŚĆ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Kierunki rozwoju, ograniczenia i wnioski końcowe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328785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Perspektywy i podsumowanie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0800" y="4442746"/>
            <a:ext cx="514944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Przyszłe kierunki badań, ograniczenia obecne i synteza wiedzy o fenotypowaniu cyfrowym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Podsumowanie na podstawie przeglądów literatury 2023–2026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Przyszłość i ograniczenia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939800"/>
            <a:ext cx="7213600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939800"/>
            <a:ext cx="7213600" cy="101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Kierunki rozwoju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2209800"/>
            <a:ext cx="6604000" cy="0"/>
          </a:xfrm>
          <a:prstGeom prst="straightConnector1">
            <a:avLst/>
          </a:prstGeom>
          <a:noFill/>
          <a:ln w="12700">
            <a:solidFill>
              <a:srgbClr val="2C5F8A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66800" y="23876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Multimodalna fuzja sensorów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smartfon + smartwatch + czujniki otoczenia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Integracja z EHR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połączenie danych cyfrowych z elektroniczną dokumentacją medyczną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Standaryzacja biomarkerów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cyfrowe biomarkery dla psychiatrii precyzyjnej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Hybrydowe modele ML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połączenie RF + LSTM + XAI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Psychiatria precyzyjna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dopasowanie interwencji do profilu jednostkowego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80400" y="939800"/>
            <a:ext cx="7213600" cy="787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E07B54">
                <a:alpha val="941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0400" y="939800"/>
            <a:ext cx="7213600" cy="101600"/>
          </a:xfrm>
          <a:prstGeom prst="rect">
            <a:avLst/>
          </a:prstGeom>
          <a:solidFill>
            <a:srgbClr val="E07B54"/>
          </a:solidFill>
          <a:ln/>
        </p:spPr>
      </p:sp>
      <p:sp>
        <p:nvSpPr>
          <p:cNvPr id="14" name="Text 12"/>
          <p:cNvSpPr/>
          <p:nvPr/>
        </p:nvSpPr>
        <p:spPr>
          <a:xfrm>
            <a:off x="8585200" y="12192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Ograniczenia obecne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852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85200" y="2209800"/>
            <a:ext cx="6604000" cy="0"/>
          </a:xfrm>
          <a:prstGeom prst="straightConnector1">
            <a:avLst/>
          </a:prstGeom>
          <a:noFill/>
          <a:ln w="12700">
            <a:solidFill>
              <a:srgbClr val="E07B54">
                <a:alpha val="26667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585200" y="23876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Dokładność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balanced accuracy 58–73%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poniżej progów klinicznych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Brak standaryzacji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heterogeniczne metody, trudna replikacja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Małe próby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mediana n=52, wysoka attrycja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Brak interwencji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tylko 3% badań ocenia interwencje</a:t>
            </a:r>
            <a:endParaRPr lang="en-US" sz="1600" dirty="0"/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Narzędzie wspierające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nie zastępuje oceny klinicznej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Podsumowanie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" y="11176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Definicja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Fenotypowanie cyfrowe to metoda częstego i ciągłego pomiaru fenotypu człowieka w naturalnym kontekście, wykorzystująca dane z urządzeń cyfrowych (Onnela &amp; Rauch, 2016)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286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1092200" y="20828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Dowody kliniczne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Najsilniejsze dowody dotyczą depresji (n=16), zaburzeń dwubiegunowych (n=11) i schizofrenii (n=8)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markery behawioralne korelują z objawami klinicznymi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" y="30480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Metody analityczne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Dominują tradycyjne metody ML (RF, regresja logistyczna); XAI (SHAP) poprawia interpretowalność; balanced accuracy: 58–73%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318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" y="40132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Wyzwania etyczne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Prywatność, zgoda świadoma, bias w doborze próbki, re-identyfikacja danych, medykalizacja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normy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wymagają kompleksowych ram etycznych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" y="49784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Przyszłość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Multimodalne sensory, integracja z EHR, standaryzacja cyfrowych biomarkerów, rozwój psychiatrii precyzyjnej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35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" y="59436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obecny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Narzędzie wspierające decyzje kliniczne, nie zastępujące oceny </a:t>
            </a:r>
            <a:r>
              <a:rPr lang="en-US" sz="20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psychiatrycznej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jego miejscu w praktyce zdecydują walidacja i realna korzyść dla pacjenta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9596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70612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Konkluzja: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Fenotypowanie cyfrowe reprezentuje fundamentalną zmianę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paradygmatu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 smtClean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 subiektywnej, epizodycznej oceny psychiatrycznej do ciągłego, obiektywnego pomiaru zachowań w naturalnym środowisku pacjenta. Jego pełna realizacja kliniczna wymaga jednak przezwyciężenia istotnych barier metodologicznych, etycznych i regulacyjnych.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1905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Dziękuję za uwagę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2921000"/>
            <a:ext cx="1016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3632200"/>
            <a:ext cx="16256000" cy="3048000"/>
          </a:xfrm>
          <a:prstGeom prst="rect">
            <a:avLst/>
          </a:prstGeom>
          <a:solidFill>
            <a:srgbClr val="F5F9FD"/>
          </a:solidFill>
          <a:ln/>
        </p:spPr>
      </p:sp>
      <p:sp>
        <p:nvSpPr>
          <p:cNvPr id="6" name="Shape 4"/>
          <p:cNvSpPr/>
          <p:nvPr/>
        </p:nvSpPr>
        <p:spPr>
          <a:xfrm>
            <a:off x="5588000" y="3556000"/>
            <a:ext cx="5080000" cy="0"/>
          </a:xfrm>
          <a:prstGeom prst="straightConnector1">
            <a:avLst/>
          </a:prstGeom>
          <a:noFill/>
          <a:ln w="25400">
            <a:solidFill>
              <a:srgbClr val="E07B5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048000" y="4165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Fenotypowanie cyfrowe: Nowa era w ocenie zdrowia psychicznego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49900" y="53213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80100" y="5613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2C5F8A"/>
          </a:solidFill>
          <a:ln/>
        </p:spPr>
      </p:sp>
      <p:sp>
        <p:nvSpPr>
          <p:cNvPr id="10" name="Text 8"/>
          <p:cNvSpPr/>
          <p:nvPr/>
        </p:nvSpPr>
        <p:spPr>
          <a:xfrm>
            <a:off x="6591300" y="5473700"/>
            <a:ext cx="39878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Pytania i dyskusja Q&amp;A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8229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Literatura: Onnela &amp; Rauch (2016), JMIR Scoping Review (2026), PMC (2023), Springer AI Ethics (2025), GlobalRPH (2025)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1766</Words>
  <Application>Microsoft Office PowerPoint</Application>
  <PresentationFormat>Niestandardowy</PresentationFormat>
  <Paragraphs>217</Paragraphs>
  <Slides>18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3" baseType="lpstr">
      <vt:lpstr>Liter</vt:lpstr>
      <vt:lpstr>Calibri Light</vt:lpstr>
      <vt:lpstr>Arial</vt:lpstr>
      <vt:lpstr>Calibri</vt:lpstr>
      <vt:lpstr>Custom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Fenotypowanie cyfrowe</dc:title>
  <dc:subject>Fenotypowanie cyfrowe</dc:subject>
  <dc:creator>Kimi</dc:creator>
  <cp:lastModifiedBy>Mateusz Pomianek</cp:lastModifiedBy>
  <cp:revision>10</cp:revision>
  <dcterms:created xsi:type="dcterms:W3CDTF">2026-06-01T22:35:21Z</dcterms:created>
  <dcterms:modified xsi:type="dcterms:W3CDTF">2026-06-01T22:47:04Z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{"Label":"Fenotypowanie cyfrowe","ContentProducer":"001191110108MACG2KBH8F10000","ProduceID":"19e854f5-6502-8e7d-8000-0000389f59f8","ReservedCode1":"","ContentPropagator":"001191110108MACG2KBH8F20000","PropagateID":"19e854f5-6502-8e7d-8000-0000389f59f8","</vt:lpwstr>
  </property>
</Properties>
</file>