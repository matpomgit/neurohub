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chart2.xml" ContentType="application/vnd.openxmlformats-officedocument.drawingml.chart+xml"/>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RR</c:v>
                </c:pt>
              </c:strCache>
            </c:strRef>
          </c:tx>
          <c:spPr>
            <a:solidFill>
              <a:srgbClr val="e8743a"/>
            </a:solidFill>
            <a:ln w="0">
              <a:noFill/>
            </a:ln>
          </c:spPr>
          <c:invertIfNegative val="0"/>
          <c:dLbls>
            <c:numFmt formatCode="0.0\×" sourceLinked="0"/>
            <c:txPr>
              <a:bodyPr wrap="square"/>
              <a:lstStyle/>
              <a:p>
                <a:pPr>
                  <a:defRPr sz="1100" b="0" u="none" strike="noStrike">
                    <a:solidFill>
                      <a:srgbClr val="1b2148"/>
                    </a:solidFill>
                    <a:uFillTx/>
                    <a:latin typeface="Calibri"/>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Zaburzenia używania alkoholu</c:v>
                </c:pt>
                <c:pt idx="1">
                  <c:v>Zaburzenia używania konopi</c:v>
                </c:pt>
                <c:pt idx="2">
                  <c:v>Zaburzenia używania narkotyków</c:v>
                </c:pt>
                <c:pt idx="3">
                  <c:v>Zaburzenia używania nikotyny</c:v>
                </c:pt>
                <c:pt idx="4">
                  <c:v>Palenie nikotyny</c:v>
                </c:pt>
              </c:strCache>
            </c:strRef>
          </c:cat>
          <c:val>
            <c:numRef>
              <c:f>0</c:f>
              <c:numCache>
                <c:formatCode>General</c:formatCode>
                <c:ptCount val="5"/>
                <c:pt idx="0">
                  <c:v>2.4</c:v>
                </c:pt>
                <c:pt idx="1">
                  <c:v>3.1</c:v>
                </c:pt>
                <c:pt idx="2">
                  <c:v>3.4</c:v>
                </c:pt>
                <c:pt idx="3">
                  <c:v>4.3</c:v>
                </c:pt>
                <c:pt idx="4">
                  <c:v>4.7</c:v>
                </c:pt>
              </c:numCache>
            </c:numRef>
          </c:val>
        </c:ser>
        <c:gapWidth val="35"/>
        <c:overlap val="0"/>
        <c:axId val="59288376"/>
        <c:axId val="21053387"/>
      </c:barChart>
      <c:catAx>
        <c:axId val="59288376"/>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050" b="0" u="none" strike="noStrike">
                <a:solidFill>
                  <a:srgbClr val="1b2148"/>
                </a:solidFill>
                <a:uFillTx/>
                <a:latin typeface="Calibri"/>
                <a:ea typeface="DejaVu Sans"/>
              </a:defRPr>
            </a:pPr>
          </a:p>
        </c:txPr>
        <c:crossAx val="21053387"/>
        <c:crosses val="autoZero"/>
        <c:auto val="1"/>
        <c:lblAlgn val="ctr"/>
        <c:lblOffset val="100"/>
        <c:noMultiLvlLbl val="0"/>
      </c:catAx>
      <c:valAx>
        <c:axId val="21053387"/>
        <c:scaling>
          <c:orientation val="minMax"/>
          <c:max val="5"/>
          <c:min val="0"/>
        </c:scaling>
        <c:delete val="0"/>
        <c:axPos val="l"/>
        <c:majorGridlines>
          <c:spPr>
            <a:ln w="6480">
              <a:solidFill>
                <a:srgbClr val="e2e6f0"/>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96a0bc"/>
                </a:solidFill>
                <a:uFillTx/>
                <a:latin typeface="Calibri"/>
                <a:ea typeface="DejaVu Sans"/>
              </a:defRPr>
            </a:pPr>
          </a:p>
        </c:txPr>
        <c:crossAx val="59288376"/>
        <c:crosses val="autoZero"/>
        <c:crossBetween val="between"/>
      </c:valAx>
      <c:spPr>
        <a:noFill/>
        <a:ln w="0">
          <a:noFill/>
        </a:ln>
      </c:spPr>
    </c:plotArea>
    <c:plotVisOnly val="1"/>
    <c:dispBlanksAs val="span"/>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d</c:v>
                </c:pt>
              </c:strCache>
            </c:strRef>
          </c:tx>
          <c:spPr>
            <a:solidFill>
              <a:srgbClr val="c23b4b"/>
            </a:solidFill>
            <a:ln w="0">
              <a:noFill/>
            </a:ln>
          </c:spPr>
          <c:invertIfNegative val="0"/>
          <c:dLbls>
            <c:numFmt formatCode="0.00" sourceLinked="0"/>
            <c:txPr>
              <a:bodyPr wrap="square"/>
              <a:lstStyle/>
              <a:p>
                <a:pPr>
                  <a:defRPr sz="1050" b="0" u="none" strike="noStrike">
                    <a:solidFill>
                      <a:srgbClr val="1b2148"/>
                    </a:solidFill>
                    <a:uFillTx/>
                    <a:latin typeface="Calibri"/>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Relacje interpersonalne</c:v>
                </c:pt>
                <c:pt idx="1">
                  <c:v>Zatrudnienie</c:v>
                </c:pt>
                <c:pt idx="2">
                  <c:v>Osiągnięcia edukacyjne</c:v>
                </c:pt>
                <c:pt idx="3">
                  <c:v>Dochody</c:v>
                </c:pt>
                <c:pt idx="4">
                  <c:v>Pewność siebie / samoocena</c:v>
                </c:pt>
                <c:pt idx="5">
                  <c:v>Jakość życia</c:v>
                </c:pt>
                <c:pt idx="6">
                  <c:v>Zdrowie psychiczne</c:v>
                </c:pt>
              </c:strCache>
            </c:strRef>
          </c:cat>
          <c:val>
            <c:numRef>
              <c:f>0</c:f>
              <c:numCache>
                <c:formatCode>General</c:formatCode>
                <c:ptCount val="7"/>
                <c:pt idx="0">
                  <c:v>-0.57</c:v>
                </c:pt>
                <c:pt idx="1">
                  <c:v>-0.58</c:v>
                </c:pt>
                <c:pt idx="2">
                  <c:v>-0.61</c:v>
                </c:pt>
                <c:pt idx="3">
                  <c:v>-0.66</c:v>
                </c:pt>
                <c:pt idx="4">
                  <c:v>-0.72</c:v>
                </c:pt>
                <c:pt idx="5">
                  <c:v>-0.73</c:v>
                </c:pt>
                <c:pt idx="6">
                  <c:v>-0.81</c:v>
                </c:pt>
              </c:numCache>
            </c:numRef>
          </c:val>
        </c:ser>
        <c:gapWidth val="30"/>
        <c:overlap val="0"/>
        <c:axId val="90841845"/>
        <c:axId val="25244638"/>
      </c:barChart>
      <c:catAx>
        <c:axId val="90841845"/>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000" b="0" u="none" strike="noStrike">
                <a:solidFill>
                  <a:srgbClr val="1b2148"/>
                </a:solidFill>
                <a:uFillTx/>
                <a:latin typeface="Calibri"/>
                <a:ea typeface="DejaVu Sans"/>
              </a:defRPr>
            </a:pPr>
          </a:p>
        </c:txPr>
        <c:crossAx val="25244638"/>
        <c:crosses val="autoZero"/>
        <c:auto val="1"/>
        <c:lblAlgn val="ctr"/>
        <c:lblOffset val="100"/>
        <c:noMultiLvlLbl val="0"/>
      </c:catAx>
      <c:valAx>
        <c:axId val="25244638"/>
        <c:scaling>
          <c:orientation val="minMax"/>
          <c:max val="0"/>
          <c:min val="-1"/>
        </c:scaling>
        <c:delete val="0"/>
        <c:axPos val="l"/>
        <c:majorGridlines>
          <c:spPr>
            <a:ln w="6480">
              <a:solidFill>
                <a:srgbClr val="e2e6f0"/>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96a0bc"/>
                </a:solidFill>
                <a:uFillTx/>
                <a:latin typeface="Calibri"/>
                <a:ea typeface="DejaVu Sans"/>
              </a:defRPr>
            </a:pPr>
          </a:p>
        </c:txPr>
        <c:crossAx val="90841845"/>
        <c:crosses val="autoZero"/>
        <c:crossBetween val="between"/>
      </c:valAx>
      <c:spPr>
        <a:noFill/>
        <a:ln w="0">
          <a:noFill/>
        </a:ln>
      </c:spPr>
    </c:plotArea>
    <c:plotVisOnly val="1"/>
    <c:dispBlanksAs val="span"/>
  </c:chart>
  <c:spPr>
    <a:solidFill>
      <a:srgbClr val="ffffff"/>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pl-PL" sz="4400" b="0" u="none" strike="noStrike">
                <a:solidFill>
                  <a:srgbClr val="000000"/>
                </a:solidFill>
                <a:effectLst/>
                <a:uFillTx/>
                <a:latin typeface="Arial"/>
              </a:rPr>
              <a:t>Kliknij, aby przesunąć slajd</a:t>
            </a:r>
            <a:endParaRPr lang="pl-PL" sz="4400" b="0" u="none" strike="noStrike">
              <a:solidFill>
                <a:srgbClr val="000000"/>
              </a:solidFill>
              <a:effectLst/>
              <a:uFillTx/>
              <a:latin typeface="Arial"/>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pl-PL" sz="2000" b="0" u="none" strike="noStrike">
                <a:solidFill>
                  <a:srgbClr val="000000"/>
                </a:solidFill>
                <a:effectLst/>
                <a:uFillTx/>
                <a:latin typeface="Arial"/>
              </a:rPr>
              <a:t>Kliknij, aby edytować format notatek</a:t>
            </a:r>
            <a:endParaRPr lang="pl-PL"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pl-PL" sz="1400" b="0" u="none" strike="noStrike">
                <a:solidFill>
                  <a:srgbClr val="000000"/>
                </a:solidFill>
                <a:effectLst/>
                <a:uFillTx/>
                <a:latin typeface="Times New Roman"/>
              </a:rPr>
              <a:t>&lt;główka&gt;</a:t>
            </a:r>
            <a:endParaRPr lang="pl-PL"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&lt;data/godzina&gt;</a:t>
            </a:r>
            <a:endParaRPr lang="pl-PL"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pl-PL" sz="1400" b="0" u="none" strike="noStrike">
                <a:solidFill>
                  <a:srgbClr val="000000"/>
                </a:solidFill>
                <a:effectLst/>
                <a:uFillTx/>
                <a:latin typeface="Times New Roman"/>
              </a:defRPr>
            </a:lvl1pPr>
          </a:lstStyle>
          <a:p>
            <a:pPr indent="0">
              <a:buNone/>
            </a:pPr>
            <a:r>
              <a:rPr lang="pl-PL" sz="1400" b="0" u="none" strike="noStrike">
                <a:solidFill>
                  <a:srgbClr val="000000"/>
                </a:solidFill>
                <a:effectLst/>
                <a:uFillTx/>
                <a:latin typeface="Times New Roman"/>
              </a:rPr>
              <a:t>&lt;stopka&gt;</a:t>
            </a:r>
            <a:endParaRPr lang="pl-PL"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59CC3D71-1E26-4404-AFF3-D75722FE1084}" type="slidenum">
              <a:rPr lang="pl-PL" sz="1400" b="0" u="none" strike="noStrike">
                <a:solidFill>
                  <a:srgbClr val="000000"/>
                </a:solidFill>
                <a:effectLst/>
                <a:uFillTx/>
                <a:latin typeface="Times New Roman"/>
              </a:rPr>
              <a:t>&lt;numer&gt;</a:t>
            </a:fld>
            <a:endParaRPr lang="pl-P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5680" cy="3085560"/>
          </a:xfrm>
          <a:prstGeom prst="rect">
            <a:avLst/>
          </a:prstGeom>
          <a:ln w="0">
            <a:noFill/>
          </a:ln>
        </p:spPr>
      </p:sp>
      <p:sp>
        <p:nvSpPr>
          <p:cNvPr id="41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Slajd tytułowy. Raport syntetyzuje dowody na temat funkcjonalnych następstw ADHD wykraczających poza klasyczną triadę nieuwaga–nadruchliwość–impulsywność: ryzyko uzależnień, współchorobowość psychiatryczną, przestępczość, wyniki edukacyjne i zawodowe, funkcjonowanie rodzinne oraz koszty społeczne. Kluczowe przesłanie całego wystąpienia: ADHD to przewlekły czynnik podatności, którego konsekwencje są w dużej mierze modyfikowalne przez wczesną diagnozę i leczenie wielomodalne — co będzie pokazane na danych z rejestrów, metaanaliz i dużych badań kohortowych.</a:t>
            </a:r>
            <a:endParaRPr lang="pl-PL" sz="2000" b="0" u="none" strike="noStrike">
              <a:solidFill>
                <a:srgbClr val="000000"/>
              </a:solidFill>
              <a:effectLst/>
              <a:uFillTx/>
              <a:latin typeface="Arial"/>
            </a:endParaRPr>
          </a:p>
        </p:txBody>
      </p:sp>
      <p:sp>
        <p:nvSpPr>
          <p:cNvPr id="412"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071CDE0D-E610-40EA-AB6D-B097B37F5B3D}"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685800" y="1143000"/>
            <a:ext cx="5485680" cy="3085560"/>
          </a:xfrm>
          <a:prstGeom prst="rect">
            <a:avLst/>
          </a:prstGeom>
          <a:ln w="0">
            <a:noFill/>
          </a:ln>
        </p:spPr>
      </p:sp>
      <p:sp>
        <p:nvSpPr>
          <p:cNvPr id="41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Celem raportu jest ocena, czy ADHD zwiększa ryzyko rozwinięcia uzależnienia, utrzymywania się problemu i trudności z abstynencją, a także analiza wpływu ADHD na współchorobowość psychiatryczną, przestępczość, edukację, zatrudnienie, relacje i życie rodzinne. Osobno omówiono koszty ekonomiczne i pozafinansowe oraz zakres, w jakim leczenie ADHD może ograniczać opisane ryzyka. Te pięć obszarów wyznaczają strukturę całej prezentacji.</a:t>
            </a:r>
            <a:endParaRPr lang="pl-PL" sz="2000" b="0" u="none" strike="noStrike">
              <a:solidFill>
                <a:srgbClr val="000000"/>
              </a:solidFill>
              <a:effectLst/>
              <a:uFillTx/>
              <a:latin typeface="Arial"/>
            </a:endParaRPr>
          </a:p>
        </p:txBody>
      </p:sp>
      <p:sp>
        <p:nvSpPr>
          <p:cNvPr id="415"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6ED51610-3060-43FF-9845-89E50B07A327}"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5680" cy="3085560"/>
          </a:xfrm>
          <a:prstGeom prst="rect">
            <a:avLst/>
          </a:prstGeom>
          <a:ln w="0">
            <a:noFill/>
          </a:ln>
        </p:spPr>
      </p:sp>
      <p:sp>
        <p:nvSpPr>
          <p:cNvPr id="41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Najmocniejsze dowody dotyczą skuteczności leków w redukcji podstawowych objawów ADHD. Dla wyników długoterminowych — uzależnień, przestępczości, śmiertelności, dochodów — dominują badania obserwacyjne i rejestrowe. Są wartościowe ze względu na dużą liczebność prób i możliwość porównywania okresów leczenia i nieleczenia u tych samych osób, ale nie eliminują całkowicie wpływu czynników zakłócających. Dlatego w całym raporcie rozróżniamy związek statystyczny od pewnego efektu przyczynowego — i będziemy do tego rozróżnienia wracać przy każdej kolejnej grupie wyników.</a:t>
            </a:r>
            <a:endParaRPr lang="pl-PL" sz="2000" b="0" u="none" strike="noStrike">
              <a:solidFill>
                <a:srgbClr val="000000"/>
              </a:solidFill>
              <a:effectLst/>
              <a:uFillTx/>
              <a:latin typeface="Arial"/>
            </a:endParaRPr>
          </a:p>
        </p:txBody>
      </p:sp>
      <p:sp>
        <p:nvSpPr>
          <p:cNvPr id="418"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11DFD305-9CEB-41F3-A85B-2E9256282241}"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685800" y="1143000"/>
            <a:ext cx="5485680" cy="3085560"/>
          </a:xfrm>
          <a:prstGeom prst="rect">
            <a:avLst/>
          </a:prstGeom>
          <a:ln w="0">
            <a:noFill/>
          </a:ln>
        </p:spPr>
      </p:sp>
      <p:sp>
        <p:nvSpPr>
          <p:cNvPr id="42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Model jest wieloczynnikowy: ADHD nie działa w izolacji. Zaburzenia zachowania, depresja, uzależnienia, trauma, osobowość antyspołeczna i niekorzystne warunki społeczne mogą zarówno współtworzyć ryzyko, jak i pośredniczyć w związku między ADHD a wynikiem życiowym. Z tego powodu ADHD należy traktować jako czynnik podatności, a nie pojedynczą i wystarczającą przyczynę niekorzystnego przebiegu — to ramowanie będzie wracać przy każdym kolejnym omawianym obszarze: uzależnieniach, przestępczości i współchorobowości.</a:t>
            </a:r>
            <a:endParaRPr lang="pl-PL" sz="2000" b="0" u="none" strike="noStrike">
              <a:solidFill>
                <a:srgbClr val="000000"/>
              </a:solidFill>
              <a:effectLst/>
              <a:uFillTx/>
              <a:latin typeface="Arial"/>
            </a:endParaRPr>
          </a:p>
        </p:txBody>
      </p:sp>
      <p:sp>
        <p:nvSpPr>
          <p:cNvPr id="421"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493AF398-83C3-41C8-B531-C2B0D2134D8A}"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685800" y="1143000"/>
            <a:ext cx="5485680" cy="3085560"/>
          </a:xfrm>
          <a:prstGeom prst="rect">
            <a:avLst/>
          </a:prstGeom>
          <a:ln w="0">
            <a:noFill/>
          </a:ln>
        </p:spPr>
      </p:sp>
      <p:sp>
        <p:nvSpPr>
          <p:cNvPr id="42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Metaanalizy prospektywnych badań kohortowych wskazują, że rozpoznanie ADHD w dzieciństwie wiąże się z podwyższonym ryzykiem późniejszego palenia nikotyny oraz zaburzeń używania alkoholu, konopi, narkotyków. Związek z samym eksperymentowaniem z alkoholem jest słabszy niż z rozwojem klinicznego zaburzenia używania — ADHD silniej przewiduje wczesny początek, intensyfikację używania i przejście do problemowego wzorca niż jednorazowy kontakt z substancją. Wysoka częstość ADHD w populacjach leczonych z powodu uzależnień potwierdza kliniczne znaczenie tego związku, choć badania przesiewowe zwykle dają wyższe wskaźniki niż pełna diagnoza kliniczna.</a:t>
            </a:r>
            <a:endParaRPr lang="pl-PL" sz="2000" b="0" u="none" strike="noStrike">
              <a:solidFill>
                <a:srgbClr val="000000"/>
              </a:solidFill>
              <a:effectLst/>
              <a:uFillTx/>
              <a:latin typeface="Arial"/>
            </a:endParaRPr>
          </a:p>
        </p:txBody>
      </p:sp>
      <p:sp>
        <p:nvSpPr>
          <p:cNvPr id="424"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4D2A91D2-8686-43C8-A835-8BC50021F983}"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685800" y="1143000"/>
            <a:ext cx="5485680" cy="3085560"/>
          </a:xfrm>
          <a:prstGeom prst="rect">
            <a:avLst/>
          </a:prstGeom>
          <a:ln w="0">
            <a:noFill/>
          </a:ln>
        </p:spPr>
      </p:sp>
      <p:sp>
        <p:nvSpPr>
          <p:cNvPr id="42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Najbardziej prawdopodobny model jest wieloczynnikowy. Impulsywność zwiększa prawdopodobieństwo podjęcia zachowania bez pełnej oceny konsekwencji. Preferencja natychmiastowej nagrody sprawia, że szybkie wzmocnienie z substancji może przeważać nad odległymi korzyściami abstynencji. Poszukiwanie stymulacji i dysregulacja pobudzenia mogą sprzyjać używaniu substancji jako sposobu modyfikowania samopoczucia. Hipoteza samoleczenia jest istotna, ale wymaga ostrożności interpretacyjnej: krótkotrwała poprawa subiektywna nie oznacza terapeutycznego działania na ADHD, a ryzyko dodatkowo zwiększają doświadczenia niepowodzeń, odrzucenia, bezrobocia i niskiej samooceny.</a:t>
            </a:r>
            <a:endParaRPr lang="pl-PL" sz="2000" b="0" u="none" strike="noStrike">
              <a:solidFill>
                <a:srgbClr val="000000"/>
              </a:solidFill>
              <a:effectLst/>
              <a:uFillTx/>
              <a:latin typeface="Arial"/>
            </a:endParaRPr>
          </a:p>
        </p:txBody>
      </p:sp>
      <p:sp>
        <p:nvSpPr>
          <p:cNvPr id="427"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1CFEB5C4-7004-4CB0-ABF8-E9AD0D4939BD}"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5680" cy="3085560"/>
          </a:xfrm>
          <a:prstGeom prst="rect">
            <a:avLst/>
          </a:prstGeom>
          <a:ln w="0">
            <a:noFill/>
          </a:ln>
        </p:spPr>
      </p:sp>
      <p:sp>
        <p:nvSpPr>
          <p:cNvPr id="42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może utrudniać leczenie uzależnienia poprzez nieregularne uczęszczanie na terapię, zapominanie o wizytach, słabą realizację zadań terapeutycznych, impulsywne nawroty, trudności w planowaniu sytuacji wysokiego ryzyka i gorsze przestrzeganie farmakoterapii. Osoby z jednoczesnym ADHD i SUD często rozpoczynają używanie wcześniej, używają większej liczby substancji i mają więcej problemów psychiatrycznych, społecznych oraz prawnych. Nie wszystkie badania wykazują jednak, że ADHD niezależnie przewiduje każdy nawrót — po uwzględnieniu współchorobowości część efektu słabnie.</a:t>
            </a:r>
            <a:endParaRPr lang="pl-PL" sz="2000" b="0" u="none" strike="noStrike">
              <a:solidFill>
                <a:srgbClr val="000000"/>
              </a:solidFill>
              <a:effectLst/>
              <a:uFillTx/>
              <a:latin typeface="Arial"/>
            </a:endParaRPr>
          </a:p>
        </p:txBody>
      </p:sp>
      <p:sp>
        <p:nvSpPr>
          <p:cNvPr id="430"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D06DA07D-683F-4301-96D7-934898F8FD77}"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5680" cy="3085560"/>
          </a:xfrm>
          <a:prstGeom prst="rect">
            <a:avLst/>
          </a:prstGeom>
          <a:ln w="0">
            <a:noFill/>
          </a:ln>
        </p:spPr>
      </p:sp>
      <p:sp>
        <p:nvSpPr>
          <p:cNvPr id="43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Dostępne dane nie potwierdzają, aby prawidłowo prowadzona farmakoterapia ADHD zwiększała późniejsze ryzyko zaburzeń używania substancji. Należy jednak odróżnić kontrolowane przyjmowanie leku od pozamedycznego stosowania, przekazywania leków innym osobom oraz zmiany drogi podania. U pacjentów z wysokim ryzykiem nadużywania można preferować preparaty długo działające, leki niestymulujące, ograniczoną liczbę wydawanych dawek oraz regularne monitorowanie — decyzja powinna być indywidualna i uwzględniać aktywne używanie substancji, stabilność pacjenta i możliwość nadzoru.</a:t>
            </a:r>
            <a:endParaRPr lang="pl-PL" sz="2000" b="0" u="none" strike="noStrike">
              <a:solidFill>
                <a:srgbClr val="000000"/>
              </a:solidFill>
              <a:effectLst/>
              <a:uFillTx/>
              <a:latin typeface="Arial"/>
            </a:endParaRPr>
          </a:p>
        </p:txBody>
      </p:sp>
      <p:sp>
        <p:nvSpPr>
          <p:cNvPr id="433"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56258417-D6D2-4E53-8393-C6B93C400E21}"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5680" cy="3085560"/>
          </a:xfrm>
          <a:prstGeom prst="rect">
            <a:avLst/>
          </a:prstGeom>
          <a:ln w="0">
            <a:noFill/>
          </a:ln>
        </p:spPr>
      </p:sp>
      <p:sp>
        <p:nvSpPr>
          <p:cNvPr id="43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Farmakoterapia może poprawiać objawy ADHD u osoby z uzależnieniem, ale zwykle nie jest wystarczającym leczeniem samego SUD. Najbardziej racjonalny model obejmuje równoległe leczenie obu zaburzeń: farmakoterapię ADHD, terapię poznawczo-behawioralną, monitorowanie używania, psychoedukację, organizację terminów oraz leczenie depresji, lęku i zaburzeń snu. W nowszych dużych analizach rejestrowych rozpoczęcie leczenia ADHD wiązało się z niższą częstością pierwszego zdarzenia związanego z nadużywaniem substancji, lecz obserwacyjny charakter tych wyników wymaga ostrożności interpretacyjnej.</a:t>
            </a:r>
            <a:endParaRPr lang="pl-PL" sz="2000" b="0" u="none" strike="noStrike">
              <a:solidFill>
                <a:srgbClr val="000000"/>
              </a:solidFill>
              <a:effectLst/>
              <a:uFillTx/>
              <a:latin typeface="Arial"/>
            </a:endParaRPr>
          </a:p>
        </p:txBody>
      </p:sp>
      <p:sp>
        <p:nvSpPr>
          <p:cNvPr id="436"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EA29D096-BBDF-4BC2-8267-1E968F07085B}"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5680" cy="3085560"/>
          </a:xfrm>
          <a:prstGeom prst="rect">
            <a:avLst/>
          </a:prstGeom>
          <a:ln w="0">
            <a:noFill/>
          </a:ln>
        </p:spPr>
      </p:sp>
      <p:sp>
        <p:nvSpPr>
          <p:cNvPr id="43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Współwystępowanie innych zaburzeń psychicznych u dorosłych z ADHD jest częste. Systematyczny przegląd porównujący populacje z ADHD i bez ADHD wykazał wyższą częstość zaburzeń nastroju, lękowych, dwubiegunowych, używania substancji oraz zaburzeń osobowości w grupie ADHD (Choi et al., 2022). Zależności te odzwierciedlają wspólną podatność genetyczną i neurorozwojową, chroniczny stres oraz konsekwencje funkcjonalne ADHD — kolejne slajdy rozwijają najważniejsze z tych obszarów.</a:t>
            </a:r>
            <a:endParaRPr lang="pl-PL" sz="2000" b="0" u="none" strike="noStrike">
              <a:solidFill>
                <a:srgbClr val="000000"/>
              </a:solidFill>
              <a:effectLst/>
              <a:uFillTx/>
              <a:latin typeface="Arial"/>
            </a:endParaRPr>
          </a:p>
        </p:txBody>
      </p:sp>
      <p:sp>
        <p:nvSpPr>
          <p:cNvPr id="439"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93EC453A-2905-4E56-8F4A-E224CBD0124F}"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5680" cy="3085560"/>
          </a:xfrm>
          <a:prstGeom prst="rect">
            <a:avLst/>
          </a:prstGeom>
          <a:ln w="0">
            <a:noFill/>
          </a:ln>
        </p:spPr>
      </p:sp>
      <p:sp>
        <p:nvSpPr>
          <p:cNvPr id="44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Depresja może rozwijać się częściowo wtórnie do powtarzających się niepowodzeń, krytyki, odrzucenia, problemów finansowych i utraty pracy. Współwystępowanie ADHD i depresji wiąże się z cięższym upośledzeniem funkcjonowania i większym ryzykiem samobójczym. Lęk może wynikać z chronicznego doświadczenia braku kontroli nad terminami i obowiązkami. ADHD i ChAD częściowo nakładają się objawowo w zakresie impulsywności i rozpraszalności — kluczowe znaczenie ma przebieg czasowy: ADHD ma charakter rozwojowy i względnie przewlekły, podczas gdy mania lub hipomania stanowią epizody wyraźnie odmienne od typowego funkcjonowania.</a:t>
            </a:r>
            <a:endParaRPr lang="pl-PL" sz="2000" b="0" u="none" strike="noStrike">
              <a:solidFill>
                <a:srgbClr val="000000"/>
              </a:solidFill>
              <a:effectLst/>
              <a:uFillTx/>
              <a:latin typeface="Arial"/>
            </a:endParaRPr>
          </a:p>
        </p:txBody>
      </p:sp>
      <p:sp>
        <p:nvSpPr>
          <p:cNvPr id="442"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17531097-7986-4171-96E1-B2DF3EE4C33D}"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5680" cy="3085560"/>
          </a:xfrm>
          <a:prstGeom prst="rect">
            <a:avLst/>
          </a:prstGeom>
          <a:ln w="0">
            <a:noFill/>
          </a:ln>
        </p:spPr>
      </p:sp>
      <p:sp>
        <p:nvSpPr>
          <p:cNvPr id="44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Zaburzenia zachowania są jednym z najważniejszych moderatorów związku ADHD z przestępczością i uzależnieniami. Największe ryzyko dotyczy osób z wczesną agresją, uporczywym naruszaniem norm i późniejszymi cechami antyspołecznymi. ADHD może również współwystępować z osobowością borderline — w obu przypadkach występuje impulsywność i dysregulacja emocjonalna, ale osobowość borderline obejmuje ponadto utrwaloną niestabilność relacji, obrazu siebie oraz silną wrażliwość na odrzucenie.</a:t>
            </a:r>
            <a:endParaRPr lang="pl-PL" sz="2000" b="0" u="none" strike="noStrike">
              <a:solidFill>
                <a:srgbClr val="000000"/>
              </a:solidFill>
              <a:effectLst/>
              <a:uFillTx/>
              <a:latin typeface="Arial"/>
            </a:endParaRPr>
          </a:p>
        </p:txBody>
      </p:sp>
      <p:sp>
        <p:nvSpPr>
          <p:cNvPr id="445"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B772489F-2495-4EAB-AA60-74936E6AFED1}"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5680" cy="3085560"/>
          </a:xfrm>
          <a:prstGeom prst="rect">
            <a:avLst/>
          </a:prstGeom>
          <a:ln w="0">
            <a:noFill/>
          </a:ln>
        </p:spPr>
      </p:sp>
      <p:sp>
        <p:nvSpPr>
          <p:cNvPr id="44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wiąże się z podwyższonym ryzykiem myśli i prób samobójczych, zatruć, wypadków oraz przedwczesnej śmierci. Znaczną część tego ryzyka wyjaśniają depresja, SUD, impulsywność, konflikty i problemy ekonomiczne. Duże badania rejestrowe sugerują, że leczenie ADHD może obniżać częstość zdarzeń samobójczych i zgonów z przyczyn nienaturalnych — wynik biologicznie i psychologicznie wiarygodny, ponieważ poprawa kontroli impulsów może redukować ryzyko gwałtownych decyzji. Te dane epidemiologiczne nie zastępują jednak bezpośredniej oceny ryzyka samobójczego u konkretnej osoby — jeśli temat ten budzi niepokój słuchaczy, warto przypomnieć o telefonach zaufania i konsultacji ze specjalistą.</a:t>
            </a:r>
            <a:endParaRPr lang="pl-PL" sz="2000" b="0" u="none" strike="noStrike">
              <a:solidFill>
                <a:srgbClr val="000000"/>
              </a:solidFill>
              <a:effectLst/>
              <a:uFillTx/>
              <a:latin typeface="Arial"/>
            </a:endParaRPr>
          </a:p>
        </p:txBody>
      </p:sp>
      <p:sp>
        <p:nvSpPr>
          <p:cNvPr id="448"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E5149ABD-488D-4BA5-BA67-C37CAD9C1590}"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5680" cy="3085560"/>
          </a:xfrm>
          <a:prstGeom prst="rect">
            <a:avLst/>
          </a:prstGeom>
          <a:ln w="0">
            <a:noFill/>
          </a:ln>
        </p:spPr>
      </p:sp>
      <p:sp>
        <p:nvSpPr>
          <p:cNvPr id="45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jest znacznie częstsze w populacjach więziennych niż w populacji ogólnej. Szacunki różnią się zależnie od wieku, kraju i zastosowanej metody diagnostycznej; badania oparte wyłącznie na kwestionariuszach przesiewowych zwykle wskazują wyższą częstość niż pełne badania kliniczne. Nadreprezentacja nie oznacza, że ADHD jest równoznaczne z przestępczością. Największe znaczenie mają współwystępujące zaburzenia zachowania, SUD, ubóstwo, niepowodzenia szkolne, bezrobocie i ekspozycja na środowiska wysokiego ryzyka.</a:t>
            </a:r>
            <a:endParaRPr lang="pl-PL" sz="2000" b="0" u="none" strike="noStrike">
              <a:solidFill>
                <a:srgbClr val="000000"/>
              </a:solidFill>
              <a:effectLst/>
              <a:uFillTx/>
              <a:latin typeface="Arial"/>
            </a:endParaRPr>
          </a:p>
        </p:txBody>
      </p:sp>
      <p:sp>
        <p:nvSpPr>
          <p:cNvPr id="451"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03AEC61B-1B04-4920-9FDD-9DBEEA0D2781}"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5680" cy="3085560"/>
          </a:xfrm>
          <a:prstGeom prst="rect">
            <a:avLst/>
          </a:prstGeom>
          <a:ln w="0">
            <a:noFill/>
          </a:ln>
        </p:spPr>
      </p:sp>
      <p:sp>
        <p:nvSpPr>
          <p:cNvPr id="45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W szwedzkim badaniu rejestrowym obejmującym 25 656 osób porównywano okresy przyjmowania i nieprzyjmowania leków u tych samych pacjentów. W okresach leczenia częstość skazań była niższa o 32% u mężczyzn (HR = 0,68; 95% CI 0,63–0,73) oraz o 41% u kobiet (HR = 0,59; 95% CI 0,50–0,70). Konstrukcja wewnątrzosobnicza ogranicza wpływ stałych cech jednostki, ale nie eliminuje wszystkich zmiennych zależnych od czasu. Dowody na zmniejszenie recydywy po opuszczeniu zakładu karnego są słabsze — leczenie może ograniczać bieżące ryzyko impulsywnych zachowań, ale trwała redukcja recydywy wymaga też leczenia uzależnień, wsparcia zatrudnienia i pracy nad wzorcami antyspołecznymi.</a:t>
            </a:r>
            <a:endParaRPr lang="pl-PL" sz="2000" b="0" u="none" strike="noStrike">
              <a:solidFill>
                <a:srgbClr val="000000"/>
              </a:solidFill>
              <a:effectLst/>
              <a:uFillTx/>
              <a:latin typeface="Arial"/>
            </a:endParaRPr>
          </a:p>
        </p:txBody>
      </p:sp>
      <p:sp>
        <p:nvSpPr>
          <p:cNvPr id="454"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77A86721-1897-4B14-9154-92D17E6621DB}"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5680" cy="3085560"/>
          </a:xfrm>
          <a:prstGeom prst="rect">
            <a:avLst/>
          </a:prstGeom>
          <a:ln w="0">
            <a:noFill/>
          </a:ln>
        </p:spPr>
      </p:sp>
      <p:sp>
        <p:nvSpPr>
          <p:cNvPr id="45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wiąże się przeciętnie z niższymi ocenami, większą absencją, częstszym powtarzaniem klasy, większym wykorzystaniem wsparcia specjalistycznego oraz wyższym ryzykiem przerwania edukacji. Nie wynika to przede wszystkim z niższej inteligencji — kluczowa jest rozbieżność między potencjałem a zdolnością do systematycznej realizacji długotrwałych, wieloetapowych i odroczonych zadań. Farmakoterapia poprawia uwagę i hamowanie reakcji, lecz wpływ na końcowe wyniki edukacyjne jest zwykle mniejszy niż wpływ na objawy — leki nie usuwają automatycznie zaległości ani braków w strategiach uczenia się. Najlepsze efekty daje połączenie leczenia z treningiem organizacji, zewnętrznymi terminami i dostosowaniami.</a:t>
            </a:r>
            <a:endParaRPr lang="pl-PL" sz="2000" b="0" u="none" strike="noStrike">
              <a:solidFill>
                <a:srgbClr val="000000"/>
              </a:solidFill>
              <a:effectLst/>
              <a:uFillTx/>
              <a:latin typeface="Arial"/>
            </a:endParaRPr>
          </a:p>
        </p:txBody>
      </p:sp>
      <p:sp>
        <p:nvSpPr>
          <p:cNvPr id="457"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40ADB045-5DAF-4C49-A813-B6B6BCEB43F9}"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5680" cy="3085560"/>
          </a:xfrm>
          <a:prstGeom prst="rect">
            <a:avLst/>
          </a:prstGeom>
          <a:ln w="0">
            <a:noFill/>
          </a:ln>
        </p:spPr>
      </p:sp>
      <p:sp>
        <p:nvSpPr>
          <p:cNvPr id="45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W dorosłości ADHD wiąże się ze zwiększonym ryzykiem bezrobocia, częstych zmian pracy, spóźnień, absencji, prezenteizmu, konfliktów oraz pracy poniżej kwalifikacji. Prezenteizm oznacza formalną obecność przy obniżonej wydajności — na przykład z powodu częstego przełączania zadań, odwlekania rozpoczęcia pracy albo konieczności naprawiania błędów. ADHD nie wyklucza wysokich osiągnięć — osoby mogą szczególnie dobrze funkcjonować w środowiskach dynamicznych, autonomicznych, zapewniających szybkie informacje zwrotne i zgodnych z silnymi zainteresowaniami. Ryzyko niekorzystnych wyników rośnie w pracy monotonnej, słabo ustrukturyzowanej i wymagającej wielomiesięcznego samodzielnego planowania.</a:t>
            </a:r>
            <a:endParaRPr lang="pl-PL" sz="2000" b="0" u="none" strike="noStrike">
              <a:solidFill>
                <a:srgbClr val="000000"/>
              </a:solidFill>
              <a:effectLst/>
              <a:uFillTx/>
              <a:latin typeface="Arial"/>
            </a:endParaRPr>
          </a:p>
        </p:txBody>
      </p:sp>
      <p:sp>
        <p:nvSpPr>
          <p:cNvPr id="460" name="PlaceHolder 3"/>
          <p:cNvSpPr>
            <a:spLocks noGrp="1"/>
          </p:cNvSpPr>
          <p:nvPr>
            <p:ph type="sldNum" idx="2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2EB008FD-5789-4FAD-AC77-AB7D2E7B5F89}"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5680" cy="3085560"/>
          </a:xfrm>
          <a:prstGeom prst="rect">
            <a:avLst/>
          </a:prstGeom>
          <a:ln w="0">
            <a:noFill/>
          </a:ln>
        </p:spPr>
      </p:sp>
      <p:sp>
        <p:nvSpPr>
          <p:cNvPr id="4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wiąże się z większą częstością wypadków komunikacyjnych, urazów, zatruć, ryzykownych zachowań seksualnych oraz nieprzestrzegania zaleceń medycznych. Mechanizm obejmuje rozproszenie uwagi, impulsywność, poszukiwanie stymulacji i trudności w utrzymaniu rutyn bezpieczeństwa. Badania rejestrowe wskazują, że w okresach leczenia ryzyko części zdarzeń transportowych jest niższe, choć nie dla wszystkich typów urazów uzyskuje się jednoznaczne wyniki.</a:t>
            </a:r>
            <a:endParaRPr lang="pl-PL" sz="2000" b="0" u="none" strike="noStrike">
              <a:solidFill>
                <a:srgbClr val="000000"/>
              </a:solidFill>
              <a:effectLst/>
              <a:uFillTx/>
              <a:latin typeface="Arial"/>
            </a:endParaRPr>
          </a:p>
        </p:txBody>
      </p:sp>
      <p:sp>
        <p:nvSpPr>
          <p:cNvPr id="463" name="PlaceHolder 3"/>
          <p:cNvSpPr>
            <a:spLocks noGrp="1"/>
          </p:cNvSpPr>
          <p:nvPr>
            <p:ph type="sldNum" idx="2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13E29827-0C21-4318-8742-77643783F5B2}"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5680" cy="3085560"/>
          </a:xfrm>
          <a:prstGeom prst="rect">
            <a:avLst/>
          </a:prstGeom>
          <a:ln w="0">
            <a:noFill/>
          </a:ln>
        </p:spPr>
      </p:sp>
      <p:sp>
        <p:nvSpPr>
          <p:cNvPr id="4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może wpływać na relację poprzez zapominanie o ustaleniach, niewykonywanie obowiązków, spóźnienia, impulsywne wydatki, trudności z aktywnym słuchaniem oraz gwałtowne reakcje emocjonalne. Partner może interpretować objawy jako obojętność albo brak szacunku, natomiast osoba z ADHD może doświadczać stałej krytyki i kontroli. Powstaje sprzężenie zwrotne: objaw prowadzi do niewykonanego zobowiązania, to uruchamia krytykę, następnie obronę lub wycofanie, a konflikt dodatkowo pogarsza samoregulację. W części par partner bez ADHD przejmuje planowanie, przypominanie, kontrolowanie terminów i finanse, co tworzy asymetryczny układ przypominający relację rodzic–dziecko — z przeciążeniem jednej strony i poczuciem infantylizacji drugiej.</a:t>
            </a:r>
            <a:endParaRPr lang="pl-PL" sz="2000" b="0" u="none" strike="noStrike">
              <a:solidFill>
                <a:srgbClr val="000000"/>
              </a:solidFill>
              <a:effectLst/>
              <a:uFillTx/>
              <a:latin typeface="Arial"/>
            </a:endParaRPr>
          </a:p>
        </p:txBody>
      </p:sp>
      <p:sp>
        <p:nvSpPr>
          <p:cNvPr id="466" name="PlaceHolder 3"/>
          <p:cNvSpPr>
            <a:spLocks noGrp="1"/>
          </p:cNvSpPr>
          <p:nvPr>
            <p:ph type="sldNum" idx="2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BB1CDA92-5995-41B3-9294-A1E79B4262DB}"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685800" y="1143000"/>
            <a:ext cx="5485680" cy="3085560"/>
          </a:xfrm>
          <a:prstGeom prst="rect">
            <a:avLst/>
          </a:prstGeom>
          <a:ln w="0">
            <a:noFill/>
          </a:ln>
        </p:spPr>
      </p:sp>
      <p:sp>
        <p:nvSpPr>
          <p:cNvPr id="46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Metaanaliza 32 badań wykazała, że nasilenie objawów ADHD u rodziców wiązało się z większym nasileniem rodzicielstwa surowego oraz niekonsekwentnego (Park et al., 2017). Efekty były małe, lecz mogą kumulować się w codziennym funkcjonowaniu. Rodzice dzieci z ADHD doświadczają przeciętnie większego stresu rodzicielskiego, co może prowadzić do niedoboru snu, ograniczenia pracy zawodowej i mniejszej dostępności dla rodzeństwa. ADHD może generować powtarzalne straty finansowe poprzez impulsywne zakupy, opłaty za nieterminowe rachunki, mandaty i niestabilność zatrudnienia — zjawisko bywa określane jako „podatek wykonawczy ADHD”: koszt wynikający nie z braku wiedzy, ale z trudności w regularnym przekładaniu intencji na działanie.</a:t>
            </a:r>
            <a:endParaRPr lang="pl-PL" sz="2000" b="0" u="none" strike="noStrike">
              <a:solidFill>
                <a:srgbClr val="000000"/>
              </a:solidFill>
              <a:effectLst/>
              <a:uFillTx/>
              <a:latin typeface="Arial"/>
            </a:endParaRPr>
          </a:p>
        </p:txBody>
      </p:sp>
      <p:sp>
        <p:nvSpPr>
          <p:cNvPr id="469" name="PlaceHolder 3"/>
          <p:cNvSpPr>
            <a:spLocks noGrp="1"/>
          </p:cNvSpPr>
          <p:nvPr>
            <p:ph type="sldNum" idx="2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400968E2-9FC1-4ABE-B3ED-546ACEBE67C8}"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5680" cy="3085560"/>
          </a:xfrm>
          <a:prstGeom prst="rect">
            <a:avLst/>
          </a:prstGeom>
          <a:ln w="0">
            <a:noFill/>
          </a:ln>
        </p:spPr>
      </p:sp>
      <p:sp>
        <p:nvSpPr>
          <p:cNvPr id="47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Koszty ADHD obejmują wydatki bezpośrednie (ochrona zdrowia, diagnostyka, farmakoterapia, świadczenia edukacyjne) i pośrednie (utracona produktywność, absencja, bezrobocie, czas opiekunów, wypadki, wymiar sprawiedliwości). W analizie dotyczącej dorosłych w USA nadwyżkowe koszty społeczne ADHD w 2018 roku oszacowano na około 122,8 mld USD, czyli około 14 092 USD na jedną dorosłą osobę z ADHD. W starszym oszacowaniu obejmującym dzieci, dorosłych i rodziny roczny koszt wynosił 143–266 mld USD (Doshi et al., 2012). Dla Polski nie istnieje obecnie porównywalne pełne oszacowanie, a mechaniczne przeliczenie kosztów amerykańskich byłoby niepoprawne z powodu różnic systemowych. Znaczna część kosztów pozostaje poza budżetem psychiatrii — ukryta w edukacji, produktywności, świadczeniach i wypadkach.</a:t>
            </a:r>
            <a:endParaRPr lang="pl-PL" sz="2000" b="0" u="none" strike="noStrike">
              <a:solidFill>
                <a:srgbClr val="000000"/>
              </a:solidFill>
              <a:effectLst/>
              <a:uFillTx/>
              <a:latin typeface="Arial"/>
            </a:endParaRPr>
          </a:p>
        </p:txBody>
      </p:sp>
      <p:sp>
        <p:nvSpPr>
          <p:cNvPr id="472" name="PlaceHolder 3"/>
          <p:cNvSpPr>
            <a:spLocks noGrp="1"/>
          </p:cNvSpPr>
          <p:nvPr>
            <p:ph type="sldNum" idx="2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6B8596C0-9FEE-497B-BACC-530FD6C48206}"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5680" cy="3085560"/>
          </a:xfrm>
          <a:prstGeom prst="rect">
            <a:avLst/>
          </a:prstGeom>
          <a:ln w="0">
            <a:noFill/>
          </a:ln>
        </p:spPr>
      </p:sp>
      <p:sp>
        <p:nvSpPr>
          <p:cNvPr id="47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Ta metaanaliza syntetyzuje cały raport w jednym wykresie. Wszystkie kluczowe obszary funkcjonowania — relacje, zatrudnienie, edukacja, dochody, samoocena, jakość życia i zdrowie psychiczne — wykazują efekty umiarkowane do dużych na niekorzyść osób z ADHD, z największym efektem dla ogólnego obciążenia zdrowia psychicznego (d = -0,81). To pokazuje, że konsekwencje ADHD są systemowe, a nie ograniczone do jednej domeny — co uzasadnia wielomodalne podejście terapeutyczne omawiane w dalszej części wystąpienia.</a:t>
            </a:r>
            <a:endParaRPr lang="pl-PL" sz="2000" b="0" u="none" strike="noStrike">
              <a:solidFill>
                <a:srgbClr val="000000"/>
              </a:solidFill>
              <a:effectLst/>
              <a:uFillTx/>
              <a:latin typeface="Arial"/>
            </a:endParaRPr>
          </a:p>
        </p:txBody>
      </p:sp>
      <p:sp>
        <p:nvSpPr>
          <p:cNvPr id="475" name="PlaceHolder 3"/>
          <p:cNvSpPr>
            <a:spLocks noGrp="1"/>
          </p:cNvSpPr>
          <p:nvPr>
            <p:ph type="sldNum" idx="2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CD76F7AD-E26F-401C-924F-756DC29E7180}"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5680" cy="3085560"/>
          </a:xfrm>
          <a:prstGeom prst="rect">
            <a:avLst/>
          </a:prstGeom>
          <a:ln w="0">
            <a:noFill/>
          </a:ln>
        </p:spPr>
      </p:sp>
      <p:sp>
        <p:nvSpPr>
          <p:cNvPr id="47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Optymalny model postępowania łączy farmakoterapię dobraną do profilu ryzyka, psychoedukację, terapię poznawczo-behawioralną, trening funkcji wykonawczych, leczenie uzależnień i współchorobowości, interwencje rodzinne, dostosowania edukacyjne i zawodowe oraz leczenie zaburzeń snu. Synteza dowodów pokazuje wyraźną hierarchię: najsilniejsze dowody dotyczą redukcji podstawowych objawów, umiarkowanie silne — przestępczości i wypadków, a najsłabsze i najbardziej ograniczone — recydywy po opuszczeniu zakładu karnego. Farmakoterapia nie odwraca automatycznie wieloletnich zaległości i utrwalonych wzorców — stąd potrzeba podejścia wielomodalnego.</a:t>
            </a:r>
            <a:endParaRPr lang="pl-PL" sz="2000" b="0" u="none" strike="noStrike">
              <a:solidFill>
                <a:srgbClr val="000000"/>
              </a:solidFill>
              <a:effectLst/>
              <a:uFillTx/>
              <a:latin typeface="Arial"/>
            </a:endParaRPr>
          </a:p>
        </p:txBody>
      </p:sp>
      <p:sp>
        <p:nvSpPr>
          <p:cNvPr id="478" name="PlaceHolder 3"/>
          <p:cNvSpPr>
            <a:spLocks noGrp="1"/>
          </p:cNvSpPr>
          <p:nvPr>
            <p:ph type="sldNum" idx="2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BED06228-FACA-483F-B37D-EFE20400A80B}"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5680" cy="3085560"/>
          </a:xfrm>
          <a:prstGeom prst="rect">
            <a:avLst/>
          </a:prstGeom>
          <a:ln w="0">
            <a:noFill/>
          </a:ln>
        </p:spPr>
      </p:sp>
      <p:sp>
        <p:nvSpPr>
          <p:cNvPr id="48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Metaanaliz</a:t>
            </a:r>
            <a:r>
              <a:rPr lang="pl-PL" sz="2000" b="0" u="none" strike="noStrike">
                <a:solidFill>
                  <a:srgbClr val="000000"/>
                </a:solidFill>
                <a:effectLst/>
                <a:uFillTx/>
                <a:latin typeface="Arial"/>
              </a:rPr>
              <a:t>a sieciowa </a:t>
            </a:r>
            <a:r>
              <a:rPr lang="pl-PL" sz="2000" b="0" u="none" strike="noStrike">
                <a:solidFill>
                  <a:srgbClr val="000000"/>
                </a:solidFill>
                <a:effectLst/>
                <a:uFillTx/>
                <a:latin typeface="Arial"/>
              </a:rPr>
              <a:t>133 </a:t>
            </a:r>
            <a:r>
              <a:rPr lang="pl-PL" sz="2000" b="0" u="none" strike="noStrike">
                <a:solidFill>
                  <a:srgbClr val="000000"/>
                </a:solidFill>
                <a:effectLst/>
                <a:uFillTx/>
                <a:latin typeface="Arial"/>
              </a:rPr>
              <a:t>randomizo</a:t>
            </a:r>
            <a:r>
              <a:rPr lang="pl-PL" sz="2000" b="0" u="none" strike="noStrike">
                <a:solidFill>
                  <a:srgbClr val="000000"/>
                </a:solidFill>
                <a:effectLst/>
                <a:uFillTx/>
                <a:latin typeface="Arial"/>
              </a:rPr>
              <a:t>wanych </a:t>
            </a:r>
            <a:r>
              <a:rPr lang="pl-PL" sz="2000" b="0" u="none" strike="noStrike">
                <a:solidFill>
                  <a:srgbClr val="000000"/>
                </a:solidFill>
                <a:effectLst/>
                <a:uFillTx/>
                <a:latin typeface="Arial"/>
              </a:rPr>
              <a:t>badań </a:t>
            </a:r>
            <a:r>
              <a:rPr lang="pl-PL" sz="2000" b="0" u="none" strike="noStrike">
                <a:solidFill>
                  <a:srgbClr val="000000"/>
                </a:solidFill>
                <a:effectLst/>
                <a:uFillTx/>
                <a:latin typeface="Arial"/>
              </a:rPr>
              <a:t>wykazała, </a:t>
            </a:r>
            <a:r>
              <a:rPr lang="pl-PL" sz="2000" b="0" u="none" strike="noStrike">
                <a:solidFill>
                  <a:srgbClr val="000000"/>
                </a:solidFill>
                <a:effectLst/>
                <a:uFillTx/>
                <a:latin typeface="Arial"/>
              </a:rPr>
              <a:t>że </a:t>
            </a:r>
            <a:r>
              <a:rPr lang="pl-PL" sz="2000" b="0" u="none" strike="noStrike">
                <a:solidFill>
                  <a:srgbClr val="000000"/>
                </a:solidFill>
                <a:effectLst/>
                <a:uFillTx/>
                <a:latin typeface="Arial"/>
              </a:rPr>
              <a:t>wszystkie </a:t>
            </a:r>
            <a:r>
              <a:rPr lang="pl-PL" sz="2000" b="0" u="none" strike="noStrike">
                <a:solidFill>
                  <a:srgbClr val="000000"/>
                </a:solidFill>
                <a:effectLst/>
                <a:uFillTx/>
                <a:latin typeface="Arial"/>
              </a:rPr>
              <a:t>główne </a:t>
            </a:r>
            <a:r>
              <a:rPr lang="pl-PL" sz="2000" b="0" u="none" strike="noStrike">
                <a:solidFill>
                  <a:srgbClr val="000000"/>
                </a:solidFill>
                <a:effectLst/>
                <a:uFillTx/>
                <a:latin typeface="Arial"/>
              </a:rPr>
              <a:t>klasy leków </a:t>
            </a:r>
            <a:r>
              <a:rPr lang="pl-PL" sz="2000" b="0" u="none" strike="noStrike">
                <a:solidFill>
                  <a:srgbClr val="000000"/>
                </a:solidFill>
                <a:effectLst/>
                <a:uFillTx/>
                <a:latin typeface="Arial"/>
              </a:rPr>
              <a:t>były </a:t>
            </a:r>
            <a:r>
              <a:rPr lang="pl-PL" sz="2000" b="0" u="none" strike="noStrike">
                <a:solidFill>
                  <a:srgbClr val="000000"/>
                </a:solidFill>
                <a:effectLst/>
                <a:uFillTx/>
                <a:latin typeface="Arial"/>
              </a:rPr>
              <a:t>skuteczniej</a:t>
            </a:r>
            <a:r>
              <a:rPr lang="pl-PL" sz="2000" b="0" u="none" strike="noStrike">
                <a:solidFill>
                  <a:srgbClr val="000000"/>
                </a:solidFill>
                <a:effectLst/>
                <a:uFillTx/>
                <a:latin typeface="Arial"/>
              </a:rPr>
              <a:t>sze od </a:t>
            </a:r>
            <a:r>
              <a:rPr lang="pl-PL" sz="2000" b="0" u="none" strike="noStrike">
                <a:solidFill>
                  <a:srgbClr val="000000"/>
                </a:solidFill>
                <a:effectLst/>
                <a:uFillTx/>
                <a:latin typeface="Arial"/>
              </a:rPr>
              <a:t>placebo w </a:t>
            </a:r>
            <a:r>
              <a:rPr lang="pl-PL" sz="2000" b="0" u="none" strike="noStrike">
                <a:solidFill>
                  <a:srgbClr val="000000"/>
                </a:solidFill>
                <a:effectLst/>
                <a:uFillTx/>
                <a:latin typeface="Arial"/>
              </a:rPr>
              <a:t>krótkotermi</a:t>
            </a:r>
            <a:r>
              <a:rPr lang="pl-PL" sz="2000" b="0" u="none" strike="noStrike">
                <a:solidFill>
                  <a:srgbClr val="000000"/>
                </a:solidFill>
                <a:effectLst/>
                <a:uFillTx/>
                <a:latin typeface="Arial"/>
              </a:rPr>
              <a:t>nowej </a:t>
            </a:r>
            <a:r>
              <a:rPr lang="pl-PL" sz="2000" b="0" u="none" strike="noStrike">
                <a:solidFill>
                  <a:srgbClr val="000000"/>
                </a:solidFill>
                <a:effectLst/>
                <a:uFillTx/>
                <a:latin typeface="Arial"/>
              </a:rPr>
              <a:t>redukcji </a:t>
            </a:r>
            <a:r>
              <a:rPr lang="pl-PL" sz="2000" b="0" u="none" strike="noStrike">
                <a:solidFill>
                  <a:srgbClr val="000000"/>
                </a:solidFill>
                <a:effectLst/>
                <a:uFillTx/>
                <a:latin typeface="Arial"/>
              </a:rPr>
              <a:t>objawów. U </a:t>
            </a:r>
            <a:r>
              <a:rPr lang="pl-PL" sz="2000" b="0" u="none" strike="noStrike">
                <a:solidFill>
                  <a:srgbClr val="000000"/>
                </a:solidFill>
                <a:effectLst/>
                <a:uFillTx/>
                <a:latin typeface="Arial"/>
              </a:rPr>
              <a:t>dzieci i </a:t>
            </a:r>
            <a:r>
              <a:rPr lang="pl-PL" sz="2000" b="0" u="none" strike="noStrike">
                <a:solidFill>
                  <a:srgbClr val="000000"/>
                </a:solidFill>
                <a:effectLst/>
                <a:uFillTx/>
                <a:latin typeface="Arial"/>
              </a:rPr>
              <a:t>młodzieży </a:t>
            </a:r>
            <a:r>
              <a:rPr lang="pl-PL" sz="2000" b="0" u="none" strike="noStrike">
                <a:solidFill>
                  <a:srgbClr val="000000"/>
                </a:solidFill>
                <a:effectLst/>
                <a:uFillTx/>
                <a:latin typeface="Arial"/>
              </a:rPr>
              <a:t>w ocenach </a:t>
            </a:r>
            <a:r>
              <a:rPr lang="pl-PL" sz="2000" b="0" u="none" strike="noStrike">
                <a:solidFill>
                  <a:srgbClr val="000000"/>
                </a:solidFill>
                <a:effectLst/>
                <a:uFillTx/>
                <a:latin typeface="Arial"/>
              </a:rPr>
              <a:t>klinicystów </a:t>
            </a:r>
            <a:r>
              <a:rPr lang="pl-PL" sz="2000" b="0" u="none" strike="noStrike">
                <a:solidFill>
                  <a:srgbClr val="000000"/>
                </a:solidFill>
                <a:effectLst/>
                <a:uFillTx/>
                <a:latin typeface="Arial"/>
              </a:rPr>
              <a:t>standaryzo</a:t>
            </a:r>
            <a:r>
              <a:rPr lang="pl-PL" sz="2000" b="0" u="none" strike="noStrike">
                <a:solidFill>
                  <a:srgbClr val="000000"/>
                </a:solidFill>
                <a:effectLst/>
                <a:uFillTx/>
                <a:latin typeface="Arial"/>
              </a:rPr>
              <a:t>wana </a:t>
            </a:r>
            <a:r>
              <a:rPr lang="pl-PL" sz="2000" b="0" u="none" strike="noStrike">
                <a:solidFill>
                  <a:srgbClr val="000000"/>
                </a:solidFill>
                <a:effectLst/>
                <a:uFillTx/>
                <a:latin typeface="Arial"/>
              </a:rPr>
              <a:t>różnica </a:t>
            </a:r>
            <a:r>
              <a:rPr lang="pl-PL" sz="2000" b="0" u="none" strike="noStrike">
                <a:solidFill>
                  <a:srgbClr val="000000"/>
                </a:solidFill>
                <a:effectLst/>
                <a:uFillTx/>
                <a:latin typeface="Arial"/>
              </a:rPr>
              <a:t>średnich </a:t>
            </a:r>
            <a:r>
              <a:rPr lang="pl-PL" sz="2000" b="0" u="none" strike="noStrike">
                <a:solidFill>
                  <a:srgbClr val="000000"/>
                </a:solidFill>
                <a:effectLst/>
                <a:uFillTx/>
                <a:latin typeface="Arial"/>
              </a:rPr>
              <a:t>wynosiła </a:t>
            </a:r>
            <a:r>
              <a:rPr lang="pl-PL" sz="2000" b="0" u="none" strike="noStrike">
                <a:solidFill>
                  <a:srgbClr val="000000"/>
                </a:solidFill>
                <a:effectLst/>
                <a:uFillTx/>
                <a:latin typeface="Arial"/>
              </a:rPr>
              <a:t>-1,02 dla </a:t>
            </a:r>
            <a:r>
              <a:rPr lang="pl-PL" sz="2000" b="0" u="none" strike="noStrike">
                <a:solidFill>
                  <a:srgbClr val="000000"/>
                </a:solidFill>
                <a:effectLst/>
                <a:uFillTx/>
                <a:latin typeface="Arial"/>
              </a:rPr>
              <a:t>amfetamin, </a:t>
            </a:r>
            <a:r>
              <a:rPr lang="pl-PL" sz="2000" b="0" u="none" strike="noStrike">
                <a:solidFill>
                  <a:srgbClr val="000000"/>
                </a:solidFill>
                <a:effectLst/>
                <a:uFillTx/>
                <a:latin typeface="Arial"/>
              </a:rPr>
              <a:t>-0,78 dla </a:t>
            </a:r>
            <a:r>
              <a:rPr lang="pl-PL" sz="2000" b="0" u="none" strike="noStrike">
                <a:solidFill>
                  <a:srgbClr val="000000"/>
                </a:solidFill>
                <a:effectLst/>
                <a:uFillTx/>
                <a:latin typeface="Arial"/>
              </a:rPr>
              <a:t>metylofenid</a:t>
            </a:r>
            <a:r>
              <a:rPr lang="pl-PL" sz="2000" b="0" u="none" strike="noStrike">
                <a:solidFill>
                  <a:srgbClr val="000000"/>
                </a:solidFill>
                <a:effectLst/>
                <a:uFillTx/>
                <a:latin typeface="Arial"/>
              </a:rPr>
              <a:t>atu i -0,56 </a:t>
            </a:r>
            <a:r>
              <a:rPr lang="pl-PL" sz="2000" b="0" u="none" strike="noStrike">
                <a:solidFill>
                  <a:srgbClr val="000000"/>
                </a:solidFill>
                <a:effectLst/>
                <a:uFillTx/>
                <a:latin typeface="Arial"/>
              </a:rPr>
              <a:t>dla </a:t>
            </a:r>
            <a:r>
              <a:rPr lang="pl-PL" sz="2000" b="0" u="none" strike="noStrike">
                <a:solidFill>
                  <a:srgbClr val="000000"/>
                </a:solidFill>
                <a:effectLst/>
                <a:uFillTx/>
                <a:latin typeface="Arial"/>
              </a:rPr>
              <a:t>atomoksety</a:t>
            </a:r>
            <a:r>
              <a:rPr lang="pl-PL" sz="2000" b="0" u="none" strike="noStrike">
                <a:solidFill>
                  <a:srgbClr val="000000"/>
                </a:solidFill>
                <a:effectLst/>
                <a:uFillTx/>
                <a:latin typeface="Arial"/>
              </a:rPr>
              <a:t>ny. Autorzy </a:t>
            </a:r>
            <a:r>
              <a:rPr lang="pl-PL" sz="2000" b="0" u="none" strike="noStrike">
                <a:solidFill>
                  <a:srgbClr val="000000"/>
                </a:solidFill>
                <a:effectLst/>
                <a:uFillTx/>
                <a:latin typeface="Arial"/>
              </a:rPr>
              <a:t>wskazali </a:t>
            </a:r>
            <a:r>
              <a:rPr lang="pl-PL" sz="2000" b="0" u="none" strike="noStrike">
                <a:solidFill>
                  <a:srgbClr val="000000"/>
                </a:solidFill>
                <a:effectLst/>
                <a:uFillTx/>
                <a:latin typeface="Arial"/>
              </a:rPr>
              <a:t>metylofenid</a:t>
            </a:r>
            <a:r>
              <a:rPr lang="pl-PL" sz="2000" b="0" u="none" strike="noStrike">
                <a:solidFill>
                  <a:srgbClr val="000000"/>
                </a:solidFill>
                <a:effectLst/>
                <a:uFillTx/>
                <a:latin typeface="Arial"/>
              </a:rPr>
              <a:t>at jako </a:t>
            </a:r>
            <a:r>
              <a:rPr lang="pl-PL" sz="2000" b="0" u="none" strike="noStrike">
                <a:solidFill>
                  <a:srgbClr val="000000"/>
                </a:solidFill>
                <a:effectLst/>
                <a:uFillTx/>
                <a:latin typeface="Arial"/>
              </a:rPr>
              <a:t>preferowan</a:t>
            </a:r>
            <a:r>
              <a:rPr lang="pl-PL" sz="2000" b="0" u="none" strike="noStrike">
                <a:solidFill>
                  <a:srgbClr val="000000"/>
                </a:solidFill>
                <a:effectLst/>
                <a:uFillTx/>
                <a:latin typeface="Arial"/>
              </a:rPr>
              <a:t>ą pierwszą </a:t>
            </a:r>
            <a:r>
              <a:rPr lang="pl-PL" sz="2000" b="0" u="none" strike="noStrike">
                <a:solidFill>
                  <a:srgbClr val="000000"/>
                </a:solidFill>
                <a:effectLst/>
                <a:uFillTx/>
                <a:latin typeface="Arial"/>
              </a:rPr>
              <a:t>opcję dla </a:t>
            </a:r>
            <a:r>
              <a:rPr lang="pl-PL" sz="2000" b="0" u="none" strike="noStrike">
                <a:solidFill>
                  <a:srgbClr val="000000"/>
                </a:solidFill>
                <a:effectLst/>
                <a:uFillTx/>
                <a:latin typeface="Arial"/>
              </a:rPr>
              <a:t>dzieci i </a:t>
            </a:r>
            <a:r>
              <a:rPr lang="pl-PL" sz="2000" b="0" u="none" strike="noStrike">
                <a:solidFill>
                  <a:srgbClr val="000000"/>
                </a:solidFill>
                <a:effectLst/>
                <a:uFillTx/>
                <a:latin typeface="Arial"/>
              </a:rPr>
              <a:t>młodzieży z </a:t>
            </a:r>
            <a:r>
              <a:rPr lang="pl-PL" sz="2000" b="0" u="none" strike="noStrike">
                <a:solidFill>
                  <a:srgbClr val="000000"/>
                </a:solidFill>
                <a:effectLst/>
                <a:uFillTx/>
                <a:latin typeface="Arial"/>
              </a:rPr>
              <a:t>uwagi na </a:t>
            </a:r>
            <a:r>
              <a:rPr lang="pl-PL" sz="2000" b="0" u="none" strike="noStrike">
                <a:solidFill>
                  <a:srgbClr val="000000"/>
                </a:solidFill>
                <a:effectLst/>
                <a:uFillTx/>
                <a:latin typeface="Arial"/>
              </a:rPr>
              <a:t>bilans </a:t>
            </a:r>
            <a:r>
              <a:rPr lang="pl-PL" sz="2000" b="0" u="none" strike="noStrike">
                <a:solidFill>
                  <a:srgbClr val="000000"/>
                </a:solidFill>
                <a:effectLst/>
                <a:uFillTx/>
                <a:latin typeface="Arial"/>
              </a:rPr>
              <a:t>skutecznoś</a:t>
            </a:r>
            <a:r>
              <a:rPr lang="pl-PL" sz="2000" b="0" u="none" strike="noStrike">
                <a:solidFill>
                  <a:srgbClr val="000000"/>
                </a:solidFill>
                <a:effectLst/>
                <a:uFillTx/>
                <a:latin typeface="Arial"/>
              </a:rPr>
              <a:t>ci i </a:t>
            </a:r>
            <a:r>
              <a:rPr lang="pl-PL" sz="2000" b="0" u="none" strike="noStrike">
                <a:solidFill>
                  <a:srgbClr val="000000"/>
                </a:solidFill>
                <a:effectLst/>
                <a:uFillTx/>
                <a:latin typeface="Arial"/>
              </a:rPr>
              <a:t>tolerancji, </a:t>
            </a:r>
            <a:r>
              <a:rPr lang="pl-PL" sz="2000" b="0" u="none" strike="noStrike">
                <a:solidFill>
                  <a:srgbClr val="000000"/>
                </a:solidFill>
                <a:effectLst/>
                <a:uFillTx/>
                <a:latin typeface="Arial"/>
              </a:rPr>
              <a:t>natomiast </a:t>
            </a:r>
            <a:r>
              <a:rPr lang="pl-PL" sz="2000" b="0" u="none" strike="noStrike">
                <a:solidFill>
                  <a:srgbClr val="000000"/>
                </a:solidFill>
                <a:effectLst/>
                <a:uFillTx/>
                <a:latin typeface="Arial"/>
              </a:rPr>
              <a:t>amfetaminy </a:t>
            </a:r>
            <a:r>
              <a:rPr lang="pl-PL" sz="2000" b="0" u="none" strike="noStrike">
                <a:solidFill>
                  <a:srgbClr val="000000"/>
                </a:solidFill>
                <a:effectLst/>
                <a:uFillTx/>
                <a:latin typeface="Arial"/>
              </a:rPr>
              <a:t>jako </a:t>
            </a:r>
            <a:r>
              <a:rPr lang="pl-PL" sz="2000" b="0" u="none" strike="noStrike">
                <a:solidFill>
                  <a:srgbClr val="000000"/>
                </a:solidFill>
                <a:effectLst/>
                <a:uFillTx/>
                <a:latin typeface="Arial"/>
              </a:rPr>
              <a:t>najskuteczn</a:t>
            </a:r>
            <a:r>
              <a:rPr lang="pl-PL" sz="2000" b="0" u="none" strike="noStrike">
                <a:solidFill>
                  <a:srgbClr val="000000"/>
                </a:solidFill>
                <a:effectLst/>
                <a:uFillTx/>
                <a:latin typeface="Arial"/>
              </a:rPr>
              <a:t>iejsze </a:t>
            </a:r>
            <a:r>
              <a:rPr lang="pl-PL" sz="2000" b="0" u="none" strike="noStrike">
                <a:solidFill>
                  <a:srgbClr val="000000"/>
                </a:solidFill>
                <a:effectLst/>
                <a:uFillTx/>
                <a:latin typeface="Arial"/>
              </a:rPr>
              <a:t>objawowo u </a:t>
            </a:r>
            <a:r>
              <a:rPr lang="pl-PL" sz="2000" b="0" u="none" strike="noStrike">
                <a:solidFill>
                  <a:srgbClr val="000000"/>
                </a:solidFill>
                <a:effectLst/>
                <a:uFillTx/>
                <a:latin typeface="Arial"/>
              </a:rPr>
              <a:t>dorosłych. </a:t>
            </a:r>
            <a:r>
              <a:rPr lang="pl-PL" sz="2000" b="0" u="none" strike="noStrike">
                <a:solidFill>
                  <a:srgbClr val="000000"/>
                </a:solidFill>
                <a:effectLst/>
                <a:uFillTx/>
                <a:latin typeface="Arial"/>
              </a:rPr>
              <a:t>Dane </a:t>
            </a:r>
            <a:r>
              <a:rPr lang="pl-PL" sz="2000" b="0" u="none" strike="noStrike">
                <a:solidFill>
                  <a:srgbClr val="000000"/>
                </a:solidFill>
                <a:effectLst/>
                <a:uFillTx/>
                <a:latin typeface="Arial"/>
              </a:rPr>
              <a:t>dotyczą </a:t>
            </a:r>
            <a:r>
              <a:rPr lang="pl-PL" sz="2000" b="0" u="none" strike="noStrike">
                <a:solidFill>
                  <a:srgbClr val="000000"/>
                </a:solidFill>
                <a:effectLst/>
                <a:uFillTx/>
                <a:latin typeface="Arial"/>
              </a:rPr>
              <a:t>przede </a:t>
            </a:r>
            <a:r>
              <a:rPr lang="pl-PL" sz="2000" b="0" u="none" strike="noStrike">
                <a:solidFill>
                  <a:srgbClr val="000000"/>
                </a:solidFill>
                <a:effectLst/>
                <a:uFillTx/>
                <a:latin typeface="Arial"/>
              </a:rPr>
              <a:t>wszystkim </a:t>
            </a:r>
            <a:r>
              <a:rPr lang="pl-PL" sz="2000" b="0" u="none" strike="noStrike">
                <a:solidFill>
                  <a:srgbClr val="000000"/>
                </a:solidFill>
                <a:effectLst/>
                <a:uFillTx/>
                <a:latin typeface="Arial"/>
              </a:rPr>
              <a:t>kilkutygodni</a:t>
            </a:r>
            <a:r>
              <a:rPr lang="pl-PL" sz="2000" b="0" u="none" strike="noStrike">
                <a:solidFill>
                  <a:srgbClr val="000000"/>
                </a:solidFill>
                <a:effectLst/>
                <a:uFillTx/>
                <a:latin typeface="Arial"/>
              </a:rPr>
              <a:t>owej </a:t>
            </a:r>
            <a:r>
              <a:rPr lang="pl-PL" sz="2000" b="0" u="none" strike="noStrike">
                <a:solidFill>
                  <a:srgbClr val="000000"/>
                </a:solidFill>
                <a:effectLst/>
                <a:uFillTx/>
                <a:latin typeface="Arial"/>
              </a:rPr>
              <a:t>obserwacji </a:t>
            </a:r>
            <a:r>
              <a:rPr lang="pl-PL" sz="2000" b="0" u="none" strike="noStrike">
                <a:solidFill>
                  <a:srgbClr val="000000"/>
                </a:solidFill>
                <a:effectLst/>
                <a:uFillTx/>
                <a:latin typeface="Arial"/>
              </a:rPr>
              <a:t>— kliniczna </a:t>
            </a:r>
            <a:r>
              <a:rPr lang="pl-PL" sz="2000" b="0" u="none" strike="noStrike">
                <a:solidFill>
                  <a:srgbClr val="000000"/>
                </a:solidFill>
                <a:effectLst/>
                <a:uFillTx/>
                <a:latin typeface="Arial"/>
              </a:rPr>
              <a:t>odpowiedź </a:t>
            </a:r>
            <a:r>
              <a:rPr lang="pl-PL" sz="2000" b="0" u="none" strike="noStrike">
                <a:solidFill>
                  <a:srgbClr val="000000"/>
                </a:solidFill>
                <a:effectLst/>
                <a:uFillTx/>
                <a:latin typeface="Arial"/>
              </a:rPr>
              <a:t>powinna </a:t>
            </a:r>
            <a:r>
              <a:rPr lang="pl-PL" sz="2000" b="0" u="none" strike="noStrike">
                <a:solidFill>
                  <a:srgbClr val="000000"/>
                </a:solidFill>
                <a:effectLst/>
                <a:uFillTx/>
                <a:latin typeface="Arial"/>
              </a:rPr>
              <a:t>obejmować </a:t>
            </a:r>
            <a:r>
              <a:rPr lang="pl-PL" sz="2000" b="0" u="none" strike="noStrike">
                <a:solidFill>
                  <a:srgbClr val="000000"/>
                </a:solidFill>
                <a:effectLst/>
                <a:uFillTx/>
                <a:latin typeface="Arial"/>
              </a:rPr>
              <a:t>zarówno </a:t>
            </a:r>
            <a:r>
              <a:rPr lang="pl-PL" sz="2000" b="0" u="none" strike="noStrike">
                <a:solidFill>
                  <a:srgbClr val="000000"/>
                </a:solidFill>
                <a:effectLst/>
                <a:uFillTx/>
                <a:latin typeface="Arial"/>
              </a:rPr>
              <a:t>redukcję </a:t>
            </a:r>
            <a:r>
              <a:rPr lang="pl-PL" sz="2000" b="0" u="none" strike="noStrike">
                <a:solidFill>
                  <a:srgbClr val="000000"/>
                </a:solidFill>
                <a:effectLst/>
                <a:uFillTx/>
                <a:latin typeface="Arial"/>
              </a:rPr>
              <a:t>objawów, </a:t>
            </a:r>
            <a:r>
              <a:rPr lang="pl-PL" sz="2000" b="0" u="none" strike="noStrike">
                <a:solidFill>
                  <a:srgbClr val="000000"/>
                </a:solidFill>
                <a:effectLst/>
                <a:uFillTx/>
                <a:latin typeface="Arial"/>
              </a:rPr>
              <a:t>jak i </a:t>
            </a:r>
            <a:r>
              <a:rPr lang="pl-PL" sz="2000" b="0" u="none" strike="noStrike">
                <a:solidFill>
                  <a:srgbClr val="000000"/>
                </a:solidFill>
                <a:effectLst/>
                <a:uFillTx/>
                <a:latin typeface="Arial"/>
              </a:rPr>
              <a:t>poprawę </a:t>
            </a:r>
            <a:r>
              <a:rPr lang="pl-PL" sz="2000" b="0" u="none" strike="noStrike">
                <a:solidFill>
                  <a:srgbClr val="000000"/>
                </a:solidFill>
                <a:effectLst/>
                <a:uFillTx/>
                <a:latin typeface="Arial"/>
              </a:rPr>
              <a:t>rzeczywiste</a:t>
            </a:r>
            <a:r>
              <a:rPr lang="pl-PL" sz="2000" b="0" u="none" strike="noStrike">
                <a:solidFill>
                  <a:srgbClr val="000000"/>
                </a:solidFill>
                <a:effectLst/>
                <a:uFillTx/>
                <a:latin typeface="Arial"/>
              </a:rPr>
              <a:t>go </a:t>
            </a:r>
            <a:r>
              <a:rPr lang="pl-PL" sz="2000" b="0" u="none" strike="noStrike">
                <a:solidFill>
                  <a:srgbClr val="000000"/>
                </a:solidFill>
                <a:effectLst/>
                <a:uFillTx/>
                <a:latin typeface="Arial"/>
              </a:rPr>
              <a:t>funkcjonow</a:t>
            </a:r>
            <a:r>
              <a:rPr lang="pl-PL" sz="2000" b="0" u="none" strike="noStrike">
                <a:solidFill>
                  <a:srgbClr val="000000"/>
                </a:solidFill>
                <a:effectLst/>
                <a:uFillTx/>
                <a:latin typeface="Arial"/>
              </a:rPr>
              <a:t>ania.</a:t>
            </a:r>
            <a:endParaRPr lang="pl-PL" sz="2000" b="0" u="none" strike="noStrike">
              <a:solidFill>
                <a:srgbClr val="000000"/>
              </a:solidFill>
              <a:effectLst/>
              <a:uFillTx/>
              <a:latin typeface="Arial"/>
            </a:endParaRPr>
          </a:p>
        </p:txBody>
      </p:sp>
      <p:sp>
        <p:nvSpPr>
          <p:cNvPr id="481" name="PlaceHolder 3"/>
          <p:cNvSpPr>
            <a:spLocks noGrp="1"/>
          </p:cNvSpPr>
          <p:nvPr>
            <p:ph type="sldNum" idx="2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898CAEE1-AFAA-4C6D-90D4-1E193035F2E7}"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5680" cy="3085560"/>
          </a:xfrm>
          <a:prstGeom prst="rect">
            <a:avLst/>
          </a:prstGeom>
          <a:ln w="0">
            <a:noFill/>
          </a:ln>
        </p:spPr>
      </p:sp>
      <p:sp>
        <p:nvSpPr>
          <p:cNvPr id="4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Najczęstsze działania niepożądane psychostymulantów obejmują zmniejszenie apetytu, trudności z zasypianiem, ból głowy i ból brzucha; atomoksetyna częściej powoduje dolegliwości żołądkowo-jelitowe i senność, a agoniści alfa-2A — sedację i hipotonię. Częstości pochodzą z odrębnych badań rejestracyjnych i nie powinny służyć do rankingu bezpieczeństwa preparatów. Nie jest możliwe prowadzenie wieloletnich badań randomizowanych, w których pacjenci byliby przydzielani do leczenia lub jego braku — dane dotyczące przestępczości, śmiertelności i kosztów są więc w dużej mierze obserwacyjne. Dodatkowym ograniczeniem jest heterogeniczność ADHD: rokowanie różni się zależnie od płci, wieku, prezentacji objawów, współchorobowości i środowiska — wyniki grupowe nie pozwalają przewidzieć losu konkretnej osoby.</a:t>
            </a:r>
            <a:endParaRPr lang="pl-PL" sz="2000" b="0" u="none" strike="noStrike">
              <a:solidFill>
                <a:srgbClr val="000000"/>
              </a:solidFill>
              <a:effectLst/>
              <a:uFillTx/>
              <a:latin typeface="Arial"/>
            </a:endParaRPr>
          </a:p>
        </p:txBody>
      </p:sp>
      <p:sp>
        <p:nvSpPr>
          <p:cNvPr id="484" name="PlaceHolder 3"/>
          <p:cNvSpPr>
            <a:spLocks noGrp="1"/>
          </p:cNvSpPr>
          <p:nvPr>
            <p:ph type="sldNum" idx="2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C79C536C-8D9F-41A7-81AA-6BC626A5F0BF}"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5680" cy="3085560"/>
          </a:xfrm>
          <a:prstGeom prst="rect">
            <a:avLst/>
          </a:prstGeom>
          <a:ln w="0">
            <a:noFill/>
          </a:ln>
        </p:spPr>
      </p:sp>
      <p:sp>
        <p:nvSpPr>
          <p:cNvPr id="4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lang="pl-PL" sz="2000" b="0" u="none" strike="noStrike">
                <a:solidFill>
                  <a:srgbClr val="000000"/>
                </a:solidFill>
                <a:effectLst/>
                <a:uFillTx/>
                <a:latin typeface="Arial"/>
              </a:rPr>
              <a:t>ADHD jest istotnym czynnikiem podatności na uzależnienia, współchorobowość psychiatryczną, wypadki, problemy edukacyjne, trudności zawodowe, konflikty rodzinne i zachowania przestępcze. Najbardziej niekorzystny przebieg dotyczy zwykle konfiguracji obejmującej ADHD, zaburzenia zachowania lub cechy antyspołeczne, dysregulację emocjonalną, depresję lub SUD, niekorzystne środowisko i brak leczenia. Prawidłowo prowadzona farmakoterapia nie zwiększa ryzyka uzależnienia, a badania populacyjne wskazują na niższe ryzyko nadużywania substancji, przestępstw, wypadków transportowych i zachowań samobójczych w okresach leczenia. Wczesne rozpoznanie i ciągłe leczenie wielomodalne należy traktować nie tylko jako interwencję dotyczącą objawów, lecz także jako potencjalną formę profilaktyki uzależnień, wypadków, marginalizacji i utraty kapitału ludzkiego. To dobre miejsce, aby zakończyć i otworzyć dyskusję.</a:t>
            </a:r>
            <a:endParaRPr lang="pl-PL" sz="2000" b="0" u="none" strike="noStrike">
              <a:solidFill>
                <a:srgbClr val="000000"/>
              </a:solidFill>
              <a:effectLst/>
              <a:uFillTx/>
              <a:latin typeface="Arial"/>
            </a:endParaRPr>
          </a:p>
        </p:txBody>
      </p:sp>
      <p:sp>
        <p:nvSpPr>
          <p:cNvPr id="487" name="PlaceHolder 3"/>
          <p:cNvSpPr>
            <a:spLocks noGrp="1"/>
          </p:cNvSpPr>
          <p:nvPr>
            <p:ph type="sldNum" idx="2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pl-PL" sz="1200" b="0" u="none" strike="noStrike">
                <a:solidFill>
                  <a:schemeClr val="dk1"/>
                </a:solidFill>
                <a:effectLst/>
                <a:uFillTx/>
                <a:latin typeface="+mn-lt"/>
                <a:ea typeface="+mn-ea"/>
              </a:defRPr>
            </a:lvl1pPr>
          </a:lstStyle>
          <a:p>
            <a:pPr indent="0" algn="r" defTabSz="914400">
              <a:lnSpc>
                <a:spcPct val="100000"/>
              </a:lnSpc>
              <a:buNone/>
              <a:tabLst>
                <a:tab algn="l" pos="0"/>
              </a:tabLst>
            </a:pPr>
            <a:fld id="{2859FA34-7B12-4B1D-880B-C6F0C4450D86}" type="slidenum">
              <a:rPr lang="pl-PL" sz="1200" b="0" u="none" strike="noStrike">
                <a:solidFill>
                  <a:schemeClr val="dk1"/>
                </a:solidFill>
                <a:effectLst/>
                <a:uFillTx/>
                <a:latin typeface="+mn-lt"/>
                <a:ea typeface="+mn-ea"/>
              </a:rPr>
              <a:t>&lt;numer&gt;</a:t>
            </a:fld>
            <a:endParaRPr lang="pl-PL"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pl-PL" sz="4400" b="0" u="none" strike="noStrike">
                <a:solidFill>
                  <a:srgbClr val="000000"/>
                </a:solidFill>
                <a:effectLst/>
                <a:uFillTx/>
                <a:latin typeface="Arial"/>
              </a:rPr>
              <a:t>Kliknij, aby edytować format tekstu tytułu</a:t>
            </a:r>
            <a:endParaRPr lang="pl-PL" sz="44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endParaRPr lang="pl-PL"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endParaRPr lang="pl-PL"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endParaRPr lang="pl-PL"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endParaRPr lang="pl-PL"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endParaRPr lang="pl-PL"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endParaRPr lang="pl-PL"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endParaRPr lang="pl-PL"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omyślny">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496800"/>
            <a:ext cx="8228880" cy="274680"/>
          </a:xfrm>
          <a:prstGeom prst="rect">
            <a:avLst/>
          </a:prstGeom>
          <a:noFill/>
          <a:ln w="0">
            <a:noFill/>
          </a:ln>
        </p:spPr>
        <p:txBody>
          <a:bodyPr lIns="0" rIns="0" tIns="0" bIns="0" anchor="ctr">
            <a:spAutoFit/>
          </a:bodyPr>
          <a:p>
            <a:pPr indent="0">
              <a:buNone/>
            </a:pPr>
            <a:r>
              <a:rPr lang="pl-PL" sz="1800" b="0" u="none" strike="noStrike">
                <a:solidFill>
                  <a:srgbClr val="000000"/>
                </a:solidFill>
                <a:effectLst/>
                <a:uFillTx/>
                <a:latin typeface="Arial"/>
              </a:rPr>
              <a:t>Kliknij, aby edytować format tekstu tytułu</a:t>
            </a:r>
            <a:endParaRPr lang="pl-PL" sz="1800" b="0" u="none" strike="noStrike">
              <a:solidFill>
                <a:srgbClr val="000000"/>
              </a:solidFill>
              <a:effectLst/>
              <a:uFillTx/>
              <a:latin typeface="Aria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endParaRPr lang="pl-PL"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endParaRPr lang="pl-PL"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endParaRPr lang="pl-PL"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endParaRPr lang="pl-PL"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endParaRPr lang="pl-PL"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endParaRPr lang="pl-PL"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endParaRPr lang="pl-PL"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148"/>
        </a:solidFill>
      </p:bgPr>
    </p:bg>
    <p:spTree>
      <p:nvGrpSpPr>
        <p:cNvPr id="1" name=""/>
        <p:cNvGrpSpPr/>
        <p:nvPr/>
      </p:nvGrpSpPr>
      <p:grpSpPr>
        <a:xfrm>
          <a:off x="0" y="0"/>
          <a:ext cx="0" cy="0"/>
          <a:chOff x="0" y="0"/>
          <a:chExt cx="0" cy="0"/>
        </a:xfrm>
      </p:grpSpPr>
      <p:sp>
        <p:nvSpPr>
          <p:cNvPr id="12" name="Shape 0"/>
          <p:cNvSpPr/>
          <p:nvPr/>
        </p:nvSpPr>
        <p:spPr>
          <a:xfrm>
            <a:off x="6400800" y="-1188720"/>
            <a:ext cx="4205520" cy="4205520"/>
          </a:xfrm>
          <a:prstGeom prst="ellipse">
            <a:avLst/>
          </a:prstGeom>
          <a:solidFill>
            <a:srgbClr val="e8743a">
              <a:alpha val="10000"/>
            </a:srgbClr>
          </a:solidFill>
          <a:ln w="12600">
            <a:solidFill>
              <a:srgbClr val="e8743a">
                <a:alpha val="25000"/>
              </a:srgbClr>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3" name="Shape 1"/>
          <p:cNvSpPr/>
          <p:nvPr/>
        </p:nvSpPr>
        <p:spPr>
          <a:xfrm>
            <a:off x="7223760" y="-457200"/>
            <a:ext cx="2193840" cy="2193840"/>
          </a:xfrm>
          <a:prstGeom prst="ellipse">
            <a:avLst/>
          </a:prstGeom>
          <a:solidFill>
            <a:srgbClr val="1f8a82">
              <a:alpha val="12000"/>
            </a:srgbClr>
          </a:solidFill>
          <a:ln w="12600">
            <a:solidFill>
              <a:srgbClr val="1f8a82">
                <a:alpha val="30000"/>
              </a:srgbClr>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 name="Text 2"/>
          <p:cNvSpPr/>
          <p:nvPr/>
        </p:nvSpPr>
        <p:spPr>
          <a:xfrm>
            <a:off x="322920" y="190440"/>
            <a:ext cx="32767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pc="139" strike="noStrike">
                <a:solidFill>
                  <a:srgbClr val="f2a679"/>
                </a:solidFill>
                <a:effectLst/>
                <a:uFillTx/>
                <a:latin typeface="Calibri"/>
                <a:ea typeface="Calibri"/>
              </a:rPr>
              <a:t>PSYCHOLOGIA KLINICZNA</a:t>
            </a:r>
            <a:endParaRPr lang="pl-PL" sz="1400" b="0" u="none" strike="noStrike">
              <a:solidFill>
                <a:srgbClr val="ffffff"/>
              </a:solidFill>
              <a:effectLst/>
              <a:uFillTx/>
              <a:latin typeface="Arial"/>
            </a:endParaRPr>
          </a:p>
        </p:txBody>
      </p:sp>
      <p:sp>
        <p:nvSpPr>
          <p:cNvPr id="15" name="Text 3"/>
          <p:cNvSpPr/>
          <p:nvPr/>
        </p:nvSpPr>
        <p:spPr>
          <a:xfrm>
            <a:off x="394920" y="546480"/>
            <a:ext cx="5796720" cy="1553760"/>
          </a:xfrm>
          <a:prstGeom prst="rect">
            <a:avLst/>
          </a:prstGeom>
          <a:noFill/>
          <a:ln w="0">
            <a:noFill/>
          </a:ln>
        </p:spPr>
        <p:style>
          <a:lnRef idx="0"/>
          <a:fillRef idx="0"/>
          <a:effectRef idx="0"/>
          <a:fontRef idx="minor"/>
        </p:style>
        <p:txBody>
          <a:bodyPr lIns="0" rIns="0" tIns="0" bIns="0" anchor="ctr">
            <a:noAutofit/>
          </a:bodyPr>
          <a:p>
            <a:pPr defTabSz="914400">
              <a:lnSpc>
                <a:spcPct val="104000"/>
              </a:lnSpc>
              <a:tabLst>
                <a:tab algn="l" pos="0"/>
              </a:tabLst>
            </a:pPr>
            <a:r>
              <a:rPr lang="pl-PL" sz="4000" b="1" u="none" strike="noStrike">
                <a:solidFill>
                  <a:srgbClr val="ffffff"/>
                </a:solidFill>
                <a:effectLst/>
                <a:uFillTx/>
                <a:latin typeface="Cambria"/>
                <a:ea typeface="Cambria"/>
              </a:rPr>
              <a:t>ADHD, a funkcjonowanie</a:t>
            </a:r>
            <a:endParaRPr lang="pl-PL" sz="4000" b="0" u="none" strike="noStrike">
              <a:solidFill>
                <a:srgbClr val="ffffff"/>
              </a:solidFill>
              <a:effectLst/>
              <a:uFillTx/>
              <a:latin typeface="Arial"/>
            </a:endParaRPr>
          </a:p>
          <a:p>
            <a:pPr defTabSz="914400">
              <a:lnSpc>
                <a:spcPct val="104000"/>
              </a:lnSpc>
              <a:tabLst>
                <a:tab algn="l" pos="0"/>
              </a:tabLst>
            </a:pPr>
            <a:r>
              <a:rPr lang="pl-PL" sz="4000" b="1" u="none" strike="noStrike">
                <a:solidFill>
                  <a:srgbClr val="ffffff"/>
                </a:solidFill>
                <a:effectLst/>
                <a:uFillTx/>
                <a:latin typeface="Cambria"/>
                <a:ea typeface="Cambria"/>
              </a:rPr>
              <a:t>psychospołeczne</a:t>
            </a:r>
            <a:endParaRPr lang="pl-PL" sz="4000" b="0" u="none" strike="noStrike">
              <a:solidFill>
                <a:srgbClr val="ffffff"/>
              </a:solidFill>
              <a:effectLst/>
              <a:uFillTx/>
              <a:latin typeface="Arial"/>
            </a:endParaRPr>
          </a:p>
        </p:txBody>
      </p:sp>
      <p:sp>
        <p:nvSpPr>
          <p:cNvPr id="16" name="Text 4"/>
          <p:cNvSpPr/>
          <p:nvPr/>
        </p:nvSpPr>
        <p:spPr>
          <a:xfrm>
            <a:off x="502920" y="2866680"/>
            <a:ext cx="57967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50" b="0" u="none" strike="noStrike">
                <a:solidFill>
                  <a:srgbClr val="c7cdee"/>
                </a:solidFill>
                <a:effectLst/>
                <a:uFillTx/>
                <a:latin typeface="Calibri"/>
                <a:ea typeface="Calibri"/>
              </a:rPr>
              <a:t>Uzależnienia, współchorobowość, przestępczość, edukacja, praca i rodzina</a:t>
            </a:r>
            <a:r>
              <a:rPr lang="pl-PL" sz="1450" b="0" i="1" u="none" strike="noStrike">
                <a:solidFill>
                  <a:srgbClr val="8f9bd4"/>
                </a:solidFill>
                <a:effectLst/>
                <a:uFillTx/>
                <a:latin typeface="Calibri"/>
                <a:ea typeface="Calibri"/>
              </a:rPr>
              <a:t>  </a:t>
            </a:r>
            <a:br>
              <a:rPr sz="1450"/>
            </a:br>
            <a:r>
              <a:rPr lang="pl-PL" sz="1400" b="0" i="1" u="none" strike="noStrike">
                <a:solidFill>
                  <a:srgbClr val="8f9bd4"/>
                </a:solidFill>
                <a:effectLst/>
                <a:uFillTx/>
                <a:latin typeface="Calibri"/>
                <a:ea typeface="Calibri"/>
              </a:rPr>
              <a:t>synteza dowodów z metaanaliz, badań kohortowych i analiz rejestrowych</a:t>
            </a:r>
            <a:endParaRPr lang="pl-PL" sz="1400" b="0" u="none" strike="noStrike">
              <a:solidFill>
                <a:srgbClr val="ffffff"/>
              </a:solidFill>
              <a:effectLst/>
              <a:uFillTx/>
              <a:latin typeface="Arial"/>
            </a:endParaRPr>
          </a:p>
        </p:txBody>
      </p:sp>
      <p:sp>
        <p:nvSpPr>
          <p:cNvPr id="17" name="Shape 5"/>
          <p:cNvSpPr/>
          <p:nvPr/>
        </p:nvSpPr>
        <p:spPr>
          <a:xfrm>
            <a:off x="502920" y="4160520"/>
            <a:ext cx="2743200" cy="360"/>
          </a:xfrm>
          <a:prstGeom prst="line">
            <a:avLst/>
          </a:prstGeom>
          <a:ln w="12600">
            <a:solidFill>
              <a:srgbClr val="454f8c"/>
            </a:solidFill>
            <a:round/>
          </a:ln>
        </p:spPr>
        <p:style>
          <a:lnRef idx="0"/>
          <a:fillRef idx="0"/>
          <a:effectRef idx="0"/>
          <a:fontRef idx="minor"/>
        </p:style>
        <p:txBody>
          <a:bodyPr lIns="90000" rIns="90000" tIns="-44640" bIns="-44640" anchor="t" anchorCtr="1">
            <a:noAutofit/>
          </a:bodyPr>
          <a:p>
            <a:endParaRPr lang="pl-PL" sz="1800" b="0" u="none" strike="noStrike">
              <a:solidFill>
                <a:srgbClr val="ffffff"/>
              </a:solidFill>
              <a:effectLst/>
              <a:uFillTx/>
              <a:latin typeface="Arial"/>
              <a:ea typeface="DejaVu Sans"/>
            </a:endParaRPr>
          </a:p>
        </p:txBody>
      </p:sp>
      <p:sp>
        <p:nvSpPr>
          <p:cNvPr id="18" name="Text 6"/>
          <p:cNvSpPr/>
          <p:nvPr/>
        </p:nvSpPr>
        <p:spPr>
          <a:xfrm>
            <a:off x="502920" y="4279320"/>
            <a:ext cx="795456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50" b="0" u="none" strike="noStrike">
                <a:solidFill>
                  <a:srgbClr val="9aa4d8"/>
                </a:solidFill>
                <a:effectLst/>
                <a:uFillTx/>
                <a:latin typeface="Calibri"/>
                <a:ea typeface="Calibri"/>
              </a:rPr>
              <a:t>dr inż. Mateusz Pomianek   ·   Politechnika Rzeszowska   ·   27 czerwca 2026 r.</a:t>
            </a:r>
            <a:endParaRPr lang="pl-PL"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WPROWADZENIE</a:t>
            </a:r>
            <a:endParaRPr lang="pl-PL" sz="1100" b="0" u="none" strike="noStrike">
              <a:solidFill>
                <a:srgbClr val="000000"/>
              </a:solidFill>
              <a:effectLst/>
              <a:uFillTx/>
              <a:latin typeface="Arial"/>
            </a:endParaRPr>
          </a:p>
        </p:txBody>
      </p:sp>
      <p:sp>
        <p:nvSpPr>
          <p:cNvPr id="20"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Cel i zakres</a:t>
            </a:r>
            <a:endParaRPr lang="pl-PL" sz="2200" b="0" u="none" strike="noStrike">
              <a:solidFill>
                <a:srgbClr val="000000"/>
              </a:solidFill>
              <a:effectLst/>
              <a:uFillTx/>
              <a:latin typeface="Arial"/>
            </a:endParaRPr>
          </a:p>
        </p:txBody>
      </p:sp>
      <p:sp>
        <p:nvSpPr>
          <p:cNvPr id="21"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ADHD jako zaburzenie samoregulacji; dlaczego jego konsekwencje wykraczają daleko poza klasę szkolną</a:t>
            </a:r>
            <a:endParaRPr lang="pl-PL" sz="1200" b="0" u="none" strike="noStrike">
              <a:solidFill>
                <a:srgbClr val="000000"/>
              </a:solidFill>
              <a:effectLst/>
              <a:uFillTx/>
              <a:latin typeface="Arial"/>
            </a:endParaRPr>
          </a:p>
        </p:txBody>
      </p:sp>
      <p:sp>
        <p:nvSpPr>
          <p:cNvPr id="22" name="Text 3"/>
          <p:cNvSpPr/>
          <p:nvPr/>
        </p:nvSpPr>
        <p:spPr>
          <a:xfrm>
            <a:off x="502920" y="1627560"/>
            <a:ext cx="8137440" cy="639360"/>
          </a:xfrm>
          <a:prstGeom prst="rect">
            <a:avLst/>
          </a:prstGeom>
          <a:noFill/>
          <a:ln w="0">
            <a:noFill/>
          </a:ln>
        </p:spPr>
        <p:style>
          <a:lnRef idx="0"/>
          <a:fillRef idx="0"/>
          <a:effectRef idx="0"/>
          <a:fontRef idx="minor"/>
        </p:style>
        <p:txBody>
          <a:bodyPr lIns="0" rIns="0" tIns="0" bIns="0" anchor="ctr">
            <a:noAutofit/>
          </a:bodyPr>
          <a:p>
            <a:pPr defTabSz="914400">
              <a:lnSpc>
                <a:spcPct val="115000"/>
              </a:lnSpc>
              <a:spcBef>
                <a:spcPts val="567"/>
              </a:spcBef>
              <a:spcAft>
                <a:spcPts val="567"/>
              </a:spcAft>
              <a:tabLst>
                <a:tab algn="l" pos="0"/>
              </a:tabLst>
            </a:pPr>
            <a:r>
              <a:rPr lang="pl-PL" sz="1400" b="0" u="none" strike="noStrike">
                <a:solidFill>
                  <a:srgbClr val="000000"/>
                </a:solidFill>
                <a:effectLst/>
                <a:uFillTx/>
                <a:latin typeface="Calibri"/>
                <a:ea typeface="Calibri"/>
              </a:rPr>
              <a:t>Kliniczny obraz ADHD obejmuje nieuwagę, impulsywność i nadruchliwość, ale jego funkcjonalne znaczenie wynika przede wszystkim z trudności w samoregulacji, planowaniu, hamowaniu reakcji i odraczaniu gratyfikacji, nawet przy prawidłowych lub wysokich zdolnościach intelektualnych.</a:t>
            </a:r>
            <a:endParaRPr lang="pl-PL" sz="1400" b="0" u="none" strike="noStrike">
              <a:solidFill>
                <a:srgbClr val="000000"/>
              </a:solidFill>
              <a:effectLst/>
              <a:uFillTx/>
              <a:latin typeface="Arial"/>
              <a:ea typeface="Noto Sans CJK SC"/>
            </a:endParaRPr>
          </a:p>
        </p:txBody>
      </p:sp>
      <p:sp>
        <p:nvSpPr>
          <p:cNvPr id="23" name="Shape 4"/>
          <p:cNvSpPr/>
          <p:nvPr/>
        </p:nvSpPr>
        <p:spPr>
          <a:xfrm>
            <a:off x="502920" y="2664000"/>
            <a:ext cx="1590480" cy="1551240"/>
          </a:xfrm>
          <a:prstGeom prst="roundRect">
            <a:avLst>
              <a:gd name="adj" fmla="val 5172"/>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 name="Shape 5"/>
          <p:cNvSpPr/>
          <p:nvPr/>
        </p:nvSpPr>
        <p:spPr>
          <a:xfrm>
            <a:off x="667440" y="2795760"/>
            <a:ext cx="383400" cy="38340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 name="Text 6"/>
          <p:cNvSpPr/>
          <p:nvPr/>
        </p:nvSpPr>
        <p:spPr>
          <a:xfrm>
            <a:off x="667440" y="2795760"/>
            <a:ext cx="38340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ffffff"/>
                </a:solidFill>
                <a:effectLst/>
                <a:uFillTx/>
                <a:latin typeface="Calibri"/>
                <a:ea typeface="Calibri"/>
              </a:rPr>
              <a:t>1</a:t>
            </a:r>
            <a:endParaRPr lang="pl-PL" sz="1300" b="0" u="none" strike="noStrike">
              <a:solidFill>
                <a:srgbClr val="000000"/>
              </a:solidFill>
              <a:effectLst/>
              <a:uFillTx/>
              <a:latin typeface="Arial"/>
            </a:endParaRPr>
          </a:p>
        </p:txBody>
      </p:sp>
      <p:sp>
        <p:nvSpPr>
          <p:cNvPr id="26" name="Text 7"/>
          <p:cNvSpPr/>
          <p:nvPr/>
        </p:nvSpPr>
        <p:spPr>
          <a:xfrm>
            <a:off x="631080" y="3182040"/>
            <a:ext cx="1334160" cy="60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50" b="1" u="none" strike="noStrike">
                <a:solidFill>
                  <a:srgbClr val="1b2148"/>
                </a:solidFill>
                <a:effectLst/>
                <a:uFillTx/>
                <a:latin typeface="Cambria"/>
                <a:ea typeface="Cambria"/>
              </a:rPr>
              <a:t>Uzależnienia</a:t>
            </a:r>
            <a:endParaRPr lang="pl-PL" sz="1250" b="0" u="none" strike="noStrike">
              <a:solidFill>
                <a:srgbClr val="000000"/>
              </a:solidFill>
              <a:effectLst/>
              <a:uFillTx/>
              <a:latin typeface="Arial"/>
            </a:endParaRPr>
          </a:p>
        </p:txBody>
      </p:sp>
      <p:sp>
        <p:nvSpPr>
          <p:cNvPr id="27" name="Text 8"/>
          <p:cNvSpPr/>
          <p:nvPr/>
        </p:nvSpPr>
        <p:spPr>
          <a:xfrm>
            <a:off x="631080" y="3730680"/>
            <a:ext cx="13341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55607a"/>
                </a:solidFill>
                <a:effectLst/>
                <a:uFillTx/>
                <a:latin typeface="Calibri"/>
                <a:ea typeface="Calibri"/>
              </a:rPr>
              <a:t>rozwój, utrzymywanie się i leczenie SUD</a:t>
            </a:r>
            <a:endParaRPr lang="pl-PL" sz="1000" b="0" u="none" strike="noStrike">
              <a:solidFill>
                <a:srgbClr val="000000"/>
              </a:solidFill>
              <a:effectLst/>
              <a:uFillTx/>
              <a:latin typeface="Arial"/>
            </a:endParaRPr>
          </a:p>
        </p:txBody>
      </p:sp>
      <p:sp>
        <p:nvSpPr>
          <p:cNvPr id="28" name="Shape 9"/>
          <p:cNvSpPr/>
          <p:nvPr/>
        </p:nvSpPr>
        <p:spPr>
          <a:xfrm>
            <a:off x="2148840" y="2664000"/>
            <a:ext cx="1590480" cy="1551240"/>
          </a:xfrm>
          <a:prstGeom prst="roundRect">
            <a:avLst>
              <a:gd name="adj" fmla="val 5172"/>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 name="Shape 10"/>
          <p:cNvSpPr/>
          <p:nvPr/>
        </p:nvSpPr>
        <p:spPr>
          <a:xfrm>
            <a:off x="2313360" y="2795760"/>
            <a:ext cx="383400" cy="38340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0" name="Text 11"/>
          <p:cNvSpPr/>
          <p:nvPr/>
        </p:nvSpPr>
        <p:spPr>
          <a:xfrm>
            <a:off x="2313360" y="2795760"/>
            <a:ext cx="38340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ffffff"/>
                </a:solidFill>
                <a:effectLst/>
                <a:uFillTx/>
                <a:latin typeface="Calibri"/>
                <a:ea typeface="Calibri"/>
              </a:rPr>
              <a:t>2</a:t>
            </a:r>
            <a:endParaRPr lang="pl-PL" sz="1300" b="0" u="none" strike="noStrike">
              <a:solidFill>
                <a:srgbClr val="000000"/>
              </a:solidFill>
              <a:effectLst/>
              <a:uFillTx/>
              <a:latin typeface="Arial"/>
            </a:endParaRPr>
          </a:p>
        </p:txBody>
      </p:sp>
      <p:sp>
        <p:nvSpPr>
          <p:cNvPr id="31" name="Text 12"/>
          <p:cNvSpPr/>
          <p:nvPr/>
        </p:nvSpPr>
        <p:spPr>
          <a:xfrm>
            <a:off x="2241000" y="3182040"/>
            <a:ext cx="1502640" cy="60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1" u="none" strike="noStrike">
                <a:solidFill>
                  <a:srgbClr val="1b2148"/>
                </a:solidFill>
                <a:effectLst/>
                <a:uFillTx/>
                <a:latin typeface="Cambria"/>
                <a:ea typeface="Cambria"/>
              </a:rPr>
              <a:t>Współchorobowość</a:t>
            </a:r>
            <a:endParaRPr lang="pl-PL" sz="1200" b="0" u="none" strike="noStrike">
              <a:solidFill>
                <a:srgbClr val="000000"/>
              </a:solidFill>
              <a:effectLst/>
              <a:uFillTx/>
              <a:latin typeface="Arial"/>
            </a:endParaRPr>
          </a:p>
        </p:txBody>
      </p:sp>
      <p:sp>
        <p:nvSpPr>
          <p:cNvPr id="32" name="Text 13"/>
          <p:cNvSpPr/>
          <p:nvPr/>
        </p:nvSpPr>
        <p:spPr>
          <a:xfrm>
            <a:off x="2277000" y="3730680"/>
            <a:ext cx="13341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55607a"/>
                </a:solidFill>
                <a:effectLst/>
                <a:uFillTx/>
                <a:latin typeface="Calibri"/>
                <a:ea typeface="Calibri"/>
              </a:rPr>
              <a:t>depresja, lęk, ChAD, zab. osobowości</a:t>
            </a:r>
            <a:endParaRPr lang="pl-PL" sz="1000" b="0" u="none" strike="noStrike">
              <a:solidFill>
                <a:srgbClr val="000000"/>
              </a:solidFill>
              <a:effectLst/>
              <a:uFillTx/>
              <a:latin typeface="Arial"/>
            </a:endParaRPr>
          </a:p>
        </p:txBody>
      </p:sp>
      <p:sp>
        <p:nvSpPr>
          <p:cNvPr id="33" name="Shape 14"/>
          <p:cNvSpPr/>
          <p:nvPr/>
        </p:nvSpPr>
        <p:spPr>
          <a:xfrm>
            <a:off x="3794760" y="2664000"/>
            <a:ext cx="1590480" cy="1551240"/>
          </a:xfrm>
          <a:prstGeom prst="roundRect">
            <a:avLst>
              <a:gd name="adj" fmla="val 5172"/>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 name="Shape 15"/>
          <p:cNvSpPr/>
          <p:nvPr/>
        </p:nvSpPr>
        <p:spPr>
          <a:xfrm>
            <a:off x="3959280" y="2795760"/>
            <a:ext cx="383400" cy="38340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 name="Text 16"/>
          <p:cNvSpPr/>
          <p:nvPr/>
        </p:nvSpPr>
        <p:spPr>
          <a:xfrm>
            <a:off x="3959280" y="2795760"/>
            <a:ext cx="38340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ffffff"/>
                </a:solidFill>
                <a:effectLst/>
                <a:uFillTx/>
                <a:latin typeface="Calibri"/>
                <a:ea typeface="Calibri"/>
              </a:rPr>
              <a:t>3</a:t>
            </a:r>
            <a:endParaRPr lang="pl-PL" sz="1300" b="0" u="none" strike="noStrike">
              <a:solidFill>
                <a:srgbClr val="000000"/>
              </a:solidFill>
              <a:effectLst/>
              <a:uFillTx/>
              <a:latin typeface="Arial"/>
            </a:endParaRPr>
          </a:p>
        </p:txBody>
      </p:sp>
      <p:sp>
        <p:nvSpPr>
          <p:cNvPr id="36" name="Text 17"/>
          <p:cNvSpPr/>
          <p:nvPr/>
        </p:nvSpPr>
        <p:spPr>
          <a:xfrm>
            <a:off x="3922920" y="3182040"/>
            <a:ext cx="1334160" cy="60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50" b="1" u="none" strike="noStrike">
                <a:solidFill>
                  <a:srgbClr val="1b2148"/>
                </a:solidFill>
                <a:effectLst/>
                <a:uFillTx/>
                <a:latin typeface="Cambria"/>
                <a:ea typeface="Cambria"/>
              </a:rPr>
              <a:t>Przestępczość</a:t>
            </a:r>
            <a:endParaRPr lang="pl-PL" sz="1250" b="0" u="none" strike="noStrike">
              <a:solidFill>
                <a:srgbClr val="000000"/>
              </a:solidFill>
              <a:effectLst/>
              <a:uFillTx/>
              <a:latin typeface="Arial"/>
            </a:endParaRPr>
          </a:p>
        </p:txBody>
      </p:sp>
      <p:sp>
        <p:nvSpPr>
          <p:cNvPr id="37" name="Text 18"/>
          <p:cNvSpPr/>
          <p:nvPr/>
        </p:nvSpPr>
        <p:spPr>
          <a:xfrm>
            <a:off x="3922920" y="3730680"/>
            <a:ext cx="13341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55607a"/>
                </a:solidFill>
                <a:effectLst/>
                <a:uFillTx/>
                <a:latin typeface="Calibri"/>
                <a:ea typeface="Calibri"/>
              </a:rPr>
              <a:t>nadreprezentacja i wpływ leczenia</a:t>
            </a:r>
            <a:endParaRPr lang="pl-PL" sz="1000" b="0" u="none" strike="noStrike">
              <a:solidFill>
                <a:srgbClr val="000000"/>
              </a:solidFill>
              <a:effectLst/>
              <a:uFillTx/>
              <a:latin typeface="Arial"/>
            </a:endParaRPr>
          </a:p>
        </p:txBody>
      </p:sp>
      <p:sp>
        <p:nvSpPr>
          <p:cNvPr id="38" name="Shape 19"/>
          <p:cNvSpPr/>
          <p:nvPr/>
        </p:nvSpPr>
        <p:spPr>
          <a:xfrm>
            <a:off x="5440680" y="2664000"/>
            <a:ext cx="1590480" cy="1551240"/>
          </a:xfrm>
          <a:prstGeom prst="roundRect">
            <a:avLst>
              <a:gd name="adj" fmla="val 5172"/>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9" name="Shape 20"/>
          <p:cNvSpPr/>
          <p:nvPr/>
        </p:nvSpPr>
        <p:spPr>
          <a:xfrm>
            <a:off x="5605200" y="2795760"/>
            <a:ext cx="383400" cy="38340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 name="Text 21"/>
          <p:cNvSpPr/>
          <p:nvPr/>
        </p:nvSpPr>
        <p:spPr>
          <a:xfrm>
            <a:off x="5605200" y="2795760"/>
            <a:ext cx="38340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ffffff"/>
                </a:solidFill>
                <a:effectLst/>
                <a:uFillTx/>
                <a:latin typeface="Calibri"/>
                <a:ea typeface="Calibri"/>
              </a:rPr>
              <a:t>4</a:t>
            </a:r>
            <a:endParaRPr lang="pl-PL" sz="1300" b="0" u="none" strike="noStrike">
              <a:solidFill>
                <a:srgbClr val="000000"/>
              </a:solidFill>
              <a:effectLst/>
              <a:uFillTx/>
              <a:latin typeface="Arial"/>
            </a:endParaRPr>
          </a:p>
        </p:txBody>
      </p:sp>
      <p:sp>
        <p:nvSpPr>
          <p:cNvPr id="41" name="Text 22"/>
          <p:cNvSpPr/>
          <p:nvPr/>
        </p:nvSpPr>
        <p:spPr>
          <a:xfrm>
            <a:off x="5568840" y="3182040"/>
            <a:ext cx="1334160" cy="60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50" b="1" u="none" strike="noStrike">
                <a:solidFill>
                  <a:srgbClr val="1b2148"/>
                </a:solidFill>
                <a:effectLst/>
                <a:uFillTx/>
                <a:latin typeface="Cambria"/>
                <a:ea typeface="Cambria"/>
              </a:rPr>
              <a:t>Edukacja i praca</a:t>
            </a:r>
            <a:endParaRPr lang="pl-PL" sz="1250" b="0" u="none" strike="noStrike">
              <a:solidFill>
                <a:srgbClr val="000000"/>
              </a:solidFill>
              <a:effectLst/>
              <a:uFillTx/>
              <a:latin typeface="Arial"/>
            </a:endParaRPr>
          </a:p>
        </p:txBody>
      </p:sp>
      <p:sp>
        <p:nvSpPr>
          <p:cNvPr id="42" name="Text 23"/>
          <p:cNvSpPr/>
          <p:nvPr/>
        </p:nvSpPr>
        <p:spPr>
          <a:xfrm>
            <a:off x="5568840" y="3730680"/>
            <a:ext cx="13341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55607a"/>
                </a:solidFill>
                <a:effectLst/>
                <a:uFillTx/>
                <a:latin typeface="Calibri"/>
                <a:ea typeface="Calibri"/>
              </a:rPr>
              <a:t>osiągnięcia, zatrudnienie, dochody</a:t>
            </a:r>
            <a:endParaRPr lang="pl-PL" sz="1000" b="0" u="none" strike="noStrike">
              <a:solidFill>
                <a:srgbClr val="000000"/>
              </a:solidFill>
              <a:effectLst/>
              <a:uFillTx/>
              <a:latin typeface="Arial"/>
            </a:endParaRPr>
          </a:p>
        </p:txBody>
      </p:sp>
      <p:sp>
        <p:nvSpPr>
          <p:cNvPr id="43" name="Shape 24"/>
          <p:cNvSpPr/>
          <p:nvPr/>
        </p:nvSpPr>
        <p:spPr>
          <a:xfrm>
            <a:off x="7086600" y="2664000"/>
            <a:ext cx="1590480" cy="1551240"/>
          </a:xfrm>
          <a:prstGeom prst="roundRect">
            <a:avLst>
              <a:gd name="adj" fmla="val 5172"/>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44" name="Shape 25"/>
          <p:cNvSpPr/>
          <p:nvPr/>
        </p:nvSpPr>
        <p:spPr>
          <a:xfrm>
            <a:off x="7251120" y="2795760"/>
            <a:ext cx="383400" cy="38340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5" name="Text 26"/>
          <p:cNvSpPr/>
          <p:nvPr/>
        </p:nvSpPr>
        <p:spPr>
          <a:xfrm>
            <a:off x="7251120" y="2795760"/>
            <a:ext cx="38340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ffffff"/>
                </a:solidFill>
                <a:effectLst/>
                <a:uFillTx/>
                <a:latin typeface="Calibri"/>
                <a:ea typeface="Calibri"/>
              </a:rPr>
              <a:t>5</a:t>
            </a:r>
            <a:endParaRPr lang="pl-PL" sz="1300" b="0" u="none" strike="noStrike">
              <a:solidFill>
                <a:srgbClr val="000000"/>
              </a:solidFill>
              <a:effectLst/>
              <a:uFillTx/>
              <a:latin typeface="Arial"/>
            </a:endParaRPr>
          </a:p>
        </p:txBody>
      </p:sp>
      <p:sp>
        <p:nvSpPr>
          <p:cNvPr id="46" name="Text 27"/>
          <p:cNvSpPr/>
          <p:nvPr/>
        </p:nvSpPr>
        <p:spPr>
          <a:xfrm>
            <a:off x="7214760" y="3182040"/>
            <a:ext cx="1334160" cy="60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50" b="1" u="none" strike="noStrike">
                <a:solidFill>
                  <a:srgbClr val="1b2148"/>
                </a:solidFill>
                <a:effectLst/>
                <a:uFillTx/>
                <a:latin typeface="Cambria"/>
                <a:ea typeface="Cambria"/>
              </a:rPr>
              <a:t>Rodzina i koszty</a:t>
            </a:r>
            <a:endParaRPr lang="pl-PL" sz="1250" b="0" u="none" strike="noStrike">
              <a:solidFill>
                <a:srgbClr val="000000"/>
              </a:solidFill>
              <a:effectLst/>
              <a:uFillTx/>
              <a:latin typeface="Arial"/>
            </a:endParaRPr>
          </a:p>
        </p:txBody>
      </p:sp>
      <p:sp>
        <p:nvSpPr>
          <p:cNvPr id="47" name="Text 28"/>
          <p:cNvSpPr/>
          <p:nvPr/>
        </p:nvSpPr>
        <p:spPr>
          <a:xfrm>
            <a:off x="7214760" y="3730680"/>
            <a:ext cx="13341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55607a"/>
                </a:solidFill>
                <a:effectLst/>
                <a:uFillTx/>
                <a:latin typeface="Calibri"/>
                <a:ea typeface="Calibri"/>
              </a:rPr>
              <a:t>relacje, rodzicielstwo, koszty społeczne</a:t>
            </a:r>
            <a:endParaRPr lang="pl-PL" sz="1000" b="0" u="none" strike="noStrike">
              <a:solidFill>
                <a:srgbClr val="000000"/>
              </a:solidFill>
              <a:effectLst/>
              <a:uFillTx/>
              <a:latin typeface="Arial"/>
            </a:endParaRPr>
          </a:p>
        </p:txBody>
      </p:sp>
      <p:sp>
        <p:nvSpPr>
          <p:cNvPr id="48" name="Text 29"/>
          <p:cNvSpPr/>
          <p:nvPr/>
        </p:nvSpPr>
        <p:spPr>
          <a:xfrm>
            <a:off x="502920" y="4686840"/>
            <a:ext cx="813744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i="1" u="none" strike="noStrike">
                <a:solidFill>
                  <a:srgbClr val="c75a26"/>
                </a:solidFill>
                <a:effectLst/>
                <a:uFillTx/>
                <a:latin typeface="Calibri"/>
                <a:ea typeface="Calibri"/>
              </a:rPr>
              <a:t>a jaką rolę odgrywa leczenie ADHD w ograniczaniu tych ryzyk?</a:t>
            </a:r>
            <a:endParaRPr lang="pl-PL" sz="1400" b="0" u="none" strike="noStrike">
              <a:solidFill>
                <a:srgbClr val="000000"/>
              </a:solidFill>
              <a:effectLst/>
              <a:uFillTx/>
              <a:latin typeface="Arial"/>
            </a:endParaRPr>
          </a:p>
        </p:txBody>
      </p:sp>
      <p:sp>
        <p:nvSpPr>
          <p:cNvPr id="49" name="Text 30"/>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METODOLOGIA</a:t>
            </a:r>
            <a:endParaRPr lang="pl-PL" sz="1100" b="0" u="none" strike="noStrike">
              <a:solidFill>
                <a:srgbClr val="000000"/>
              </a:solidFill>
              <a:effectLst/>
              <a:uFillTx/>
              <a:latin typeface="Arial"/>
            </a:endParaRPr>
          </a:p>
        </p:txBody>
      </p:sp>
      <p:sp>
        <p:nvSpPr>
          <p:cNvPr id="51"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Charakter i jakość dostępnych dowodów</a:t>
            </a:r>
            <a:endParaRPr lang="pl-PL" sz="2200" b="0" u="none" strike="noStrike">
              <a:solidFill>
                <a:srgbClr val="000000"/>
              </a:solidFill>
              <a:effectLst/>
              <a:uFillTx/>
              <a:latin typeface="Arial"/>
            </a:endParaRPr>
          </a:p>
        </p:txBody>
      </p:sp>
      <p:sp>
        <p:nvSpPr>
          <p:cNvPr id="52"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Związek statystyczny ≠ pewny efekt przyczynowy</a:t>
            </a:r>
            <a:endParaRPr lang="pl-PL" sz="1200" b="0" u="none" strike="noStrike">
              <a:solidFill>
                <a:srgbClr val="000000"/>
              </a:solidFill>
              <a:effectLst/>
              <a:uFillTx/>
              <a:latin typeface="Arial"/>
            </a:endParaRPr>
          </a:p>
        </p:txBody>
      </p:sp>
      <p:sp>
        <p:nvSpPr>
          <p:cNvPr id="53" name="Shape 3"/>
          <p:cNvSpPr/>
          <p:nvPr/>
        </p:nvSpPr>
        <p:spPr>
          <a:xfrm>
            <a:off x="502920" y="1627560"/>
            <a:ext cx="3976920" cy="2152080"/>
          </a:xfrm>
          <a:prstGeom prst="roundRect">
            <a:avLst>
              <a:gd name="adj" fmla="val 3529"/>
            </a:avLst>
          </a:prstGeom>
          <a:solidFill>
            <a:srgbClr val="def2ef"/>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4" name="Text 4"/>
          <p:cNvSpPr/>
          <p:nvPr/>
        </p:nvSpPr>
        <p:spPr>
          <a:xfrm>
            <a:off x="713160" y="172008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146b65"/>
                </a:solidFill>
                <a:effectLst/>
                <a:uFillTx/>
                <a:latin typeface="Cambria"/>
                <a:ea typeface="Cambria"/>
              </a:rPr>
              <a:t>Dowody empiryczne</a:t>
            </a:r>
            <a:endParaRPr lang="pl-PL" sz="1800" b="0" u="none" strike="noStrike">
              <a:solidFill>
                <a:srgbClr val="000000"/>
              </a:solidFill>
              <a:effectLst/>
              <a:uFillTx/>
              <a:latin typeface="Arial"/>
            </a:endParaRPr>
          </a:p>
        </p:txBody>
      </p:sp>
      <p:sp>
        <p:nvSpPr>
          <p:cNvPr id="55" name="Text 5"/>
          <p:cNvSpPr/>
          <p:nvPr/>
        </p:nvSpPr>
        <p:spPr>
          <a:xfrm>
            <a:off x="713160" y="2212920"/>
            <a:ext cx="3565440" cy="16909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Skuteczność leków w redukcji podstawowych objawów ADHD; wiele RCT i metaanaliz sieciowych</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Krótko- i średnioterminowa poprawa funkcjonowania w warunkach kontrolowanych</a:t>
            </a:r>
            <a:endParaRPr lang="pl-PL" sz="1400" b="0" u="none" strike="noStrike">
              <a:solidFill>
                <a:srgbClr val="000000"/>
              </a:solidFill>
              <a:effectLst/>
              <a:uFillTx/>
              <a:latin typeface="Arial"/>
            </a:endParaRPr>
          </a:p>
        </p:txBody>
      </p:sp>
      <p:sp>
        <p:nvSpPr>
          <p:cNvPr id="56" name="Shape 6"/>
          <p:cNvSpPr/>
          <p:nvPr/>
        </p:nvSpPr>
        <p:spPr>
          <a:xfrm>
            <a:off x="4663440" y="1627560"/>
            <a:ext cx="3976920" cy="2152080"/>
          </a:xfrm>
          <a:prstGeom prst="roundRect">
            <a:avLst>
              <a:gd name="adj" fmla="val 3529"/>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57" name="Text 7"/>
          <p:cNvSpPr/>
          <p:nvPr/>
        </p:nvSpPr>
        <p:spPr>
          <a:xfrm>
            <a:off x="4873680" y="172008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c75a26"/>
                </a:solidFill>
                <a:effectLst/>
                <a:uFillTx/>
                <a:latin typeface="Cambria"/>
                <a:ea typeface="Cambria"/>
              </a:rPr>
              <a:t>Dowody obserwacyjne</a:t>
            </a:r>
            <a:endParaRPr lang="pl-PL" sz="1800" b="0" u="none" strike="noStrike">
              <a:solidFill>
                <a:srgbClr val="000000"/>
              </a:solidFill>
              <a:effectLst/>
              <a:uFillTx/>
              <a:latin typeface="Arial"/>
            </a:endParaRPr>
          </a:p>
        </p:txBody>
      </p:sp>
      <p:sp>
        <p:nvSpPr>
          <p:cNvPr id="58" name="Text 8"/>
          <p:cNvSpPr/>
          <p:nvPr/>
        </p:nvSpPr>
        <p:spPr>
          <a:xfrm>
            <a:off x="4729680" y="2212920"/>
            <a:ext cx="3765960" cy="16909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Uzależnienia, przestępczość, śmiertelność, koszty; głównie badania rejestrowe i kohortowe</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Duża liczebność i porównania okresów leczenia/braku leczenia u tych samych osób - ale bez pełnej eliminacji czynników zakłócających</a:t>
            </a:r>
            <a:endParaRPr lang="pl-PL" sz="1400" b="0" u="none" strike="noStrike">
              <a:solidFill>
                <a:srgbClr val="000000"/>
              </a:solidFill>
              <a:effectLst/>
              <a:uFillTx/>
              <a:latin typeface="Arial"/>
            </a:endParaRPr>
          </a:p>
        </p:txBody>
      </p:sp>
      <p:sp>
        <p:nvSpPr>
          <p:cNvPr id="59" name="Shape 9"/>
          <p:cNvSpPr/>
          <p:nvPr/>
        </p:nvSpPr>
        <p:spPr>
          <a:xfrm>
            <a:off x="502920" y="4114800"/>
            <a:ext cx="8137440" cy="712440"/>
          </a:xfrm>
          <a:prstGeom prst="roundRect">
            <a:avLst>
              <a:gd name="adj" fmla="val 11538"/>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60" name="Text 10"/>
          <p:cNvSpPr/>
          <p:nvPr/>
        </p:nvSpPr>
        <p:spPr>
          <a:xfrm>
            <a:off x="540000" y="4114800"/>
            <a:ext cx="7992360" cy="7124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500" b="0" u="none" strike="noStrike">
                <a:solidFill>
                  <a:srgbClr val="ffffff"/>
                </a:solidFill>
                <a:effectLst/>
                <a:uFillTx/>
                <a:latin typeface="Calibri"/>
                <a:ea typeface="Calibri"/>
              </a:rPr>
              <a:t>Współchorobowość (zaburzenia zachowania, depresja, trauma, osobowość antyspołeczna, warunki społeczne) może współtworzyć ryzyko i jednocześnie pośredniczyć w jego związku z ADHD</a:t>
            </a:r>
            <a:endParaRPr lang="pl-PL" sz="1500" b="0" u="none" strike="noStrike">
              <a:solidFill>
                <a:srgbClr val="000000"/>
              </a:solidFill>
              <a:effectLst/>
              <a:uFillTx/>
              <a:latin typeface="Arial"/>
            </a:endParaRPr>
          </a:p>
        </p:txBody>
      </p:sp>
      <p:sp>
        <p:nvSpPr>
          <p:cNvPr id="61" name="Text 11"/>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3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MODEL WYJAŚNIAJĄCY</a:t>
            </a:r>
            <a:endParaRPr lang="pl-PL" sz="1100" b="0" u="none" strike="noStrike">
              <a:solidFill>
                <a:srgbClr val="000000"/>
              </a:solidFill>
              <a:effectLst/>
              <a:uFillTx/>
              <a:latin typeface="Arial"/>
            </a:endParaRPr>
          </a:p>
        </p:txBody>
      </p:sp>
      <p:sp>
        <p:nvSpPr>
          <p:cNvPr id="63"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ADHD jako czynnik podatności, nie jedyna przyczyna</a:t>
            </a:r>
            <a:endParaRPr lang="pl-PL" sz="2200" b="0" u="none" strike="noStrike">
              <a:solidFill>
                <a:srgbClr val="000000"/>
              </a:solidFill>
              <a:effectLst/>
              <a:uFillTx/>
              <a:latin typeface="Arial"/>
            </a:endParaRPr>
          </a:p>
        </p:txBody>
      </p:sp>
      <p:sp>
        <p:nvSpPr>
          <p:cNvPr id="64" name="Text 2"/>
          <p:cNvSpPr/>
          <p:nvPr/>
        </p:nvSpPr>
        <p:spPr>
          <a:xfrm>
            <a:off x="502920" y="94932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Niekorzystny przebieg życiowy wynika z nakładania się ADHD i moderatorów ryzyka</a:t>
            </a:r>
            <a:endParaRPr lang="pl-PL" sz="1200" b="0" u="none" strike="noStrike">
              <a:solidFill>
                <a:srgbClr val="000000"/>
              </a:solidFill>
              <a:effectLst/>
              <a:uFillTx/>
              <a:latin typeface="Arial"/>
            </a:endParaRPr>
          </a:p>
        </p:txBody>
      </p:sp>
      <p:sp>
        <p:nvSpPr>
          <p:cNvPr id="65" name="Shape 3"/>
          <p:cNvSpPr/>
          <p:nvPr/>
        </p:nvSpPr>
        <p:spPr>
          <a:xfrm flipV="1">
            <a:off x="2520000" y="1773720"/>
            <a:ext cx="1091880" cy="92628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66" name="Shape 4"/>
          <p:cNvSpPr/>
          <p:nvPr/>
        </p:nvSpPr>
        <p:spPr>
          <a:xfrm>
            <a:off x="5940000" y="1980000"/>
            <a:ext cx="720000" cy="90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67" name="Shape 5"/>
          <p:cNvSpPr/>
          <p:nvPr/>
        </p:nvSpPr>
        <p:spPr>
          <a:xfrm flipV="1">
            <a:off x="2520000" y="2520000"/>
            <a:ext cx="900000" cy="18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68" name="Shape 6"/>
          <p:cNvSpPr/>
          <p:nvPr/>
        </p:nvSpPr>
        <p:spPr>
          <a:xfrm>
            <a:off x="5980680" y="2520000"/>
            <a:ext cx="679320" cy="36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69" name="Shape 7"/>
          <p:cNvSpPr/>
          <p:nvPr/>
        </p:nvSpPr>
        <p:spPr>
          <a:xfrm>
            <a:off x="2520000" y="2700000"/>
            <a:ext cx="900000" cy="36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70" name="Shape 8"/>
          <p:cNvSpPr/>
          <p:nvPr/>
        </p:nvSpPr>
        <p:spPr>
          <a:xfrm flipV="1">
            <a:off x="5940000" y="2880000"/>
            <a:ext cx="720000" cy="18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71" name="Shape 9"/>
          <p:cNvSpPr/>
          <p:nvPr/>
        </p:nvSpPr>
        <p:spPr>
          <a:xfrm>
            <a:off x="2520000" y="2700000"/>
            <a:ext cx="720000" cy="90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72" name="Shape 10"/>
          <p:cNvSpPr/>
          <p:nvPr/>
        </p:nvSpPr>
        <p:spPr>
          <a:xfrm flipV="1">
            <a:off x="6120000" y="2880000"/>
            <a:ext cx="540000" cy="720000"/>
          </a:xfrm>
          <a:prstGeom prst="line">
            <a:avLst/>
          </a:prstGeom>
          <a:ln w="15840">
            <a:solidFill>
              <a:srgbClr val="e2e6f0"/>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73" name="Shape 11"/>
          <p:cNvSpPr/>
          <p:nvPr/>
        </p:nvSpPr>
        <p:spPr>
          <a:xfrm>
            <a:off x="911520" y="2253960"/>
            <a:ext cx="1608120" cy="1093680"/>
          </a:xfrm>
          <a:prstGeom prst="roundRect">
            <a:avLst>
              <a:gd name="adj" fmla="val 9000"/>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74" name="Text 12"/>
          <p:cNvSpPr/>
          <p:nvPr/>
        </p:nvSpPr>
        <p:spPr>
          <a:xfrm>
            <a:off x="900000" y="2331720"/>
            <a:ext cx="1619640" cy="913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ffffff"/>
                </a:solidFill>
                <a:effectLst/>
                <a:uFillTx/>
                <a:latin typeface="Cambria"/>
                <a:ea typeface="Cambria"/>
              </a:rPr>
              <a:t>ADHD</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0" u="none" strike="noStrike">
                <a:solidFill>
                  <a:srgbClr val="ffffff"/>
                </a:solidFill>
                <a:effectLst/>
                <a:uFillTx/>
                <a:latin typeface="Cambria"/>
                <a:ea typeface="Cambria"/>
              </a:rPr>
              <a:t>(czynnik podatności)</a:t>
            </a:r>
            <a:endParaRPr lang="pl-PL" sz="1600" b="0" u="none" strike="noStrike">
              <a:solidFill>
                <a:srgbClr val="000000"/>
              </a:solidFill>
              <a:effectLst/>
              <a:uFillTx/>
              <a:latin typeface="Arial"/>
            </a:endParaRPr>
          </a:p>
        </p:txBody>
      </p:sp>
      <p:sp>
        <p:nvSpPr>
          <p:cNvPr id="75" name="Shape 13"/>
          <p:cNvSpPr/>
          <p:nvPr/>
        </p:nvSpPr>
        <p:spPr>
          <a:xfrm>
            <a:off x="3420000" y="1777320"/>
            <a:ext cx="2560320" cy="382320"/>
          </a:xfrm>
          <a:prstGeom prst="roundRect">
            <a:avLst>
              <a:gd name="adj" fmla="val 11538"/>
            </a:avLst>
          </a:prstGeom>
          <a:solidFill>
            <a:srgbClr val="fceadd"/>
          </a:solidFill>
          <a:ln w="12600">
            <a:solidFill>
              <a:srgbClr val="e8743a"/>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6" name="Text 14"/>
          <p:cNvSpPr/>
          <p:nvPr/>
        </p:nvSpPr>
        <p:spPr>
          <a:xfrm>
            <a:off x="3420000" y="1777320"/>
            <a:ext cx="2519640" cy="38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c75a26"/>
                </a:solidFill>
                <a:effectLst/>
                <a:uFillTx/>
                <a:latin typeface="Calibri"/>
                <a:ea typeface="Calibri"/>
              </a:rPr>
              <a:t>Zaburzenia zachowania /ASPD</a:t>
            </a:r>
            <a:endParaRPr lang="pl-PL" sz="1300" b="0" u="none" strike="noStrike">
              <a:solidFill>
                <a:srgbClr val="000000"/>
              </a:solidFill>
              <a:effectLst/>
              <a:uFillTx/>
              <a:latin typeface="Arial"/>
            </a:endParaRPr>
          </a:p>
        </p:txBody>
      </p:sp>
      <p:sp>
        <p:nvSpPr>
          <p:cNvPr id="77" name="Shape 15"/>
          <p:cNvSpPr/>
          <p:nvPr/>
        </p:nvSpPr>
        <p:spPr>
          <a:xfrm>
            <a:off x="3420000" y="2331720"/>
            <a:ext cx="2560320" cy="367920"/>
          </a:xfrm>
          <a:prstGeom prst="roundRect">
            <a:avLst>
              <a:gd name="adj" fmla="val 11538"/>
            </a:avLst>
          </a:prstGeom>
          <a:solidFill>
            <a:srgbClr val="fceadd"/>
          </a:solidFill>
          <a:ln w="12600">
            <a:solidFill>
              <a:srgbClr val="e8743a"/>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78" name="Text 16"/>
          <p:cNvSpPr/>
          <p:nvPr/>
        </p:nvSpPr>
        <p:spPr>
          <a:xfrm>
            <a:off x="3420000" y="2331720"/>
            <a:ext cx="2560320" cy="36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300" b="1" u="none" strike="noStrike">
                <a:solidFill>
                  <a:srgbClr val="c75a26"/>
                </a:solidFill>
                <a:effectLst/>
                <a:uFillTx/>
                <a:latin typeface="Calibri"/>
                <a:ea typeface="Calibri"/>
              </a:rPr>
              <a:t>Depresja i zaburzenia lękowe</a:t>
            </a:r>
            <a:endParaRPr lang="pl-PL" sz="1300" b="0" u="none" strike="noStrike">
              <a:solidFill>
                <a:srgbClr val="000000"/>
              </a:solidFill>
              <a:effectLst/>
              <a:uFillTx/>
              <a:latin typeface="Arial"/>
            </a:endParaRPr>
          </a:p>
        </p:txBody>
      </p:sp>
      <p:sp>
        <p:nvSpPr>
          <p:cNvPr id="79" name="Shape 17"/>
          <p:cNvSpPr/>
          <p:nvPr/>
        </p:nvSpPr>
        <p:spPr>
          <a:xfrm>
            <a:off x="3420000" y="2880000"/>
            <a:ext cx="2560320" cy="353520"/>
          </a:xfrm>
          <a:prstGeom prst="roundRect">
            <a:avLst>
              <a:gd name="adj" fmla="val 11538"/>
            </a:avLst>
          </a:prstGeom>
          <a:solidFill>
            <a:srgbClr val="fceadd"/>
          </a:solidFill>
          <a:ln w="12600">
            <a:solidFill>
              <a:srgbClr val="e8743a"/>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0" name="Text 18"/>
          <p:cNvSpPr/>
          <p:nvPr/>
        </p:nvSpPr>
        <p:spPr>
          <a:xfrm>
            <a:off x="3456000" y="2880000"/>
            <a:ext cx="2483640" cy="353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c75a26"/>
                </a:solidFill>
                <a:effectLst/>
                <a:uFillTx/>
                <a:latin typeface="Calibri"/>
                <a:ea typeface="Calibri"/>
              </a:rPr>
              <a:t>Uzależnienia i trauma</a:t>
            </a:r>
            <a:endParaRPr lang="pl-PL" sz="1400" b="0" u="none" strike="noStrike">
              <a:solidFill>
                <a:srgbClr val="000000"/>
              </a:solidFill>
              <a:effectLst/>
              <a:uFillTx/>
              <a:latin typeface="Arial"/>
            </a:endParaRPr>
          </a:p>
        </p:txBody>
      </p:sp>
      <p:sp>
        <p:nvSpPr>
          <p:cNvPr id="81" name="Shape 19"/>
          <p:cNvSpPr/>
          <p:nvPr/>
        </p:nvSpPr>
        <p:spPr>
          <a:xfrm>
            <a:off x="3240000" y="3394800"/>
            <a:ext cx="2879640" cy="384840"/>
          </a:xfrm>
          <a:prstGeom prst="roundRect">
            <a:avLst>
              <a:gd name="adj" fmla="val 11538"/>
            </a:avLst>
          </a:prstGeom>
          <a:solidFill>
            <a:srgbClr val="fceadd"/>
          </a:solidFill>
          <a:ln w="12600">
            <a:solidFill>
              <a:srgbClr val="e8743a"/>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2" name="Text 20"/>
          <p:cNvSpPr/>
          <p:nvPr/>
        </p:nvSpPr>
        <p:spPr>
          <a:xfrm>
            <a:off x="3348000" y="3394800"/>
            <a:ext cx="2699640" cy="384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c75a26"/>
                </a:solidFill>
                <a:effectLst/>
                <a:uFillTx/>
                <a:latin typeface="Calibri"/>
                <a:ea typeface="Calibri"/>
              </a:rPr>
              <a:t>Niekorzystne środowisko społeczne</a:t>
            </a:r>
            <a:endParaRPr lang="pl-PL" sz="1400" b="0" u="none" strike="noStrike">
              <a:solidFill>
                <a:srgbClr val="000000"/>
              </a:solidFill>
              <a:effectLst/>
              <a:uFillTx/>
              <a:latin typeface="Arial"/>
            </a:endParaRPr>
          </a:p>
        </p:txBody>
      </p:sp>
      <p:sp>
        <p:nvSpPr>
          <p:cNvPr id="83" name="Shape 21"/>
          <p:cNvSpPr/>
          <p:nvPr/>
        </p:nvSpPr>
        <p:spPr>
          <a:xfrm>
            <a:off x="6660000" y="2268000"/>
            <a:ext cx="1799640" cy="1079640"/>
          </a:xfrm>
          <a:prstGeom prst="roundRect">
            <a:avLst>
              <a:gd name="adj" fmla="val 9000"/>
            </a:avLst>
          </a:prstGeom>
          <a:solidFill>
            <a:srgbClr val="c23b4b"/>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84" name="Text 22"/>
          <p:cNvSpPr/>
          <p:nvPr/>
        </p:nvSpPr>
        <p:spPr>
          <a:xfrm>
            <a:off x="6660000" y="2331720"/>
            <a:ext cx="1799640" cy="913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ffffff"/>
                </a:solidFill>
                <a:effectLst/>
                <a:uFillTx/>
                <a:latin typeface="Cambria"/>
                <a:ea typeface="Cambria"/>
              </a:rPr>
              <a:t>Niekorzystny przebieg</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1" u="none" strike="noStrike">
                <a:solidFill>
                  <a:srgbClr val="ffffff"/>
                </a:solidFill>
                <a:effectLst/>
                <a:uFillTx/>
                <a:latin typeface="Cambria"/>
                <a:ea typeface="Cambria"/>
              </a:rPr>
              <a:t>życiowy</a:t>
            </a:r>
            <a:endParaRPr lang="pl-PL" sz="1600" b="0" u="none" strike="noStrike">
              <a:solidFill>
                <a:srgbClr val="000000"/>
              </a:solidFill>
              <a:effectLst/>
              <a:uFillTx/>
              <a:latin typeface="Arial"/>
            </a:endParaRPr>
          </a:p>
        </p:txBody>
      </p:sp>
      <p:sp>
        <p:nvSpPr>
          <p:cNvPr id="85" name="Shape 23"/>
          <p:cNvSpPr/>
          <p:nvPr/>
        </p:nvSpPr>
        <p:spPr>
          <a:xfrm>
            <a:off x="360000" y="4284000"/>
            <a:ext cx="8459640" cy="647640"/>
          </a:xfrm>
          <a:prstGeom prst="roundRect">
            <a:avLst>
              <a:gd name="adj" fmla="val 18000"/>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86" name="Text 24"/>
          <p:cNvSpPr/>
          <p:nvPr/>
        </p:nvSpPr>
        <p:spPr>
          <a:xfrm>
            <a:off x="468000" y="4320000"/>
            <a:ext cx="8351640" cy="5756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600" b="0" i="1" u="none" strike="noStrike">
                <a:solidFill>
                  <a:srgbClr val="000000"/>
                </a:solidFill>
                <a:effectLst/>
                <a:uFillTx/>
                <a:latin typeface="Calibri"/>
                <a:ea typeface="Calibri"/>
              </a:rPr>
              <a:t>Najbardziej ostrożny wniosek: ADHD zwiększa prawdopodobieństwo cięższego przebiegu, </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0" i="1" u="none" strike="noStrike">
                <a:solidFill>
                  <a:srgbClr val="000000"/>
                </a:solidFill>
                <a:effectLst/>
                <a:uFillTx/>
                <a:latin typeface="Calibri"/>
                <a:ea typeface="Calibri"/>
              </a:rPr>
              <a:t>gdyż rokowanie zależy też od współchorobowości i środowiska.</a:t>
            </a:r>
            <a:endParaRPr lang="pl-PL" sz="1600" b="0" u="none" strike="noStrike">
              <a:solidFill>
                <a:srgbClr val="000000"/>
              </a:solidFill>
              <a:effectLst/>
              <a:uFillTx/>
              <a:latin typeface="Arial"/>
            </a:endParaRPr>
          </a:p>
        </p:txBody>
      </p:sp>
      <p:sp>
        <p:nvSpPr>
          <p:cNvPr id="87" name="Text 2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4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UZALEŻNIENIA · DANE</a:t>
            </a:r>
            <a:endParaRPr lang="pl-PL" sz="1100" b="0" u="none" strike="noStrike">
              <a:solidFill>
                <a:srgbClr val="000000"/>
              </a:solidFill>
              <a:effectLst/>
              <a:uFillTx/>
              <a:latin typeface="Arial"/>
            </a:endParaRPr>
          </a:p>
        </p:txBody>
      </p:sp>
      <p:sp>
        <p:nvSpPr>
          <p:cNvPr id="89"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ADHD silnie zwiększa ryzyko zaburzeń używania substancji</a:t>
            </a:r>
            <a:endParaRPr lang="pl-PL" sz="2200" b="0" u="none" strike="noStrike">
              <a:solidFill>
                <a:srgbClr val="000000"/>
              </a:solidFill>
              <a:effectLst/>
              <a:uFillTx/>
              <a:latin typeface="Arial"/>
            </a:endParaRPr>
          </a:p>
        </p:txBody>
      </p:sp>
      <p:sp>
        <p:nvSpPr>
          <p:cNvPr id="90"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Względne ryzyko (RR) w prospektywnych badaniach kohortowych</a:t>
            </a:r>
            <a:endParaRPr lang="pl-PL" sz="1200" b="0" u="none" strike="noStrike">
              <a:solidFill>
                <a:srgbClr val="000000"/>
              </a:solidFill>
              <a:effectLst/>
              <a:uFillTx/>
              <a:latin typeface="Arial"/>
            </a:endParaRPr>
          </a:p>
        </p:txBody>
      </p:sp>
      <p:graphicFrame>
        <p:nvGraphicFramePr>
          <p:cNvPr id="91" name="Chart 0"/>
          <p:cNvGraphicFramePr/>
          <p:nvPr/>
        </p:nvGraphicFramePr>
        <p:xfrm>
          <a:off x="411480" y="1572840"/>
          <a:ext cx="8320320" cy="2331000"/>
        </p:xfrm>
        <a:graphic>
          <a:graphicData uri="http://schemas.openxmlformats.org/drawingml/2006/chart">
            <c:chart xmlns:c="http://schemas.openxmlformats.org/drawingml/2006/chart" xmlns:r="http://schemas.openxmlformats.org/officeDocument/2006/relationships" r:id="rId1"/>
          </a:graphicData>
        </a:graphic>
      </p:graphicFrame>
      <p:sp>
        <p:nvSpPr>
          <p:cNvPr id="92" name="Text 3"/>
          <p:cNvSpPr/>
          <p:nvPr/>
        </p:nvSpPr>
        <p:spPr>
          <a:xfrm>
            <a:off x="502920" y="395028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000000"/>
                </a:solidFill>
                <a:effectLst/>
                <a:uFillTx/>
                <a:latin typeface="Calibri"/>
                <a:ea typeface="Calibri"/>
              </a:rPr>
              <a:t>Źródło: opracowanie syntetyczne na podstawie Lee et al. (2011), Clinical Psychology Review; Charach et al. (2011), JAACAP.</a:t>
            </a:r>
            <a:endParaRPr lang="pl-PL" sz="1200" b="0" i="1" u="none" strike="noStrike">
              <a:solidFill>
                <a:srgbClr val="000000"/>
              </a:solidFill>
              <a:effectLst/>
              <a:uFillTx/>
              <a:latin typeface="Arial"/>
            </a:endParaRPr>
          </a:p>
        </p:txBody>
      </p:sp>
      <p:sp>
        <p:nvSpPr>
          <p:cNvPr id="93" name="Shape 4"/>
          <p:cNvSpPr/>
          <p:nvPr/>
        </p:nvSpPr>
        <p:spPr>
          <a:xfrm>
            <a:off x="502920" y="4500000"/>
            <a:ext cx="2614320" cy="400680"/>
          </a:xfrm>
          <a:prstGeom prst="roundRect">
            <a:avLst>
              <a:gd name="adj" fmla="val 48387"/>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4" name="Text 5"/>
          <p:cNvSpPr/>
          <p:nvPr/>
        </p:nvSpPr>
        <p:spPr>
          <a:xfrm>
            <a:off x="612720" y="4500000"/>
            <a:ext cx="2395080" cy="40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ffffff"/>
                </a:solidFill>
                <a:effectLst/>
                <a:uFillTx/>
                <a:latin typeface="Calibri"/>
                <a:ea typeface="Calibri"/>
              </a:rPr>
              <a:t>wcześniejszy początek używania</a:t>
            </a:r>
            <a:endParaRPr lang="pl-PL" sz="1400" b="0" u="none" strike="noStrike">
              <a:solidFill>
                <a:srgbClr val="000000"/>
              </a:solidFill>
              <a:effectLst/>
              <a:uFillTx/>
              <a:latin typeface="Arial"/>
            </a:endParaRPr>
          </a:p>
        </p:txBody>
      </p:sp>
      <p:sp>
        <p:nvSpPr>
          <p:cNvPr id="95" name="Shape 6"/>
          <p:cNvSpPr/>
          <p:nvPr/>
        </p:nvSpPr>
        <p:spPr>
          <a:xfrm>
            <a:off x="3264480" y="4500000"/>
            <a:ext cx="2614320" cy="400680"/>
          </a:xfrm>
          <a:prstGeom prst="roundRect">
            <a:avLst>
              <a:gd name="adj" fmla="val 48387"/>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6" name="Text 7"/>
          <p:cNvSpPr/>
          <p:nvPr/>
        </p:nvSpPr>
        <p:spPr>
          <a:xfrm>
            <a:off x="3374280" y="4500000"/>
            <a:ext cx="2395080" cy="40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ffffff"/>
                </a:solidFill>
                <a:effectLst/>
                <a:uFillTx/>
                <a:latin typeface="Calibri"/>
                <a:ea typeface="Calibri"/>
              </a:rPr>
              <a:t>wieszanie kilku/wielu substancji</a:t>
            </a:r>
            <a:endParaRPr lang="pl-PL" sz="1400" b="0" u="none" strike="noStrike">
              <a:solidFill>
                <a:srgbClr val="000000"/>
              </a:solidFill>
              <a:effectLst/>
              <a:uFillTx/>
              <a:latin typeface="Arial"/>
            </a:endParaRPr>
          </a:p>
        </p:txBody>
      </p:sp>
      <p:sp>
        <p:nvSpPr>
          <p:cNvPr id="97" name="Shape 8"/>
          <p:cNvSpPr/>
          <p:nvPr/>
        </p:nvSpPr>
        <p:spPr>
          <a:xfrm>
            <a:off x="6026040" y="4500000"/>
            <a:ext cx="2614320" cy="400680"/>
          </a:xfrm>
          <a:prstGeom prst="roundRect">
            <a:avLst>
              <a:gd name="adj" fmla="val 48387"/>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98" name="Text 9"/>
          <p:cNvSpPr/>
          <p:nvPr/>
        </p:nvSpPr>
        <p:spPr>
          <a:xfrm>
            <a:off x="6135480" y="4500000"/>
            <a:ext cx="2395080" cy="400680"/>
          </a:xfrm>
          <a:prstGeom prst="rect">
            <a:avLst/>
          </a:prstGeom>
          <a:noFill/>
          <a:ln w="0">
            <a:noFill/>
          </a:ln>
        </p:spPr>
        <p:style>
          <a:lnRef idx="0"/>
          <a:fillRef idx="0"/>
          <a:effectRef idx="0"/>
          <a:fontRef idx="minor"/>
        </p:style>
        <p:txBody>
          <a:bodyPr lIns="0" rIns="0" tIns="0" bIns="0" anchor="ctr">
            <a:noAutofit/>
          </a:bodyPr>
          <a:p>
            <a:pPr algn="ctr" defTabSz="914400">
              <a:lnSpc>
                <a:spcPct val="80000"/>
              </a:lnSpc>
              <a:tabLst>
                <a:tab algn="l" pos="0"/>
              </a:tabLst>
            </a:pPr>
            <a:r>
              <a:rPr lang="pl-PL" sz="1400" b="1" u="none" strike="noStrike">
                <a:solidFill>
                  <a:srgbClr val="ffffff"/>
                </a:solidFill>
                <a:effectLst/>
                <a:uFillTx/>
                <a:latin typeface="Calibri"/>
                <a:ea typeface="Calibri"/>
              </a:rPr>
              <a:t>trudniejsze leczenie </a:t>
            </a:r>
            <a:br>
              <a:rPr sz="1400"/>
            </a:br>
            <a:r>
              <a:rPr lang="pl-PL" sz="1400" b="1" u="none" strike="noStrike">
                <a:solidFill>
                  <a:srgbClr val="ffffff"/>
                </a:solidFill>
                <a:effectLst/>
                <a:uFillTx/>
                <a:latin typeface="Calibri"/>
                <a:ea typeface="Calibri"/>
              </a:rPr>
              <a:t>i więcej nawrotów</a:t>
            </a:r>
            <a:endParaRPr lang="pl-PL" sz="1400" b="0" u="none" strike="noStrike">
              <a:solidFill>
                <a:srgbClr val="000000"/>
              </a:solidFill>
              <a:effectLst/>
              <a:uFillTx/>
              <a:latin typeface="Arial"/>
            </a:endParaRPr>
          </a:p>
        </p:txBody>
      </p:sp>
      <p:sp>
        <p:nvSpPr>
          <p:cNvPr id="99" name="Text 10"/>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5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UZALEŻNIENIA · MECHANIZMY</a:t>
            </a:r>
            <a:endParaRPr lang="pl-PL" sz="1100" b="0" u="none" strike="noStrike">
              <a:solidFill>
                <a:srgbClr val="000000"/>
              </a:solidFill>
              <a:effectLst/>
              <a:uFillTx/>
              <a:latin typeface="Arial"/>
            </a:endParaRPr>
          </a:p>
        </p:txBody>
      </p:sp>
      <p:sp>
        <p:nvSpPr>
          <p:cNvPr id="101"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Sześć dróg prowadzących od ADHD do uzależnienia</a:t>
            </a:r>
            <a:endParaRPr lang="pl-PL" sz="2200" b="0" u="none" strike="noStrike">
              <a:solidFill>
                <a:srgbClr val="000000"/>
              </a:solidFill>
              <a:effectLst/>
              <a:uFillTx/>
              <a:latin typeface="Arial"/>
            </a:endParaRPr>
          </a:p>
        </p:txBody>
      </p:sp>
      <p:sp>
        <p:nvSpPr>
          <p:cNvPr id="102" name="Text 2"/>
          <p:cNvSpPr/>
          <p:nvPr/>
        </p:nvSpPr>
        <p:spPr>
          <a:xfrm>
            <a:off x="502920" y="945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Mechanizmy nie są rozłączne, mogą się więc wzajemnie wzmacniać</a:t>
            </a:r>
            <a:endParaRPr lang="pl-PL" sz="1200" b="0" u="none" strike="noStrike">
              <a:solidFill>
                <a:srgbClr val="000000"/>
              </a:solidFill>
              <a:effectLst/>
              <a:uFillTx/>
              <a:latin typeface="Arial"/>
            </a:endParaRPr>
          </a:p>
        </p:txBody>
      </p:sp>
      <p:graphicFrame>
        <p:nvGraphicFramePr>
          <p:cNvPr id="103" name="Table 0"/>
          <p:cNvGraphicFramePr/>
          <p:nvPr/>
        </p:nvGraphicFramePr>
        <p:xfrm>
          <a:off x="502920" y="1500840"/>
          <a:ext cx="8137800" cy="2802600"/>
        </p:xfrm>
        <a:graphic>
          <a:graphicData uri="http://schemas.openxmlformats.org/drawingml/2006/table">
            <a:tbl>
              <a:tblPr/>
              <a:tblGrid>
                <a:gridCol w="2743200"/>
                <a:gridCol w="5394960"/>
              </a:tblGrid>
              <a:tr h="383760">
                <a:tc>
                  <a:txBody>
                    <a:bodyPr tIns="36360" bIns="36360" anchor="ctr">
                      <a:noAutofit/>
                    </a:bodyPr>
                    <a:p>
                      <a:pPr defTabSz="914400">
                        <a:lnSpc>
                          <a:spcPct val="100000"/>
                        </a:lnSpc>
                        <a:tabLst>
                          <a:tab algn="l" pos="0"/>
                        </a:tabLst>
                      </a:pPr>
                      <a:r>
                        <a:rPr lang="pl-PL" sz="1600" b="1" u="none" strike="noStrike">
                          <a:solidFill>
                            <a:srgbClr val="ffffff"/>
                          </a:solidFill>
                          <a:effectLst/>
                          <a:uFillTx/>
                          <a:latin typeface="Calibri"/>
                          <a:ea typeface="Calibri"/>
                        </a:rPr>
                        <a:t>Mechanizm</a:t>
                      </a:r>
                      <a:endParaRPr lang="pl-PL" sz="16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en-US" sz="1600" b="1" u="none" strike="noStrike">
                          <a:solidFill>
                            <a:srgbClr val="ffffff"/>
                          </a:solidFill>
                          <a:effectLst/>
                          <a:uFillTx/>
                          <a:latin typeface="Calibri"/>
                          <a:ea typeface="Calibri"/>
                        </a:rPr>
                        <a:t>Możliwa konsekwencja</a:t>
                      </a:r>
                      <a:endParaRPr lang="pl-PL" sz="16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Impulsywność</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Szybsze rozpoczęcie używania i większe ryzyko nawrotu pod wpływem bodźca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Preferencja natychmiastowej nagrody</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Przewaga krótkotrwałej ulgi nad odległymi korzyściami abstynencji</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Poszukiwanie stymulacji</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Wybieranie silnie wzmacniających zachowań i substancji</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Dysregulacja emocji</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Używanie substancji jako sposobu redukcji napięcia i dysforii</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Dysfunkcje wykonawcze</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Trudności z planem leczenia, terminami i zapobieganiem nawrotom</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en-US" sz="1400" b="1" u="none" strike="noStrike">
                          <a:solidFill>
                            <a:srgbClr val="1b2148"/>
                          </a:solidFill>
                          <a:effectLst/>
                          <a:uFillTx/>
                          <a:latin typeface="Calibri"/>
                          <a:ea typeface="Calibri"/>
                        </a:rPr>
                        <a:t>Współchorobowość</a:t>
                      </a:r>
                      <a:endParaRPr lang="pl-PL" sz="14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en-US" sz="1200" b="0" u="none" strike="noStrike">
                          <a:solidFill>
                            <a:srgbClr val="000000"/>
                          </a:solidFill>
                          <a:effectLst/>
                          <a:uFillTx/>
                          <a:latin typeface="Calibri"/>
                          <a:ea typeface="Calibri"/>
                        </a:rPr>
                        <a:t>Kumulacja ryzyka wynikająca z depresji, zaburzeń zachowania i traumy</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bl>
          </a:graphicData>
        </a:graphic>
      </p:graphicFrame>
      <p:sp>
        <p:nvSpPr>
          <p:cNvPr id="104" name="Shape 3"/>
          <p:cNvSpPr/>
          <p:nvPr/>
        </p:nvSpPr>
        <p:spPr>
          <a:xfrm>
            <a:off x="502200" y="4428000"/>
            <a:ext cx="8137440" cy="431640"/>
          </a:xfrm>
          <a:prstGeom prst="roundRect">
            <a:avLst>
              <a:gd name="adj" fmla="val 10588"/>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05" name="Text 4"/>
          <p:cNvSpPr/>
          <p:nvPr/>
        </p:nvSpPr>
        <p:spPr>
          <a:xfrm>
            <a:off x="540000" y="4428000"/>
            <a:ext cx="7919640" cy="4316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100" b="1" u="none" strike="noStrike">
                <a:solidFill>
                  <a:srgbClr val="c75a26"/>
                </a:solidFill>
                <a:effectLst/>
                <a:uFillTx/>
                <a:latin typeface="Calibri"/>
                <a:ea typeface="Calibri"/>
              </a:rPr>
              <a:t>Hipoteza samoleczenia:  </a:t>
            </a:r>
            <a:r>
              <a:rPr lang="pl-PL" sz="1100" b="0" u="none" strike="noStrike">
                <a:solidFill>
                  <a:srgbClr val="1b2148"/>
                </a:solidFill>
                <a:effectLst/>
                <a:uFillTx/>
                <a:latin typeface="Calibri"/>
                <a:ea typeface="Calibri"/>
              </a:rPr>
              <a:t>krótkotrwała subiektywna ulga (napięcie, bezsenność, dysforia, chaos poznawczy) nie oznacza, </a:t>
            </a:r>
            <a:br>
              <a:rPr sz="1100"/>
            </a:br>
            <a:r>
              <a:rPr lang="pl-PL" sz="1100" b="0" u="none" strike="noStrike">
                <a:solidFill>
                  <a:srgbClr val="1b2148"/>
                </a:solidFill>
                <a:effectLst/>
                <a:uFillTx/>
                <a:latin typeface="Calibri"/>
                <a:ea typeface="Calibri"/>
              </a:rPr>
              <a:t>że substancja „leczy” ADHD — bywa okupiona nasileniem problemów poznawczych, emocjonalnych i społecznych w dłuższej perspektywie.</a:t>
            </a:r>
            <a:endParaRPr lang="pl-PL" sz="1100" b="0" u="none" strike="noStrike">
              <a:solidFill>
                <a:srgbClr val="000000"/>
              </a:solidFill>
              <a:effectLst/>
              <a:uFillTx/>
              <a:latin typeface="Arial"/>
            </a:endParaRPr>
          </a:p>
        </p:txBody>
      </p:sp>
      <p:sp>
        <p:nvSpPr>
          <p:cNvPr id="106" name="Text 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6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UZALEŻNIENIA · PRZEBIEG</a:t>
            </a:r>
            <a:endParaRPr lang="pl-PL" sz="1100" b="0" u="none" strike="noStrike">
              <a:solidFill>
                <a:srgbClr val="000000"/>
              </a:solidFill>
              <a:effectLst/>
              <a:uFillTx/>
              <a:latin typeface="Arial"/>
            </a:endParaRPr>
          </a:p>
        </p:txBody>
      </p:sp>
      <p:sp>
        <p:nvSpPr>
          <p:cNvPr id="108"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500" b="1" u="none" strike="noStrike">
                <a:solidFill>
                  <a:srgbClr val="1b2148"/>
                </a:solidFill>
                <a:effectLst/>
                <a:uFillTx/>
                <a:latin typeface="Cambria"/>
                <a:ea typeface="Cambria"/>
              </a:rPr>
              <a:t>ADHD utrudnia leczenie już rozwiniętego uzależnienia</a:t>
            </a:r>
            <a:endParaRPr lang="pl-PL" sz="2500" b="0" u="none" strike="noStrike">
              <a:solidFill>
                <a:srgbClr val="000000"/>
              </a:solidFill>
              <a:effectLst/>
              <a:uFillTx/>
              <a:latin typeface="Arial"/>
            </a:endParaRPr>
          </a:p>
        </p:txBody>
      </p:sp>
      <p:sp>
        <p:nvSpPr>
          <p:cNvPr id="109"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Złożoność przebiegu, nie pewność każdego nawrotu</a:t>
            </a:r>
            <a:endParaRPr lang="pl-PL" sz="1200" b="0" u="none" strike="noStrike">
              <a:solidFill>
                <a:srgbClr val="000000"/>
              </a:solidFill>
              <a:effectLst/>
              <a:uFillTx/>
              <a:latin typeface="Arial"/>
            </a:endParaRPr>
          </a:p>
        </p:txBody>
      </p:sp>
      <p:sp>
        <p:nvSpPr>
          <p:cNvPr id="110" name="Shape 3"/>
          <p:cNvSpPr/>
          <p:nvPr/>
        </p:nvSpPr>
        <p:spPr>
          <a:xfrm>
            <a:off x="502920" y="1627560"/>
            <a:ext cx="4176720" cy="2512080"/>
          </a:xfrm>
          <a:prstGeom prst="roundRect">
            <a:avLst>
              <a:gd name="adj" fmla="val 3051"/>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1" name="Text 4"/>
          <p:cNvSpPr/>
          <p:nvPr/>
        </p:nvSpPr>
        <p:spPr>
          <a:xfrm>
            <a:off x="713160" y="168408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a12e3c"/>
                </a:solidFill>
                <a:effectLst/>
                <a:uFillTx/>
                <a:latin typeface="Cambria"/>
                <a:ea typeface="Cambria"/>
              </a:rPr>
              <a:t>Bariery terapeutyczne</a:t>
            </a:r>
            <a:endParaRPr lang="pl-PL" sz="1600" b="0" u="none" strike="noStrike">
              <a:solidFill>
                <a:srgbClr val="000000"/>
              </a:solidFill>
              <a:effectLst/>
              <a:uFillTx/>
              <a:latin typeface="Arial"/>
            </a:endParaRPr>
          </a:p>
        </p:txBody>
      </p:sp>
      <p:sp>
        <p:nvSpPr>
          <p:cNvPr id="112" name="Text 5"/>
          <p:cNvSpPr/>
          <p:nvPr/>
        </p:nvSpPr>
        <p:spPr>
          <a:xfrm>
            <a:off x="612000" y="2212920"/>
            <a:ext cx="3831840" cy="20109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Nieregularne uczęszczanie na terapię</a:t>
            </a:r>
            <a:endParaRPr lang="pl-PL" sz="14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Zapominanie o wizytach</a:t>
            </a:r>
            <a:endParaRPr lang="pl-PL" sz="14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Słaba realizacja zadań terapeutycznych</a:t>
            </a:r>
            <a:endParaRPr lang="pl-PL" sz="14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Impulsywne nawroty</a:t>
            </a:r>
            <a:endParaRPr lang="pl-PL" sz="14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Trudności w planowaniu sytuacji wysokiego ryzyka</a:t>
            </a:r>
            <a:endParaRPr lang="pl-PL" sz="14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400" b="0" u="none" strike="noStrike">
                <a:solidFill>
                  <a:srgbClr val="1b2148"/>
                </a:solidFill>
                <a:effectLst/>
                <a:uFillTx/>
                <a:latin typeface="Calibri"/>
                <a:ea typeface="Calibri"/>
              </a:rPr>
              <a:t>Gorsze przestrzeganie farmakoterapii</a:t>
            </a:r>
            <a:endParaRPr lang="pl-PL" sz="1400" b="0" u="none" strike="noStrike">
              <a:solidFill>
                <a:srgbClr val="000000"/>
              </a:solidFill>
              <a:effectLst/>
              <a:uFillTx/>
              <a:latin typeface="Arial"/>
            </a:endParaRPr>
          </a:p>
        </p:txBody>
      </p:sp>
      <p:sp>
        <p:nvSpPr>
          <p:cNvPr id="113" name="Shape 6"/>
          <p:cNvSpPr/>
          <p:nvPr/>
        </p:nvSpPr>
        <p:spPr>
          <a:xfrm>
            <a:off x="4860000" y="1627560"/>
            <a:ext cx="3780360" cy="2512080"/>
          </a:xfrm>
          <a:prstGeom prst="roundRect">
            <a:avLst>
              <a:gd name="adj" fmla="val 3051"/>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14" name="Text 7"/>
          <p:cNvSpPr/>
          <p:nvPr/>
        </p:nvSpPr>
        <p:spPr>
          <a:xfrm>
            <a:off x="5040000" y="1684080"/>
            <a:ext cx="33991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1b2148"/>
                </a:solidFill>
                <a:effectLst/>
                <a:uFillTx/>
                <a:latin typeface="Cambria"/>
                <a:ea typeface="Cambria"/>
              </a:rPr>
              <a:t>Profil kliniczny ADHD + SUD</a:t>
            </a:r>
            <a:endParaRPr lang="pl-PL" sz="1600" b="0" u="none" strike="noStrike">
              <a:solidFill>
                <a:srgbClr val="000000"/>
              </a:solidFill>
              <a:effectLst/>
              <a:uFillTx/>
              <a:latin typeface="Arial"/>
            </a:endParaRPr>
          </a:p>
        </p:txBody>
      </p:sp>
      <p:sp>
        <p:nvSpPr>
          <p:cNvPr id="115" name="Text 8"/>
          <p:cNvSpPr/>
          <p:nvPr/>
        </p:nvSpPr>
        <p:spPr>
          <a:xfrm>
            <a:off x="5040000" y="2212920"/>
            <a:ext cx="3399120" cy="20109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1001"/>
              </a:spcAft>
              <a:buClr>
                <a:srgbClr val="1b2148"/>
              </a:buClr>
              <a:buFont typeface="Wingdings" charset="2"/>
              <a:buChar char=""/>
            </a:pPr>
            <a:r>
              <a:rPr lang="pl-PL" sz="1400" b="0" u="none" strike="noStrike">
                <a:solidFill>
                  <a:srgbClr val="1b2148"/>
                </a:solidFill>
                <a:effectLst/>
                <a:uFillTx/>
                <a:latin typeface="Calibri"/>
                <a:ea typeface="Calibri"/>
              </a:rPr>
              <a:t>Wcześniejszy początek używania</a:t>
            </a:r>
            <a:endParaRPr lang="pl-PL" sz="1400" b="0" u="none" strike="noStrike">
              <a:solidFill>
                <a:srgbClr val="000000"/>
              </a:solidFill>
              <a:effectLst/>
              <a:uFillTx/>
              <a:latin typeface="Arial"/>
            </a:endParaRPr>
          </a:p>
          <a:p>
            <a:pPr marL="177840" indent="-177840" defTabSz="914400">
              <a:lnSpc>
                <a:spcPct val="108000"/>
              </a:lnSpc>
              <a:spcAft>
                <a:spcPts val="1001"/>
              </a:spcAft>
              <a:buClr>
                <a:srgbClr val="1b2148"/>
              </a:buClr>
              <a:buFont typeface="Wingdings" charset="2"/>
              <a:buChar char=""/>
            </a:pPr>
            <a:r>
              <a:rPr lang="pl-PL" sz="1400" b="0" u="none" strike="noStrike">
                <a:solidFill>
                  <a:srgbClr val="1b2148"/>
                </a:solidFill>
                <a:effectLst/>
                <a:uFillTx/>
                <a:latin typeface="Calibri"/>
                <a:ea typeface="Calibri"/>
              </a:rPr>
              <a:t>Większa liczba używanych substancji</a:t>
            </a:r>
            <a:endParaRPr lang="pl-PL" sz="1400" b="0" u="none" strike="noStrike">
              <a:solidFill>
                <a:srgbClr val="000000"/>
              </a:solidFill>
              <a:effectLst/>
              <a:uFillTx/>
              <a:latin typeface="Arial"/>
            </a:endParaRPr>
          </a:p>
          <a:p>
            <a:pPr marL="177840" indent="-177840" defTabSz="914400">
              <a:lnSpc>
                <a:spcPct val="108000"/>
              </a:lnSpc>
              <a:spcAft>
                <a:spcPts val="1001"/>
              </a:spcAft>
              <a:buClr>
                <a:srgbClr val="1b2148"/>
              </a:buClr>
              <a:buFont typeface="Wingdings" charset="2"/>
              <a:buChar char=""/>
            </a:pPr>
            <a:r>
              <a:rPr lang="pl-PL" sz="1400" b="0" u="none" strike="noStrike">
                <a:solidFill>
                  <a:srgbClr val="1b2148"/>
                </a:solidFill>
                <a:effectLst/>
                <a:uFillTx/>
                <a:latin typeface="Calibri"/>
                <a:ea typeface="Calibri"/>
              </a:rPr>
              <a:t>Więcej problemów psychiatrycznych</a:t>
            </a:r>
            <a:endParaRPr lang="pl-PL" sz="1400" b="0" u="none" strike="noStrike">
              <a:solidFill>
                <a:srgbClr val="000000"/>
              </a:solidFill>
              <a:effectLst/>
              <a:uFillTx/>
              <a:latin typeface="Arial"/>
            </a:endParaRPr>
          </a:p>
          <a:p>
            <a:pPr marL="177840" indent="-177840" defTabSz="914400">
              <a:lnSpc>
                <a:spcPct val="108000"/>
              </a:lnSpc>
              <a:spcAft>
                <a:spcPts val="1001"/>
              </a:spcAft>
              <a:buClr>
                <a:srgbClr val="1b2148"/>
              </a:buClr>
              <a:buFont typeface="Wingdings" charset="2"/>
              <a:buChar char=""/>
            </a:pPr>
            <a:r>
              <a:rPr lang="pl-PL" sz="1400" b="0" u="none" strike="noStrike">
                <a:solidFill>
                  <a:srgbClr val="1b2148"/>
                </a:solidFill>
                <a:effectLst/>
                <a:uFillTx/>
                <a:latin typeface="Calibri"/>
                <a:ea typeface="Calibri"/>
              </a:rPr>
              <a:t>Więcej problemów społecznych i prawnych</a:t>
            </a:r>
            <a:endParaRPr lang="pl-PL" sz="1400" b="0" u="none" strike="noStrike">
              <a:solidFill>
                <a:srgbClr val="000000"/>
              </a:solidFill>
              <a:effectLst/>
              <a:uFillTx/>
              <a:latin typeface="Arial"/>
            </a:endParaRPr>
          </a:p>
        </p:txBody>
      </p:sp>
      <p:sp>
        <p:nvSpPr>
          <p:cNvPr id="116" name="Text 11"/>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7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UZALEŻNIENIA · LECZENIE</a:t>
            </a:r>
            <a:endParaRPr lang="pl-PL" sz="1100" b="0" u="none" strike="noStrike">
              <a:solidFill>
                <a:srgbClr val="000000"/>
              </a:solidFill>
              <a:effectLst/>
              <a:uFillTx/>
              <a:latin typeface="Arial"/>
            </a:endParaRPr>
          </a:p>
        </p:txBody>
      </p:sp>
      <p:sp>
        <p:nvSpPr>
          <p:cNvPr id="118"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Czy farmakoterapia ADHD zwiększa ryzyko uzależnienia?</a:t>
            </a:r>
            <a:endParaRPr lang="pl-PL" sz="2200" b="0" u="none" strike="noStrike">
              <a:solidFill>
                <a:srgbClr val="000000"/>
              </a:solidFill>
              <a:effectLst/>
              <a:uFillTx/>
              <a:latin typeface="Arial"/>
            </a:endParaRPr>
          </a:p>
        </p:txBody>
      </p:sp>
      <p:sp>
        <p:nvSpPr>
          <p:cNvPr id="119"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Dostępne dane nie potwierdzają wzrostu ryzyka przy prawidłowym leczeniu</a:t>
            </a:r>
            <a:endParaRPr lang="pl-PL" sz="1200" b="0" u="none" strike="noStrike">
              <a:solidFill>
                <a:srgbClr val="000000"/>
              </a:solidFill>
              <a:effectLst/>
              <a:uFillTx/>
              <a:latin typeface="Arial"/>
            </a:endParaRPr>
          </a:p>
        </p:txBody>
      </p:sp>
      <p:sp>
        <p:nvSpPr>
          <p:cNvPr id="120" name="Shape 3"/>
          <p:cNvSpPr/>
          <p:nvPr/>
        </p:nvSpPr>
        <p:spPr>
          <a:xfrm>
            <a:off x="502920" y="1627560"/>
            <a:ext cx="3976920" cy="1782360"/>
          </a:xfrm>
          <a:prstGeom prst="roundRect">
            <a:avLst>
              <a:gd name="adj" fmla="val 4615"/>
            </a:avLst>
          </a:prstGeom>
          <a:solidFill>
            <a:srgbClr val="def2ef"/>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1" name="Text 4"/>
          <p:cNvSpPr/>
          <p:nvPr/>
        </p:nvSpPr>
        <p:spPr>
          <a:xfrm>
            <a:off x="713160" y="1783080"/>
            <a:ext cx="35654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146b65"/>
                </a:solidFill>
                <a:effectLst/>
                <a:uFillTx/>
                <a:latin typeface="Cambria"/>
                <a:ea typeface="Cambria"/>
              </a:rPr>
              <a:t>✓  Brak dowodów wzrostu ryzyka</a:t>
            </a:r>
            <a:endParaRPr lang="pl-PL" sz="1600" b="0" u="none" strike="noStrike">
              <a:solidFill>
                <a:srgbClr val="000000"/>
              </a:solidFill>
              <a:effectLst/>
              <a:uFillTx/>
              <a:latin typeface="Arial"/>
            </a:endParaRPr>
          </a:p>
        </p:txBody>
      </p:sp>
      <p:sp>
        <p:nvSpPr>
          <p:cNvPr id="122" name="Text 5"/>
          <p:cNvSpPr/>
          <p:nvPr/>
        </p:nvSpPr>
        <p:spPr>
          <a:xfrm>
            <a:off x="648000" y="2212920"/>
            <a:ext cx="3738600" cy="1142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1b2148"/>
                </a:solidFill>
                <a:effectLst/>
                <a:uFillTx/>
                <a:latin typeface="Calibri"/>
                <a:ea typeface="Calibri"/>
              </a:rPr>
              <a:t>W badaniach populacyjnych leczenie stymulantami nie wiązało się ze wzrostem ryzyka SUD; część analiz wskazuje na niższą częstość zdarzeń związanych </a:t>
            </a:r>
            <a:br>
              <a:rPr sz="1400"/>
            </a:br>
            <a:r>
              <a:rPr lang="pl-PL" sz="1400" b="0" u="none" strike="noStrike">
                <a:solidFill>
                  <a:srgbClr val="1b2148"/>
                </a:solidFill>
                <a:effectLst/>
                <a:uFillTx/>
                <a:latin typeface="Calibri"/>
                <a:ea typeface="Calibri"/>
              </a:rPr>
              <a:t>z używaniem w okresach leczenia.</a:t>
            </a:r>
            <a:endParaRPr lang="pl-PL" sz="1400" b="0" u="none" strike="noStrike">
              <a:solidFill>
                <a:srgbClr val="000000"/>
              </a:solidFill>
              <a:effectLst/>
              <a:uFillTx/>
              <a:latin typeface="Arial"/>
            </a:endParaRPr>
          </a:p>
        </p:txBody>
      </p:sp>
      <p:sp>
        <p:nvSpPr>
          <p:cNvPr id="123" name="Shape 6"/>
          <p:cNvSpPr/>
          <p:nvPr/>
        </p:nvSpPr>
        <p:spPr>
          <a:xfrm>
            <a:off x="4662720" y="1620000"/>
            <a:ext cx="3976920" cy="1782360"/>
          </a:xfrm>
          <a:prstGeom prst="roundRect">
            <a:avLst>
              <a:gd name="adj" fmla="val 4615"/>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4" name="Text 7"/>
          <p:cNvSpPr/>
          <p:nvPr/>
        </p:nvSpPr>
        <p:spPr>
          <a:xfrm>
            <a:off x="4873680" y="1783080"/>
            <a:ext cx="35654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c75a26"/>
                </a:solidFill>
                <a:effectLst/>
                <a:uFillTx/>
                <a:latin typeface="Cambria"/>
                <a:ea typeface="Cambria"/>
              </a:rPr>
              <a:t>Kluczowe jest rozróżnienie</a:t>
            </a:r>
            <a:endParaRPr lang="pl-PL" sz="1800" b="0" u="none" strike="noStrike">
              <a:solidFill>
                <a:srgbClr val="000000"/>
              </a:solidFill>
              <a:effectLst/>
              <a:uFillTx/>
              <a:latin typeface="Arial"/>
            </a:endParaRPr>
          </a:p>
        </p:txBody>
      </p:sp>
      <p:sp>
        <p:nvSpPr>
          <p:cNvPr id="125" name="Text 8"/>
          <p:cNvSpPr/>
          <p:nvPr/>
        </p:nvSpPr>
        <p:spPr>
          <a:xfrm>
            <a:off x="4788000" y="2212920"/>
            <a:ext cx="3759120" cy="1142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1b2148"/>
                </a:solidFill>
                <a:effectLst/>
                <a:uFillTx/>
                <a:latin typeface="Calibri"/>
                <a:ea typeface="Calibri"/>
              </a:rPr>
              <a:t>Kontrolowane przyjmowanie leku ≠ pozamedyczne stosowanie, przekazywanie leków innym osobom czy zmiana drogi podania.</a:t>
            </a:r>
            <a:endParaRPr lang="pl-PL" sz="1400" b="0" u="none" strike="noStrike">
              <a:solidFill>
                <a:srgbClr val="000000"/>
              </a:solidFill>
              <a:effectLst/>
              <a:uFillTx/>
              <a:latin typeface="Arial"/>
            </a:endParaRPr>
          </a:p>
        </p:txBody>
      </p:sp>
      <p:sp>
        <p:nvSpPr>
          <p:cNvPr id="126" name="Text 9"/>
          <p:cNvSpPr/>
          <p:nvPr/>
        </p:nvSpPr>
        <p:spPr>
          <a:xfrm>
            <a:off x="502920" y="3764520"/>
            <a:ext cx="81374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50" b="1" u="none" strike="noStrike">
                <a:solidFill>
                  <a:srgbClr val="1b2148"/>
                </a:solidFill>
                <a:effectLst/>
                <a:uFillTx/>
                <a:latin typeface="Cambria"/>
                <a:ea typeface="Cambria"/>
              </a:rPr>
              <a:t>Strategie u pacjentów wysokiego ryzyka nadużywania</a:t>
            </a:r>
            <a:endParaRPr lang="pl-PL" sz="1250" b="0" u="none" strike="noStrike">
              <a:solidFill>
                <a:srgbClr val="000000"/>
              </a:solidFill>
              <a:effectLst/>
              <a:uFillTx/>
              <a:latin typeface="Arial"/>
            </a:endParaRPr>
          </a:p>
        </p:txBody>
      </p:sp>
      <p:sp>
        <p:nvSpPr>
          <p:cNvPr id="127" name="Shape 10"/>
          <p:cNvSpPr/>
          <p:nvPr/>
        </p:nvSpPr>
        <p:spPr>
          <a:xfrm>
            <a:off x="502920" y="4075920"/>
            <a:ext cx="1937880" cy="567720"/>
          </a:xfrm>
          <a:prstGeom prst="roundRect">
            <a:avLst>
              <a:gd name="adj" fmla="val 10588"/>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28" name="Text 11"/>
          <p:cNvSpPr/>
          <p:nvPr/>
        </p:nvSpPr>
        <p:spPr>
          <a:xfrm>
            <a:off x="594360" y="4075920"/>
            <a:ext cx="1755000" cy="567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1b2148"/>
                </a:solidFill>
                <a:effectLst/>
                <a:uFillTx/>
                <a:latin typeface="Calibri"/>
                <a:ea typeface="Calibri"/>
              </a:rPr>
              <a:t>Preparaty długo działające</a:t>
            </a:r>
            <a:endParaRPr lang="pl-PL" sz="1400" b="0" u="none" strike="noStrike">
              <a:solidFill>
                <a:srgbClr val="000000"/>
              </a:solidFill>
              <a:effectLst/>
              <a:uFillTx/>
              <a:latin typeface="Arial"/>
            </a:endParaRPr>
          </a:p>
        </p:txBody>
      </p:sp>
      <p:sp>
        <p:nvSpPr>
          <p:cNvPr id="129" name="Shape 12"/>
          <p:cNvSpPr/>
          <p:nvPr/>
        </p:nvSpPr>
        <p:spPr>
          <a:xfrm>
            <a:off x="2532960" y="4075920"/>
            <a:ext cx="1937880" cy="567720"/>
          </a:xfrm>
          <a:prstGeom prst="roundRect">
            <a:avLst>
              <a:gd name="adj" fmla="val 10588"/>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0" name="Text 13"/>
          <p:cNvSpPr/>
          <p:nvPr/>
        </p:nvSpPr>
        <p:spPr>
          <a:xfrm>
            <a:off x="2624400" y="4075920"/>
            <a:ext cx="1755000" cy="567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1b2148"/>
                </a:solidFill>
                <a:effectLst/>
                <a:uFillTx/>
                <a:latin typeface="Calibri"/>
                <a:ea typeface="Calibri"/>
              </a:rPr>
              <a:t>Leki niestymulujące</a:t>
            </a:r>
            <a:endParaRPr lang="pl-PL" sz="1400" b="0" u="none" strike="noStrike">
              <a:solidFill>
                <a:srgbClr val="000000"/>
              </a:solidFill>
              <a:effectLst/>
              <a:uFillTx/>
              <a:latin typeface="Arial"/>
            </a:endParaRPr>
          </a:p>
        </p:txBody>
      </p:sp>
      <p:sp>
        <p:nvSpPr>
          <p:cNvPr id="131" name="Shape 14"/>
          <p:cNvSpPr/>
          <p:nvPr/>
        </p:nvSpPr>
        <p:spPr>
          <a:xfrm>
            <a:off x="4563000" y="4075920"/>
            <a:ext cx="1937880" cy="567720"/>
          </a:xfrm>
          <a:prstGeom prst="roundRect">
            <a:avLst>
              <a:gd name="adj" fmla="val 10588"/>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2" name="Text 15"/>
          <p:cNvSpPr/>
          <p:nvPr/>
        </p:nvSpPr>
        <p:spPr>
          <a:xfrm>
            <a:off x="4654440" y="4075920"/>
            <a:ext cx="1755000" cy="567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1b2148"/>
                </a:solidFill>
                <a:effectLst/>
                <a:uFillTx/>
                <a:latin typeface="Calibri"/>
                <a:ea typeface="Calibri"/>
              </a:rPr>
              <a:t>Ograniczona liczba wydawanych dawek</a:t>
            </a:r>
            <a:endParaRPr lang="pl-PL" sz="1400" b="0" u="none" strike="noStrike">
              <a:solidFill>
                <a:srgbClr val="000000"/>
              </a:solidFill>
              <a:effectLst/>
              <a:uFillTx/>
              <a:latin typeface="Arial"/>
            </a:endParaRPr>
          </a:p>
        </p:txBody>
      </p:sp>
      <p:sp>
        <p:nvSpPr>
          <p:cNvPr id="133" name="Shape 16"/>
          <p:cNvSpPr/>
          <p:nvPr/>
        </p:nvSpPr>
        <p:spPr>
          <a:xfrm>
            <a:off x="6592680" y="4075920"/>
            <a:ext cx="1937880" cy="567720"/>
          </a:xfrm>
          <a:prstGeom prst="roundRect">
            <a:avLst>
              <a:gd name="adj" fmla="val 10588"/>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34" name="Text 17"/>
          <p:cNvSpPr/>
          <p:nvPr/>
        </p:nvSpPr>
        <p:spPr>
          <a:xfrm>
            <a:off x="6684120" y="4075920"/>
            <a:ext cx="1755000" cy="567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0" u="none" strike="noStrike">
                <a:solidFill>
                  <a:srgbClr val="1b2148"/>
                </a:solidFill>
                <a:effectLst/>
                <a:uFillTx/>
                <a:latin typeface="Calibri"/>
                <a:ea typeface="Calibri"/>
              </a:rPr>
              <a:t>Monitorowanie </a:t>
            </a:r>
            <a:br>
              <a:rPr sz="1400"/>
            </a:br>
            <a:r>
              <a:rPr lang="pl-PL" sz="1400" b="0" u="none" strike="noStrike">
                <a:solidFill>
                  <a:srgbClr val="1b2148"/>
                </a:solidFill>
                <a:effectLst/>
                <a:uFillTx/>
                <a:latin typeface="Calibri"/>
                <a:ea typeface="Calibri"/>
              </a:rPr>
              <a:t>i nadzór</a:t>
            </a:r>
            <a:endParaRPr lang="pl-PL" sz="1400" b="0" u="none" strike="noStrike">
              <a:solidFill>
                <a:srgbClr val="000000"/>
              </a:solidFill>
              <a:effectLst/>
              <a:uFillTx/>
              <a:latin typeface="Arial"/>
            </a:endParaRPr>
          </a:p>
        </p:txBody>
      </p:sp>
      <p:sp>
        <p:nvSpPr>
          <p:cNvPr id="135" name="Text 18"/>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8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UZALEŻNIENIA · MODEL LECZENIA</a:t>
            </a:r>
            <a:endParaRPr lang="pl-PL" sz="1100" b="0" u="none" strike="noStrike">
              <a:solidFill>
                <a:srgbClr val="000000"/>
              </a:solidFill>
              <a:effectLst/>
              <a:uFillTx/>
              <a:latin typeface="Arial"/>
            </a:endParaRPr>
          </a:p>
        </p:txBody>
      </p:sp>
      <p:sp>
        <p:nvSpPr>
          <p:cNvPr id="137"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Leczenie współwystępujących ADHD i SUD: model równoległy</a:t>
            </a:r>
            <a:endParaRPr lang="pl-PL" sz="2200" b="0" u="none" strike="noStrike">
              <a:solidFill>
                <a:srgbClr val="000000"/>
              </a:solidFill>
              <a:effectLst/>
              <a:uFillTx/>
              <a:latin typeface="Arial"/>
            </a:endParaRPr>
          </a:p>
        </p:txBody>
      </p:sp>
      <p:sp>
        <p:nvSpPr>
          <p:cNvPr id="138"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Farmakoterapia ADHD poprawia objawy, ale rzadko wystarcza jako leczenie samego SUD</a:t>
            </a:r>
            <a:endParaRPr lang="pl-PL" sz="1200" b="0" u="none" strike="noStrike">
              <a:solidFill>
                <a:srgbClr val="000000"/>
              </a:solidFill>
              <a:effectLst/>
              <a:uFillTx/>
              <a:latin typeface="Arial"/>
            </a:endParaRPr>
          </a:p>
        </p:txBody>
      </p:sp>
      <p:sp>
        <p:nvSpPr>
          <p:cNvPr id="139" name="Shape 3"/>
          <p:cNvSpPr/>
          <p:nvPr/>
        </p:nvSpPr>
        <p:spPr>
          <a:xfrm>
            <a:off x="502920" y="1874520"/>
            <a:ext cx="1535400" cy="1416600"/>
          </a:xfrm>
          <a:prstGeom prst="roundRect">
            <a:avLst>
              <a:gd name="adj" fmla="val 5806"/>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40" name="Text 4"/>
          <p:cNvSpPr/>
          <p:nvPr/>
        </p:nvSpPr>
        <p:spPr>
          <a:xfrm>
            <a:off x="594360" y="1874520"/>
            <a:ext cx="135252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ffffff"/>
                </a:solidFill>
                <a:effectLst/>
                <a:uFillTx/>
                <a:latin typeface="Calibri"/>
                <a:ea typeface="Calibri"/>
              </a:rPr>
              <a:t>Farmakoterapia ADHD</a:t>
            </a:r>
            <a:endParaRPr lang="pl-PL" sz="1400" b="0" u="none" strike="noStrike">
              <a:solidFill>
                <a:srgbClr val="000000"/>
              </a:solidFill>
              <a:effectLst/>
              <a:uFillTx/>
              <a:latin typeface="Arial"/>
            </a:endParaRPr>
          </a:p>
          <a:p>
            <a:pPr algn="ctr" defTabSz="914400">
              <a:lnSpc>
                <a:spcPct val="100000"/>
              </a:lnSpc>
              <a:tabLst>
                <a:tab algn="l" pos="0"/>
              </a:tabLst>
            </a:pPr>
            <a:r>
              <a:rPr lang="pl-PL" sz="1400" b="1" u="none" strike="noStrike">
                <a:solidFill>
                  <a:srgbClr val="ffffff"/>
                </a:solidFill>
                <a:effectLst/>
                <a:uFillTx/>
                <a:latin typeface="Calibri"/>
                <a:ea typeface="Calibri"/>
              </a:rPr>
              <a:t>dobrana do profilu ryzyka</a:t>
            </a:r>
            <a:endParaRPr lang="pl-PL" sz="1400" b="0" u="none" strike="noStrike">
              <a:solidFill>
                <a:srgbClr val="000000"/>
              </a:solidFill>
              <a:effectLst/>
              <a:uFillTx/>
              <a:latin typeface="Arial"/>
            </a:endParaRPr>
          </a:p>
        </p:txBody>
      </p:sp>
      <p:sp>
        <p:nvSpPr>
          <p:cNvPr id="141" name="Text 5"/>
          <p:cNvSpPr/>
          <p:nvPr/>
        </p:nvSpPr>
        <p:spPr>
          <a:xfrm>
            <a:off x="2039040" y="1874520"/>
            <a:ext cx="6336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e8743a"/>
                </a:solidFill>
                <a:effectLst/>
                <a:uFillTx/>
                <a:latin typeface="Calibri"/>
                <a:ea typeface="DejaVu Sans"/>
              </a:rPr>
              <a:t>+</a:t>
            </a:r>
            <a:endParaRPr lang="pl-PL" sz="1400" b="0" u="none" strike="noStrike">
              <a:solidFill>
                <a:srgbClr val="000000"/>
              </a:solidFill>
              <a:effectLst/>
              <a:uFillTx/>
              <a:latin typeface="Arial"/>
            </a:endParaRPr>
          </a:p>
        </p:txBody>
      </p:sp>
      <p:sp>
        <p:nvSpPr>
          <p:cNvPr id="142" name="Shape 6"/>
          <p:cNvSpPr/>
          <p:nvPr/>
        </p:nvSpPr>
        <p:spPr>
          <a:xfrm>
            <a:off x="2175120" y="1874520"/>
            <a:ext cx="1424520" cy="1416600"/>
          </a:xfrm>
          <a:prstGeom prst="roundRect">
            <a:avLst>
              <a:gd name="adj" fmla="val 5806"/>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3" name="Text 7"/>
          <p:cNvSpPr/>
          <p:nvPr/>
        </p:nvSpPr>
        <p:spPr>
          <a:xfrm>
            <a:off x="2230560" y="1874520"/>
            <a:ext cx="136908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Terapia poznawczo-</a:t>
            </a:r>
            <a:endParaRPr lang="pl-PL" sz="1400" b="0" u="none" strike="noStrike">
              <a:solidFill>
                <a:srgbClr val="000000"/>
              </a:solidFill>
              <a:effectLst/>
              <a:uFillTx/>
              <a:latin typeface="Arial"/>
            </a:endParaRPr>
          </a:p>
          <a:p>
            <a:pPr algn="ctr" defTabSz="914400">
              <a:lnSpc>
                <a:spcPct val="100000"/>
              </a:lnSpc>
              <a:tabLst>
                <a:tab algn="l" pos="0"/>
              </a:tabLst>
            </a:pPr>
            <a:r>
              <a:rPr lang="pl-PL" sz="1400" b="1" u="none" strike="noStrike">
                <a:solidFill>
                  <a:srgbClr val="1b2148"/>
                </a:solidFill>
                <a:effectLst/>
                <a:uFillTx/>
                <a:latin typeface="Calibri"/>
                <a:ea typeface="Calibri"/>
              </a:rPr>
              <a:t>-behawioralna (CBT)</a:t>
            </a:r>
            <a:endParaRPr lang="pl-PL" sz="1400" b="0" u="none" strike="noStrike">
              <a:solidFill>
                <a:srgbClr val="000000"/>
              </a:solidFill>
              <a:effectLst/>
              <a:uFillTx/>
              <a:latin typeface="Arial"/>
            </a:endParaRPr>
          </a:p>
        </p:txBody>
      </p:sp>
      <p:sp>
        <p:nvSpPr>
          <p:cNvPr id="144" name="Text 8"/>
          <p:cNvSpPr/>
          <p:nvPr/>
        </p:nvSpPr>
        <p:spPr>
          <a:xfrm>
            <a:off x="3639240" y="1874520"/>
            <a:ext cx="6336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e8743a"/>
                </a:solidFill>
                <a:effectLst/>
                <a:uFillTx/>
                <a:latin typeface="Calibri"/>
                <a:ea typeface="DejaVu Sans"/>
              </a:rPr>
              <a:t>+</a:t>
            </a:r>
            <a:endParaRPr lang="pl-PL" sz="1400" b="0" u="none" strike="noStrike">
              <a:solidFill>
                <a:srgbClr val="000000"/>
              </a:solidFill>
              <a:effectLst/>
              <a:uFillTx/>
              <a:latin typeface="Arial"/>
            </a:endParaRPr>
          </a:p>
        </p:txBody>
      </p:sp>
      <p:sp>
        <p:nvSpPr>
          <p:cNvPr id="145" name="Shape 9"/>
          <p:cNvSpPr/>
          <p:nvPr/>
        </p:nvSpPr>
        <p:spPr>
          <a:xfrm>
            <a:off x="3739320" y="1874520"/>
            <a:ext cx="1444320" cy="1416600"/>
          </a:xfrm>
          <a:prstGeom prst="roundRect">
            <a:avLst>
              <a:gd name="adj" fmla="val 5806"/>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6" name="Text 10"/>
          <p:cNvSpPr/>
          <p:nvPr/>
        </p:nvSpPr>
        <p:spPr>
          <a:xfrm>
            <a:off x="3830760" y="1874520"/>
            <a:ext cx="124488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Monitorowanie</a:t>
            </a:r>
            <a:endParaRPr lang="pl-PL" sz="1400" b="0" u="none" strike="noStrike">
              <a:solidFill>
                <a:srgbClr val="000000"/>
              </a:solidFill>
              <a:effectLst/>
              <a:uFillTx/>
              <a:latin typeface="Arial"/>
            </a:endParaRPr>
          </a:p>
          <a:p>
            <a:pPr algn="ctr" defTabSz="914400">
              <a:lnSpc>
                <a:spcPct val="100000"/>
              </a:lnSpc>
              <a:tabLst>
                <a:tab algn="l" pos="0"/>
              </a:tabLst>
            </a:pPr>
            <a:r>
              <a:rPr lang="pl-PL" sz="1400" b="1" u="none" strike="noStrike">
                <a:solidFill>
                  <a:srgbClr val="1b2148"/>
                </a:solidFill>
                <a:effectLst/>
                <a:uFillTx/>
                <a:latin typeface="Calibri"/>
                <a:ea typeface="Calibri"/>
              </a:rPr>
              <a:t>używania substancji</a:t>
            </a:r>
            <a:endParaRPr lang="pl-PL" sz="1400" b="0" u="none" strike="noStrike">
              <a:solidFill>
                <a:srgbClr val="000000"/>
              </a:solidFill>
              <a:effectLst/>
              <a:uFillTx/>
              <a:latin typeface="Arial"/>
            </a:endParaRPr>
          </a:p>
        </p:txBody>
      </p:sp>
      <p:sp>
        <p:nvSpPr>
          <p:cNvPr id="147" name="Text 11"/>
          <p:cNvSpPr/>
          <p:nvPr/>
        </p:nvSpPr>
        <p:spPr>
          <a:xfrm>
            <a:off x="5239440" y="1874520"/>
            <a:ext cx="6336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e8743a"/>
                </a:solidFill>
                <a:effectLst/>
                <a:uFillTx/>
                <a:latin typeface="Calibri"/>
                <a:ea typeface="DejaVu Sans"/>
              </a:rPr>
              <a:t>+</a:t>
            </a:r>
            <a:endParaRPr lang="pl-PL" sz="1400" b="0" u="none" strike="noStrike">
              <a:solidFill>
                <a:srgbClr val="000000"/>
              </a:solidFill>
              <a:effectLst/>
              <a:uFillTx/>
              <a:latin typeface="Arial"/>
            </a:endParaRPr>
          </a:p>
        </p:txBody>
      </p:sp>
      <p:sp>
        <p:nvSpPr>
          <p:cNvPr id="148" name="Shape 12"/>
          <p:cNvSpPr/>
          <p:nvPr/>
        </p:nvSpPr>
        <p:spPr>
          <a:xfrm>
            <a:off x="5400000" y="1874520"/>
            <a:ext cx="1366920" cy="1416600"/>
          </a:xfrm>
          <a:prstGeom prst="roundRect">
            <a:avLst>
              <a:gd name="adj" fmla="val 5806"/>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49" name="Text 13"/>
          <p:cNvSpPr/>
          <p:nvPr/>
        </p:nvSpPr>
        <p:spPr>
          <a:xfrm>
            <a:off x="5508000" y="1874520"/>
            <a:ext cx="116748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Psychoedukacja</a:t>
            </a:r>
            <a:endParaRPr lang="pl-PL" sz="1400" b="0" u="none" strike="noStrike">
              <a:solidFill>
                <a:srgbClr val="000000"/>
              </a:solidFill>
              <a:effectLst/>
              <a:uFillTx/>
              <a:latin typeface="Arial"/>
            </a:endParaRPr>
          </a:p>
          <a:p>
            <a:pPr algn="ctr" defTabSz="914400">
              <a:lnSpc>
                <a:spcPct val="100000"/>
              </a:lnSpc>
              <a:tabLst>
                <a:tab algn="l" pos="0"/>
              </a:tabLst>
            </a:pPr>
            <a:r>
              <a:rPr lang="pl-PL" sz="1400" b="1" u="none" strike="noStrike">
                <a:solidFill>
                  <a:srgbClr val="1b2148"/>
                </a:solidFill>
                <a:effectLst/>
                <a:uFillTx/>
                <a:latin typeface="Calibri"/>
                <a:ea typeface="Calibri"/>
              </a:rPr>
              <a:t>i organizacja terminów</a:t>
            </a:r>
            <a:endParaRPr lang="pl-PL" sz="1400" b="0" u="none" strike="noStrike">
              <a:solidFill>
                <a:srgbClr val="000000"/>
              </a:solidFill>
              <a:effectLst/>
              <a:uFillTx/>
              <a:latin typeface="Arial"/>
            </a:endParaRPr>
          </a:p>
        </p:txBody>
      </p:sp>
      <p:sp>
        <p:nvSpPr>
          <p:cNvPr id="150" name="Text 14"/>
          <p:cNvSpPr/>
          <p:nvPr/>
        </p:nvSpPr>
        <p:spPr>
          <a:xfrm>
            <a:off x="6839640" y="1874520"/>
            <a:ext cx="6336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e8743a"/>
                </a:solidFill>
                <a:effectLst/>
                <a:uFillTx/>
                <a:latin typeface="Calibri"/>
                <a:ea typeface="DejaVu Sans"/>
              </a:rPr>
              <a:t>+</a:t>
            </a:r>
            <a:endParaRPr lang="pl-PL" sz="1400" b="0" u="none" strike="noStrike">
              <a:solidFill>
                <a:srgbClr val="000000"/>
              </a:solidFill>
              <a:effectLst/>
              <a:uFillTx/>
              <a:latin typeface="Arial"/>
            </a:endParaRPr>
          </a:p>
        </p:txBody>
      </p:sp>
      <p:sp>
        <p:nvSpPr>
          <p:cNvPr id="151" name="Shape 15"/>
          <p:cNvSpPr/>
          <p:nvPr/>
        </p:nvSpPr>
        <p:spPr>
          <a:xfrm>
            <a:off x="7020000" y="1874520"/>
            <a:ext cx="1419120" cy="1416600"/>
          </a:xfrm>
          <a:prstGeom prst="roundRect">
            <a:avLst>
              <a:gd name="adj" fmla="val 5806"/>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2" name="Text 16"/>
          <p:cNvSpPr/>
          <p:nvPr/>
        </p:nvSpPr>
        <p:spPr>
          <a:xfrm>
            <a:off x="7200000" y="1874520"/>
            <a:ext cx="1147680" cy="141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Leczenie depresji,</a:t>
            </a:r>
            <a:endParaRPr lang="pl-PL" sz="1400" b="0" u="none" strike="noStrike">
              <a:solidFill>
                <a:srgbClr val="000000"/>
              </a:solidFill>
              <a:effectLst/>
              <a:uFillTx/>
              <a:latin typeface="Arial"/>
            </a:endParaRPr>
          </a:p>
          <a:p>
            <a:pPr algn="ctr" defTabSz="914400">
              <a:lnSpc>
                <a:spcPct val="100000"/>
              </a:lnSpc>
              <a:tabLst>
                <a:tab algn="l" pos="0"/>
              </a:tabLst>
            </a:pPr>
            <a:r>
              <a:rPr lang="pl-PL" sz="1400" b="1" u="none" strike="noStrike">
                <a:solidFill>
                  <a:srgbClr val="1b2148"/>
                </a:solidFill>
                <a:effectLst/>
                <a:uFillTx/>
                <a:latin typeface="Calibri"/>
                <a:ea typeface="Calibri"/>
              </a:rPr>
              <a:t>lęku i zaburzeń snu</a:t>
            </a:r>
            <a:endParaRPr lang="pl-PL" sz="1400" b="0" u="none" strike="noStrike">
              <a:solidFill>
                <a:srgbClr val="000000"/>
              </a:solidFill>
              <a:effectLst/>
              <a:uFillTx/>
              <a:latin typeface="Arial"/>
            </a:endParaRPr>
          </a:p>
        </p:txBody>
      </p:sp>
      <p:sp>
        <p:nvSpPr>
          <p:cNvPr id="153" name="Shape 17"/>
          <p:cNvSpPr/>
          <p:nvPr/>
        </p:nvSpPr>
        <p:spPr>
          <a:xfrm>
            <a:off x="502920" y="3611880"/>
            <a:ext cx="8137440" cy="1050840"/>
          </a:xfrm>
          <a:prstGeom prst="roundRect">
            <a:avLst>
              <a:gd name="adj" fmla="val 7826"/>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54" name="Text 18"/>
          <p:cNvSpPr/>
          <p:nvPr/>
        </p:nvSpPr>
        <p:spPr>
          <a:xfrm>
            <a:off x="777240" y="3611880"/>
            <a:ext cx="7588800" cy="1050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0" i="1" u="none" strike="noStrike">
                <a:solidFill>
                  <a:srgbClr val="c75a26"/>
                </a:solidFill>
                <a:effectLst/>
                <a:uFillTx/>
                <a:latin typeface="Calibri"/>
                <a:ea typeface="Calibri"/>
              </a:rPr>
              <a:t>W nowszych dużych analizach rejestrowych rozpoczęcie leczenia ADHD wiązało się z niższą częstością pierwszego epizodu nadużywania substancji. Jednak obserwacyjny charakter tych wyników wymaga ostrożności interpretacyjnej.</a:t>
            </a:r>
            <a:endParaRPr lang="pl-PL" sz="1600" b="0" u="none" strike="noStrike">
              <a:solidFill>
                <a:srgbClr val="000000"/>
              </a:solidFill>
              <a:effectLst/>
              <a:uFillTx/>
              <a:latin typeface="Arial"/>
            </a:endParaRPr>
          </a:p>
        </p:txBody>
      </p:sp>
      <p:sp>
        <p:nvSpPr>
          <p:cNvPr id="155" name="Text 19"/>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9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WSPÓŁCHOROBOWOŚĆ</a:t>
            </a:r>
            <a:endParaRPr lang="pl-PL" sz="1100" b="0" u="none" strike="noStrike">
              <a:solidFill>
                <a:srgbClr val="000000"/>
              </a:solidFill>
              <a:effectLst/>
              <a:uFillTx/>
              <a:latin typeface="Arial"/>
            </a:endParaRPr>
          </a:p>
        </p:txBody>
      </p:sp>
      <p:sp>
        <p:nvSpPr>
          <p:cNvPr id="157"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Współchorobowość psychiatryczna jest regułą, nie wyjątkiem</a:t>
            </a:r>
            <a:endParaRPr lang="pl-PL" sz="2200" b="0" u="none" strike="noStrike">
              <a:solidFill>
                <a:srgbClr val="000000"/>
              </a:solidFill>
              <a:effectLst/>
              <a:uFillTx/>
              <a:latin typeface="Arial"/>
            </a:endParaRPr>
          </a:p>
        </p:txBody>
      </p:sp>
      <p:sp>
        <p:nvSpPr>
          <p:cNvPr id="158"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Systematyczny przegląd: wyższa częstość zaburzeń nastroju, lękowych, ChAD, SUD i osobowości w ADHD</a:t>
            </a:r>
            <a:endParaRPr lang="pl-PL" sz="1200" b="0" u="none" strike="noStrike">
              <a:solidFill>
                <a:srgbClr val="000000"/>
              </a:solidFill>
              <a:effectLst/>
              <a:uFillTx/>
              <a:latin typeface="Arial"/>
            </a:endParaRPr>
          </a:p>
        </p:txBody>
      </p:sp>
      <p:graphicFrame>
        <p:nvGraphicFramePr>
          <p:cNvPr id="159" name="Table 0"/>
          <p:cNvGraphicFramePr/>
          <p:nvPr/>
        </p:nvGraphicFramePr>
        <p:xfrm>
          <a:off x="445680" y="1470600"/>
          <a:ext cx="8137800" cy="2686320"/>
        </p:xfrm>
        <a:graphic>
          <a:graphicData uri="http://schemas.openxmlformats.org/drawingml/2006/table">
            <a:tbl>
              <a:tblPr/>
              <a:tblGrid>
                <a:gridCol w="2331720"/>
                <a:gridCol w="5806440"/>
              </a:tblGrid>
              <a:tr h="383760">
                <a:tc>
                  <a:txBody>
                    <a:bodyPr tIns="36360" bIns="36360" anchor="ctr">
                      <a:noAutofit/>
                    </a:bodyPr>
                    <a:p>
                      <a:pPr defTabSz="914400">
                        <a:lnSpc>
                          <a:spcPct val="100000"/>
                        </a:lnSpc>
                        <a:tabLst>
                          <a:tab algn="l" pos="0"/>
                        </a:tabLst>
                      </a:pPr>
                      <a:r>
                        <a:rPr lang="pl-PL" sz="1300" b="1" u="none" strike="noStrike">
                          <a:solidFill>
                            <a:srgbClr val="ffffff"/>
                          </a:solidFill>
                          <a:effectLst/>
                          <a:uFillTx/>
                          <a:latin typeface="Calibri"/>
                          <a:ea typeface="Calibri"/>
                        </a:rPr>
                        <a:t>Obszar</a:t>
                      </a:r>
                      <a:endParaRPr lang="pl-PL" sz="13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pl-PL" sz="1300" b="1" u="none" strike="noStrike">
                          <a:solidFill>
                            <a:srgbClr val="ffffff"/>
                          </a:solidFill>
                          <a:effectLst/>
                          <a:uFillTx/>
                          <a:latin typeface="Calibri"/>
                          <a:ea typeface="Calibri"/>
                        </a:rPr>
                        <a:t>Znaczenie kliniczne</a:t>
                      </a:r>
                      <a:endParaRPr lang="pl-PL" sz="13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Depresja</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Zwiększa niesprawność, ryzyko uzależnień, bezrobocia i zachowań samobójczych</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Zaburzenia lękowe</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Mogą maskować ADHD i dodatkowo pogarszać uwagę oraz unikanie zadań</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Zaburzenie dwubiegunowe</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Wymaga różnicowania przewlekłych objawów ADHD od epizodów manii/hipomanii</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Zaburzenia zachowania</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Silnie wzmacniają związek z uzależnieniami, agresją i przestępczością</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Zaburzenia osobowości</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Zwiększają ryzyko niestabilności relacji, samouszkodzeń i problemów prawnych</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83760">
                <a:tc>
                  <a:txBody>
                    <a:bodyPr tIns="36360" bIns="36360" anchor="ctr">
                      <a:noAutofit/>
                    </a:bodyPr>
                    <a:p>
                      <a:pPr defTabSz="914400">
                        <a:lnSpc>
                          <a:spcPct val="100000"/>
                        </a:lnSpc>
                        <a:tabLst>
                          <a:tab algn="l" pos="0"/>
                        </a:tabLst>
                      </a:pPr>
                      <a:r>
                        <a:rPr lang="pl-PL" sz="1300" b="1" u="none" strike="noStrike">
                          <a:solidFill>
                            <a:srgbClr val="1b2148"/>
                          </a:solidFill>
                          <a:effectLst/>
                          <a:uFillTx/>
                          <a:latin typeface="Calibri"/>
                          <a:ea typeface="Calibri"/>
                        </a:rPr>
                        <a:t>Zaburzenia snu</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300" b="0" u="none" strike="noStrike">
                          <a:solidFill>
                            <a:srgbClr val="55607a"/>
                          </a:solidFill>
                          <a:effectLst/>
                          <a:uFillTx/>
                          <a:latin typeface="Calibri"/>
                          <a:ea typeface="Calibri"/>
                        </a:rPr>
                        <a:t>Nasilają nieuwagę, drażliwość i problemy z regulacją emocji</a:t>
                      </a:r>
                      <a:endParaRPr lang="pl-PL" sz="13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bl>
          </a:graphicData>
        </a:graphic>
      </p:graphicFrame>
      <p:sp>
        <p:nvSpPr>
          <p:cNvPr id="160" name="Text 3"/>
          <p:cNvSpPr/>
          <p:nvPr/>
        </p:nvSpPr>
        <p:spPr>
          <a:xfrm>
            <a:off x="502920" y="4150800"/>
            <a:ext cx="813744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850" b="0" i="1" u="none" strike="noStrike">
                <a:solidFill>
                  <a:srgbClr val="96a0bc"/>
                </a:solidFill>
                <a:effectLst/>
                <a:uFillTx/>
                <a:latin typeface="Calibri"/>
                <a:ea typeface="Calibri"/>
              </a:rPr>
              <a:t>Źródło: Choi et al. (2022), PLOS ONE — systematyczny przegląd populacji ADHD vs. bez ADHD.</a:t>
            </a:r>
            <a:endParaRPr lang="pl-PL" sz="850" b="0" u="none" strike="noStrike">
              <a:solidFill>
                <a:srgbClr val="000000"/>
              </a:solidFill>
              <a:effectLst/>
              <a:uFillTx/>
              <a:latin typeface="Arial"/>
            </a:endParaRPr>
          </a:p>
        </p:txBody>
      </p:sp>
      <p:sp>
        <p:nvSpPr>
          <p:cNvPr id="161" name="Text 4"/>
          <p:cNvSpPr/>
          <p:nvPr/>
        </p:nvSpPr>
        <p:spPr>
          <a:xfrm>
            <a:off x="502920" y="4533120"/>
            <a:ext cx="8137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Wielkości związków różnią się zależnie od populacji i kryteriów diagnostycznych — tabela przedstawia kierunek i klinicznę wagę zależności, nie uniwersalne ryzyko dla pojedynczej osoby.</a:t>
            </a:r>
            <a:endParaRPr lang="pl-PL" sz="1200" b="0" u="none" strike="noStrike">
              <a:solidFill>
                <a:srgbClr val="000000"/>
              </a:solidFill>
              <a:effectLst/>
              <a:uFillTx/>
              <a:latin typeface="Arial"/>
            </a:endParaRPr>
          </a:p>
        </p:txBody>
      </p:sp>
      <p:sp>
        <p:nvSpPr>
          <p:cNvPr id="162" name="Text 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10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WSPÓŁCHOROBOWOŚĆ · NASTRÓJ I LĘK</a:t>
            </a:r>
            <a:endParaRPr lang="pl-PL" sz="1100" b="0" u="none" strike="noStrike">
              <a:solidFill>
                <a:srgbClr val="000000"/>
              </a:solidFill>
              <a:effectLst/>
              <a:uFillTx/>
              <a:latin typeface="Arial"/>
            </a:endParaRPr>
          </a:p>
        </p:txBody>
      </p:sp>
      <p:sp>
        <p:nvSpPr>
          <p:cNvPr id="164"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Depresja, lęk i ChAD</a:t>
            </a:r>
            <a:endParaRPr lang="pl-PL" sz="2200" b="0" u="none" strike="noStrike">
              <a:solidFill>
                <a:srgbClr val="000000"/>
              </a:solidFill>
              <a:effectLst/>
              <a:uFillTx/>
              <a:latin typeface="Arial"/>
            </a:endParaRPr>
          </a:p>
        </p:txBody>
      </p:sp>
      <p:sp>
        <p:nvSpPr>
          <p:cNvPr id="165" name="Text 2"/>
          <p:cNvSpPr/>
          <p:nvPr/>
        </p:nvSpPr>
        <p:spPr>
          <a:xfrm>
            <a:off x="502920" y="1053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Nakładanie objawowe wymaga uwagi na przebieg czasowy</a:t>
            </a:r>
            <a:endParaRPr lang="pl-PL" sz="1200" b="0" u="none" strike="noStrike">
              <a:solidFill>
                <a:srgbClr val="000000"/>
              </a:solidFill>
              <a:effectLst/>
              <a:uFillTx/>
              <a:latin typeface="Arial"/>
            </a:endParaRPr>
          </a:p>
        </p:txBody>
      </p:sp>
      <p:sp>
        <p:nvSpPr>
          <p:cNvPr id="166" name="Shape 3"/>
          <p:cNvSpPr/>
          <p:nvPr/>
        </p:nvSpPr>
        <p:spPr>
          <a:xfrm>
            <a:off x="502920" y="1627560"/>
            <a:ext cx="2614320" cy="2742480"/>
          </a:xfrm>
          <a:prstGeom prst="roundRect">
            <a:avLst>
              <a:gd name="adj" fmla="val 3147"/>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67" name="Text 4"/>
          <p:cNvSpPr/>
          <p:nvPr/>
        </p:nvSpPr>
        <p:spPr>
          <a:xfrm>
            <a:off x="667440" y="1810440"/>
            <a:ext cx="2285280" cy="349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c23b4b"/>
                </a:solidFill>
                <a:effectLst/>
                <a:uFillTx/>
                <a:latin typeface="Cambria"/>
                <a:ea typeface="Cambria"/>
              </a:rPr>
              <a:t>Depresja</a:t>
            </a:r>
            <a:endParaRPr lang="pl-PL" sz="1600" b="0" u="none" strike="noStrike">
              <a:solidFill>
                <a:srgbClr val="000000"/>
              </a:solidFill>
              <a:effectLst/>
              <a:uFillTx/>
              <a:latin typeface="Arial"/>
            </a:endParaRPr>
          </a:p>
        </p:txBody>
      </p:sp>
      <p:sp>
        <p:nvSpPr>
          <p:cNvPr id="168" name="Text 5"/>
          <p:cNvSpPr/>
          <p:nvPr/>
        </p:nvSpPr>
        <p:spPr>
          <a:xfrm>
            <a:off x="667440" y="2340000"/>
            <a:ext cx="2285280" cy="18928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Może rozwijać się wtórnie </a:t>
            </a:r>
            <a:br>
              <a:rPr sz="1400"/>
            </a:br>
            <a:r>
              <a:rPr lang="pl-PL" sz="1400" b="0" u="none" strike="noStrike">
                <a:solidFill>
                  <a:srgbClr val="1b2148"/>
                </a:solidFill>
                <a:effectLst/>
                <a:uFillTx/>
                <a:latin typeface="Calibri"/>
                <a:ea typeface="Calibri"/>
              </a:rPr>
              <a:t>do niepowodzeń, krytyki, odrzucenia i utraty pracy</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Współwystępowanie z ADHD wiąże się z cięższym upośledzeniem i wyższym ryzykiem samobójczym</a:t>
            </a:r>
            <a:endParaRPr lang="pl-PL" sz="1400" b="0" u="none" strike="noStrike">
              <a:solidFill>
                <a:srgbClr val="000000"/>
              </a:solidFill>
              <a:effectLst/>
              <a:uFillTx/>
              <a:latin typeface="Arial"/>
            </a:endParaRPr>
          </a:p>
        </p:txBody>
      </p:sp>
      <p:sp>
        <p:nvSpPr>
          <p:cNvPr id="169" name="Shape 6"/>
          <p:cNvSpPr/>
          <p:nvPr/>
        </p:nvSpPr>
        <p:spPr>
          <a:xfrm>
            <a:off x="3264480" y="1627560"/>
            <a:ext cx="2614320" cy="2742480"/>
          </a:xfrm>
          <a:prstGeom prst="roundRect">
            <a:avLst>
              <a:gd name="adj" fmla="val 3147"/>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0" name="Text 7"/>
          <p:cNvSpPr/>
          <p:nvPr/>
        </p:nvSpPr>
        <p:spPr>
          <a:xfrm>
            <a:off x="3429000" y="1810440"/>
            <a:ext cx="2285280" cy="349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c75a26"/>
                </a:solidFill>
                <a:effectLst/>
                <a:uFillTx/>
                <a:latin typeface="Cambria"/>
                <a:ea typeface="Cambria"/>
              </a:rPr>
              <a:t>Zaburzenia lękowe</a:t>
            </a:r>
            <a:endParaRPr lang="pl-PL" sz="1600" b="0" u="none" strike="noStrike">
              <a:solidFill>
                <a:srgbClr val="000000"/>
              </a:solidFill>
              <a:effectLst/>
              <a:uFillTx/>
              <a:latin typeface="Arial"/>
            </a:endParaRPr>
          </a:p>
        </p:txBody>
      </p:sp>
      <p:sp>
        <p:nvSpPr>
          <p:cNvPr id="171" name="Text 8"/>
          <p:cNvSpPr/>
          <p:nvPr/>
        </p:nvSpPr>
        <p:spPr>
          <a:xfrm>
            <a:off x="3357000" y="2340000"/>
            <a:ext cx="2330640" cy="18928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Może wynikać z chronicznego braku kontroli nad terminami i obowiązkami</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Zarówno lęk, jak i depresja mogą pogarszać uwagę, a to komplikuje diagnostykę</a:t>
            </a:r>
            <a:endParaRPr lang="pl-PL" sz="1400" b="0" u="none" strike="noStrike">
              <a:solidFill>
                <a:srgbClr val="000000"/>
              </a:solidFill>
              <a:effectLst/>
              <a:uFillTx/>
              <a:latin typeface="Arial"/>
            </a:endParaRPr>
          </a:p>
        </p:txBody>
      </p:sp>
      <p:sp>
        <p:nvSpPr>
          <p:cNvPr id="172" name="Shape 9"/>
          <p:cNvSpPr/>
          <p:nvPr/>
        </p:nvSpPr>
        <p:spPr>
          <a:xfrm>
            <a:off x="6026040" y="1627560"/>
            <a:ext cx="2614320" cy="2742480"/>
          </a:xfrm>
          <a:prstGeom prst="roundRect">
            <a:avLst>
              <a:gd name="adj" fmla="val 3147"/>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73" name="Text 10"/>
          <p:cNvSpPr/>
          <p:nvPr/>
        </p:nvSpPr>
        <p:spPr>
          <a:xfrm>
            <a:off x="6190560" y="1702440"/>
            <a:ext cx="22852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1b2148"/>
                </a:solidFill>
                <a:effectLst/>
                <a:uFillTx/>
                <a:latin typeface="Cambria"/>
                <a:ea typeface="Cambria"/>
              </a:rPr>
              <a:t>Choroba afektywna dwubiegunowa</a:t>
            </a:r>
            <a:endParaRPr lang="pl-PL" sz="1600" b="0" u="none" strike="noStrike">
              <a:solidFill>
                <a:srgbClr val="000000"/>
              </a:solidFill>
              <a:effectLst/>
              <a:uFillTx/>
              <a:latin typeface="Arial"/>
            </a:endParaRPr>
          </a:p>
        </p:txBody>
      </p:sp>
      <p:sp>
        <p:nvSpPr>
          <p:cNvPr id="174" name="Text 11"/>
          <p:cNvSpPr/>
          <p:nvPr/>
        </p:nvSpPr>
        <p:spPr>
          <a:xfrm>
            <a:off x="6082560" y="2450520"/>
            <a:ext cx="2521080" cy="17823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Nakładanie objawowe: impulsywność, rozpraszalność, szybka mowa</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Kluczowy jest przebieg czasowy - ADHD przewlekłe, mania/ hipomania epizodyczna</a:t>
            </a:r>
            <a:endParaRPr lang="pl-PL" sz="1400" b="0" u="none" strike="noStrike">
              <a:solidFill>
                <a:srgbClr val="000000"/>
              </a:solidFill>
              <a:effectLst/>
              <a:uFillTx/>
              <a:latin typeface="Arial"/>
            </a:endParaRPr>
          </a:p>
        </p:txBody>
      </p:sp>
      <p:sp>
        <p:nvSpPr>
          <p:cNvPr id="175" name="Text 12"/>
          <p:cNvSpPr/>
          <p:nvPr/>
        </p:nvSpPr>
        <p:spPr>
          <a:xfrm>
            <a:off x="502920" y="4454280"/>
            <a:ext cx="831672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000000"/>
                </a:solidFill>
                <a:effectLst/>
                <a:uFillTx/>
                <a:latin typeface="Calibri"/>
                <a:ea typeface="Calibri"/>
              </a:rPr>
              <a:t>Błędne rozpoznanie ChAD u osoby z przewlekłym ADHD (lub odwrotnie) może prowadzić do niewłaściwego leczenia farmakologicznego</a:t>
            </a:r>
            <a:endParaRPr lang="pl-PL" sz="1200" b="0" u="none" strike="noStrike">
              <a:solidFill>
                <a:srgbClr val="000000"/>
              </a:solidFill>
              <a:effectLst/>
              <a:uFillTx/>
              <a:latin typeface="Arial"/>
            </a:endParaRPr>
          </a:p>
        </p:txBody>
      </p:sp>
      <p:sp>
        <p:nvSpPr>
          <p:cNvPr id="176" name="Text 13"/>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11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7"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WSPÓŁCHOROBOWOŚĆ · OSOBOWOŚĆ</a:t>
            </a:r>
            <a:endParaRPr lang="pl-PL" sz="1100" b="0" u="none" strike="noStrike">
              <a:solidFill>
                <a:srgbClr val="000000"/>
              </a:solidFill>
              <a:effectLst/>
              <a:uFillTx/>
              <a:latin typeface="Arial"/>
            </a:endParaRPr>
          </a:p>
        </p:txBody>
      </p:sp>
      <p:sp>
        <p:nvSpPr>
          <p:cNvPr id="178"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Zaburzenia zachowania i osobowości jako moderatory ryzyka</a:t>
            </a:r>
            <a:endParaRPr lang="pl-PL" sz="2200" b="0" u="none" strike="noStrike">
              <a:solidFill>
                <a:srgbClr val="000000"/>
              </a:solidFill>
              <a:effectLst/>
              <a:uFillTx/>
              <a:latin typeface="Arial"/>
            </a:endParaRPr>
          </a:p>
        </p:txBody>
      </p:sp>
      <p:sp>
        <p:nvSpPr>
          <p:cNvPr id="179"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Największe ryzyko przestępczości i uzależnień dotyczy konkretnej konfiguracji cech</a:t>
            </a:r>
            <a:endParaRPr lang="pl-PL" sz="1200" b="0" u="none" strike="noStrike">
              <a:solidFill>
                <a:srgbClr val="000000"/>
              </a:solidFill>
              <a:effectLst/>
              <a:uFillTx/>
              <a:latin typeface="Arial"/>
            </a:endParaRPr>
          </a:p>
        </p:txBody>
      </p:sp>
      <p:sp>
        <p:nvSpPr>
          <p:cNvPr id="180" name="Shape 3"/>
          <p:cNvSpPr/>
          <p:nvPr/>
        </p:nvSpPr>
        <p:spPr>
          <a:xfrm>
            <a:off x="502920" y="1627560"/>
            <a:ext cx="3976920" cy="2696760"/>
          </a:xfrm>
          <a:prstGeom prst="roundRect">
            <a:avLst>
              <a:gd name="adj" fmla="val 3051"/>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1" name="Text 4"/>
          <p:cNvSpPr/>
          <p:nvPr/>
        </p:nvSpPr>
        <p:spPr>
          <a:xfrm>
            <a:off x="713160" y="1792080"/>
            <a:ext cx="35654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a12e3c"/>
                </a:solidFill>
                <a:effectLst/>
                <a:uFillTx/>
                <a:latin typeface="Cambria"/>
                <a:ea typeface="Cambria"/>
              </a:rPr>
              <a:t>Zaburzenia zachowania → ASPD</a:t>
            </a:r>
            <a:endParaRPr lang="pl-PL" sz="1800" b="0" u="none" strike="noStrike">
              <a:solidFill>
                <a:srgbClr val="000000"/>
              </a:solidFill>
              <a:effectLst/>
              <a:uFillTx/>
              <a:latin typeface="Arial"/>
            </a:endParaRPr>
          </a:p>
        </p:txBody>
      </p:sp>
      <p:sp>
        <p:nvSpPr>
          <p:cNvPr id="182" name="Text 5"/>
          <p:cNvSpPr/>
          <p:nvPr/>
        </p:nvSpPr>
        <p:spPr>
          <a:xfrm>
            <a:off x="713160" y="2340720"/>
            <a:ext cx="3565440" cy="19195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Najważniejszy moderator</a:t>
            </a:r>
            <a:r>
              <a:rPr lang="pl-PL" sz="1400" b="0" u="none" strike="noStrike">
                <a:solidFill>
                  <a:srgbClr val="1b2148"/>
                </a:solidFill>
                <a:effectLst/>
                <a:uFillTx/>
                <a:latin typeface="Calibri"/>
                <a:ea typeface="Calibri"/>
              </a:rPr>
              <a:t> związku ADHD </a:t>
            </a:r>
            <a:br>
              <a:rPr sz="1400"/>
            </a:br>
            <a:r>
              <a:rPr lang="pl-PL" sz="1400" b="0" u="none" strike="noStrike">
                <a:solidFill>
                  <a:srgbClr val="1b2148"/>
                </a:solidFill>
                <a:effectLst/>
                <a:uFillTx/>
                <a:latin typeface="Calibri"/>
                <a:ea typeface="Calibri"/>
              </a:rPr>
              <a:t>z przestępczością i uzależnieniami</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Największe ryzyko</a:t>
            </a:r>
            <a:r>
              <a:rPr lang="pl-PL" sz="1400" b="0" u="none" strike="noStrike">
                <a:solidFill>
                  <a:srgbClr val="1b2148"/>
                </a:solidFill>
                <a:effectLst/>
                <a:uFillTx/>
                <a:latin typeface="Calibri"/>
                <a:ea typeface="Calibri"/>
              </a:rPr>
              <a:t>: wczesna agresja, uporczywe naruszanie norm</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Późniejsze cechy antyspołeczne</a:t>
            </a:r>
            <a:r>
              <a:rPr lang="pl-PL" sz="1400" b="0" u="none" strike="noStrike">
                <a:solidFill>
                  <a:srgbClr val="1b2148"/>
                </a:solidFill>
                <a:effectLst/>
                <a:uFillTx/>
                <a:latin typeface="Calibri"/>
                <a:ea typeface="Calibri"/>
              </a:rPr>
              <a:t> najsilniej nasilają ryzyko </a:t>
            </a:r>
            <a:endParaRPr lang="pl-PL" sz="1400" b="0" u="none" strike="noStrike">
              <a:solidFill>
                <a:srgbClr val="000000"/>
              </a:solidFill>
              <a:effectLst/>
              <a:uFillTx/>
              <a:latin typeface="Arial"/>
            </a:endParaRPr>
          </a:p>
        </p:txBody>
      </p:sp>
      <p:sp>
        <p:nvSpPr>
          <p:cNvPr id="183" name="Shape 6"/>
          <p:cNvSpPr/>
          <p:nvPr/>
        </p:nvSpPr>
        <p:spPr>
          <a:xfrm>
            <a:off x="4663440" y="1627560"/>
            <a:ext cx="3976920" cy="2696760"/>
          </a:xfrm>
          <a:prstGeom prst="roundRect">
            <a:avLst>
              <a:gd name="adj" fmla="val 3051"/>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84" name="Text 7"/>
          <p:cNvSpPr/>
          <p:nvPr/>
        </p:nvSpPr>
        <p:spPr>
          <a:xfrm>
            <a:off x="4873680" y="1792080"/>
            <a:ext cx="35654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1b2148"/>
                </a:solidFill>
                <a:effectLst/>
                <a:uFillTx/>
                <a:latin typeface="Cambria"/>
                <a:ea typeface="Cambria"/>
              </a:rPr>
              <a:t>ADHD, a osobowość borderline</a:t>
            </a:r>
            <a:endParaRPr lang="pl-PL" sz="1800" b="0" u="none" strike="noStrike">
              <a:solidFill>
                <a:srgbClr val="000000"/>
              </a:solidFill>
              <a:effectLst/>
              <a:uFillTx/>
              <a:latin typeface="Arial"/>
            </a:endParaRPr>
          </a:p>
        </p:txBody>
      </p:sp>
      <p:sp>
        <p:nvSpPr>
          <p:cNvPr id="185" name="Text 8"/>
          <p:cNvSpPr/>
          <p:nvPr/>
        </p:nvSpPr>
        <p:spPr>
          <a:xfrm>
            <a:off x="4873680" y="2340720"/>
            <a:ext cx="3565440" cy="19195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Wspólny mianownik</a:t>
            </a:r>
            <a:r>
              <a:rPr lang="pl-PL" sz="1400" b="0" u="none" strike="noStrike">
                <a:solidFill>
                  <a:srgbClr val="1b2148"/>
                </a:solidFill>
                <a:effectLst/>
                <a:uFillTx/>
                <a:latin typeface="Calibri"/>
                <a:ea typeface="Calibri"/>
              </a:rPr>
              <a:t>: impulsywność </a:t>
            </a:r>
            <a:br>
              <a:rPr sz="1400"/>
            </a:br>
            <a:r>
              <a:rPr lang="pl-PL" sz="1400" b="0" u="none" strike="noStrike">
                <a:solidFill>
                  <a:srgbClr val="1b2148"/>
                </a:solidFill>
                <a:effectLst/>
                <a:uFillTx/>
                <a:latin typeface="Calibri"/>
                <a:ea typeface="Calibri"/>
              </a:rPr>
              <a:t>i dysregulacja emocjonalna</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BPD dodaje</a:t>
            </a:r>
            <a:r>
              <a:rPr lang="pl-PL" sz="1400" b="0" u="none" strike="noStrike">
                <a:solidFill>
                  <a:srgbClr val="1b2148"/>
                </a:solidFill>
                <a:effectLst/>
                <a:uFillTx/>
                <a:latin typeface="Calibri"/>
                <a:ea typeface="Calibri"/>
              </a:rPr>
              <a:t>: utrwaloną niestabilność </a:t>
            </a:r>
            <a:br>
              <a:rPr sz="1400"/>
            </a:br>
            <a:r>
              <a:rPr lang="pl-PL" sz="1400" b="0" u="none" strike="noStrike">
                <a:solidFill>
                  <a:srgbClr val="1b2148"/>
                </a:solidFill>
                <a:effectLst/>
                <a:uFillTx/>
                <a:latin typeface="Calibri"/>
                <a:ea typeface="Calibri"/>
              </a:rPr>
              <a:t>relacji i obrazu siebie</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1" u="none" strike="noStrike">
                <a:solidFill>
                  <a:srgbClr val="1b2148"/>
                </a:solidFill>
                <a:effectLst/>
                <a:uFillTx/>
                <a:latin typeface="Calibri"/>
                <a:ea typeface="Calibri"/>
              </a:rPr>
              <a:t>BPD dodaje</a:t>
            </a:r>
            <a:r>
              <a:rPr lang="pl-PL" sz="1400" b="0" u="none" strike="noStrike">
                <a:solidFill>
                  <a:srgbClr val="1b2148"/>
                </a:solidFill>
                <a:effectLst/>
                <a:uFillTx/>
                <a:latin typeface="Calibri"/>
                <a:ea typeface="Calibri"/>
              </a:rPr>
              <a:t>: silną wrażliwość na odrzucenie</a:t>
            </a:r>
            <a:endParaRPr lang="pl-PL" sz="1400" b="0" u="none" strike="noStrike">
              <a:solidFill>
                <a:srgbClr val="000000"/>
              </a:solidFill>
              <a:effectLst/>
              <a:uFillTx/>
              <a:latin typeface="Arial"/>
            </a:endParaRPr>
          </a:p>
        </p:txBody>
      </p:sp>
      <p:sp>
        <p:nvSpPr>
          <p:cNvPr id="186" name="Text 9"/>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12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WSPÓŁCHOROBOWOŚĆ · RYZYKO ŻYCIA</a:t>
            </a:r>
            <a:endParaRPr lang="pl-PL" sz="1100" b="0" u="none" strike="noStrike">
              <a:solidFill>
                <a:srgbClr val="000000"/>
              </a:solidFill>
              <a:effectLst/>
              <a:uFillTx/>
              <a:latin typeface="Arial"/>
            </a:endParaRPr>
          </a:p>
        </p:txBody>
      </p:sp>
      <p:sp>
        <p:nvSpPr>
          <p:cNvPr id="188" name="Text 1"/>
          <p:cNvSpPr/>
          <p:nvPr/>
        </p:nvSpPr>
        <p:spPr>
          <a:xfrm>
            <a:off x="502920" y="621720"/>
            <a:ext cx="831672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000" b="1" u="none" strike="noStrike">
                <a:solidFill>
                  <a:srgbClr val="1b2148"/>
                </a:solidFill>
                <a:effectLst/>
                <a:uFillTx/>
                <a:latin typeface="Cambria"/>
                <a:ea typeface="Cambria"/>
              </a:rPr>
              <a:t>Podwyższone ryzyko zachowań samobójczych i przedwczesnej śmierci</a:t>
            </a:r>
            <a:endParaRPr lang="pl-PL" sz="2000" b="0" u="none" strike="noStrike">
              <a:solidFill>
                <a:srgbClr val="000000"/>
              </a:solidFill>
              <a:effectLst/>
              <a:uFillTx/>
              <a:latin typeface="Arial"/>
            </a:endParaRPr>
          </a:p>
        </p:txBody>
      </p:sp>
      <p:sp>
        <p:nvSpPr>
          <p:cNvPr id="189" name="Text 2"/>
          <p:cNvSpPr/>
          <p:nvPr/>
        </p:nvSpPr>
        <p:spPr>
          <a:xfrm>
            <a:off x="502920" y="945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Ryzyko jest w dużej mierze wyjaśniane przez czynniki współwystępujące</a:t>
            </a:r>
            <a:endParaRPr lang="pl-PL" sz="1200" b="0" u="none" strike="noStrike">
              <a:solidFill>
                <a:srgbClr val="000000"/>
              </a:solidFill>
              <a:effectLst/>
              <a:uFillTx/>
              <a:latin typeface="Arial"/>
            </a:endParaRPr>
          </a:p>
        </p:txBody>
      </p:sp>
      <p:sp>
        <p:nvSpPr>
          <p:cNvPr id="190" name="Shape 3"/>
          <p:cNvSpPr/>
          <p:nvPr/>
        </p:nvSpPr>
        <p:spPr>
          <a:xfrm>
            <a:off x="502920" y="1645920"/>
            <a:ext cx="4536720" cy="2285280"/>
          </a:xfrm>
          <a:prstGeom prst="roundRect">
            <a:avLst>
              <a:gd name="adj" fmla="val 3600"/>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1" name="Text 4"/>
          <p:cNvSpPr/>
          <p:nvPr/>
        </p:nvSpPr>
        <p:spPr>
          <a:xfrm>
            <a:off x="713160" y="1666440"/>
            <a:ext cx="4571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1b2148"/>
                </a:solidFill>
                <a:effectLst/>
                <a:uFillTx/>
                <a:latin typeface="Cambria"/>
                <a:ea typeface="Cambria"/>
              </a:rPr>
              <a:t>Co podwyższa ryzyko?</a:t>
            </a:r>
            <a:endParaRPr lang="pl-PL" sz="2000" b="0" u="none" strike="noStrike">
              <a:solidFill>
                <a:srgbClr val="000000"/>
              </a:solidFill>
              <a:effectLst/>
              <a:uFillTx/>
              <a:latin typeface="Arial"/>
            </a:endParaRPr>
          </a:p>
        </p:txBody>
      </p:sp>
      <p:sp>
        <p:nvSpPr>
          <p:cNvPr id="192" name="Text 5"/>
          <p:cNvSpPr/>
          <p:nvPr/>
        </p:nvSpPr>
        <p:spPr>
          <a:xfrm>
            <a:off x="713160" y="2212920"/>
            <a:ext cx="4146480" cy="16452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500" b="0" u="none" strike="noStrike">
                <a:solidFill>
                  <a:srgbClr val="1b2148"/>
                </a:solidFill>
                <a:effectLst/>
                <a:uFillTx/>
                <a:latin typeface="Calibri"/>
                <a:ea typeface="Calibri"/>
              </a:rPr>
              <a:t>Myśli i próby samobójcze, zatrucia, wypadki</a:t>
            </a:r>
            <a:endParaRPr lang="pl-PL" sz="15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500" b="0" u="none" strike="noStrike">
                <a:solidFill>
                  <a:srgbClr val="1b2148"/>
                </a:solidFill>
                <a:effectLst/>
                <a:uFillTx/>
                <a:latin typeface="Calibri"/>
                <a:ea typeface="Calibri"/>
              </a:rPr>
              <a:t>Przedwczesna śmierć z przyczyn nienaturalnych</a:t>
            </a:r>
            <a:endParaRPr lang="pl-PL" sz="15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500" b="0" u="none" strike="noStrike">
                <a:solidFill>
                  <a:srgbClr val="1b2148"/>
                </a:solidFill>
                <a:effectLst/>
                <a:uFillTx/>
                <a:latin typeface="Calibri"/>
                <a:ea typeface="Calibri"/>
              </a:rPr>
              <a:t>Znaczną część ryzyka wyjaśniają: depresja, SUD, impulsywność, konflikty i problemy ekonomiczne</a:t>
            </a:r>
            <a:endParaRPr lang="pl-PL" sz="1500" b="0" u="none" strike="noStrike">
              <a:solidFill>
                <a:srgbClr val="000000"/>
              </a:solidFill>
              <a:effectLst/>
              <a:uFillTx/>
              <a:latin typeface="Arial"/>
            </a:endParaRPr>
          </a:p>
        </p:txBody>
      </p:sp>
      <p:sp>
        <p:nvSpPr>
          <p:cNvPr id="193" name="Shape 6"/>
          <p:cNvSpPr/>
          <p:nvPr/>
        </p:nvSpPr>
        <p:spPr>
          <a:xfrm>
            <a:off x="5284800" y="1645920"/>
            <a:ext cx="3355560" cy="2285280"/>
          </a:xfrm>
          <a:prstGeom prst="roundRect">
            <a:avLst>
              <a:gd name="adj" fmla="val 3600"/>
            </a:avLst>
          </a:prstGeom>
          <a:solidFill>
            <a:srgbClr val="1f8a82"/>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194" name="Text 7"/>
          <p:cNvSpPr/>
          <p:nvPr/>
        </p:nvSpPr>
        <p:spPr>
          <a:xfrm>
            <a:off x="5400000" y="1702440"/>
            <a:ext cx="30574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ffffff"/>
                </a:solidFill>
                <a:effectLst/>
                <a:uFillTx/>
                <a:latin typeface="Cambria"/>
                <a:ea typeface="Cambria"/>
              </a:rPr>
              <a:t>Leczenie ADHD</a:t>
            </a:r>
            <a:endParaRPr lang="pl-PL" sz="2000" b="0" u="none" strike="noStrike">
              <a:solidFill>
                <a:srgbClr val="000000"/>
              </a:solidFill>
              <a:effectLst/>
              <a:uFillTx/>
              <a:latin typeface="Arial"/>
            </a:endParaRPr>
          </a:p>
        </p:txBody>
      </p:sp>
      <p:sp>
        <p:nvSpPr>
          <p:cNvPr id="195" name="Text 8"/>
          <p:cNvSpPr/>
          <p:nvPr/>
        </p:nvSpPr>
        <p:spPr>
          <a:xfrm>
            <a:off x="5436000" y="2157840"/>
            <a:ext cx="3059640" cy="1690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lang="pl-PL" sz="1500" b="0" u="none" strike="noStrike">
                <a:solidFill>
                  <a:srgbClr val="eaf6f4"/>
                </a:solidFill>
                <a:effectLst/>
                <a:uFillTx/>
                <a:latin typeface="Calibri"/>
                <a:ea typeface="Calibri"/>
              </a:rPr>
              <a:t>może obniżać częstość zdarzeń samobójczych i zgonów z przyczyn nienaturalnych </a:t>
            </a:r>
            <a:r>
              <a:rPr lang="pl-PL" sz="1500" b="0" u="none" strike="noStrike">
                <a:solidFill>
                  <a:srgbClr val="eaf6f4"/>
                </a:solidFill>
                <a:effectLst/>
                <a:uFillTx/>
                <a:latin typeface="Calibri"/>
                <a:ea typeface="Calibri"/>
              </a:rPr>
              <a:t>(lepsza kontrola impulsów). Jest to wynik biologicznie </a:t>
            </a:r>
            <a:br>
              <a:rPr sz="1500"/>
            </a:br>
            <a:r>
              <a:rPr lang="pl-PL" sz="1500" b="0" u="none" strike="noStrike">
                <a:solidFill>
                  <a:srgbClr val="eaf6f4"/>
                </a:solidFill>
                <a:effectLst/>
                <a:uFillTx/>
                <a:latin typeface="Calibri"/>
                <a:ea typeface="Calibri"/>
              </a:rPr>
              <a:t>i psychologicznie wiarygodny, </a:t>
            </a:r>
            <a:br>
              <a:rPr sz="1500"/>
            </a:br>
            <a:r>
              <a:rPr lang="pl-PL" sz="1500" b="0" u="none" strike="noStrike">
                <a:solidFill>
                  <a:srgbClr val="eaf6f4"/>
                </a:solidFill>
                <a:effectLst/>
                <a:uFillTx/>
                <a:latin typeface="Calibri"/>
                <a:ea typeface="Calibri"/>
              </a:rPr>
              <a:t>oparty na badaniach rejestrowych</a:t>
            </a:r>
            <a:endParaRPr lang="pl-PL" sz="1500" b="0" u="none" strike="noStrike">
              <a:solidFill>
                <a:srgbClr val="000000"/>
              </a:solidFill>
              <a:effectLst/>
              <a:uFillTx/>
              <a:latin typeface="Arial"/>
            </a:endParaRPr>
          </a:p>
        </p:txBody>
      </p:sp>
      <p:sp>
        <p:nvSpPr>
          <p:cNvPr id="196" name="Shape 9"/>
          <p:cNvSpPr/>
          <p:nvPr/>
        </p:nvSpPr>
        <p:spPr>
          <a:xfrm>
            <a:off x="502920" y="4212000"/>
            <a:ext cx="8137440" cy="659880"/>
          </a:xfrm>
          <a:prstGeom prst="roundRect">
            <a:avLst>
              <a:gd name="adj" fmla="val 12000"/>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197" name="Text 10"/>
          <p:cNvSpPr/>
          <p:nvPr/>
        </p:nvSpPr>
        <p:spPr>
          <a:xfrm>
            <a:off x="777240" y="4320000"/>
            <a:ext cx="7588800" cy="47988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600" b="0" u="none" strike="noStrike">
                <a:solidFill>
                  <a:srgbClr val="c75a26"/>
                </a:solidFill>
                <a:effectLst/>
                <a:uFillTx/>
                <a:latin typeface="Calibri"/>
                <a:ea typeface="Calibri"/>
              </a:rPr>
              <a:t>Powyższe dane mają charakter epidemiologiczny i nie zastępują bezpośredniej, indywidualnej oceny ryzyka samobójczego u konkretnego pacjenta</a:t>
            </a:r>
            <a:endParaRPr lang="pl-PL" sz="1600" b="0" u="none" strike="noStrike">
              <a:solidFill>
                <a:srgbClr val="000000"/>
              </a:solidFill>
              <a:effectLst/>
              <a:uFillTx/>
              <a:latin typeface="Arial"/>
            </a:endParaRPr>
          </a:p>
        </p:txBody>
      </p:sp>
      <p:sp>
        <p:nvSpPr>
          <p:cNvPr id="198" name="Text 11"/>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13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9"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PRZESTĘPCZOŚĆ</a:t>
            </a:r>
            <a:endParaRPr lang="pl-PL" sz="1100" b="0" u="none" strike="noStrike">
              <a:solidFill>
                <a:srgbClr val="000000"/>
              </a:solidFill>
              <a:effectLst/>
              <a:uFillTx/>
              <a:latin typeface="Arial"/>
            </a:endParaRPr>
          </a:p>
        </p:txBody>
      </p:sp>
      <p:sp>
        <p:nvSpPr>
          <p:cNvPr id="200"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Nadreprezentacja ADHD w populacjach penitencjarnych</a:t>
            </a:r>
            <a:endParaRPr lang="pl-PL" sz="2200" b="0" u="none" strike="noStrike">
              <a:solidFill>
                <a:srgbClr val="000000"/>
              </a:solidFill>
              <a:effectLst/>
              <a:uFillTx/>
              <a:latin typeface="Arial"/>
            </a:endParaRPr>
          </a:p>
        </p:txBody>
      </p:sp>
      <p:sp>
        <p:nvSpPr>
          <p:cNvPr id="201"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Nadreprezentacja nie jest równoznaczna z przestępczością</a:t>
            </a:r>
            <a:endParaRPr lang="pl-PL" sz="1200" b="0" u="none" strike="noStrike">
              <a:solidFill>
                <a:srgbClr val="000000"/>
              </a:solidFill>
              <a:effectLst/>
              <a:uFillTx/>
              <a:latin typeface="Arial"/>
            </a:endParaRPr>
          </a:p>
        </p:txBody>
      </p:sp>
      <p:sp>
        <p:nvSpPr>
          <p:cNvPr id="202" name="Text 3"/>
          <p:cNvSpPr/>
          <p:nvPr/>
        </p:nvSpPr>
        <p:spPr>
          <a:xfrm>
            <a:off x="502920" y="1537920"/>
            <a:ext cx="8137440" cy="91368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lang="pl-PL" sz="1600" b="0" u="none" strike="noStrike">
                <a:solidFill>
                  <a:srgbClr val="000000"/>
                </a:solidFill>
                <a:effectLst/>
                <a:uFillTx/>
                <a:latin typeface="Calibri"/>
                <a:ea typeface="Calibri"/>
              </a:rPr>
              <a:t>ADHD jest znacznie częstsze w populacjach więziennych niż w populacji ogólnej. Szacunki różnią się zależnie od wieku, kraju i metody diagnostycznej, a badania oparte wyłącznie na kwestionariuszach przesiewowych zwykle wskazują wyższą częstość niż pełne badania kliniczne.</a:t>
            </a:r>
            <a:endParaRPr lang="pl-PL" sz="1600" b="0" u="none" strike="noStrike">
              <a:solidFill>
                <a:srgbClr val="000000"/>
              </a:solidFill>
              <a:effectLst/>
              <a:uFillTx/>
              <a:latin typeface="Arial"/>
            </a:endParaRPr>
          </a:p>
        </p:txBody>
      </p:sp>
      <p:sp>
        <p:nvSpPr>
          <p:cNvPr id="203" name="Text 4"/>
          <p:cNvSpPr/>
          <p:nvPr/>
        </p:nvSpPr>
        <p:spPr>
          <a:xfrm>
            <a:off x="502920" y="2697480"/>
            <a:ext cx="813744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1b2148"/>
                </a:solidFill>
                <a:effectLst/>
                <a:uFillTx/>
                <a:latin typeface="Cambria"/>
                <a:ea typeface="Cambria"/>
              </a:rPr>
              <a:t>Co naprawdę decyduje o ryzyku?</a:t>
            </a:r>
            <a:endParaRPr lang="pl-PL" sz="1400" b="0" u="none" strike="noStrike">
              <a:solidFill>
                <a:srgbClr val="000000"/>
              </a:solidFill>
              <a:effectLst/>
              <a:uFillTx/>
              <a:latin typeface="Arial"/>
            </a:endParaRPr>
          </a:p>
        </p:txBody>
      </p:sp>
      <p:sp>
        <p:nvSpPr>
          <p:cNvPr id="204" name="Shape 5"/>
          <p:cNvSpPr/>
          <p:nvPr/>
        </p:nvSpPr>
        <p:spPr>
          <a:xfrm>
            <a:off x="538920" y="3035880"/>
            <a:ext cx="1656720" cy="9237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5" name="Text 6"/>
          <p:cNvSpPr/>
          <p:nvPr/>
        </p:nvSpPr>
        <p:spPr>
          <a:xfrm>
            <a:off x="610920" y="3035880"/>
            <a:ext cx="1534320" cy="92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Współwystępujące zaburzenia zachowania</a:t>
            </a:r>
            <a:endParaRPr lang="pl-PL" sz="1400" b="0" u="none" strike="noStrike">
              <a:solidFill>
                <a:srgbClr val="000000"/>
              </a:solidFill>
              <a:effectLst/>
              <a:uFillTx/>
              <a:latin typeface="Arial"/>
            </a:endParaRPr>
          </a:p>
        </p:txBody>
      </p:sp>
      <p:sp>
        <p:nvSpPr>
          <p:cNvPr id="206" name="Shape 7"/>
          <p:cNvSpPr/>
          <p:nvPr/>
        </p:nvSpPr>
        <p:spPr>
          <a:xfrm>
            <a:off x="2340000" y="3035880"/>
            <a:ext cx="1692000" cy="9237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7" name="Text 8"/>
          <p:cNvSpPr/>
          <p:nvPr/>
        </p:nvSpPr>
        <p:spPr>
          <a:xfrm>
            <a:off x="2376000" y="3035880"/>
            <a:ext cx="1656000" cy="92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Zaburzenia używania </a:t>
            </a:r>
            <a:br>
              <a:rPr sz="1400"/>
            </a:br>
            <a:r>
              <a:rPr lang="pl-PL" sz="1400" b="1" u="none" strike="noStrike">
                <a:solidFill>
                  <a:srgbClr val="1b2148"/>
                </a:solidFill>
                <a:effectLst/>
                <a:uFillTx/>
                <a:latin typeface="Calibri"/>
                <a:ea typeface="Calibri"/>
              </a:rPr>
              <a:t>substancji (SUD)</a:t>
            </a:r>
            <a:endParaRPr lang="pl-PL" sz="1400" b="0" u="none" strike="noStrike">
              <a:solidFill>
                <a:srgbClr val="000000"/>
              </a:solidFill>
              <a:effectLst/>
              <a:uFillTx/>
              <a:latin typeface="Arial"/>
            </a:endParaRPr>
          </a:p>
        </p:txBody>
      </p:sp>
      <p:sp>
        <p:nvSpPr>
          <p:cNvPr id="208" name="Shape 9"/>
          <p:cNvSpPr/>
          <p:nvPr/>
        </p:nvSpPr>
        <p:spPr>
          <a:xfrm>
            <a:off x="4140000" y="3035880"/>
            <a:ext cx="1289160" cy="9237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09" name="Text 10"/>
          <p:cNvSpPr/>
          <p:nvPr/>
        </p:nvSpPr>
        <p:spPr>
          <a:xfrm>
            <a:off x="4140000" y="3035880"/>
            <a:ext cx="1269720" cy="92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Ubóstwo </a:t>
            </a:r>
            <a:br>
              <a:rPr sz="1400"/>
            </a:br>
            <a:r>
              <a:rPr lang="pl-PL" sz="1400" b="1" u="none" strike="noStrike">
                <a:solidFill>
                  <a:srgbClr val="1b2148"/>
                </a:solidFill>
                <a:effectLst/>
                <a:uFillTx/>
                <a:latin typeface="Calibri"/>
                <a:ea typeface="Calibri"/>
              </a:rPr>
              <a:t>i bezrobocie</a:t>
            </a:r>
            <a:endParaRPr lang="pl-PL" sz="1400" b="0" u="none" strike="noStrike">
              <a:solidFill>
                <a:srgbClr val="000000"/>
              </a:solidFill>
              <a:effectLst/>
              <a:uFillTx/>
              <a:latin typeface="Arial"/>
            </a:endParaRPr>
          </a:p>
        </p:txBody>
      </p:sp>
      <p:sp>
        <p:nvSpPr>
          <p:cNvPr id="210" name="Shape 11"/>
          <p:cNvSpPr/>
          <p:nvPr/>
        </p:nvSpPr>
        <p:spPr>
          <a:xfrm>
            <a:off x="5507640" y="3035880"/>
            <a:ext cx="1462320" cy="9237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1" name="Text 12"/>
          <p:cNvSpPr/>
          <p:nvPr/>
        </p:nvSpPr>
        <p:spPr>
          <a:xfrm>
            <a:off x="5599080" y="3035880"/>
            <a:ext cx="1276560" cy="92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Niepowodzenia szkolne</a:t>
            </a:r>
            <a:endParaRPr lang="pl-PL" sz="1400" b="0" u="none" strike="noStrike">
              <a:solidFill>
                <a:srgbClr val="000000"/>
              </a:solidFill>
              <a:effectLst/>
              <a:uFillTx/>
              <a:latin typeface="Arial"/>
            </a:endParaRPr>
          </a:p>
        </p:txBody>
      </p:sp>
      <p:sp>
        <p:nvSpPr>
          <p:cNvPr id="212" name="Shape 13"/>
          <p:cNvSpPr/>
          <p:nvPr/>
        </p:nvSpPr>
        <p:spPr>
          <a:xfrm>
            <a:off x="7048440" y="3035880"/>
            <a:ext cx="1553760" cy="9237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13" name="Text 14"/>
          <p:cNvSpPr/>
          <p:nvPr/>
        </p:nvSpPr>
        <p:spPr>
          <a:xfrm>
            <a:off x="7139880" y="3035880"/>
            <a:ext cx="1370880" cy="92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400" b="1" u="none" strike="noStrike">
                <a:solidFill>
                  <a:srgbClr val="1b2148"/>
                </a:solidFill>
                <a:effectLst/>
                <a:uFillTx/>
                <a:latin typeface="Calibri"/>
                <a:ea typeface="Calibri"/>
              </a:rPr>
              <a:t>Ekspozycja na środowiska wysokiego ryzyka</a:t>
            </a:r>
            <a:endParaRPr lang="pl-PL" sz="1400" b="0" u="none" strike="noStrike">
              <a:solidFill>
                <a:srgbClr val="000000"/>
              </a:solidFill>
              <a:effectLst/>
              <a:uFillTx/>
              <a:latin typeface="Arial"/>
            </a:endParaRPr>
          </a:p>
        </p:txBody>
      </p:sp>
      <p:sp>
        <p:nvSpPr>
          <p:cNvPr id="214" name="Shape 15"/>
          <p:cNvSpPr/>
          <p:nvPr/>
        </p:nvSpPr>
        <p:spPr>
          <a:xfrm>
            <a:off x="502920" y="4182840"/>
            <a:ext cx="8137440" cy="410760"/>
          </a:xfrm>
          <a:prstGeom prst="roundRect">
            <a:avLst>
              <a:gd name="adj" fmla="val 20000"/>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15" name="Text 16"/>
          <p:cNvSpPr/>
          <p:nvPr/>
        </p:nvSpPr>
        <p:spPr>
          <a:xfrm>
            <a:off x="731520" y="4182840"/>
            <a:ext cx="7680240" cy="41076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600" b="0" u="none" strike="noStrike">
                <a:solidFill>
                  <a:srgbClr val="ffffff"/>
                </a:solidFill>
                <a:effectLst/>
                <a:uFillTx/>
                <a:latin typeface="Calibri"/>
                <a:ea typeface="Calibri"/>
              </a:rPr>
              <a:t>ADHD samo w sobie nie tłumaczy przestępczości, ale wyjaśnia ją kumulacja czynników ryzyka</a:t>
            </a:r>
            <a:endParaRPr lang="pl-PL" sz="1600" b="0" u="none" strike="noStrike">
              <a:solidFill>
                <a:srgbClr val="000000"/>
              </a:solidFill>
              <a:effectLst/>
              <a:uFillTx/>
              <a:latin typeface="Arial"/>
            </a:endParaRPr>
          </a:p>
        </p:txBody>
      </p:sp>
      <p:sp>
        <p:nvSpPr>
          <p:cNvPr id="216" name="Text 17"/>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14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7"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PRZESTĘPCZOŚĆ · EFEKT LECZENIA</a:t>
            </a:r>
            <a:endParaRPr lang="pl-PL" sz="1100" b="0" u="none" strike="noStrike">
              <a:solidFill>
                <a:srgbClr val="000000"/>
              </a:solidFill>
              <a:effectLst/>
              <a:uFillTx/>
              <a:latin typeface="Arial"/>
            </a:endParaRPr>
          </a:p>
        </p:txBody>
      </p:sp>
      <p:sp>
        <p:nvSpPr>
          <p:cNvPr id="218"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Farmakoterapia ADHD, a ryzyko skazania</a:t>
            </a:r>
            <a:endParaRPr lang="pl-PL" sz="2200" b="0" u="none" strike="noStrike">
              <a:solidFill>
                <a:srgbClr val="000000"/>
              </a:solidFill>
              <a:effectLst/>
              <a:uFillTx/>
              <a:latin typeface="Arial"/>
            </a:endParaRPr>
          </a:p>
        </p:txBody>
      </p:sp>
      <p:sp>
        <p:nvSpPr>
          <p:cNvPr id="219"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Badanie rejestrowe (Szwecja); analiza wewnątrzosobnicza: te same osoby w okresach leczenia i bez leczenia</a:t>
            </a:r>
            <a:endParaRPr lang="pl-PL" sz="1200" b="0" u="none" strike="noStrike">
              <a:solidFill>
                <a:srgbClr val="000000"/>
              </a:solidFill>
              <a:effectLst/>
              <a:uFillTx/>
              <a:latin typeface="Arial"/>
            </a:endParaRPr>
          </a:p>
        </p:txBody>
      </p:sp>
      <p:sp>
        <p:nvSpPr>
          <p:cNvPr id="220" name="Shape 3"/>
          <p:cNvSpPr/>
          <p:nvPr/>
        </p:nvSpPr>
        <p:spPr>
          <a:xfrm>
            <a:off x="1812240" y="1675080"/>
            <a:ext cx="3796200" cy="1370880"/>
          </a:xfrm>
          <a:prstGeom prst="rect">
            <a:avLst/>
          </a:prstGeom>
          <a:solidFill>
            <a:srgbClr val="f4f6fa"/>
          </a:solidFill>
          <a:ln w="936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21" name="Shape 4"/>
          <p:cNvSpPr/>
          <p:nvPr/>
        </p:nvSpPr>
        <p:spPr>
          <a:xfrm>
            <a:off x="5608080" y="1692000"/>
            <a:ext cx="360" cy="1371600"/>
          </a:xfrm>
          <a:prstGeom prst="line">
            <a:avLst/>
          </a:prstGeom>
          <a:ln w="15840">
            <a:solidFill>
              <a:srgbClr val="96a0bc"/>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22" name="Text 5"/>
          <p:cNvSpPr/>
          <p:nvPr/>
        </p:nvSpPr>
        <p:spPr>
          <a:xfrm>
            <a:off x="502920" y="1711800"/>
            <a:ext cx="128844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1b2148"/>
                </a:solidFill>
                <a:effectLst/>
                <a:uFillTx/>
                <a:latin typeface="Calibri"/>
                <a:ea typeface="Calibri"/>
              </a:rPr>
              <a:t>Mężczyźni</a:t>
            </a:r>
            <a:endParaRPr lang="pl-PL" sz="2000" b="0" u="none" strike="noStrike">
              <a:solidFill>
                <a:srgbClr val="000000"/>
              </a:solidFill>
              <a:effectLst/>
              <a:uFillTx/>
              <a:latin typeface="Arial"/>
            </a:endParaRPr>
          </a:p>
        </p:txBody>
      </p:sp>
      <p:sp>
        <p:nvSpPr>
          <p:cNvPr id="223" name="Shape 6"/>
          <p:cNvSpPr/>
          <p:nvPr/>
        </p:nvSpPr>
        <p:spPr>
          <a:xfrm>
            <a:off x="3669840" y="2017800"/>
            <a:ext cx="807840" cy="360"/>
          </a:xfrm>
          <a:prstGeom prst="line">
            <a:avLst/>
          </a:prstGeom>
          <a:ln w="28440">
            <a:solidFill>
              <a:srgbClr val="1b2148"/>
            </a:solidFill>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224" name="Shape 7"/>
          <p:cNvSpPr/>
          <p:nvPr/>
        </p:nvSpPr>
        <p:spPr>
          <a:xfrm>
            <a:off x="3669840" y="1953720"/>
            <a:ext cx="360" cy="128160"/>
          </a:xfrm>
          <a:prstGeom prst="line">
            <a:avLst/>
          </a:prstGeom>
          <a:ln w="19080">
            <a:solidFill>
              <a:srgbClr val="1b2148"/>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25" name="Shape 8"/>
          <p:cNvSpPr/>
          <p:nvPr/>
        </p:nvSpPr>
        <p:spPr>
          <a:xfrm>
            <a:off x="4477680" y="1953720"/>
            <a:ext cx="360" cy="128160"/>
          </a:xfrm>
          <a:prstGeom prst="line">
            <a:avLst/>
          </a:prstGeom>
          <a:ln w="19080">
            <a:solidFill>
              <a:srgbClr val="1b2148"/>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26" name="Shape 9"/>
          <p:cNvSpPr/>
          <p:nvPr/>
        </p:nvSpPr>
        <p:spPr>
          <a:xfrm>
            <a:off x="4005360" y="1949400"/>
            <a:ext cx="136440" cy="136440"/>
          </a:xfrm>
          <a:prstGeom prst="ellipse">
            <a:avLst/>
          </a:prstGeom>
          <a:solidFill>
            <a:srgbClr val="1b2148"/>
          </a:solidFill>
          <a:ln w="15840">
            <a:solidFill>
              <a:srgbClr val="ffff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27" name="Text 10"/>
          <p:cNvSpPr/>
          <p:nvPr/>
        </p:nvSpPr>
        <p:spPr>
          <a:xfrm>
            <a:off x="5760000" y="1747800"/>
            <a:ext cx="3239640" cy="55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000000"/>
                </a:solidFill>
                <a:effectLst/>
                <a:uFillTx/>
                <a:latin typeface="Calibri"/>
                <a:ea typeface="Calibri"/>
              </a:rPr>
              <a:t>HR 0,68 </a:t>
            </a:r>
            <a:r>
              <a:rPr lang="pl-PL" sz="1400" b="0" u="none" strike="noStrike">
                <a:solidFill>
                  <a:srgbClr val="666666"/>
                </a:solidFill>
                <a:effectLst/>
                <a:uFillTx/>
                <a:latin typeface="Calibri"/>
                <a:ea typeface="Calibri"/>
              </a:rPr>
              <a:t>[0,63–0,73]</a:t>
            </a:r>
            <a:r>
              <a:rPr lang="pl-PL" sz="1400" b="0" u="none" strike="noStrike">
                <a:solidFill>
                  <a:srgbClr val="000000"/>
                </a:solidFill>
                <a:effectLst/>
                <a:uFillTx/>
                <a:latin typeface="Calibri"/>
                <a:ea typeface="Calibri"/>
              </a:rPr>
              <a:t>  →  </a:t>
            </a:r>
            <a:r>
              <a:rPr lang="pl-PL" sz="1400" b="1" u="none" strike="noStrike">
                <a:solidFill>
                  <a:srgbClr val="000000"/>
                </a:solidFill>
                <a:effectLst/>
                <a:uFillTx/>
                <a:latin typeface="Calibri"/>
                <a:ea typeface="Calibri"/>
              </a:rPr>
              <a:t>32%</a:t>
            </a:r>
            <a:r>
              <a:rPr lang="pl-PL" sz="1400" b="0" u="none" strike="noStrike">
                <a:solidFill>
                  <a:srgbClr val="000000"/>
                </a:solidFill>
                <a:effectLst/>
                <a:uFillTx/>
                <a:latin typeface="Calibri"/>
                <a:ea typeface="Calibri"/>
              </a:rPr>
              <a:t> </a:t>
            </a:r>
            <a:r>
              <a:rPr lang="pl-PL" sz="1400" b="1" u="none" strike="noStrike">
                <a:solidFill>
                  <a:srgbClr val="000000"/>
                </a:solidFill>
                <a:effectLst/>
                <a:uFillTx/>
                <a:latin typeface="Calibri"/>
                <a:ea typeface="Calibri"/>
              </a:rPr>
              <a:t>niższe ryzyko</a:t>
            </a:r>
            <a:endParaRPr lang="pl-PL" sz="1400" b="0" u="none" strike="noStrike">
              <a:solidFill>
                <a:srgbClr val="000000"/>
              </a:solidFill>
              <a:effectLst/>
              <a:uFillTx/>
              <a:latin typeface="Arial"/>
            </a:endParaRPr>
          </a:p>
        </p:txBody>
      </p:sp>
      <p:sp>
        <p:nvSpPr>
          <p:cNvPr id="228" name="Text 11"/>
          <p:cNvSpPr/>
          <p:nvPr/>
        </p:nvSpPr>
        <p:spPr>
          <a:xfrm>
            <a:off x="502920" y="2397600"/>
            <a:ext cx="128844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1b2148"/>
                </a:solidFill>
                <a:effectLst/>
                <a:uFillTx/>
                <a:latin typeface="Calibri"/>
                <a:ea typeface="Calibri"/>
              </a:rPr>
              <a:t>Kobiety</a:t>
            </a:r>
            <a:endParaRPr lang="pl-PL" sz="2000" b="0" u="none" strike="noStrike">
              <a:solidFill>
                <a:srgbClr val="000000"/>
              </a:solidFill>
              <a:effectLst/>
              <a:uFillTx/>
              <a:latin typeface="Arial"/>
            </a:endParaRPr>
          </a:p>
        </p:txBody>
      </p:sp>
      <p:sp>
        <p:nvSpPr>
          <p:cNvPr id="229" name="Shape 12"/>
          <p:cNvSpPr/>
          <p:nvPr/>
        </p:nvSpPr>
        <p:spPr>
          <a:xfrm>
            <a:off x="2619720" y="2703600"/>
            <a:ext cx="1472040" cy="0"/>
          </a:xfrm>
          <a:prstGeom prst="line">
            <a:avLst/>
          </a:prstGeom>
          <a:ln w="28440">
            <a:solidFill>
              <a:srgbClr val="e8743a"/>
            </a:solidFill>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230" name="Shape 13"/>
          <p:cNvSpPr/>
          <p:nvPr/>
        </p:nvSpPr>
        <p:spPr>
          <a:xfrm>
            <a:off x="2619720" y="2639520"/>
            <a:ext cx="360" cy="128160"/>
          </a:xfrm>
          <a:prstGeom prst="line">
            <a:avLst/>
          </a:prstGeom>
          <a:ln w="19080">
            <a:solidFill>
              <a:srgbClr val="e8743a"/>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31" name="Shape 14"/>
          <p:cNvSpPr/>
          <p:nvPr/>
        </p:nvSpPr>
        <p:spPr>
          <a:xfrm>
            <a:off x="4091400" y="2639520"/>
            <a:ext cx="360" cy="128160"/>
          </a:xfrm>
          <a:prstGeom prst="line">
            <a:avLst/>
          </a:prstGeom>
          <a:ln w="19080">
            <a:solidFill>
              <a:srgbClr val="e8743a"/>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32" name="Shape 15"/>
          <p:cNvSpPr/>
          <p:nvPr/>
        </p:nvSpPr>
        <p:spPr>
          <a:xfrm>
            <a:off x="3278160" y="2635200"/>
            <a:ext cx="136440" cy="136440"/>
          </a:xfrm>
          <a:prstGeom prst="ellipse">
            <a:avLst/>
          </a:prstGeom>
          <a:solidFill>
            <a:srgbClr val="e8743a"/>
          </a:solidFill>
          <a:ln w="15840">
            <a:solidFill>
              <a:srgbClr val="ffff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33" name="Text 16"/>
          <p:cNvSpPr/>
          <p:nvPr/>
        </p:nvSpPr>
        <p:spPr>
          <a:xfrm>
            <a:off x="5760000" y="2365200"/>
            <a:ext cx="3239640" cy="55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000000"/>
                </a:solidFill>
                <a:effectLst/>
                <a:uFillTx/>
                <a:latin typeface="Calibri"/>
                <a:ea typeface="Calibri"/>
              </a:rPr>
              <a:t>HR 0,59 </a:t>
            </a:r>
            <a:r>
              <a:rPr lang="pl-PL" sz="1400" b="0" u="none" strike="noStrike">
                <a:solidFill>
                  <a:srgbClr val="666666"/>
                </a:solidFill>
                <a:effectLst/>
                <a:uFillTx/>
                <a:latin typeface="Calibri"/>
                <a:ea typeface="Calibri"/>
              </a:rPr>
              <a:t>[0,50–0,70]</a:t>
            </a:r>
            <a:r>
              <a:rPr lang="pl-PL" sz="1400" b="0" u="none" strike="noStrike">
                <a:solidFill>
                  <a:srgbClr val="000000"/>
                </a:solidFill>
                <a:effectLst/>
                <a:uFillTx/>
                <a:latin typeface="Calibri"/>
                <a:ea typeface="Calibri"/>
              </a:rPr>
              <a:t>  →  </a:t>
            </a:r>
            <a:r>
              <a:rPr lang="pl-PL" sz="1400" b="1" u="none" strike="noStrike">
                <a:solidFill>
                  <a:srgbClr val="000000"/>
                </a:solidFill>
                <a:effectLst/>
                <a:uFillTx/>
                <a:latin typeface="Calibri"/>
                <a:ea typeface="Calibri"/>
              </a:rPr>
              <a:t>41%</a:t>
            </a:r>
            <a:r>
              <a:rPr lang="pl-PL" sz="1400" b="0" u="none" strike="noStrike">
                <a:solidFill>
                  <a:srgbClr val="000000"/>
                </a:solidFill>
                <a:effectLst/>
                <a:uFillTx/>
                <a:latin typeface="Calibri"/>
                <a:ea typeface="Calibri"/>
              </a:rPr>
              <a:t> </a:t>
            </a:r>
            <a:r>
              <a:rPr lang="pl-PL" sz="1400" b="1" u="none" strike="noStrike">
                <a:solidFill>
                  <a:srgbClr val="000000"/>
                </a:solidFill>
                <a:effectLst/>
                <a:uFillTx/>
                <a:latin typeface="Calibri"/>
                <a:ea typeface="Calibri"/>
              </a:rPr>
              <a:t>niższe ryzyko</a:t>
            </a:r>
            <a:endParaRPr lang="pl-PL" sz="1400" b="0" u="none" strike="noStrike">
              <a:solidFill>
                <a:srgbClr val="000000"/>
              </a:solidFill>
              <a:effectLst/>
              <a:uFillTx/>
              <a:latin typeface="Arial"/>
            </a:endParaRPr>
          </a:p>
        </p:txBody>
      </p:sp>
      <p:sp>
        <p:nvSpPr>
          <p:cNvPr id="234" name="Text 17"/>
          <p:cNvSpPr/>
          <p:nvPr/>
        </p:nvSpPr>
        <p:spPr>
          <a:xfrm>
            <a:off x="1864080" y="2827800"/>
            <a:ext cx="5479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000000"/>
                </a:solidFill>
                <a:effectLst/>
                <a:uFillTx/>
                <a:latin typeface="Calibri"/>
                <a:ea typeface="Calibri"/>
              </a:rPr>
              <a:t>0.4</a:t>
            </a:r>
            <a:endParaRPr lang="pl-PL" sz="1400" b="0" u="none" strike="noStrike">
              <a:solidFill>
                <a:srgbClr val="000000"/>
              </a:solidFill>
              <a:effectLst/>
              <a:uFillTx/>
              <a:latin typeface="Arial"/>
            </a:endParaRPr>
          </a:p>
        </p:txBody>
      </p:sp>
      <p:sp>
        <p:nvSpPr>
          <p:cNvPr id="235" name="Text 18"/>
          <p:cNvSpPr/>
          <p:nvPr/>
        </p:nvSpPr>
        <p:spPr>
          <a:xfrm>
            <a:off x="4968000" y="3090960"/>
            <a:ext cx="1279440" cy="182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000000"/>
                </a:solidFill>
                <a:effectLst/>
                <a:uFillTx/>
                <a:latin typeface="Calibri"/>
                <a:ea typeface="Calibri"/>
              </a:rPr>
              <a:t>brak efektu (1)</a:t>
            </a:r>
            <a:endParaRPr lang="pl-PL" sz="1200" b="0" u="none" strike="noStrike">
              <a:solidFill>
                <a:srgbClr val="000000"/>
              </a:solidFill>
              <a:effectLst/>
              <a:uFillTx/>
              <a:latin typeface="Arial"/>
            </a:endParaRPr>
          </a:p>
        </p:txBody>
      </p:sp>
      <p:sp>
        <p:nvSpPr>
          <p:cNvPr id="236" name="Text 19"/>
          <p:cNvSpPr/>
          <p:nvPr/>
        </p:nvSpPr>
        <p:spPr>
          <a:xfrm>
            <a:off x="5023800" y="2880000"/>
            <a:ext cx="5479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1050" b="0" u="none" strike="noStrike">
                <a:solidFill>
                  <a:srgbClr val="000000"/>
                </a:solidFill>
                <a:effectLst/>
                <a:uFillTx/>
                <a:latin typeface="Calibri"/>
                <a:ea typeface="Calibri"/>
              </a:rPr>
              <a:t>1</a:t>
            </a:r>
            <a:endParaRPr lang="pl-PL" sz="1050" b="0" u="none" strike="noStrike">
              <a:solidFill>
                <a:srgbClr val="000000"/>
              </a:solidFill>
              <a:effectLst/>
              <a:uFillTx/>
              <a:latin typeface="Arial"/>
            </a:endParaRPr>
          </a:p>
        </p:txBody>
      </p:sp>
      <p:sp>
        <p:nvSpPr>
          <p:cNvPr id="237" name="Shape 20"/>
          <p:cNvSpPr/>
          <p:nvPr/>
        </p:nvSpPr>
        <p:spPr>
          <a:xfrm>
            <a:off x="540000" y="3600360"/>
            <a:ext cx="3636720" cy="971280"/>
          </a:xfrm>
          <a:prstGeom prst="roundRect">
            <a:avLst>
              <a:gd name="adj" fmla="val 7826"/>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38" name="Text 21"/>
          <p:cNvSpPr/>
          <p:nvPr/>
        </p:nvSpPr>
        <p:spPr>
          <a:xfrm>
            <a:off x="722880" y="3600360"/>
            <a:ext cx="3453840" cy="971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000000"/>
                </a:solidFill>
                <a:effectLst/>
                <a:uFillTx/>
                <a:latin typeface="Calibri"/>
                <a:ea typeface="Calibri"/>
              </a:rPr>
              <a:t>N = 25 656 </a:t>
            </a:r>
            <a:r>
              <a:rPr lang="pl-PL" sz="1600" b="0" u="none" strike="noStrike">
                <a:solidFill>
                  <a:srgbClr val="000000"/>
                </a:solidFill>
                <a:effectLst/>
                <a:uFillTx/>
                <a:latin typeface="Calibri"/>
                <a:ea typeface="Calibri"/>
              </a:rPr>
              <a:t>osób z ADHD</a:t>
            </a:r>
            <a:endParaRPr lang="pl-PL" sz="1600" b="0" u="none" strike="noStrike">
              <a:solidFill>
                <a:srgbClr val="000000"/>
              </a:solidFill>
              <a:effectLst/>
              <a:uFillTx/>
              <a:latin typeface="Arial"/>
            </a:endParaRPr>
          </a:p>
          <a:p>
            <a:pPr defTabSz="914400">
              <a:lnSpc>
                <a:spcPct val="100000"/>
              </a:lnSpc>
              <a:tabLst>
                <a:tab algn="l" pos="0"/>
              </a:tabLst>
            </a:pPr>
            <a:r>
              <a:rPr lang="pl-PL" sz="1600" b="0" u="none" strike="noStrike">
                <a:solidFill>
                  <a:srgbClr val="000000"/>
                </a:solidFill>
                <a:effectLst/>
                <a:uFillTx/>
                <a:latin typeface="Calibri"/>
                <a:ea typeface="Calibri"/>
              </a:rPr>
              <a:t>porównanie tych samych osób </a:t>
            </a:r>
            <a:br>
              <a:rPr sz="1600"/>
            </a:br>
            <a:r>
              <a:rPr lang="pl-PL" sz="1600" b="0" u="none" strike="noStrike">
                <a:solidFill>
                  <a:srgbClr val="000000"/>
                </a:solidFill>
                <a:effectLst/>
                <a:uFillTx/>
                <a:latin typeface="Calibri"/>
                <a:ea typeface="Calibri"/>
              </a:rPr>
              <a:t>w okresach leczenia i bez leczenia</a:t>
            </a:r>
            <a:endParaRPr lang="pl-PL" sz="1600" b="0" u="none" strike="noStrike">
              <a:solidFill>
                <a:srgbClr val="000000"/>
              </a:solidFill>
              <a:effectLst/>
              <a:uFillTx/>
              <a:latin typeface="Arial"/>
            </a:endParaRPr>
          </a:p>
        </p:txBody>
      </p:sp>
      <p:sp>
        <p:nvSpPr>
          <p:cNvPr id="239" name="Shape 22"/>
          <p:cNvSpPr/>
          <p:nvPr/>
        </p:nvSpPr>
        <p:spPr>
          <a:xfrm>
            <a:off x="4357080" y="3600360"/>
            <a:ext cx="4426560" cy="971280"/>
          </a:xfrm>
          <a:prstGeom prst="roundRect">
            <a:avLst>
              <a:gd name="adj" fmla="val 7826"/>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0" name="Text 23"/>
          <p:cNvSpPr/>
          <p:nvPr/>
        </p:nvSpPr>
        <p:spPr>
          <a:xfrm>
            <a:off x="4501080" y="3600360"/>
            <a:ext cx="4175640" cy="971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0" u="none" strike="noStrike">
                <a:solidFill>
                  <a:srgbClr val="000000"/>
                </a:solidFill>
                <a:effectLst/>
                <a:uFillTx/>
                <a:latin typeface="Calibri"/>
                <a:ea typeface="Calibri"/>
              </a:rPr>
              <a:t>Konstrukcja wewnątrz-osobnicza ogranicza wpływ stałych cech jednostki, ale nie eliminuje wszystkich zmiennych zależnych od czasu</a:t>
            </a:r>
            <a:endParaRPr lang="pl-PL" sz="1600" b="0" u="none" strike="noStrike">
              <a:solidFill>
                <a:srgbClr val="000000"/>
              </a:solidFill>
              <a:effectLst/>
              <a:uFillTx/>
              <a:latin typeface="Arial"/>
            </a:endParaRPr>
          </a:p>
        </p:txBody>
      </p:sp>
      <p:sp>
        <p:nvSpPr>
          <p:cNvPr id="241" name="Text 24"/>
          <p:cNvSpPr/>
          <p:nvPr/>
        </p:nvSpPr>
        <p:spPr>
          <a:xfrm>
            <a:off x="396000" y="4645080"/>
            <a:ext cx="8640000" cy="214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i="1" u="none" strike="noStrike">
                <a:solidFill>
                  <a:srgbClr val="000000"/>
                </a:solidFill>
                <a:effectLst/>
                <a:uFillTx/>
                <a:latin typeface="Calibri"/>
                <a:ea typeface="Calibri"/>
              </a:rPr>
              <a:t>Źródło: Lichtenstein, P., et al. (2012). Medication for attention deficit–hyperactivity disorder and criminality. The New England Journal of Medicine, 367(21), 2006–2014</a:t>
            </a:r>
            <a:endParaRPr lang="pl-PL" sz="1000" b="0" u="none" strike="noStrike">
              <a:solidFill>
                <a:srgbClr val="000000"/>
              </a:solidFill>
              <a:effectLst/>
              <a:uFillTx/>
              <a:latin typeface="Arial"/>
            </a:endParaRPr>
          </a:p>
        </p:txBody>
      </p:sp>
      <p:sp>
        <p:nvSpPr>
          <p:cNvPr id="242" name="Text 2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15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3"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EDUKACJA</a:t>
            </a:r>
            <a:endParaRPr lang="pl-PL" sz="1100" b="0" u="none" strike="noStrike">
              <a:solidFill>
                <a:srgbClr val="000000"/>
              </a:solidFill>
              <a:effectLst/>
              <a:uFillTx/>
              <a:latin typeface="Arial"/>
            </a:endParaRPr>
          </a:p>
        </p:txBody>
      </p:sp>
      <p:sp>
        <p:nvSpPr>
          <p:cNvPr id="244"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Edukacja: </a:t>
            </a:r>
            <a:r>
              <a:rPr lang="pl-PL" sz="2200" b="0" u="none" strike="noStrike">
                <a:solidFill>
                  <a:srgbClr val="1b2148"/>
                </a:solidFill>
                <a:effectLst/>
                <a:uFillTx/>
                <a:latin typeface="Cambria"/>
                <a:ea typeface="Cambria"/>
              </a:rPr>
              <a:t>rozbieżność między potencjałem a realizacją</a:t>
            </a:r>
            <a:endParaRPr lang="pl-PL" sz="2200" b="0" u="none" strike="noStrike">
              <a:solidFill>
                <a:srgbClr val="000000"/>
              </a:solidFill>
              <a:effectLst/>
              <a:uFillTx/>
              <a:latin typeface="Arial"/>
            </a:endParaRPr>
          </a:p>
        </p:txBody>
      </p:sp>
      <p:sp>
        <p:nvSpPr>
          <p:cNvPr id="245"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Trudności nie wynikają przede wszystkim z niższej inteligencji</a:t>
            </a:r>
            <a:endParaRPr lang="pl-PL" sz="1200" b="0" u="none" strike="noStrike">
              <a:solidFill>
                <a:srgbClr val="000000"/>
              </a:solidFill>
              <a:effectLst/>
              <a:uFillTx/>
              <a:latin typeface="Arial"/>
            </a:endParaRPr>
          </a:p>
        </p:txBody>
      </p:sp>
      <p:sp>
        <p:nvSpPr>
          <p:cNvPr id="246" name="Shape 3"/>
          <p:cNvSpPr/>
          <p:nvPr/>
        </p:nvSpPr>
        <p:spPr>
          <a:xfrm>
            <a:off x="502920" y="1645920"/>
            <a:ext cx="3817080" cy="2285280"/>
          </a:xfrm>
          <a:prstGeom prst="roundRect">
            <a:avLst>
              <a:gd name="adj" fmla="val 3600"/>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47" name="Text 4"/>
          <p:cNvSpPr/>
          <p:nvPr/>
        </p:nvSpPr>
        <p:spPr>
          <a:xfrm>
            <a:off x="641160" y="1702440"/>
            <a:ext cx="324684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a12e3c"/>
                </a:solidFill>
                <a:effectLst/>
                <a:uFillTx/>
                <a:latin typeface="Cambria"/>
                <a:ea typeface="Cambria"/>
              </a:rPr>
              <a:t>Obserwowane konsekwencje</a:t>
            </a:r>
            <a:endParaRPr lang="pl-PL" sz="1800" b="0" u="none" strike="noStrike">
              <a:solidFill>
                <a:srgbClr val="000000"/>
              </a:solidFill>
              <a:effectLst/>
              <a:uFillTx/>
              <a:latin typeface="Arial"/>
            </a:endParaRPr>
          </a:p>
        </p:txBody>
      </p:sp>
      <p:sp>
        <p:nvSpPr>
          <p:cNvPr id="248" name="Text 5"/>
          <p:cNvSpPr/>
          <p:nvPr/>
        </p:nvSpPr>
        <p:spPr>
          <a:xfrm>
            <a:off x="641160" y="2212920"/>
            <a:ext cx="3534840" cy="16452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Niższe oceny i większa absencja</a:t>
            </a:r>
            <a:endParaRPr lang="pl-PL" sz="14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Częstsze powtarzanie klasy</a:t>
            </a:r>
            <a:endParaRPr lang="pl-PL" sz="14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Większe wykorzystanie wsparcia specjalistycznego</a:t>
            </a:r>
            <a:endParaRPr lang="pl-PL" sz="14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Wyższe ryzyko przerwania edukacji</a:t>
            </a:r>
            <a:endParaRPr lang="pl-PL" sz="1400" b="0" u="none" strike="noStrike">
              <a:solidFill>
                <a:srgbClr val="000000"/>
              </a:solidFill>
              <a:effectLst/>
              <a:uFillTx/>
              <a:latin typeface="Arial"/>
            </a:endParaRPr>
          </a:p>
        </p:txBody>
      </p:sp>
      <p:sp>
        <p:nvSpPr>
          <p:cNvPr id="249" name="Shape 6"/>
          <p:cNvSpPr/>
          <p:nvPr/>
        </p:nvSpPr>
        <p:spPr>
          <a:xfrm>
            <a:off x="4499640" y="1645920"/>
            <a:ext cx="4140360" cy="2285280"/>
          </a:xfrm>
          <a:prstGeom prst="roundRect">
            <a:avLst>
              <a:gd name="adj" fmla="val 3600"/>
            </a:avLst>
          </a:prstGeom>
          <a:solidFill>
            <a:srgbClr val="def2ef"/>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0" name="Text 7"/>
          <p:cNvSpPr/>
          <p:nvPr/>
        </p:nvSpPr>
        <p:spPr>
          <a:xfrm>
            <a:off x="4608000" y="1702440"/>
            <a:ext cx="393912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146b65"/>
                </a:solidFill>
                <a:effectLst/>
                <a:uFillTx/>
                <a:latin typeface="Cambria"/>
                <a:ea typeface="Cambria"/>
              </a:rPr>
              <a:t>Co naprawdę pomaga</a:t>
            </a:r>
            <a:endParaRPr lang="pl-PL" sz="1800" b="0" u="none" strike="noStrike">
              <a:solidFill>
                <a:srgbClr val="000000"/>
              </a:solidFill>
              <a:effectLst/>
              <a:uFillTx/>
              <a:latin typeface="Arial"/>
            </a:endParaRPr>
          </a:p>
        </p:txBody>
      </p:sp>
      <p:sp>
        <p:nvSpPr>
          <p:cNvPr id="251" name="Text 8"/>
          <p:cNvSpPr/>
          <p:nvPr/>
        </p:nvSpPr>
        <p:spPr>
          <a:xfrm>
            <a:off x="4644000" y="2212920"/>
            <a:ext cx="3887640" cy="16452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Farmakoterapia poprawia uwagę i hamowanie reakcji</a:t>
            </a:r>
            <a:endParaRPr lang="pl-PL" sz="14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...lecz wpływ na wyniki edukacyjne jest mniejszy niż na same objawy</a:t>
            </a:r>
            <a:endParaRPr lang="pl-PL" sz="14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400" b="0" u="none" strike="noStrike">
                <a:solidFill>
                  <a:srgbClr val="1b2148"/>
                </a:solidFill>
                <a:effectLst/>
                <a:uFillTx/>
                <a:latin typeface="Calibri"/>
                <a:ea typeface="Calibri"/>
              </a:rPr>
              <a:t>Najlepsze efekty: leczenie + trening organizacji + zewnętrzne terminy + dostosowania edukacyjne</a:t>
            </a:r>
            <a:endParaRPr lang="pl-PL" sz="1400" b="0" u="none" strike="noStrike">
              <a:solidFill>
                <a:srgbClr val="000000"/>
              </a:solidFill>
              <a:effectLst/>
              <a:uFillTx/>
              <a:latin typeface="Arial"/>
            </a:endParaRPr>
          </a:p>
        </p:txBody>
      </p:sp>
      <p:sp>
        <p:nvSpPr>
          <p:cNvPr id="252" name="Shape 9"/>
          <p:cNvSpPr/>
          <p:nvPr/>
        </p:nvSpPr>
        <p:spPr>
          <a:xfrm>
            <a:off x="502920" y="4114800"/>
            <a:ext cx="8137440" cy="744840"/>
          </a:xfrm>
          <a:prstGeom prst="roundRect">
            <a:avLst>
              <a:gd name="adj" fmla="val 14516"/>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253" name="Text 10"/>
          <p:cNvSpPr/>
          <p:nvPr/>
        </p:nvSpPr>
        <p:spPr>
          <a:xfrm>
            <a:off x="731520" y="4114800"/>
            <a:ext cx="7680240" cy="7448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800" b="0" i="1" u="none" strike="noStrike">
                <a:solidFill>
                  <a:srgbClr val="ffffff"/>
                </a:solidFill>
                <a:effectLst/>
                <a:uFillTx/>
                <a:latin typeface="Calibri"/>
                <a:ea typeface="Calibri"/>
              </a:rPr>
              <a:t>Kluczowa jest rozbieżność między potencjałem, a zdolnością </a:t>
            </a:r>
            <a:br>
              <a:rPr sz="1800"/>
            </a:br>
            <a:r>
              <a:rPr lang="pl-PL" sz="1800" b="0" i="1" u="none" strike="noStrike">
                <a:solidFill>
                  <a:srgbClr val="ffffff"/>
                </a:solidFill>
                <a:effectLst/>
                <a:uFillTx/>
                <a:latin typeface="Calibri"/>
                <a:ea typeface="Calibri"/>
              </a:rPr>
              <a:t>do systematycznej realizacji długotrwałych, wieloetapowych zadań.</a:t>
            </a:r>
            <a:endParaRPr lang="pl-PL" sz="1800" b="0" u="none" strike="noStrike">
              <a:solidFill>
                <a:srgbClr val="000000"/>
              </a:solidFill>
              <a:effectLst/>
              <a:uFillTx/>
              <a:latin typeface="Arial"/>
            </a:endParaRPr>
          </a:p>
        </p:txBody>
      </p:sp>
      <p:sp>
        <p:nvSpPr>
          <p:cNvPr id="254" name="Text 11"/>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16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5"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PRACA I DOCHODY</a:t>
            </a:r>
            <a:endParaRPr lang="pl-PL" sz="1100" b="0" u="none" strike="noStrike">
              <a:solidFill>
                <a:srgbClr val="000000"/>
              </a:solidFill>
              <a:effectLst/>
              <a:uFillTx/>
              <a:latin typeface="Arial"/>
            </a:endParaRPr>
          </a:p>
        </p:txBody>
      </p:sp>
      <p:sp>
        <p:nvSpPr>
          <p:cNvPr id="256"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Praca: </a:t>
            </a:r>
            <a:r>
              <a:rPr lang="pl-PL" sz="2200" b="0" u="none" strike="noStrike">
                <a:solidFill>
                  <a:srgbClr val="1b2148"/>
                </a:solidFill>
                <a:effectLst/>
                <a:uFillTx/>
                <a:latin typeface="Cambria"/>
                <a:ea typeface="Cambria"/>
              </a:rPr>
              <a:t>bezrobocie, rotacja i prezenteizm</a:t>
            </a:r>
            <a:endParaRPr lang="pl-PL" sz="2200" b="0" u="none" strike="noStrike">
              <a:solidFill>
                <a:srgbClr val="000000"/>
              </a:solidFill>
              <a:effectLst/>
              <a:uFillTx/>
              <a:latin typeface="Arial"/>
            </a:endParaRPr>
          </a:p>
        </p:txBody>
      </p:sp>
      <p:sp>
        <p:nvSpPr>
          <p:cNvPr id="257"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Prezenteizm: formalna obecność przy obniżonej wydajności</a:t>
            </a:r>
            <a:endParaRPr lang="pl-PL" sz="1200" b="0" u="none" strike="noStrike">
              <a:solidFill>
                <a:srgbClr val="000000"/>
              </a:solidFill>
              <a:effectLst/>
              <a:uFillTx/>
              <a:latin typeface="Arial"/>
            </a:endParaRPr>
          </a:p>
        </p:txBody>
      </p:sp>
      <p:sp>
        <p:nvSpPr>
          <p:cNvPr id="258" name="Shape 3"/>
          <p:cNvSpPr/>
          <p:nvPr/>
        </p:nvSpPr>
        <p:spPr>
          <a:xfrm>
            <a:off x="522720" y="1620000"/>
            <a:ext cx="3616920" cy="2651040"/>
          </a:xfrm>
          <a:prstGeom prst="roundRect">
            <a:avLst>
              <a:gd name="adj" fmla="val 3103"/>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59" name="Text 4"/>
          <p:cNvSpPr/>
          <p:nvPr/>
        </p:nvSpPr>
        <p:spPr>
          <a:xfrm>
            <a:off x="641160" y="1702440"/>
            <a:ext cx="34264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1b2148"/>
                </a:solidFill>
                <a:effectLst/>
                <a:uFillTx/>
                <a:latin typeface="Cambria"/>
                <a:ea typeface="Cambria"/>
              </a:rPr>
              <a:t>Typowe trudności w dorosłości</a:t>
            </a:r>
            <a:endParaRPr lang="pl-PL" sz="1800" b="0" u="none" strike="noStrike">
              <a:solidFill>
                <a:srgbClr val="000000"/>
              </a:solidFill>
              <a:effectLst/>
              <a:uFillTx/>
              <a:latin typeface="Arial"/>
            </a:endParaRPr>
          </a:p>
        </p:txBody>
      </p:sp>
      <p:sp>
        <p:nvSpPr>
          <p:cNvPr id="260" name="Text 5"/>
          <p:cNvSpPr/>
          <p:nvPr/>
        </p:nvSpPr>
        <p:spPr>
          <a:xfrm>
            <a:off x="684000" y="2212920"/>
            <a:ext cx="3239640" cy="20109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15000"/>
              </a:lnSpc>
              <a:spcAft>
                <a:spcPts val="1134"/>
              </a:spcAft>
              <a:buClr>
                <a:srgbClr val="1b2148"/>
              </a:buClr>
              <a:buFont typeface="Wingdings" charset="2"/>
              <a:buChar char=""/>
            </a:pPr>
            <a:r>
              <a:rPr lang="pl-PL" sz="1600" b="0" u="none" strike="noStrike">
                <a:solidFill>
                  <a:srgbClr val="1b2148"/>
                </a:solidFill>
                <a:effectLst/>
                <a:uFillTx/>
                <a:latin typeface="Calibri"/>
                <a:ea typeface="Calibri"/>
              </a:rPr>
              <a:t>Zwiększone ryzyko bezrobocia</a:t>
            </a:r>
            <a:endParaRPr lang="pl-PL" sz="1600" b="0" u="none" strike="noStrike">
              <a:solidFill>
                <a:srgbClr val="000000"/>
              </a:solidFill>
              <a:effectLst/>
              <a:uFillTx/>
              <a:latin typeface="Arial"/>
            </a:endParaRPr>
          </a:p>
          <a:p>
            <a:pPr marL="177840" indent="-177840" defTabSz="914400">
              <a:lnSpc>
                <a:spcPct val="115000"/>
              </a:lnSpc>
              <a:spcAft>
                <a:spcPts val="1134"/>
              </a:spcAft>
              <a:buClr>
                <a:srgbClr val="1b2148"/>
              </a:buClr>
              <a:buFont typeface="Wingdings" charset="2"/>
              <a:buChar char=""/>
            </a:pPr>
            <a:r>
              <a:rPr lang="pl-PL" sz="1600" b="0" u="none" strike="noStrike">
                <a:solidFill>
                  <a:srgbClr val="1b2148"/>
                </a:solidFill>
                <a:effectLst/>
                <a:uFillTx/>
                <a:latin typeface="Calibri"/>
                <a:ea typeface="Calibri"/>
              </a:rPr>
              <a:t>Częste zmiany pracy, spóźnienia</a:t>
            </a:r>
            <a:endParaRPr lang="pl-PL" sz="1600" b="0" u="none" strike="noStrike">
              <a:solidFill>
                <a:srgbClr val="000000"/>
              </a:solidFill>
              <a:effectLst/>
              <a:uFillTx/>
              <a:latin typeface="Arial"/>
            </a:endParaRPr>
          </a:p>
          <a:p>
            <a:pPr marL="177840" indent="-177840" defTabSz="914400">
              <a:lnSpc>
                <a:spcPct val="115000"/>
              </a:lnSpc>
              <a:spcAft>
                <a:spcPts val="1134"/>
              </a:spcAft>
              <a:buClr>
                <a:srgbClr val="1b2148"/>
              </a:buClr>
              <a:buFont typeface="Wingdings" charset="2"/>
              <a:buChar char=""/>
            </a:pPr>
            <a:r>
              <a:rPr lang="pl-PL" sz="1600" b="0" u="none" strike="noStrike">
                <a:solidFill>
                  <a:srgbClr val="1b2148"/>
                </a:solidFill>
                <a:effectLst/>
                <a:uFillTx/>
                <a:latin typeface="Calibri"/>
                <a:ea typeface="Calibri"/>
              </a:rPr>
              <a:t>Prezenteizm: przełączanie zadań,   odwlekanie, naprawianie błędów</a:t>
            </a:r>
            <a:endParaRPr lang="pl-PL" sz="1600" b="0" u="none" strike="noStrike">
              <a:solidFill>
                <a:srgbClr val="000000"/>
              </a:solidFill>
              <a:effectLst/>
              <a:uFillTx/>
              <a:latin typeface="Arial"/>
            </a:endParaRPr>
          </a:p>
          <a:p>
            <a:pPr marL="177840" indent="-177840" defTabSz="914400">
              <a:lnSpc>
                <a:spcPct val="115000"/>
              </a:lnSpc>
              <a:spcAft>
                <a:spcPts val="1134"/>
              </a:spcAft>
              <a:buClr>
                <a:srgbClr val="1b2148"/>
              </a:buClr>
              <a:buFont typeface="Wingdings" charset="2"/>
              <a:buChar char=""/>
            </a:pPr>
            <a:r>
              <a:rPr lang="pl-PL" sz="1600" b="0" u="none" strike="noStrike">
                <a:solidFill>
                  <a:srgbClr val="1b2148"/>
                </a:solidFill>
                <a:effectLst/>
                <a:uFillTx/>
                <a:latin typeface="Calibri"/>
                <a:ea typeface="Calibri"/>
              </a:rPr>
              <a:t>Konflikty i praca poniżej kwalifikacji</a:t>
            </a:r>
            <a:endParaRPr lang="pl-PL" sz="1600" b="0" u="none" strike="noStrike">
              <a:solidFill>
                <a:srgbClr val="000000"/>
              </a:solidFill>
              <a:effectLst/>
              <a:uFillTx/>
              <a:latin typeface="Arial"/>
            </a:endParaRPr>
          </a:p>
        </p:txBody>
      </p:sp>
      <p:sp>
        <p:nvSpPr>
          <p:cNvPr id="261" name="Shape 6"/>
          <p:cNvSpPr/>
          <p:nvPr/>
        </p:nvSpPr>
        <p:spPr>
          <a:xfrm>
            <a:off x="4320000" y="1645920"/>
            <a:ext cx="4320360" cy="2651040"/>
          </a:xfrm>
          <a:prstGeom prst="roundRect">
            <a:avLst>
              <a:gd name="adj" fmla="val 3103"/>
            </a:avLst>
          </a:prstGeom>
          <a:solidFill>
            <a:srgbClr val="def2ef"/>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62" name="Text 7"/>
          <p:cNvSpPr/>
          <p:nvPr/>
        </p:nvSpPr>
        <p:spPr>
          <a:xfrm>
            <a:off x="4392000" y="1630440"/>
            <a:ext cx="42116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800" b="1" u="none" strike="noStrike">
                <a:solidFill>
                  <a:srgbClr val="146b65"/>
                </a:solidFill>
                <a:effectLst/>
                <a:uFillTx/>
                <a:latin typeface="Cambria"/>
                <a:ea typeface="Cambria"/>
              </a:rPr>
              <a:t>ADHD nie wyklucza wysokich osiągnięć</a:t>
            </a:r>
            <a:endParaRPr lang="pl-PL" sz="1800" b="0" u="none" strike="noStrike">
              <a:solidFill>
                <a:srgbClr val="000000"/>
              </a:solidFill>
              <a:effectLst/>
              <a:uFillTx/>
              <a:latin typeface="Arial"/>
            </a:endParaRPr>
          </a:p>
        </p:txBody>
      </p:sp>
      <p:sp>
        <p:nvSpPr>
          <p:cNvPr id="263" name="Text 8"/>
          <p:cNvSpPr/>
          <p:nvPr/>
        </p:nvSpPr>
        <p:spPr>
          <a:xfrm>
            <a:off x="4500000" y="2395800"/>
            <a:ext cx="3939120" cy="137088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901"/>
              </a:spcAft>
              <a:buClr>
                <a:srgbClr val="1b2148"/>
              </a:buClr>
              <a:buFont typeface="Wingdings" charset="2"/>
              <a:buChar char=""/>
            </a:pPr>
            <a:r>
              <a:rPr lang="pl-PL" sz="1600" b="0" u="none" strike="noStrike">
                <a:solidFill>
                  <a:srgbClr val="1b2148"/>
                </a:solidFill>
                <a:effectLst/>
                <a:uFillTx/>
                <a:latin typeface="Calibri"/>
                <a:ea typeface="Calibri"/>
              </a:rPr>
              <a:t>Środowiska dynamiczne i autonomiczne</a:t>
            </a:r>
            <a:endParaRPr lang="pl-PL" sz="1600" b="0" u="none" strike="noStrike">
              <a:solidFill>
                <a:srgbClr val="000000"/>
              </a:solidFill>
              <a:effectLst/>
              <a:uFillTx/>
              <a:latin typeface="Arial"/>
            </a:endParaRPr>
          </a:p>
          <a:p>
            <a:pPr marL="177840" indent="-177840" defTabSz="914400">
              <a:lnSpc>
                <a:spcPct val="108000"/>
              </a:lnSpc>
              <a:spcAft>
                <a:spcPts val="901"/>
              </a:spcAft>
              <a:buClr>
                <a:srgbClr val="1b2148"/>
              </a:buClr>
              <a:buFont typeface="Wingdings" charset="2"/>
              <a:buChar char=""/>
            </a:pPr>
            <a:r>
              <a:rPr lang="pl-PL" sz="1600" b="0" u="none" strike="noStrike">
                <a:solidFill>
                  <a:srgbClr val="1b2148"/>
                </a:solidFill>
                <a:effectLst/>
                <a:uFillTx/>
                <a:latin typeface="Calibri"/>
                <a:ea typeface="Calibri"/>
              </a:rPr>
              <a:t>Szybkie informacje zwrotne</a:t>
            </a:r>
            <a:endParaRPr lang="pl-PL" sz="1600" b="0" u="none" strike="noStrike">
              <a:solidFill>
                <a:srgbClr val="000000"/>
              </a:solidFill>
              <a:effectLst/>
              <a:uFillTx/>
              <a:latin typeface="Arial"/>
            </a:endParaRPr>
          </a:p>
          <a:p>
            <a:pPr marL="177840" indent="-177840" defTabSz="914400">
              <a:lnSpc>
                <a:spcPct val="108000"/>
              </a:lnSpc>
              <a:spcAft>
                <a:spcPts val="901"/>
              </a:spcAft>
              <a:buClr>
                <a:srgbClr val="1b2148"/>
              </a:buClr>
              <a:buFont typeface="Wingdings" charset="2"/>
              <a:buChar char=""/>
            </a:pPr>
            <a:r>
              <a:rPr lang="pl-PL" sz="1600" b="0" u="none" strike="noStrike">
                <a:solidFill>
                  <a:srgbClr val="1b2148"/>
                </a:solidFill>
                <a:effectLst/>
                <a:uFillTx/>
                <a:latin typeface="Calibri"/>
                <a:ea typeface="Calibri"/>
              </a:rPr>
              <a:t>Praca zgodna z silnymi zainteresowaniami</a:t>
            </a:r>
            <a:endParaRPr lang="pl-PL" sz="1600" b="0" u="none" strike="noStrike">
              <a:solidFill>
                <a:srgbClr val="000000"/>
              </a:solidFill>
              <a:effectLst/>
              <a:uFillTx/>
              <a:latin typeface="Arial"/>
            </a:endParaRPr>
          </a:p>
        </p:txBody>
      </p:sp>
      <p:sp>
        <p:nvSpPr>
          <p:cNvPr id="264" name="Text 9"/>
          <p:cNvSpPr/>
          <p:nvPr/>
        </p:nvSpPr>
        <p:spPr>
          <a:xfrm>
            <a:off x="4464000" y="3703320"/>
            <a:ext cx="41191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i="1" u="none" strike="noStrike">
                <a:solidFill>
                  <a:srgbClr val="146b65"/>
                </a:solidFill>
                <a:effectLst/>
                <a:uFillTx/>
                <a:latin typeface="Calibri"/>
                <a:ea typeface="Calibri"/>
              </a:rPr>
              <a:t>Ryzyko rośnie w pracy monotonnej, słabo ustrukturyzowanej, wymagającej wielomiesięcznego samodzielnego planowania</a:t>
            </a:r>
            <a:endParaRPr lang="pl-PL" sz="1300" b="0" u="none" strike="noStrike">
              <a:solidFill>
                <a:srgbClr val="000000"/>
              </a:solidFill>
              <a:effectLst/>
              <a:uFillTx/>
              <a:latin typeface="Arial"/>
            </a:endParaRPr>
          </a:p>
        </p:txBody>
      </p:sp>
      <p:sp>
        <p:nvSpPr>
          <p:cNvPr id="265" name="Text 10"/>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17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BEZPIECZEŃSTWO</a:t>
            </a:r>
            <a:endParaRPr lang="pl-PL" sz="1100" b="0" u="none" strike="noStrike">
              <a:solidFill>
                <a:srgbClr val="000000"/>
              </a:solidFill>
              <a:effectLst/>
              <a:uFillTx/>
              <a:latin typeface="Arial"/>
            </a:endParaRPr>
          </a:p>
        </p:txBody>
      </p:sp>
      <p:sp>
        <p:nvSpPr>
          <p:cNvPr id="267"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Zwiększone ryzyko wypadków i zachowań ryzykownych</a:t>
            </a:r>
            <a:endParaRPr lang="pl-PL" sz="2200" b="0" u="none" strike="noStrike">
              <a:solidFill>
                <a:srgbClr val="000000"/>
              </a:solidFill>
              <a:effectLst/>
              <a:uFillTx/>
              <a:latin typeface="Arial"/>
            </a:endParaRPr>
          </a:p>
        </p:txBody>
      </p:sp>
      <p:sp>
        <p:nvSpPr>
          <p:cNvPr id="268" name="Text 2"/>
          <p:cNvSpPr/>
          <p:nvPr/>
        </p:nvSpPr>
        <p:spPr>
          <a:xfrm>
            <a:off x="502920" y="981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Mechanizm: rozproszenie uwagi, impulsywność i poszukiwanie stymulacji</a:t>
            </a:r>
            <a:endParaRPr lang="pl-PL" sz="1200" b="0" u="none" strike="noStrike">
              <a:solidFill>
                <a:srgbClr val="000000"/>
              </a:solidFill>
              <a:effectLst/>
              <a:uFillTx/>
              <a:latin typeface="Arial"/>
            </a:endParaRPr>
          </a:p>
        </p:txBody>
      </p:sp>
      <p:sp>
        <p:nvSpPr>
          <p:cNvPr id="269" name="Shape 3"/>
          <p:cNvSpPr/>
          <p:nvPr/>
        </p:nvSpPr>
        <p:spPr>
          <a:xfrm>
            <a:off x="502920" y="1691640"/>
            <a:ext cx="1864800" cy="1142280"/>
          </a:xfrm>
          <a:prstGeom prst="roundRect">
            <a:avLst>
              <a:gd name="adj" fmla="val 7200"/>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0" name="Text 4"/>
          <p:cNvSpPr/>
          <p:nvPr/>
        </p:nvSpPr>
        <p:spPr>
          <a:xfrm>
            <a:off x="612720" y="1691640"/>
            <a:ext cx="1645200" cy="1142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a12e3c"/>
                </a:solidFill>
                <a:effectLst/>
                <a:uFillTx/>
                <a:latin typeface="Calibri"/>
                <a:ea typeface="Calibri"/>
              </a:rPr>
              <a:t>Wypadki komunikacyjne</a:t>
            </a:r>
            <a:endParaRPr lang="pl-PL" sz="1600" b="0" u="none" strike="noStrike">
              <a:solidFill>
                <a:srgbClr val="000000"/>
              </a:solidFill>
              <a:effectLst/>
              <a:uFillTx/>
              <a:latin typeface="Arial"/>
            </a:endParaRPr>
          </a:p>
        </p:txBody>
      </p:sp>
      <p:sp>
        <p:nvSpPr>
          <p:cNvPr id="271" name="Shape 5"/>
          <p:cNvSpPr/>
          <p:nvPr/>
        </p:nvSpPr>
        <p:spPr>
          <a:xfrm>
            <a:off x="2487240" y="1691640"/>
            <a:ext cx="1652760" cy="1142280"/>
          </a:xfrm>
          <a:prstGeom prst="roundRect">
            <a:avLst>
              <a:gd name="adj" fmla="val 7200"/>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2" name="Text 6"/>
          <p:cNvSpPr/>
          <p:nvPr/>
        </p:nvSpPr>
        <p:spPr>
          <a:xfrm>
            <a:off x="2597040" y="1691640"/>
            <a:ext cx="1362960" cy="1142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a12e3c"/>
                </a:solidFill>
                <a:effectLst/>
                <a:uFillTx/>
                <a:latin typeface="Calibri"/>
                <a:ea typeface="Calibri"/>
              </a:rPr>
              <a:t>Urazy i zatrucia</a:t>
            </a:r>
            <a:endParaRPr lang="pl-PL" sz="1600" b="0" u="none" strike="noStrike">
              <a:solidFill>
                <a:srgbClr val="000000"/>
              </a:solidFill>
              <a:effectLst/>
              <a:uFillTx/>
              <a:latin typeface="Arial"/>
            </a:endParaRPr>
          </a:p>
        </p:txBody>
      </p:sp>
      <p:sp>
        <p:nvSpPr>
          <p:cNvPr id="273" name="Shape 7"/>
          <p:cNvSpPr/>
          <p:nvPr/>
        </p:nvSpPr>
        <p:spPr>
          <a:xfrm>
            <a:off x="4284000" y="1691640"/>
            <a:ext cx="2196000" cy="1142280"/>
          </a:xfrm>
          <a:prstGeom prst="roundRect">
            <a:avLst>
              <a:gd name="adj" fmla="val 7200"/>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4" name="Text 8"/>
          <p:cNvSpPr/>
          <p:nvPr/>
        </p:nvSpPr>
        <p:spPr>
          <a:xfrm>
            <a:off x="4284000" y="1691640"/>
            <a:ext cx="2196000" cy="1142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a12e3c"/>
                </a:solidFill>
                <a:effectLst/>
                <a:uFillTx/>
                <a:latin typeface="Calibri"/>
                <a:ea typeface="Calibri"/>
              </a:rPr>
              <a:t>Ryzykowne zachowania seksualne</a:t>
            </a:r>
            <a:endParaRPr lang="pl-PL" sz="1600" b="0" u="none" strike="noStrike">
              <a:solidFill>
                <a:srgbClr val="000000"/>
              </a:solidFill>
              <a:effectLst/>
              <a:uFillTx/>
              <a:latin typeface="Arial"/>
            </a:endParaRPr>
          </a:p>
        </p:txBody>
      </p:sp>
      <p:sp>
        <p:nvSpPr>
          <p:cNvPr id="275" name="Shape 9"/>
          <p:cNvSpPr/>
          <p:nvPr/>
        </p:nvSpPr>
        <p:spPr>
          <a:xfrm>
            <a:off x="6588000" y="1691640"/>
            <a:ext cx="2052000" cy="1142280"/>
          </a:xfrm>
          <a:prstGeom prst="roundRect">
            <a:avLst>
              <a:gd name="adj" fmla="val 7200"/>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6" name="Text 10"/>
          <p:cNvSpPr/>
          <p:nvPr/>
        </p:nvSpPr>
        <p:spPr>
          <a:xfrm>
            <a:off x="6601320" y="1691640"/>
            <a:ext cx="2002680" cy="1142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a12e3c"/>
                </a:solidFill>
                <a:effectLst/>
                <a:uFillTx/>
                <a:latin typeface="Calibri"/>
                <a:ea typeface="Calibri"/>
              </a:rPr>
              <a:t>Nieprzestrzeganie zaleceń medycznych</a:t>
            </a:r>
            <a:endParaRPr lang="pl-PL" sz="1600" b="0" u="none" strike="noStrike">
              <a:solidFill>
                <a:srgbClr val="000000"/>
              </a:solidFill>
              <a:effectLst/>
              <a:uFillTx/>
              <a:latin typeface="Arial"/>
            </a:endParaRPr>
          </a:p>
        </p:txBody>
      </p:sp>
      <p:sp>
        <p:nvSpPr>
          <p:cNvPr id="277" name="Shape 11"/>
          <p:cNvSpPr/>
          <p:nvPr/>
        </p:nvSpPr>
        <p:spPr>
          <a:xfrm>
            <a:off x="502560" y="3060000"/>
            <a:ext cx="8137440" cy="602640"/>
          </a:xfrm>
          <a:prstGeom prst="roundRect">
            <a:avLst>
              <a:gd name="adj" fmla="val 8571"/>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78" name="Text 12"/>
          <p:cNvSpPr/>
          <p:nvPr/>
        </p:nvSpPr>
        <p:spPr>
          <a:xfrm>
            <a:off x="776880" y="3060000"/>
            <a:ext cx="7588800" cy="6026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600" b="0" u="none" strike="noStrike">
                <a:solidFill>
                  <a:srgbClr val="1b2148"/>
                </a:solidFill>
                <a:effectLst/>
                <a:uFillTx/>
                <a:latin typeface="Calibri"/>
                <a:ea typeface="Calibri"/>
              </a:rPr>
              <a:t>Mechanizm obejmuje rozproszenie uwagi, impulsywność, poszukiwanie stymulacji </a:t>
            </a:r>
            <a:br>
              <a:rPr sz="1600"/>
            </a:br>
            <a:r>
              <a:rPr lang="pl-PL" sz="1600" b="0" u="none" strike="noStrike">
                <a:solidFill>
                  <a:srgbClr val="1b2148"/>
                </a:solidFill>
                <a:effectLst/>
                <a:uFillTx/>
                <a:latin typeface="Calibri"/>
                <a:ea typeface="Calibri"/>
              </a:rPr>
              <a:t>i trudności w utrzymaniu rutyn bezpieczeństwa.</a:t>
            </a:r>
            <a:endParaRPr lang="pl-PL" sz="1600" b="0" u="none" strike="noStrike">
              <a:solidFill>
                <a:srgbClr val="000000"/>
              </a:solidFill>
              <a:effectLst/>
              <a:uFillTx/>
              <a:latin typeface="Arial"/>
            </a:endParaRPr>
          </a:p>
        </p:txBody>
      </p:sp>
      <p:sp>
        <p:nvSpPr>
          <p:cNvPr id="279" name="Shape 13"/>
          <p:cNvSpPr/>
          <p:nvPr/>
        </p:nvSpPr>
        <p:spPr>
          <a:xfrm>
            <a:off x="862920" y="4160520"/>
            <a:ext cx="7417080" cy="639360"/>
          </a:xfrm>
          <a:prstGeom prst="roundRect">
            <a:avLst>
              <a:gd name="adj" fmla="val 12857"/>
            </a:avLst>
          </a:prstGeom>
          <a:solidFill>
            <a:srgbClr val="def2ef"/>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0" name="Text 14"/>
          <p:cNvSpPr/>
          <p:nvPr/>
        </p:nvSpPr>
        <p:spPr>
          <a:xfrm>
            <a:off x="1029240" y="4160520"/>
            <a:ext cx="7142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500" b="1" i="1" u="none" strike="noStrike">
                <a:solidFill>
                  <a:srgbClr val="146b65"/>
                </a:solidFill>
                <a:effectLst/>
                <a:uFillTx/>
                <a:latin typeface="Calibri"/>
                <a:ea typeface="Calibri"/>
              </a:rPr>
              <a:t>Badania rejestrowe</a:t>
            </a:r>
            <a:r>
              <a:rPr lang="pl-PL" sz="1500" b="0" i="1" u="none" strike="noStrike">
                <a:solidFill>
                  <a:srgbClr val="146b65"/>
                </a:solidFill>
                <a:effectLst/>
                <a:uFillTx/>
                <a:latin typeface="Calibri"/>
                <a:ea typeface="Calibri"/>
              </a:rPr>
              <a:t>: w okresach leczenia ryzyko części zdarzeń transportowych jest niższe,</a:t>
            </a:r>
            <a:br>
              <a:rPr sz="1500"/>
            </a:br>
            <a:r>
              <a:rPr lang="pl-PL" sz="1500" b="0" i="1" u="none" strike="noStrike">
                <a:solidFill>
                  <a:srgbClr val="146b65"/>
                </a:solidFill>
                <a:effectLst/>
                <a:uFillTx/>
                <a:latin typeface="Calibri"/>
                <a:ea typeface="Calibri"/>
              </a:rPr>
              <a:t> </a:t>
            </a:r>
            <a:r>
              <a:rPr lang="pl-PL" sz="1500" b="0" i="1" u="none" strike="noStrike">
                <a:solidFill>
                  <a:srgbClr val="146b65"/>
                </a:solidFill>
                <a:effectLst/>
                <a:uFillTx/>
                <a:latin typeface="Calibri"/>
                <a:ea typeface="Calibri"/>
              </a:rPr>
              <a:t>	</a:t>
            </a:r>
            <a:r>
              <a:rPr lang="pl-PL" sz="1500" b="0" i="1" u="none" strike="noStrike">
                <a:solidFill>
                  <a:srgbClr val="146b65"/>
                </a:solidFill>
                <a:effectLst/>
                <a:uFillTx/>
                <a:latin typeface="Calibri"/>
                <a:ea typeface="Calibri"/>
              </a:rPr>
              <a:t>                 choć nie dla wszystkich typów urazów wyniki są jednoznaczne.</a:t>
            </a:r>
            <a:endParaRPr lang="pl-PL" sz="1500" b="0" u="none" strike="noStrike">
              <a:solidFill>
                <a:srgbClr val="000000"/>
              </a:solidFill>
              <a:effectLst/>
              <a:uFillTx/>
              <a:latin typeface="Arial"/>
            </a:endParaRPr>
          </a:p>
        </p:txBody>
      </p:sp>
      <p:sp>
        <p:nvSpPr>
          <p:cNvPr id="281" name="Text 1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18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RODZINA I RELACJE</a:t>
            </a:r>
            <a:endParaRPr lang="pl-PL" sz="1100" b="0" u="none" strike="noStrike">
              <a:solidFill>
                <a:srgbClr val="000000"/>
              </a:solidFill>
              <a:effectLst/>
              <a:uFillTx/>
              <a:latin typeface="Arial"/>
            </a:endParaRPr>
          </a:p>
        </p:txBody>
      </p:sp>
      <p:sp>
        <p:nvSpPr>
          <p:cNvPr id="283"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500" b="1" u="none" strike="noStrike">
                <a:solidFill>
                  <a:srgbClr val="1b2148"/>
                </a:solidFill>
                <a:effectLst/>
                <a:uFillTx/>
                <a:latin typeface="Cambria"/>
                <a:ea typeface="Cambria"/>
              </a:rPr>
              <a:t>Sprzężenie zwrotne konfliktu w relacji partnerskiej</a:t>
            </a:r>
            <a:endParaRPr lang="pl-PL" sz="2500" b="0" u="none" strike="noStrike">
              <a:solidFill>
                <a:srgbClr val="000000"/>
              </a:solidFill>
              <a:effectLst/>
              <a:uFillTx/>
              <a:latin typeface="Arial"/>
            </a:endParaRPr>
          </a:p>
        </p:txBody>
      </p:sp>
      <p:sp>
        <p:nvSpPr>
          <p:cNvPr id="284" name="Text 2"/>
          <p:cNvSpPr/>
          <p:nvPr/>
        </p:nvSpPr>
        <p:spPr>
          <a:xfrm>
            <a:off x="502920" y="1053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Objaw ADHD bywa odczytywany jako obojętność albo brak szacunku</a:t>
            </a:r>
            <a:endParaRPr lang="pl-PL" sz="1200" b="0" u="none" strike="noStrike">
              <a:solidFill>
                <a:srgbClr val="000000"/>
              </a:solidFill>
              <a:effectLst/>
              <a:uFillTx/>
              <a:latin typeface="Arial"/>
            </a:endParaRPr>
          </a:p>
        </p:txBody>
      </p:sp>
      <p:sp>
        <p:nvSpPr>
          <p:cNvPr id="285" name="Shape 3"/>
          <p:cNvSpPr/>
          <p:nvPr/>
        </p:nvSpPr>
        <p:spPr>
          <a:xfrm>
            <a:off x="640080" y="1828800"/>
            <a:ext cx="1690920" cy="959400"/>
          </a:xfrm>
          <a:prstGeom prst="roundRect">
            <a:avLst>
              <a:gd name="adj" fmla="val 8571"/>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6" name="Text 4"/>
          <p:cNvSpPr/>
          <p:nvPr/>
        </p:nvSpPr>
        <p:spPr>
          <a:xfrm>
            <a:off x="640080" y="1828800"/>
            <a:ext cx="169092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1b2148"/>
                </a:solidFill>
                <a:effectLst/>
                <a:uFillTx/>
                <a:latin typeface="Calibri"/>
                <a:ea typeface="Calibri"/>
              </a:rPr>
              <a:t>Niewykonane</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1" u="none" strike="noStrike">
                <a:solidFill>
                  <a:srgbClr val="1b2148"/>
                </a:solidFill>
                <a:effectLst/>
                <a:uFillTx/>
                <a:latin typeface="Calibri"/>
                <a:ea typeface="Calibri"/>
              </a:rPr>
              <a:t>zobowiązanie</a:t>
            </a:r>
            <a:endParaRPr lang="pl-PL" sz="1600" b="0" u="none" strike="noStrike">
              <a:solidFill>
                <a:srgbClr val="000000"/>
              </a:solidFill>
              <a:effectLst/>
              <a:uFillTx/>
              <a:latin typeface="Arial"/>
            </a:endParaRPr>
          </a:p>
        </p:txBody>
      </p:sp>
      <p:sp>
        <p:nvSpPr>
          <p:cNvPr id="287" name="Text 5"/>
          <p:cNvSpPr/>
          <p:nvPr/>
        </p:nvSpPr>
        <p:spPr>
          <a:xfrm>
            <a:off x="2331720" y="1828800"/>
            <a:ext cx="41076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800" b="1" u="none" strike="noStrike">
                <a:solidFill>
                  <a:srgbClr val="e8743a"/>
                </a:solidFill>
                <a:effectLst/>
                <a:uFillTx/>
                <a:latin typeface="Calibri"/>
                <a:ea typeface="DejaVu Sans"/>
              </a:rPr>
              <a:t>→</a:t>
            </a:r>
            <a:endParaRPr lang="pl-PL" sz="1800" b="0" u="none" strike="noStrike">
              <a:solidFill>
                <a:srgbClr val="000000"/>
              </a:solidFill>
              <a:effectLst/>
              <a:uFillTx/>
              <a:latin typeface="Arial"/>
            </a:endParaRPr>
          </a:p>
        </p:txBody>
      </p:sp>
      <p:sp>
        <p:nvSpPr>
          <p:cNvPr id="288" name="Shape 6"/>
          <p:cNvSpPr/>
          <p:nvPr/>
        </p:nvSpPr>
        <p:spPr>
          <a:xfrm>
            <a:off x="2743200" y="1828800"/>
            <a:ext cx="1690920" cy="959400"/>
          </a:xfrm>
          <a:prstGeom prst="roundRect">
            <a:avLst>
              <a:gd name="adj" fmla="val 8571"/>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89" name="Text 7"/>
          <p:cNvSpPr/>
          <p:nvPr/>
        </p:nvSpPr>
        <p:spPr>
          <a:xfrm>
            <a:off x="2743200" y="1828800"/>
            <a:ext cx="169092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1b2148"/>
                </a:solidFill>
                <a:effectLst/>
                <a:uFillTx/>
                <a:latin typeface="Calibri"/>
                <a:ea typeface="Calibri"/>
              </a:rPr>
              <a:t>Krytyka</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1" u="none" strike="noStrike">
                <a:solidFill>
                  <a:srgbClr val="1b2148"/>
                </a:solidFill>
                <a:effectLst/>
                <a:uFillTx/>
                <a:latin typeface="Calibri"/>
                <a:ea typeface="Calibri"/>
              </a:rPr>
              <a:t>lub kontrola</a:t>
            </a:r>
            <a:endParaRPr lang="pl-PL" sz="1600" b="0" u="none" strike="noStrike">
              <a:solidFill>
                <a:srgbClr val="000000"/>
              </a:solidFill>
              <a:effectLst/>
              <a:uFillTx/>
              <a:latin typeface="Arial"/>
            </a:endParaRPr>
          </a:p>
        </p:txBody>
      </p:sp>
      <p:sp>
        <p:nvSpPr>
          <p:cNvPr id="290" name="Text 8"/>
          <p:cNvSpPr/>
          <p:nvPr/>
        </p:nvSpPr>
        <p:spPr>
          <a:xfrm>
            <a:off x="4434840" y="1828800"/>
            <a:ext cx="41076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800" b="1" u="none" strike="noStrike">
                <a:solidFill>
                  <a:srgbClr val="e8743a"/>
                </a:solidFill>
                <a:effectLst/>
                <a:uFillTx/>
                <a:latin typeface="Calibri"/>
                <a:ea typeface="DejaVu Sans"/>
              </a:rPr>
              <a:t>→</a:t>
            </a:r>
            <a:endParaRPr lang="pl-PL" sz="1800" b="0" u="none" strike="noStrike">
              <a:solidFill>
                <a:srgbClr val="000000"/>
              </a:solidFill>
              <a:effectLst/>
              <a:uFillTx/>
              <a:latin typeface="Arial"/>
            </a:endParaRPr>
          </a:p>
        </p:txBody>
      </p:sp>
      <p:sp>
        <p:nvSpPr>
          <p:cNvPr id="291" name="Shape 9"/>
          <p:cNvSpPr/>
          <p:nvPr/>
        </p:nvSpPr>
        <p:spPr>
          <a:xfrm>
            <a:off x="4846320" y="1828800"/>
            <a:ext cx="1690920" cy="959400"/>
          </a:xfrm>
          <a:prstGeom prst="roundRect">
            <a:avLst>
              <a:gd name="adj" fmla="val 8571"/>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2" name="Text 10"/>
          <p:cNvSpPr/>
          <p:nvPr/>
        </p:nvSpPr>
        <p:spPr>
          <a:xfrm>
            <a:off x="4846320" y="1828800"/>
            <a:ext cx="169092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1b2148"/>
                </a:solidFill>
                <a:effectLst/>
                <a:uFillTx/>
                <a:latin typeface="Calibri"/>
                <a:ea typeface="Calibri"/>
              </a:rPr>
              <a:t>Obrona</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1" u="none" strike="noStrike">
                <a:solidFill>
                  <a:srgbClr val="1b2148"/>
                </a:solidFill>
                <a:effectLst/>
                <a:uFillTx/>
                <a:latin typeface="Calibri"/>
                <a:ea typeface="Calibri"/>
              </a:rPr>
              <a:t>lub wycofanie</a:t>
            </a:r>
            <a:endParaRPr lang="pl-PL" sz="1600" b="0" u="none" strike="noStrike">
              <a:solidFill>
                <a:srgbClr val="000000"/>
              </a:solidFill>
              <a:effectLst/>
              <a:uFillTx/>
              <a:latin typeface="Arial"/>
            </a:endParaRPr>
          </a:p>
        </p:txBody>
      </p:sp>
      <p:sp>
        <p:nvSpPr>
          <p:cNvPr id="293" name="Text 11"/>
          <p:cNvSpPr/>
          <p:nvPr/>
        </p:nvSpPr>
        <p:spPr>
          <a:xfrm>
            <a:off x="6537960" y="1828800"/>
            <a:ext cx="41076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800" b="1" u="none" strike="noStrike">
                <a:solidFill>
                  <a:srgbClr val="e8743a"/>
                </a:solidFill>
                <a:effectLst/>
                <a:uFillTx/>
                <a:latin typeface="Calibri"/>
                <a:ea typeface="DejaVu Sans"/>
              </a:rPr>
              <a:t>→</a:t>
            </a:r>
            <a:endParaRPr lang="pl-PL" sz="1800" b="0" u="none" strike="noStrike">
              <a:solidFill>
                <a:srgbClr val="000000"/>
              </a:solidFill>
              <a:effectLst/>
              <a:uFillTx/>
              <a:latin typeface="Arial"/>
            </a:endParaRPr>
          </a:p>
        </p:txBody>
      </p:sp>
      <p:sp>
        <p:nvSpPr>
          <p:cNvPr id="294" name="Shape 12"/>
          <p:cNvSpPr/>
          <p:nvPr/>
        </p:nvSpPr>
        <p:spPr>
          <a:xfrm>
            <a:off x="6949440" y="1828800"/>
            <a:ext cx="1690920" cy="959400"/>
          </a:xfrm>
          <a:prstGeom prst="roundRect">
            <a:avLst>
              <a:gd name="adj" fmla="val 8571"/>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295" name="Text 13"/>
          <p:cNvSpPr/>
          <p:nvPr/>
        </p:nvSpPr>
        <p:spPr>
          <a:xfrm>
            <a:off x="6949440" y="1828800"/>
            <a:ext cx="1690920" cy="959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600" b="1" u="none" strike="noStrike">
                <a:solidFill>
                  <a:srgbClr val="1b2148"/>
                </a:solidFill>
                <a:effectLst/>
                <a:uFillTx/>
                <a:latin typeface="Calibri"/>
                <a:ea typeface="Calibri"/>
              </a:rPr>
              <a:t>Pogorszenie</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1" u="none" strike="noStrike">
                <a:solidFill>
                  <a:srgbClr val="1b2148"/>
                </a:solidFill>
                <a:effectLst/>
                <a:uFillTx/>
                <a:latin typeface="Calibri"/>
                <a:ea typeface="Calibri"/>
              </a:rPr>
              <a:t>samoregulacji</a:t>
            </a:r>
            <a:endParaRPr lang="pl-PL" sz="1600" b="0" u="none" strike="noStrike">
              <a:solidFill>
                <a:srgbClr val="000000"/>
              </a:solidFill>
              <a:effectLst/>
              <a:uFillTx/>
              <a:latin typeface="Arial"/>
            </a:endParaRPr>
          </a:p>
        </p:txBody>
      </p:sp>
      <p:sp>
        <p:nvSpPr>
          <p:cNvPr id="296" name="Shape 14"/>
          <p:cNvSpPr/>
          <p:nvPr/>
        </p:nvSpPr>
        <p:spPr>
          <a:xfrm>
            <a:off x="7795080" y="2788920"/>
            <a:ext cx="360" cy="320040"/>
          </a:xfrm>
          <a:prstGeom prst="line">
            <a:avLst/>
          </a:prstGeom>
          <a:ln w="19080">
            <a:solidFill>
              <a:srgbClr val="e8743a"/>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97" name="Shape 15"/>
          <p:cNvSpPr/>
          <p:nvPr/>
        </p:nvSpPr>
        <p:spPr>
          <a:xfrm>
            <a:off x="1485720" y="3108960"/>
            <a:ext cx="6309360" cy="360"/>
          </a:xfrm>
          <a:prstGeom prst="line">
            <a:avLst/>
          </a:prstGeom>
          <a:ln w="19080">
            <a:solidFill>
              <a:srgbClr val="e8743a"/>
            </a:solidFill>
            <a:prstDash val="dash"/>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298" name="Shape 16"/>
          <p:cNvSpPr/>
          <p:nvPr/>
        </p:nvSpPr>
        <p:spPr>
          <a:xfrm>
            <a:off x="1485720" y="2788920"/>
            <a:ext cx="360" cy="320040"/>
          </a:xfrm>
          <a:prstGeom prst="line">
            <a:avLst/>
          </a:prstGeom>
          <a:ln w="19080">
            <a:solidFill>
              <a:srgbClr val="e8743a"/>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299" name="Text 17"/>
          <p:cNvSpPr/>
          <p:nvPr/>
        </p:nvSpPr>
        <p:spPr>
          <a:xfrm>
            <a:off x="3200400" y="3172320"/>
            <a:ext cx="291960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800" b="0" i="1" u="none" strike="noStrike">
                <a:solidFill>
                  <a:srgbClr val="c75a26"/>
                </a:solidFill>
                <a:effectLst/>
                <a:uFillTx/>
                <a:latin typeface="Calibri"/>
                <a:ea typeface="Calibri"/>
              </a:rPr>
              <a:t>no i cykl się zamyka i nasila</a:t>
            </a:r>
            <a:endParaRPr lang="pl-PL" sz="1800" b="0" i="1" u="none" strike="noStrike">
              <a:solidFill>
                <a:srgbClr val="000000"/>
              </a:solidFill>
              <a:effectLst/>
              <a:uFillTx/>
              <a:latin typeface="Arial"/>
            </a:endParaRPr>
          </a:p>
        </p:txBody>
      </p:sp>
      <p:sp>
        <p:nvSpPr>
          <p:cNvPr id="300" name="Shape 18"/>
          <p:cNvSpPr/>
          <p:nvPr/>
        </p:nvSpPr>
        <p:spPr>
          <a:xfrm>
            <a:off x="502920" y="3780000"/>
            <a:ext cx="3637080" cy="9741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1" name="Text 19"/>
          <p:cNvSpPr/>
          <p:nvPr/>
        </p:nvSpPr>
        <p:spPr>
          <a:xfrm>
            <a:off x="713160" y="3780000"/>
            <a:ext cx="3565440" cy="97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0" u="none" strike="noStrike">
                <a:solidFill>
                  <a:srgbClr val="1b2148"/>
                </a:solidFill>
                <a:effectLst/>
                <a:uFillTx/>
                <a:latin typeface="Calibri"/>
                <a:ea typeface="Calibri"/>
              </a:rPr>
              <a:t>Niższa przeciętna satysfakcja relacyjna i więcej konfliktów, ale dane o rozwodach są niejednorodne. Brak jednego uniwersalnego współczynnika ryzyka rozpadu związku.</a:t>
            </a:r>
            <a:endParaRPr lang="pl-PL" sz="1400" b="0" u="none" strike="noStrike">
              <a:solidFill>
                <a:srgbClr val="000000"/>
              </a:solidFill>
              <a:effectLst/>
              <a:uFillTx/>
              <a:latin typeface="Arial"/>
            </a:endParaRPr>
          </a:p>
        </p:txBody>
      </p:sp>
      <p:sp>
        <p:nvSpPr>
          <p:cNvPr id="302" name="Shape 20"/>
          <p:cNvSpPr/>
          <p:nvPr/>
        </p:nvSpPr>
        <p:spPr>
          <a:xfrm>
            <a:off x="4320000" y="3780000"/>
            <a:ext cx="4356360" cy="974160"/>
          </a:xfrm>
          <a:prstGeom prst="roundRect">
            <a:avLst>
              <a:gd name="adj" fmla="val 6667"/>
            </a:avLst>
          </a:prstGeom>
          <a:solidFill>
            <a:srgbClr val="f4f6fa"/>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3" name="Text 21"/>
          <p:cNvSpPr/>
          <p:nvPr/>
        </p:nvSpPr>
        <p:spPr>
          <a:xfrm>
            <a:off x="4500000" y="3780000"/>
            <a:ext cx="4140000" cy="97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400" b="1" u="none" strike="noStrike">
                <a:solidFill>
                  <a:srgbClr val="1b2148"/>
                </a:solidFill>
                <a:effectLst/>
                <a:uFillTx/>
                <a:latin typeface="Calibri"/>
                <a:ea typeface="Calibri"/>
              </a:rPr>
              <a:t>Obciążenie mentalne</a:t>
            </a:r>
            <a:r>
              <a:rPr lang="pl-PL" sz="1400" b="0" u="none" strike="noStrike">
                <a:solidFill>
                  <a:srgbClr val="1b2148"/>
                </a:solidFill>
                <a:effectLst/>
                <a:uFillTx/>
                <a:latin typeface="Calibri"/>
                <a:ea typeface="Calibri"/>
              </a:rPr>
              <a:t>: partner bez ADHD często przejmuje planowanie, przypominanie i finanse, </a:t>
            </a:r>
            <a:br>
              <a:rPr sz="1400"/>
            </a:br>
            <a:r>
              <a:rPr lang="pl-PL" sz="1400" b="0" u="none" strike="noStrike">
                <a:solidFill>
                  <a:srgbClr val="1b2148"/>
                </a:solidFill>
                <a:effectLst/>
                <a:uFillTx/>
                <a:latin typeface="Calibri"/>
                <a:ea typeface="Calibri"/>
              </a:rPr>
              <a:t>a relacja może zacząć przypominać układ rodzic–dziecko</a:t>
            </a:r>
            <a:endParaRPr lang="pl-PL" sz="1400" b="0" u="none" strike="noStrike">
              <a:solidFill>
                <a:srgbClr val="000000"/>
              </a:solidFill>
              <a:effectLst/>
              <a:uFillTx/>
              <a:latin typeface="Arial"/>
            </a:endParaRPr>
          </a:p>
        </p:txBody>
      </p:sp>
      <p:sp>
        <p:nvSpPr>
          <p:cNvPr id="304" name="Text 22"/>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19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RODZINA · POKOLENIA I BUDŻET</a:t>
            </a:r>
            <a:endParaRPr lang="pl-PL" sz="1100" b="0" u="none" strike="noStrike">
              <a:solidFill>
                <a:srgbClr val="000000"/>
              </a:solidFill>
              <a:effectLst/>
              <a:uFillTx/>
              <a:latin typeface="Arial"/>
            </a:endParaRPr>
          </a:p>
        </p:txBody>
      </p:sp>
      <p:sp>
        <p:nvSpPr>
          <p:cNvPr id="306"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ADHD w rodzinie: </a:t>
            </a:r>
            <a:r>
              <a:rPr lang="pl-PL" sz="2200" b="0" u="none" strike="noStrike">
                <a:solidFill>
                  <a:srgbClr val="1b2148"/>
                </a:solidFill>
                <a:effectLst/>
                <a:uFillTx/>
                <a:latin typeface="Cambria"/>
                <a:ea typeface="Cambria"/>
              </a:rPr>
              <a:t>rodzic, dziecko i budżet domowy</a:t>
            </a:r>
            <a:endParaRPr lang="pl-PL" sz="2200" b="0" u="none" strike="noStrike">
              <a:solidFill>
                <a:srgbClr val="000000"/>
              </a:solidFill>
              <a:effectLst/>
              <a:uFillTx/>
              <a:latin typeface="Arial"/>
            </a:endParaRPr>
          </a:p>
        </p:txBody>
      </p:sp>
      <p:sp>
        <p:nvSpPr>
          <p:cNvPr id="307" name="Text 2"/>
          <p:cNvSpPr/>
          <p:nvPr/>
        </p:nvSpPr>
        <p:spPr>
          <a:xfrm>
            <a:off x="502920" y="1053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Efekty wielu drobnych trudności kumulują się w codziennym funkcjonowaniu</a:t>
            </a:r>
            <a:endParaRPr lang="pl-PL" sz="1200" b="0" u="none" strike="noStrike">
              <a:solidFill>
                <a:srgbClr val="000000"/>
              </a:solidFill>
              <a:effectLst/>
              <a:uFillTx/>
              <a:latin typeface="Arial"/>
            </a:endParaRPr>
          </a:p>
        </p:txBody>
      </p:sp>
      <p:sp>
        <p:nvSpPr>
          <p:cNvPr id="308" name="Shape 3"/>
          <p:cNvSpPr/>
          <p:nvPr/>
        </p:nvSpPr>
        <p:spPr>
          <a:xfrm>
            <a:off x="360000" y="1627560"/>
            <a:ext cx="2757240" cy="2879640"/>
          </a:xfrm>
          <a:prstGeom prst="roundRect">
            <a:avLst>
              <a:gd name="adj" fmla="val 3147"/>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09" name="Text 4"/>
          <p:cNvSpPr/>
          <p:nvPr/>
        </p:nvSpPr>
        <p:spPr>
          <a:xfrm>
            <a:off x="649080" y="1684080"/>
            <a:ext cx="23220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1b2148"/>
                </a:solidFill>
                <a:effectLst/>
                <a:uFillTx/>
                <a:latin typeface="Cambria"/>
                <a:ea typeface="Cambria"/>
              </a:rPr>
              <a:t>ADHD u rodzica</a:t>
            </a:r>
            <a:endParaRPr lang="pl-PL" sz="2000" b="0" u="none" strike="noStrike">
              <a:solidFill>
                <a:srgbClr val="000000"/>
              </a:solidFill>
              <a:effectLst/>
              <a:uFillTx/>
              <a:latin typeface="Arial"/>
            </a:endParaRPr>
          </a:p>
        </p:txBody>
      </p:sp>
      <p:sp>
        <p:nvSpPr>
          <p:cNvPr id="310" name="Text 5"/>
          <p:cNvSpPr/>
          <p:nvPr/>
        </p:nvSpPr>
        <p:spPr>
          <a:xfrm>
            <a:off x="468000" y="2304360"/>
            <a:ext cx="2483640" cy="21024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Park et al. (2017), 32 badania: wyższe nasilenie rodzicielstwa surowego i niekonsekwentnego</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Efekty małe, lecz kumulujące </a:t>
            </a:r>
            <a:br>
              <a:rPr sz="1400"/>
            </a:br>
            <a:r>
              <a:rPr lang="pl-PL" sz="1400" b="0" u="none" strike="noStrike">
                <a:solidFill>
                  <a:srgbClr val="1b2148"/>
                </a:solidFill>
                <a:effectLst/>
                <a:uFillTx/>
                <a:latin typeface="Calibri"/>
                <a:ea typeface="Calibri"/>
              </a:rPr>
              <a:t>się w codziennych rutynach</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Znaczenie mają stałe rutyny </a:t>
            </a:r>
            <a:br>
              <a:rPr sz="1400"/>
            </a:br>
            <a:r>
              <a:rPr lang="pl-PL" sz="1400" b="0" u="none" strike="noStrike">
                <a:solidFill>
                  <a:srgbClr val="1b2148"/>
                </a:solidFill>
                <a:effectLst/>
                <a:uFillTx/>
                <a:latin typeface="Calibri"/>
                <a:ea typeface="Calibri"/>
              </a:rPr>
              <a:t>i wsparcie drugiego opiekuna</a:t>
            </a:r>
            <a:endParaRPr lang="pl-PL" sz="1400" b="0" u="none" strike="noStrike">
              <a:solidFill>
                <a:srgbClr val="000000"/>
              </a:solidFill>
              <a:effectLst/>
              <a:uFillTx/>
              <a:latin typeface="Arial"/>
            </a:endParaRPr>
          </a:p>
        </p:txBody>
      </p:sp>
      <p:sp>
        <p:nvSpPr>
          <p:cNvPr id="311" name="Shape 6"/>
          <p:cNvSpPr/>
          <p:nvPr/>
        </p:nvSpPr>
        <p:spPr>
          <a:xfrm>
            <a:off x="3264480" y="1627560"/>
            <a:ext cx="2614320" cy="2879640"/>
          </a:xfrm>
          <a:prstGeom prst="roundRect">
            <a:avLst>
              <a:gd name="adj" fmla="val 3147"/>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2" name="Text 7"/>
          <p:cNvSpPr/>
          <p:nvPr/>
        </p:nvSpPr>
        <p:spPr>
          <a:xfrm>
            <a:off x="3410640" y="1684080"/>
            <a:ext cx="23220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c75a26"/>
                </a:solidFill>
                <a:effectLst/>
                <a:uFillTx/>
                <a:latin typeface="Cambria"/>
                <a:ea typeface="Cambria"/>
              </a:rPr>
              <a:t>ADHD u dziecka</a:t>
            </a:r>
            <a:endParaRPr lang="pl-PL" sz="2000" b="0" u="none" strike="noStrike">
              <a:solidFill>
                <a:srgbClr val="000000"/>
              </a:solidFill>
              <a:effectLst/>
              <a:uFillTx/>
              <a:latin typeface="Arial"/>
            </a:endParaRPr>
          </a:p>
        </p:txBody>
      </p:sp>
      <p:sp>
        <p:nvSpPr>
          <p:cNvPr id="313" name="Text 8"/>
          <p:cNvSpPr/>
          <p:nvPr/>
        </p:nvSpPr>
        <p:spPr>
          <a:xfrm>
            <a:off x="3338640" y="2304360"/>
            <a:ext cx="2468160" cy="21024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Większy przeciętny stres rodzicielski</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Niedobór snu, ograniczenie pracy zawodowej</a:t>
            </a:r>
            <a:endParaRPr lang="pl-PL" sz="14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400" b="0" u="none" strike="noStrike">
                <a:solidFill>
                  <a:srgbClr val="1b2148"/>
                </a:solidFill>
                <a:effectLst/>
                <a:uFillTx/>
                <a:latin typeface="Calibri"/>
                <a:ea typeface="Calibri"/>
              </a:rPr>
              <a:t>Mniejsza dostępność rodziców dla rodzeństwa i możliwe też efekty pozytywne (empatia)</a:t>
            </a:r>
            <a:endParaRPr lang="pl-PL" sz="1400" b="0" u="none" strike="noStrike">
              <a:solidFill>
                <a:srgbClr val="000000"/>
              </a:solidFill>
              <a:effectLst/>
              <a:uFillTx/>
              <a:latin typeface="Arial"/>
            </a:endParaRPr>
          </a:p>
        </p:txBody>
      </p:sp>
      <p:sp>
        <p:nvSpPr>
          <p:cNvPr id="314" name="Shape 9"/>
          <p:cNvSpPr/>
          <p:nvPr/>
        </p:nvSpPr>
        <p:spPr>
          <a:xfrm>
            <a:off x="6026040" y="1627560"/>
            <a:ext cx="2614320" cy="2879640"/>
          </a:xfrm>
          <a:prstGeom prst="roundRect">
            <a:avLst>
              <a:gd name="adj" fmla="val 3147"/>
            </a:avLst>
          </a:prstGeom>
          <a:solidFill>
            <a:srgbClr val="fbe5e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15" name="Text 10"/>
          <p:cNvSpPr/>
          <p:nvPr/>
        </p:nvSpPr>
        <p:spPr>
          <a:xfrm>
            <a:off x="6172200" y="1684080"/>
            <a:ext cx="23220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2000" b="1" u="none" strike="noStrike">
                <a:solidFill>
                  <a:srgbClr val="a12e3c"/>
                </a:solidFill>
                <a:effectLst/>
                <a:uFillTx/>
                <a:latin typeface="Cambria"/>
                <a:ea typeface="Cambria"/>
              </a:rPr>
              <a:t>Finanse rodziny</a:t>
            </a:r>
            <a:endParaRPr lang="pl-PL" sz="2000" b="0" u="none" strike="noStrike">
              <a:solidFill>
                <a:srgbClr val="000000"/>
              </a:solidFill>
              <a:effectLst/>
              <a:uFillTx/>
              <a:latin typeface="Arial"/>
            </a:endParaRPr>
          </a:p>
        </p:txBody>
      </p:sp>
      <p:sp>
        <p:nvSpPr>
          <p:cNvPr id="316" name="Text 11"/>
          <p:cNvSpPr/>
          <p:nvPr/>
        </p:nvSpPr>
        <p:spPr>
          <a:xfrm>
            <a:off x="6100200" y="2304360"/>
            <a:ext cx="2467440" cy="210240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300" b="0" u="none" strike="noStrike">
                <a:solidFill>
                  <a:srgbClr val="1b2148"/>
                </a:solidFill>
                <a:effectLst/>
                <a:uFillTx/>
                <a:latin typeface="Calibri"/>
                <a:ea typeface="Calibri"/>
              </a:rPr>
              <a:t>„Podatek wykonawczy ADHD”: impulsywne zakupy, mandaty, nieterminowe opłaty</a:t>
            </a:r>
            <a:endParaRPr lang="pl-PL" sz="13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300" b="0" u="none" strike="noStrike">
                <a:solidFill>
                  <a:srgbClr val="1b2148"/>
                </a:solidFill>
                <a:effectLst/>
                <a:uFillTx/>
                <a:latin typeface="Calibri"/>
                <a:ea typeface="Calibri"/>
              </a:rPr>
              <a:t>Niewykorzystane subskrypcje, zgubione przedmioty</a:t>
            </a:r>
            <a:endParaRPr lang="pl-PL" sz="13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300" b="0" u="none" strike="noStrike">
                <a:solidFill>
                  <a:srgbClr val="1b2148"/>
                </a:solidFill>
                <a:effectLst/>
                <a:uFillTx/>
                <a:latin typeface="Calibri"/>
                <a:ea typeface="Calibri"/>
              </a:rPr>
              <a:t>Koszt wynika z trudności </a:t>
            </a:r>
            <a:br>
              <a:rPr sz="1300"/>
            </a:br>
            <a:r>
              <a:rPr lang="pl-PL" sz="1300" b="0" u="none" strike="noStrike">
                <a:solidFill>
                  <a:srgbClr val="1b2148"/>
                </a:solidFill>
                <a:effectLst/>
                <a:uFillTx/>
                <a:latin typeface="Calibri"/>
                <a:ea typeface="Calibri"/>
              </a:rPr>
              <a:t>w przekładaniu intencji na działanie, nie z braku wiedzy</a:t>
            </a:r>
            <a:endParaRPr lang="pl-PL" sz="1300" b="0" u="none" strike="noStrike">
              <a:solidFill>
                <a:srgbClr val="000000"/>
              </a:solidFill>
              <a:effectLst/>
              <a:uFillTx/>
              <a:latin typeface="Arial"/>
            </a:endParaRPr>
          </a:p>
        </p:txBody>
      </p:sp>
      <p:sp>
        <p:nvSpPr>
          <p:cNvPr id="317" name="Text 12"/>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20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KOSZTY SPOŁECZNE</a:t>
            </a:r>
            <a:endParaRPr lang="pl-PL" sz="1100" b="0" u="none" strike="noStrike">
              <a:solidFill>
                <a:srgbClr val="000000"/>
              </a:solidFill>
              <a:effectLst/>
              <a:uFillTx/>
              <a:latin typeface="Arial"/>
            </a:endParaRPr>
          </a:p>
        </p:txBody>
      </p:sp>
      <p:sp>
        <p:nvSpPr>
          <p:cNvPr id="319"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Koszty społeczne ADHD liczone są w miliardach dolarów</a:t>
            </a:r>
            <a:endParaRPr lang="pl-PL" sz="2200" b="0" u="none" strike="noStrike">
              <a:solidFill>
                <a:srgbClr val="000000"/>
              </a:solidFill>
              <a:effectLst/>
              <a:uFillTx/>
              <a:latin typeface="Arial"/>
            </a:endParaRPr>
          </a:p>
        </p:txBody>
      </p:sp>
      <p:sp>
        <p:nvSpPr>
          <p:cNvPr id="320"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Wydatki bezpośrednie i pośrednie, a w dużej mierze poza systemem psychiatrycznym</a:t>
            </a:r>
            <a:endParaRPr lang="pl-PL" sz="1200" b="0" u="none" strike="noStrike">
              <a:solidFill>
                <a:srgbClr val="000000"/>
              </a:solidFill>
              <a:effectLst/>
              <a:uFillTx/>
              <a:latin typeface="Arial"/>
            </a:endParaRPr>
          </a:p>
        </p:txBody>
      </p:sp>
      <p:sp>
        <p:nvSpPr>
          <p:cNvPr id="321" name="Shape 3"/>
          <p:cNvSpPr/>
          <p:nvPr/>
        </p:nvSpPr>
        <p:spPr>
          <a:xfrm>
            <a:off x="502920" y="1519560"/>
            <a:ext cx="2614320" cy="1370880"/>
          </a:xfrm>
          <a:prstGeom prst="roundRect">
            <a:avLst>
              <a:gd name="adj" fmla="val 6000"/>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2" name="Text 4"/>
          <p:cNvSpPr/>
          <p:nvPr/>
        </p:nvSpPr>
        <p:spPr>
          <a:xfrm>
            <a:off x="594360" y="1629360"/>
            <a:ext cx="24314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e8743a"/>
                </a:solidFill>
                <a:effectLst/>
                <a:uFillTx/>
                <a:latin typeface="Cambria"/>
                <a:ea typeface="Cambria"/>
              </a:rPr>
              <a:t>122,8 mld $</a:t>
            </a:r>
            <a:endParaRPr lang="pl-PL" sz="2800" b="0" u="none" strike="noStrike">
              <a:solidFill>
                <a:srgbClr val="000000"/>
              </a:solidFill>
              <a:effectLst/>
              <a:uFillTx/>
              <a:latin typeface="Arial"/>
            </a:endParaRPr>
          </a:p>
        </p:txBody>
      </p:sp>
      <p:sp>
        <p:nvSpPr>
          <p:cNvPr id="323" name="Text 5"/>
          <p:cNvSpPr/>
          <p:nvPr/>
        </p:nvSpPr>
        <p:spPr>
          <a:xfrm>
            <a:off x="667440" y="2223720"/>
            <a:ext cx="228528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c7cdee"/>
                </a:solidFill>
                <a:effectLst/>
                <a:uFillTx/>
                <a:latin typeface="Calibri"/>
                <a:ea typeface="Calibri"/>
              </a:rPr>
              <a:t>nadwyżkowe koszty społeczne ADHD u dorosłych w USA, 2018 r.</a:t>
            </a:r>
            <a:endParaRPr lang="pl-PL" sz="1200" b="0" u="none" strike="noStrike">
              <a:solidFill>
                <a:srgbClr val="000000"/>
              </a:solidFill>
              <a:effectLst/>
              <a:uFillTx/>
              <a:latin typeface="Arial"/>
            </a:endParaRPr>
          </a:p>
        </p:txBody>
      </p:sp>
      <p:sp>
        <p:nvSpPr>
          <p:cNvPr id="324" name="Shape 6"/>
          <p:cNvSpPr/>
          <p:nvPr/>
        </p:nvSpPr>
        <p:spPr>
          <a:xfrm>
            <a:off x="3264480" y="1519560"/>
            <a:ext cx="2614320" cy="1370880"/>
          </a:xfrm>
          <a:prstGeom prst="roundRect">
            <a:avLst>
              <a:gd name="adj" fmla="val 6000"/>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5" name="Text 7"/>
          <p:cNvSpPr/>
          <p:nvPr/>
        </p:nvSpPr>
        <p:spPr>
          <a:xfrm>
            <a:off x="3355920" y="1629360"/>
            <a:ext cx="24314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3200" b="1" u="none" strike="noStrike">
                <a:solidFill>
                  <a:srgbClr val="e8743a"/>
                </a:solidFill>
                <a:effectLst/>
                <a:uFillTx/>
                <a:latin typeface="Cambria"/>
                <a:ea typeface="Cambria"/>
              </a:rPr>
              <a:t>14 092 $</a:t>
            </a:r>
            <a:endParaRPr lang="pl-PL" sz="3200" b="0" u="none" strike="noStrike">
              <a:solidFill>
                <a:srgbClr val="000000"/>
              </a:solidFill>
              <a:effectLst/>
              <a:uFillTx/>
              <a:latin typeface="Arial"/>
            </a:endParaRPr>
          </a:p>
        </p:txBody>
      </p:sp>
      <p:sp>
        <p:nvSpPr>
          <p:cNvPr id="326" name="Text 8"/>
          <p:cNvSpPr/>
          <p:nvPr/>
        </p:nvSpPr>
        <p:spPr>
          <a:xfrm>
            <a:off x="3429000" y="2223720"/>
            <a:ext cx="228528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c7cdee"/>
                </a:solidFill>
                <a:effectLst/>
                <a:uFillTx/>
                <a:latin typeface="Calibri"/>
                <a:ea typeface="Calibri"/>
              </a:rPr>
              <a:t>średni koszt przypadający na jedną dorosłą osobę z ADHD rocznie</a:t>
            </a:r>
            <a:endParaRPr lang="pl-PL" sz="1200" b="0" u="none" strike="noStrike">
              <a:solidFill>
                <a:srgbClr val="000000"/>
              </a:solidFill>
              <a:effectLst/>
              <a:uFillTx/>
              <a:latin typeface="Arial"/>
            </a:endParaRPr>
          </a:p>
        </p:txBody>
      </p:sp>
      <p:sp>
        <p:nvSpPr>
          <p:cNvPr id="327" name="Shape 9"/>
          <p:cNvSpPr/>
          <p:nvPr/>
        </p:nvSpPr>
        <p:spPr>
          <a:xfrm>
            <a:off x="6026040" y="1519560"/>
            <a:ext cx="2614320" cy="1370880"/>
          </a:xfrm>
          <a:prstGeom prst="roundRect">
            <a:avLst>
              <a:gd name="adj" fmla="val 6000"/>
            </a:avLst>
          </a:prstGeom>
          <a:solidFill>
            <a:srgbClr val="1b2148"/>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28" name="Text 10"/>
          <p:cNvSpPr/>
          <p:nvPr/>
        </p:nvSpPr>
        <p:spPr>
          <a:xfrm>
            <a:off x="6117480" y="1629360"/>
            <a:ext cx="24314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2800" b="1" u="none" strike="noStrike">
                <a:solidFill>
                  <a:srgbClr val="e8743a"/>
                </a:solidFill>
                <a:effectLst/>
                <a:uFillTx/>
                <a:latin typeface="Cambria"/>
                <a:ea typeface="Cambria"/>
              </a:rPr>
              <a:t>143–266 mld $</a:t>
            </a:r>
            <a:endParaRPr lang="pl-PL" sz="2800" b="0" u="none" strike="noStrike">
              <a:solidFill>
                <a:srgbClr val="000000"/>
              </a:solidFill>
              <a:effectLst/>
              <a:uFillTx/>
              <a:latin typeface="Arial"/>
            </a:endParaRPr>
          </a:p>
        </p:txBody>
      </p:sp>
      <p:sp>
        <p:nvSpPr>
          <p:cNvPr id="329" name="Text 11"/>
          <p:cNvSpPr/>
          <p:nvPr/>
        </p:nvSpPr>
        <p:spPr>
          <a:xfrm>
            <a:off x="6190560" y="2223720"/>
            <a:ext cx="228528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0" u="none" strike="noStrike">
                <a:solidFill>
                  <a:srgbClr val="c7cdee"/>
                </a:solidFill>
                <a:effectLst/>
                <a:uFillTx/>
                <a:latin typeface="Calibri"/>
                <a:ea typeface="Calibri"/>
              </a:rPr>
              <a:t>roczny koszt łączny: dzieci, dorośli </a:t>
            </a:r>
            <a:br>
              <a:rPr sz="1200"/>
            </a:br>
            <a:r>
              <a:rPr lang="pl-PL" sz="1200" b="0" u="none" strike="noStrike">
                <a:solidFill>
                  <a:srgbClr val="c7cdee"/>
                </a:solidFill>
                <a:effectLst/>
                <a:uFillTx/>
                <a:latin typeface="Calibri"/>
                <a:ea typeface="Calibri"/>
              </a:rPr>
              <a:t>i ich rodziny (Doshi et al., 2012)</a:t>
            </a:r>
            <a:endParaRPr lang="pl-PL" sz="1200" b="0" u="none" strike="noStrike">
              <a:solidFill>
                <a:srgbClr val="000000"/>
              </a:solidFill>
              <a:effectLst/>
              <a:uFillTx/>
              <a:latin typeface="Arial"/>
            </a:endParaRPr>
          </a:p>
        </p:txBody>
      </p:sp>
      <p:graphicFrame>
        <p:nvGraphicFramePr>
          <p:cNvPr id="330" name="Table 0"/>
          <p:cNvGraphicFramePr/>
          <p:nvPr/>
        </p:nvGraphicFramePr>
        <p:xfrm>
          <a:off x="502920" y="3046680"/>
          <a:ext cx="8137800" cy="1463040"/>
        </p:xfrm>
        <a:graphic>
          <a:graphicData uri="http://schemas.openxmlformats.org/drawingml/2006/table">
            <a:tbl>
              <a:tblPr/>
              <a:tblGrid>
                <a:gridCol w="2331720"/>
                <a:gridCol w="5806440"/>
              </a:tblGrid>
              <a:tr h="365760">
                <a:tc>
                  <a:txBody>
                    <a:bodyPr tIns="36360" bIns="36360" anchor="ctr">
                      <a:noAutofit/>
                    </a:bodyPr>
                    <a:p>
                      <a:pPr defTabSz="914400">
                        <a:lnSpc>
                          <a:spcPct val="100000"/>
                        </a:lnSpc>
                        <a:tabLst>
                          <a:tab algn="l" pos="0"/>
                        </a:tabLst>
                      </a:pPr>
                      <a:r>
                        <a:rPr lang="pl-PL" sz="1400" b="1" u="none" strike="noStrike">
                          <a:solidFill>
                            <a:srgbClr val="ffffff"/>
                          </a:solidFill>
                          <a:effectLst/>
                          <a:uFillTx/>
                          <a:latin typeface="Calibri"/>
                          <a:ea typeface="Calibri"/>
                        </a:rPr>
                        <a:t>Kategoria</a:t>
                      </a:r>
                      <a:endParaRPr lang="pl-PL" sz="14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en-US" sz="1400" b="1" u="none" strike="noStrike">
                          <a:solidFill>
                            <a:srgbClr val="ffffff"/>
                          </a:solidFill>
                          <a:effectLst/>
                          <a:uFillTx/>
                          <a:latin typeface="Calibri"/>
                          <a:ea typeface="Calibri"/>
                        </a:rPr>
                        <a:t>Przykładowe składowe</a:t>
                      </a:r>
                      <a:endParaRPr lang="pl-PL" sz="14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r>
              <a:tr h="365760">
                <a:tc>
                  <a:txBody>
                    <a:bodyPr tIns="36360" bIns="36360" anchor="ctr">
                      <a:noAutofit/>
                    </a:bodyPr>
                    <a:p>
                      <a:pPr defTabSz="914400">
                        <a:lnSpc>
                          <a:spcPct val="100000"/>
                        </a:lnSpc>
                        <a:tabLst>
                          <a:tab algn="l" pos="0"/>
                        </a:tabLst>
                      </a:pPr>
                      <a:r>
                        <a:rPr lang="en-US" sz="1200" b="1" u="none" strike="noStrike">
                          <a:solidFill>
                            <a:srgbClr val="1b2148"/>
                          </a:solidFill>
                          <a:effectLst/>
                          <a:uFillTx/>
                          <a:latin typeface="Calibri"/>
                          <a:ea typeface="Calibri"/>
                        </a:rPr>
                        <a:t>Ochrona zdrowia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en-US" sz="1200" b="0" u="none" strike="noStrike">
                          <a:solidFill>
                            <a:srgbClr val="55607a"/>
                          </a:solidFill>
                          <a:effectLst/>
                          <a:uFillTx/>
                          <a:latin typeface="Calibri"/>
                          <a:ea typeface="Calibri"/>
                        </a:rPr>
                        <a:t>Diagnoza, leki, konsultacje, hospitalizacje, leczenie SUD i urazów</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365760">
                <a:tc>
                  <a:txBody>
                    <a:bodyPr tIns="36360" bIns="36360" anchor="ctr">
                      <a:noAutofit/>
                    </a:bodyPr>
                    <a:p>
                      <a:pPr defTabSz="914400">
                        <a:lnSpc>
                          <a:spcPct val="100000"/>
                        </a:lnSpc>
                        <a:tabLst>
                          <a:tab algn="l" pos="0"/>
                        </a:tabLst>
                      </a:pPr>
                      <a:r>
                        <a:rPr lang="en-US" sz="1200" b="1" u="none" strike="noStrike">
                          <a:solidFill>
                            <a:srgbClr val="1b2148"/>
                          </a:solidFill>
                          <a:effectLst/>
                          <a:uFillTx/>
                          <a:latin typeface="Calibri"/>
                          <a:ea typeface="Calibri"/>
                        </a:rPr>
                        <a:t>Edukacja i praca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en-US" sz="1200" b="0" u="none" strike="noStrike">
                          <a:solidFill>
                            <a:srgbClr val="55607a"/>
                          </a:solidFill>
                          <a:effectLst/>
                          <a:uFillTx/>
                          <a:latin typeface="Calibri"/>
                          <a:ea typeface="Calibri"/>
                        </a:rPr>
                        <a:t>Wsparcie specjalistyczne, powtarzanie klasy, absencja, prezenteizm, bezrobocie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365760">
                <a:tc>
                  <a:txBody>
                    <a:bodyPr tIns="36360" bIns="36360" anchor="ctr">
                      <a:noAutofit/>
                    </a:bodyPr>
                    <a:p>
                      <a:pPr defTabSz="914400">
                        <a:lnSpc>
                          <a:spcPct val="100000"/>
                        </a:lnSpc>
                        <a:tabLst>
                          <a:tab algn="l" pos="0"/>
                        </a:tabLst>
                      </a:pPr>
                      <a:r>
                        <a:rPr lang="en-US" sz="1200" b="1" u="none" strike="noStrike">
                          <a:solidFill>
                            <a:srgbClr val="1b2148"/>
                          </a:solidFill>
                          <a:effectLst/>
                          <a:uFillTx/>
                          <a:latin typeface="Calibri"/>
                          <a:ea typeface="Calibri"/>
                        </a:rPr>
                        <a:t>Rodzina, wypadki, prawo</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en-US" sz="1200" b="0" u="none" strike="noStrike">
                          <a:solidFill>
                            <a:srgbClr val="55607a"/>
                          </a:solidFill>
                          <a:effectLst/>
                          <a:uFillTx/>
                          <a:latin typeface="Calibri"/>
                          <a:ea typeface="Calibri"/>
                        </a:rPr>
                        <a:t>Obciążenie opiekunów, leczenie urazów, policja, sądy, więziennictwo</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bl>
          </a:graphicData>
        </a:graphic>
      </p:graphicFrame>
      <p:sp>
        <p:nvSpPr>
          <p:cNvPr id="331" name="Text 12"/>
          <p:cNvSpPr/>
          <p:nvPr/>
        </p:nvSpPr>
        <p:spPr>
          <a:xfrm>
            <a:off x="502920" y="4626720"/>
            <a:ext cx="81374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950" b="0" i="1" u="none" strike="noStrike">
                <a:solidFill>
                  <a:srgbClr val="96a0bc"/>
                </a:solidFill>
                <a:effectLst/>
                <a:uFillTx/>
                <a:latin typeface="Calibri"/>
                <a:ea typeface="Calibri"/>
              </a:rPr>
              <a:t>Dla Polski nie istnieje obecnie równie pełne oszacowanie — mechaniczne przeliczenie kosztów USD na PLN byłoby niepoprawne metodologicznie.</a:t>
            </a:r>
            <a:endParaRPr lang="pl-PL" sz="950" b="0" u="none" strike="noStrike">
              <a:solidFill>
                <a:srgbClr val="000000"/>
              </a:solidFill>
              <a:effectLst/>
              <a:uFillTx/>
              <a:latin typeface="Arial"/>
            </a:endParaRPr>
          </a:p>
        </p:txBody>
      </p:sp>
      <p:sp>
        <p:nvSpPr>
          <p:cNvPr id="332" name="Text 13"/>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21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SYNTEZA · META-ANALIZA</a:t>
            </a:r>
            <a:endParaRPr lang="pl-PL" sz="1100" b="0" u="none" strike="noStrike">
              <a:solidFill>
                <a:srgbClr val="000000"/>
              </a:solidFill>
              <a:effectLst/>
              <a:uFillTx/>
              <a:latin typeface="Arial"/>
            </a:endParaRPr>
          </a:p>
        </p:txBody>
      </p:sp>
      <p:sp>
        <p:nvSpPr>
          <p:cNvPr id="334"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200" b="1" u="none" strike="noStrike">
                <a:solidFill>
                  <a:srgbClr val="1b2148"/>
                </a:solidFill>
                <a:effectLst/>
                <a:uFillTx/>
                <a:latin typeface="Cambria"/>
                <a:ea typeface="Cambria"/>
              </a:rPr>
              <a:t>Osoby z ADHD osiągają systematycznie gorsze wyniki życiowe</a:t>
            </a:r>
            <a:endParaRPr lang="pl-PL" sz="2200" b="0" u="none" strike="noStrike">
              <a:solidFill>
                <a:srgbClr val="000000"/>
              </a:solidFill>
              <a:effectLst/>
              <a:uFillTx/>
              <a:latin typeface="Arial"/>
            </a:endParaRPr>
          </a:p>
        </p:txBody>
      </p:sp>
      <p:sp>
        <p:nvSpPr>
          <p:cNvPr id="335" name="Text 2"/>
          <p:cNvSpPr/>
          <p:nvPr/>
        </p:nvSpPr>
        <p:spPr>
          <a:xfrm>
            <a:off x="502920" y="1089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Faraone et al. (2021) — 86 badań, N = 2 639 438 (dzieci, młodzież i dorośli)</a:t>
            </a:r>
            <a:endParaRPr lang="pl-PL" sz="1200" b="0" u="none" strike="noStrike">
              <a:solidFill>
                <a:srgbClr val="000000"/>
              </a:solidFill>
              <a:effectLst/>
              <a:uFillTx/>
              <a:latin typeface="Arial"/>
            </a:endParaRPr>
          </a:p>
        </p:txBody>
      </p:sp>
      <p:graphicFrame>
        <p:nvGraphicFramePr>
          <p:cNvPr id="336" name="Chart 0"/>
          <p:cNvGraphicFramePr/>
          <p:nvPr/>
        </p:nvGraphicFramePr>
        <p:xfrm>
          <a:off x="411480" y="1410480"/>
          <a:ext cx="8320320" cy="2696760"/>
        </p:xfrm>
        <a:graphic>
          <a:graphicData uri="http://schemas.openxmlformats.org/drawingml/2006/chart">
            <c:chart xmlns:c="http://schemas.openxmlformats.org/drawingml/2006/chart" xmlns:r="http://schemas.openxmlformats.org/officeDocument/2006/relationships" r:id="rId1"/>
          </a:graphicData>
        </a:graphic>
      </p:graphicFrame>
      <p:sp>
        <p:nvSpPr>
          <p:cNvPr id="337" name="Text 3"/>
          <p:cNvSpPr/>
          <p:nvPr/>
        </p:nvSpPr>
        <p:spPr>
          <a:xfrm>
            <a:off x="540000" y="4248000"/>
            <a:ext cx="8137440" cy="39564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600" b="0" i="1" u="none" strike="noStrike">
                <a:solidFill>
                  <a:srgbClr val="55607a"/>
                </a:solidFill>
                <a:effectLst/>
                <a:uFillTx/>
                <a:latin typeface="Calibri"/>
                <a:ea typeface="Calibri"/>
              </a:rPr>
              <a:t>Cohen's d (wartości ujemne = wyniki gorsze niż u osób bez ADHD)  </a:t>
            </a:r>
            <a:endParaRPr lang="pl-PL" sz="1600" b="0" u="none" strike="noStrike">
              <a:solidFill>
                <a:srgbClr val="000000"/>
              </a:solidFill>
              <a:effectLst/>
              <a:uFillTx/>
              <a:latin typeface="Arial"/>
            </a:endParaRPr>
          </a:p>
          <a:p>
            <a:pPr algn="ctr" defTabSz="914400">
              <a:lnSpc>
                <a:spcPct val="100000"/>
              </a:lnSpc>
              <a:tabLst>
                <a:tab algn="l" pos="0"/>
              </a:tabLst>
            </a:pPr>
            <a:r>
              <a:rPr lang="pl-PL" sz="1600" b="0" i="1" u="none" strike="noStrike">
                <a:solidFill>
                  <a:srgbClr val="55607a"/>
                </a:solidFill>
                <a:effectLst/>
                <a:uFillTx/>
                <a:latin typeface="Calibri"/>
                <a:ea typeface="Calibri"/>
              </a:rPr>
              <a:t>·  interpretacja: 0,2 mały · 0,5 umiarkowany · 0,8 duży efekt</a:t>
            </a:r>
            <a:endParaRPr lang="pl-PL" sz="1600" b="0" u="none" strike="noStrike">
              <a:solidFill>
                <a:srgbClr val="000000"/>
              </a:solidFill>
              <a:effectLst/>
              <a:uFillTx/>
              <a:latin typeface="Arial"/>
            </a:endParaRPr>
          </a:p>
        </p:txBody>
      </p:sp>
      <p:sp>
        <p:nvSpPr>
          <p:cNvPr id="338" name="Text 4"/>
          <p:cNvSpPr/>
          <p:nvPr/>
        </p:nvSpPr>
        <p:spPr>
          <a:xfrm>
            <a:off x="142200" y="4869720"/>
            <a:ext cx="81374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850" b="0" i="1" u="none" strike="noStrike">
                <a:solidFill>
                  <a:srgbClr val="96a0bc"/>
                </a:solidFill>
                <a:effectLst/>
                <a:uFillTx/>
                <a:latin typeface="Calibri"/>
                <a:ea typeface="Calibri"/>
              </a:rPr>
              <a:t>Źródło: Faraone, S. V., Banaschewski, T., Coghill, D., et al. (2021). The World Federation of ADHD international consensus statement. Neuroscience &amp; Biobehavioral Reviews, 128, 789–818.</a:t>
            </a:r>
            <a:endParaRPr lang="pl-PL" sz="850" b="0" u="none" strike="noStrike">
              <a:solidFill>
                <a:srgbClr val="000000"/>
              </a:solidFill>
              <a:effectLst/>
              <a:uFillTx/>
              <a:latin typeface="Arial"/>
            </a:endParaRPr>
          </a:p>
        </p:txBody>
      </p:sp>
      <p:sp>
        <p:nvSpPr>
          <p:cNvPr id="339" name="Text 5"/>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22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LECZENIE · MODEL</a:t>
            </a:r>
            <a:endParaRPr lang="pl-PL" sz="1100" b="0" u="none" strike="noStrike">
              <a:solidFill>
                <a:srgbClr val="000000"/>
              </a:solidFill>
              <a:effectLst/>
              <a:uFillTx/>
              <a:latin typeface="Arial"/>
            </a:endParaRPr>
          </a:p>
        </p:txBody>
      </p:sp>
      <p:sp>
        <p:nvSpPr>
          <p:cNvPr id="341"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100" b="1" u="none" strike="noStrike">
                <a:solidFill>
                  <a:srgbClr val="1b2148"/>
                </a:solidFill>
                <a:effectLst/>
                <a:uFillTx/>
                <a:latin typeface="Cambria"/>
                <a:ea typeface="Cambria"/>
              </a:rPr>
              <a:t>Leczenie wielomodalne: </a:t>
            </a:r>
            <a:r>
              <a:rPr lang="pl-PL" sz="2100" b="0" u="none" strike="noStrike">
                <a:solidFill>
                  <a:srgbClr val="1b2148"/>
                </a:solidFill>
                <a:effectLst/>
                <a:uFillTx/>
                <a:latin typeface="Cambria"/>
                <a:ea typeface="Cambria"/>
              </a:rPr>
              <a:t>co działa, a co wymaga więcej dowodów</a:t>
            </a:r>
            <a:endParaRPr lang="pl-PL" sz="2100" b="0" u="none" strike="noStrike">
              <a:solidFill>
                <a:srgbClr val="000000"/>
              </a:solidFill>
              <a:effectLst/>
              <a:uFillTx/>
              <a:latin typeface="Arial"/>
            </a:endParaRPr>
          </a:p>
        </p:txBody>
      </p:sp>
      <p:sp>
        <p:nvSpPr>
          <p:cNvPr id="342" name="Text 2"/>
          <p:cNvSpPr/>
          <p:nvPr/>
        </p:nvSpPr>
        <p:spPr>
          <a:xfrm>
            <a:off x="502920" y="1053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Najsilniejsze dowody dotyczą redukcji objawów. Dla wyników funkcjonalnych efekty są mniejsze, ale klinicznie istotne</a:t>
            </a:r>
            <a:endParaRPr lang="pl-PL" sz="1200" b="0" u="none" strike="noStrike">
              <a:solidFill>
                <a:srgbClr val="000000"/>
              </a:solidFill>
              <a:effectLst/>
              <a:uFillTx/>
              <a:latin typeface="Arial"/>
            </a:endParaRPr>
          </a:p>
        </p:txBody>
      </p:sp>
      <p:sp>
        <p:nvSpPr>
          <p:cNvPr id="343" name="Text 3"/>
          <p:cNvSpPr/>
          <p:nvPr/>
        </p:nvSpPr>
        <p:spPr>
          <a:xfrm>
            <a:off x="502920" y="1600200"/>
            <a:ext cx="31996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500" b="1" u="none" strike="noStrike">
                <a:solidFill>
                  <a:srgbClr val="1b2148"/>
                </a:solidFill>
                <a:effectLst/>
                <a:uFillTx/>
                <a:latin typeface="Cambria"/>
                <a:ea typeface="Cambria"/>
              </a:rPr>
              <a:t>Składowe modelu</a:t>
            </a:r>
            <a:endParaRPr lang="pl-PL" sz="1500" b="0" u="none" strike="noStrike">
              <a:solidFill>
                <a:srgbClr val="000000"/>
              </a:solidFill>
              <a:effectLst/>
              <a:uFillTx/>
              <a:latin typeface="Arial"/>
            </a:endParaRPr>
          </a:p>
        </p:txBody>
      </p:sp>
      <p:sp>
        <p:nvSpPr>
          <p:cNvPr id="344" name="Shape 4"/>
          <p:cNvSpPr/>
          <p:nvPr/>
        </p:nvSpPr>
        <p:spPr>
          <a:xfrm>
            <a:off x="502920" y="1901880"/>
            <a:ext cx="3199680" cy="2742480"/>
          </a:xfrm>
          <a:prstGeom prst="roundRect">
            <a:avLst>
              <a:gd name="adj" fmla="val 3000"/>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45" name="Text 5"/>
          <p:cNvSpPr/>
          <p:nvPr/>
        </p:nvSpPr>
        <p:spPr>
          <a:xfrm>
            <a:off x="569160" y="2066400"/>
            <a:ext cx="3030480" cy="246816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Farmakoterapia dobrana do profilu ryzyka</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Psychoedukacja pacjenta i rodziny</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Terapia poznawczo-behawioralna</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Trening funkcji wykonawczych</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Leczenie współchorobowości i SUD</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Interwencje rodzinne</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Dostosowania edukacyjne i zawodowe</a:t>
            </a:r>
            <a:endParaRPr lang="pl-PL" sz="1300" b="0" u="none" strike="noStrike">
              <a:solidFill>
                <a:srgbClr val="000000"/>
              </a:solidFill>
              <a:effectLst/>
              <a:uFillTx/>
              <a:latin typeface="Arial"/>
            </a:endParaRPr>
          </a:p>
          <a:p>
            <a:pPr marL="177840" indent="-177840" defTabSz="914400">
              <a:lnSpc>
                <a:spcPct val="108000"/>
              </a:lnSpc>
              <a:spcAft>
                <a:spcPts val="601"/>
              </a:spcAft>
              <a:buClr>
                <a:srgbClr val="1b2148"/>
              </a:buClr>
              <a:buFont typeface="Wingdings" charset="2"/>
              <a:buChar char=""/>
            </a:pPr>
            <a:r>
              <a:rPr lang="pl-PL" sz="1300" b="0" u="none" strike="noStrike">
                <a:solidFill>
                  <a:srgbClr val="1b2148"/>
                </a:solidFill>
                <a:effectLst/>
                <a:uFillTx/>
                <a:latin typeface="Calibri"/>
                <a:ea typeface="Calibri"/>
              </a:rPr>
              <a:t>Leczenie zaburzeń snu</a:t>
            </a:r>
            <a:endParaRPr lang="pl-PL" sz="1300" b="0" u="none" strike="noStrike">
              <a:solidFill>
                <a:srgbClr val="000000"/>
              </a:solidFill>
              <a:effectLst/>
              <a:uFillTx/>
              <a:latin typeface="Arial"/>
            </a:endParaRPr>
          </a:p>
        </p:txBody>
      </p:sp>
      <p:sp>
        <p:nvSpPr>
          <p:cNvPr id="346" name="Text 6"/>
          <p:cNvSpPr/>
          <p:nvPr/>
        </p:nvSpPr>
        <p:spPr>
          <a:xfrm>
            <a:off x="3931920" y="1600200"/>
            <a:ext cx="47084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1b2148"/>
                </a:solidFill>
                <a:effectLst/>
                <a:uFillTx/>
                <a:latin typeface="Cambria"/>
                <a:ea typeface="Cambria"/>
              </a:rPr>
              <a:t>Synteza dowodów wg obszaru</a:t>
            </a:r>
            <a:endParaRPr lang="pl-PL" sz="1300" b="0" u="none" strike="noStrike">
              <a:solidFill>
                <a:srgbClr val="000000"/>
              </a:solidFill>
              <a:effectLst/>
              <a:uFillTx/>
              <a:latin typeface="Arial"/>
            </a:endParaRPr>
          </a:p>
        </p:txBody>
      </p:sp>
      <p:graphicFrame>
        <p:nvGraphicFramePr>
          <p:cNvPr id="347" name="Table 0"/>
          <p:cNvGraphicFramePr/>
          <p:nvPr/>
        </p:nvGraphicFramePr>
        <p:xfrm>
          <a:off x="3931920" y="1901880"/>
          <a:ext cx="4708800" cy="3111840"/>
        </p:xfrm>
        <a:graphic>
          <a:graphicData uri="http://schemas.openxmlformats.org/drawingml/2006/table">
            <a:tbl>
              <a:tblPr/>
              <a:tblGrid>
                <a:gridCol w="1874520"/>
                <a:gridCol w="2834640"/>
              </a:tblGrid>
              <a:tr h="297000">
                <a:tc>
                  <a:txBody>
                    <a:bodyPr tIns="36360" bIns="36360" anchor="ctr">
                      <a:noAutofit/>
                    </a:bodyPr>
                    <a:p>
                      <a:pPr defTabSz="914400">
                        <a:lnSpc>
                          <a:spcPct val="100000"/>
                        </a:lnSpc>
                        <a:tabLst>
                          <a:tab algn="l" pos="0"/>
                        </a:tabLst>
                      </a:pPr>
                      <a:r>
                        <a:rPr lang="pl-PL" sz="1200" b="1" u="none" strike="noStrike">
                          <a:solidFill>
                            <a:srgbClr val="ffffff"/>
                          </a:solidFill>
                          <a:effectLst/>
                          <a:uFillTx/>
                          <a:latin typeface="Calibri"/>
                          <a:ea typeface="Calibri"/>
                        </a:rPr>
                        <a:t>Obszar</a:t>
                      </a:r>
                      <a:endParaRPr lang="pl-PL" sz="12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pl-PL" sz="1200" b="1" u="none" strike="noStrike">
                          <a:solidFill>
                            <a:srgbClr val="ffffff"/>
                          </a:solidFill>
                          <a:effectLst/>
                          <a:uFillTx/>
                          <a:latin typeface="Calibri"/>
                          <a:ea typeface="Calibri"/>
                        </a:rPr>
                        <a:t>Ocena dowodów</a:t>
                      </a:r>
                      <a:endParaRPr lang="pl-PL" sz="12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Objawy ADHD</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Silne dowody poprawy</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Uzależnienia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Brak wzrostu ryzyka; możliwa redukcja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Przestępczość</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Umiarkowanie silne dowody redukcji</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Wypadki transportowe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Prawdopodobna redukcja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Zachowania samobójcze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Prawdopodobna redukcja (rejestry)</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Edukacja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Mała–umiarkowana poprawa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Zatrudnienie / dochody</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Możliwa poprawa, dane słabsze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Relacje i rodzina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Możliwa poprawa + interwencje systemowe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29700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Recydywa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Dane ograniczone</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bl>
          </a:graphicData>
        </a:graphic>
      </p:graphicFrame>
      <p:sp>
        <p:nvSpPr>
          <p:cNvPr id="348" name="Text 7"/>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23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9"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FARMAKOTERAPIA</a:t>
            </a:r>
            <a:endParaRPr lang="pl-PL" sz="1100" b="0" u="none" strike="noStrike">
              <a:solidFill>
                <a:srgbClr val="000000"/>
              </a:solidFill>
              <a:effectLst/>
              <a:uFillTx/>
              <a:latin typeface="Arial"/>
            </a:endParaRPr>
          </a:p>
        </p:txBody>
      </p:sp>
      <p:sp>
        <p:nvSpPr>
          <p:cNvPr id="350"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500" b="1" u="none" strike="noStrike">
                <a:solidFill>
                  <a:srgbClr val="1b2148"/>
                </a:solidFill>
                <a:effectLst/>
                <a:uFillTx/>
                <a:latin typeface="Cambria"/>
                <a:ea typeface="Cambria"/>
              </a:rPr>
              <a:t>Klasy leków i ich porównawcza skuteczność</a:t>
            </a:r>
            <a:endParaRPr lang="pl-PL" sz="2500" b="0" u="none" strike="noStrike">
              <a:solidFill>
                <a:srgbClr val="000000"/>
              </a:solidFill>
              <a:effectLst/>
              <a:uFillTx/>
              <a:latin typeface="Arial"/>
            </a:endParaRPr>
          </a:p>
        </p:txBody>
      </p:sp>
      <p:sp>
        <p:nvSpPr>
          <p:cNvPr id="351"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Metaanaliza sieciowa 133 RCT, dzieci i młodzież, SMD względem placebo (ocena klinicystów)</a:t>
            </a:r>
            <a:endParaRPr lang="pl-PL" sz="1200" b="0" u="none" strike="noStrike">
              <a:solidFill>
                <a:srgbClr val="000000"/>
              </a:solidFill>
              <a:effectLst/>
              <a:uFillTx/>
              <a:latin typeface="Arial"/>
            </a:endParaRPr>
          </a:p>
        </p:txBody>
      </p:sp>
      <p:sp>
        <p:nvSpPr>
          <p:cNvPr id="352" name="Shape 3"/>
          <p:cNvSpPr/>
          <p:nvPr/>
        </p:nvSpPr>
        <p:spPr>
          <a:xfrm>
            <a:off x="1596240" y="1403640"/>
            <a:ext cx="4299840" cy="1370880"/>
          </a:xfrm>
          <a:prstGeom prst="rect">
            <a:avLst/>
          </a:prstGeom>
          <a:solidFill>
            <a:srgbClr val="f4f6fa"/>
          </a:solidFill>
          <a:ln w="936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53" name="Shape 4"/>
          <p:cNvSpPr/>
          <p:nvPr/>
        </p:nvSpPr>
        <p:spPr>
          <a:xfrm>
            <a:off x="5896080" y="1403640"/>
            <a:ext cx="360" cy="1371600"/>
          </a:xfrm>
          <a:prstGeom prst="line">
            <a:avLst/>
          </a:prstGeom>
          <a:ln w="15840">
            <a:solidFill>
              <a:srgbClr val="96a0bc"/>
            </a:solidFill>
            <a:prstDash val="dash"/>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54" name="Text 5"/>
          <p:cNvSpPr/>
          <p:nvPr/>
        </p:nvSpPr>
        <p:spPr>
          <a:xfrm>
            <a:off x="502920" y="1440360"/>
            <a:ext cx="12884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1b2148"/>
                </a:solidFill>
                <a:effectLst/>
                <a:uFillTx/>
                <a:latin typeface="Calibri"/>
                <a:ea typeface="Calibri"/>
              </a:rPr>
              <a:t>Amfetaminy</a:t>
            </a:r>
            <a:endParaRPr lang="pl-PL" sz="1100" b="0" u="none" strike="noStrike">
              <a:solidFill>
                <a:srgbClr val="000000"/>
              </a:solidFill>
              <a:effectLst/>
              <a:uFillTx/>
              <a:latin typeface="Arial"/>
            </a:endParaRPr>
          </a:p>
        </p:txBody>
      </p:sp>
      <p:sp>
        <p:nvSpPr>
          <p:cNvPr id="355" name="Shape 6"/>
          <p:cNvSpPr/>
          <p:nvPr/>
        </p:nvSpPr>
        <p:spPr>
          <a:xfrm>
            <a:off x="2006280" y="1632240"/>
            <a:ext cx="1267200" cy="360"/>
          </a:xfrm>
          <a:prstGeom prst="line">
            <a:avLst/>
          </a:prstGeom>
          <a:ln w="28440">
            <a:solidFill>
              <a:srgbClr val="c23b4b"/>
            </a:solidFill>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356" name="Shape 7"/>
          <p:cNvSpPr/>
          <p:nvPr/>
        </p:nvSpPr>
        <p:spPr>
          <a:xfrm>
            <a:off x="2006280" y="1568160"/>
            <a:ext cx="360" cy="127800"/>
          </a:xfrm>
          <a:prstGeom prst="line">
            <a:avLst/>
          </a:prstGeom>
          <a:ln w="19080">
            <a:solidFill>
              <a:srgbClr val="c23b4b"/>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57" name="Shape 8"/>
          <p:cNvSpPr/>
          <p:nvPr/>
        </p:nvSpPr>
        <p:spPr>
          <a:xfrm>
            <a:off x="3273480" y="1568160"/>
            <a:ext cx="360" cy="127800"/>
          </a:xfrm>
          <a:prstGeom prst="line">
            <a:avLst/>
          </a:prstGeom>
          <a:ln w="19080">
            <a:solidFill>
              <a:srgbClr val="c23b4b"/>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58" name="Shape 9"/>
          <p:cNvSpPr/>
          <p:nvPr/>
        </p:nvSpPr>
        <p:spPr>
          <a:xfrm>
            <a:off x="2571480" y="1563840"/>
            <a:ext cx="136440" cy="136440"/>
          </a:xfrm>
          <a:prstGeom prst="ellipse">
            <a:avLst/>
          </a:prstGeom>
          <a:solidFill>
            <a:srgbClr val="c23b4b"/>
          </a:solidFill>
          <a:ln w="15840">
            <a:solidFill>
              <a:srgbClr val="ffff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59" name="Text 10"/>
          <p:cNvSpPr/>
          <p:nvPr/>
        </p:nvSpPr>
        <p:spPr>
          <a:xfrm>
            <a:off x="6012000" y="1440360"/>
            <a:ext cx="2699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000000"/>
                </a:solidFill>
                <a:effectLst/>
                <a:uFillTx/>
                <a:latin typeface="Calibri"/>
                <a:ea typeface="Calibri"/>
              </a:rPr>
              <a:t>SMD −1,02 [−1,19; −0,85]  ·  </a:t>
            </a:r>
            <a:r>
              <a:rPr lang="pl-PL" sz="1100" b="1" u="none" strike="noStrike">
                <a:solidFill>
                  <a:srgbClr val="000000"/>
                </a:solidFill>
                <a:effectLst/>
                <a:uFillTx/>
                <a:latin typeface="Calibri"/>
                <a:ea typeface="Calibri"/>
              </a:rPr>
              <a:t>duży efekt</a:t>
            </a:r>
            <a:endParaRPr lang="pl-PL" sz="1100" b="0" u="none" strike="noStrike">
              <a:solidFill>
                <a:srgbClr val="000000"/>
              </a:solidFill>
              <a:effectLst/>
              <a:uFillTx/>
              <a:latin typeface="Arial"/>
            </a:endParaRPr>
          </a:p>
        </p:txBody>
      </p:sp>
      <p:sp>
        <p:nvSpPr>
          <p:cNvPr id="360" name="Text 11"/>
          <p:cNvSpPr/>
          <p:nvPr/>
        </p:nvSpPr>
        <p:spPr>
          <a:xfrm>
            <a:off x="502920" y="1897560"/>
            <a:ext cx="12884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1b2148"/>
                </a:solidFill>
                <a:effectLst/>
                <a:uFillTx/>
                <a:latin typeface="Calibri"/>
                <a:ea typeface="Calibri"/>
              </a:rPr>
              <a:t>Metylofenidat</a:t>
            </a:r>
            <a:endParaRPr lang="pl-PL" sz="1100" b="0" u="none" strike="noStrike">
              <a:solidFill>
                <a:srgbClr val="000000"/>
              </a:solidFill>
              <a:effectLst/>
              <a:uFillTx/>
              <a:latin typeface="Arial"/>
            </a:endParaRPr>
          </a:p>
        </p:txBody>
      </p:sp>
      <p:sp>
        <p:nvSpPr>
          <p:cNvPr id="361" name="Shape 12"/>
          <p:cNvSpPr/>
          <p:nvPr/>
        </p:nvSpPr>
        <p:spPr>
          <a:xfrm>
            <a:off x="2975400" y="2089440"/>
            <a:ext cx="1155600" cy="360"/>
          </a:xfrm>
          <a:prstGeom prst="line">
            <a:avLst/>
          </a:prstGeom>
          <a:ln w="28440">
            <a:solidFill>
              <a:srgbClr val="1b2148"/>
            </a:solidFill>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362" name="Shape 13"/>
          <p:cNvSpPr/>
          <p:nvPr/>
        </p:nvSpPr>
        <p:spPr>
          <a:xfrm>
            <a:off x="2975400" y="2025360"/>
            <a:ext cx="360" cy="127800"/>
          </a:xfrm>
          <a:prstGeom prst="line">
            <a:avLst/>
          </a:prstGeom>
          <a:ln w="19080">
            <a:solidFill>
              <a:srgbClr val="1b2148"/>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63" name="Shape 14"/>
          <p:cNvSpPr/>
          <p:nvPr/>
        </p:nvSpPr>
        <p:spPr>
          <a:xfrm>
            <a:off x="4131000" y="2025360"/>
            <a:ext cx="360" cy="127800"/>
          </a:xfrm>
          <a:prstGeom prst="line">
            <a:avLst/>
          </a:prstGeom>
          <a:ln w="19080">
            <a:solidFill>
              <a:srgbClr val="1b2148"/>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64" name="Shape 15"/>
          <p:cNvSpPr/>
          <p:nvPr/>
        </p:nvSpPr>
        <p:spPr>
          <a:xfrm>
            <a:off x="3466080" y="2021040"/>
            <a:ext cx="136440" cy="136440"/>
          </a:xfrm>
          <a:prstGeom prst="ellipse">
            <a:avLst/>
          </a:prstGeom>
          <a:solidFill>
            <a:srgbClr val="1b2148"/>
          </a:solidFill>
          <a:ln w="15840">
            <a:solidFill>
              <a:srgbClr val="ffff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65" name="Text 16"/>
          <p:cNvSpPr/>
          <p:nvPr/>
        </p:nvSpPr>
        <p:spPr>
          <a:xfrm>
            <a:off x="6012000" y="1897560"/>
            <a:ext cx="2699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000000"/>
                </a:solidFill>
                <a:effectLst/>
                <a:uFillTx/>
                <a:latin typeface="Calibri"/>
                <a:ea typeface="Calibri"/>
              </a:rPr>
              <a:t>SMD −0,78 [−0,93; −0,62]  ·  </a:t>
            </a:r>
            <a:r>
              <a:rPr lang="pl-PL" sz="1100" b="1" u="none" strike="noStrike">
                <a:solidFill>
                  <a:srgbClr val="000000"/>
                </a:solidFill>
                <a:effectLst/>
                <a:uFillTx/>
                <a:latin typeface="Calibri"/>
                <a:ea typeface="Calibri"/>
              </a:rPr>
              <a:t>duży efekt</a:t>
            </a:r>
            <a:endParaRPr lang="pl-PL" sz="1100" b="0" u="none" strike="noStrike">
              <a:solidFill>
                <a:srgbClr val="000000"/>
              </a:solidFill>
              <a:effectLst/>
              <a:uFillTx/>
              <a:latin typeface="Arial"/>
            </a:endParaRPr>
          </a:p>
        </p:txBody>
      </p:sp>
      <p:sp>
        <p:nvSpPr>
          <p:cNvPr id="366" name="Text 17"/>
          <p:cNvSpPr/>
          <p:nvPr/>
        </p:nvSpPr>
        <p:spPr>
          <a:xfrm>
            <a:off x="502920" y="2354760"/>
            <a:ext cx="12884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trike="noStrike">
                <a:solidFill>
                  <a:srgbClr val="1b2148"/>
                </a:solidFill>
                <a:effectLst/>
                <a:uFillTx/>
                <a:latin typeface="Calibri"/>
                <a:ea typeface="Calibri"/>
              </a:rPr>
              <a:t>Atomoksetyna</a:t>
            </a:r>
            <a:endParaRPr lang="pl-PL" sz="1100" b="0" u="none" strike="noStrike">
              <a:solidFill>
                <a:srgbClr val="000000"/>
              </a:solidFill>
              <a:effectLst/>
              <a:uFillTx/>
              <a:latin typeface="Arial"/>
            </a:endParaRPr>
          </a:p>
        </p:txBody>
      </p:sp>
      <p:sp>
        <p:nvSpPr>
          <p:cNvPr id="367" name="Shape 18"/>
          <p:cNvSpPr/>
          <p:nvPr/>
        </p:nvSpPr>
        <p:spPr>
          <a:xfrm>
            <a:off x="3981960" y="2546640"/>
            <a:ext cx="783000" cy="360"/>
          </a:xfrm>
          <a:prstGeom prst="line">
            <a:avLst/>
          </a:prstGeom>
          <a:ln w="28440">
            <a:solidFill>
              <a:srgbClr val="1f8a82"/>
            </a:solidFill>
            <a:round/>
          </a:ln>
        </p:spPr>
        <p:style>
          <a:lnRef idx="0"/>
          <a:fillRef idx="0"/>
          <a:effectRef idx="0"/>
          <a:fontRef idx="minor"/>
        </p:style>
        <p:txBody>
          <a:bodyPr lIns="90000" rIns="90000" tIns="-44640" bIns="-44640" anchor="t" anchorCtr="1">
            <a:noAutofit/>
          </a:bodyPr>
          <a:p>
            <a:endParaRPr lang="pl-PL" sz="1800" b="0" u="none" strike="noStrike">
              <a:solidFill>
                <a:srgbClr val="000000"/>
              </a:solidFill>
              <a:effectLst/>
              <a:uFillTx/>
              <a:latin typeface="Arial"/>
              <a:ea typeface="DejaVu Sans"/>
            </a:endParaRPr>
          </a:p>
        </p:txBody>
      </p:sp>
      <p:sp>
        <p:nvSpPr>
          <p:cNvPr id="368" name="Shape 19"/>
          <p:cNvSpPr/>
          <p:nvPr/>
        </p:nvSpPr>
        <p:spPr>
          <a:xfrm>
            <a:off x="3981960" y="2482560"/>
            <a:ext cx="360" cy="127800"/>
          </a:xfrm>
          <a:prstGeom prst="line">
            <a:avLst/>
          </a:prstGeom>
          <a:ln w="19080">
            <a:solidFill>
              <a:srgbClr val="1f8a82"/>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69" name="Shape 20"/>
          <p:cNvSpPr/>
          <p:nvPr/>
        </p:nvSpPr>
        <p:spPr>
          <a:xfrm>
            <a:off x="4764960" y="2482560"/>
            <a:ext cx="360" cy="127800"/>
          </a:xfrm>
          <a:prstGeom prst="line">
            <a:avLst/>
          </a:prstGeom>
          <a:ln w="19080">
            <a:solidFill>
              <a:srgbClr val="1f8a82"/>
            </a:solidFill>
            <a:round/>
          </a:ln>
        </p:spPr>
        <p:style>
          <a:lnRef idx="0"/>
          <a:fillRef idx="0"/>
          <a:effectRef idx="0"/>
          <a:fontRef idx="minor"/>
        </p:style>
        <p:txBody>
          <a:bodyPr lIns="90000" rIns="90000" tIns="45000" bIns="45000" anchor="t" anchorCtr="1">
            <a:noAutofit/>
          </a:bodyPr>
          <a:p>
            <a:endParaRPr lang="pl-PL" sz="1800" b="0" u="none" strike="noStrike">
              <a:solidFill>
                <a:srgbClr val="000000"/>
              </a:solidFill>
              <a:effectLst/>
              <a:uFillTx/>
              <a:latin typeface="Arial"/>
              <a:ea typeface="DejaVu Sans"/>
            </a:endParaRPr>
          </a:p>
        </p:txBody>
      </p:sp>
      <p:sp>
        <p:nvSpPr>
          <p:cNvPr id="370" name="Shape 21"/>
          <p:cNvSpPr/>
          <p:nvPr/>
        </p:nvSpPr>
        <p:spPr>
          <a:xfrm>
            <a:off x="4286160" y="2478240"/>
            <a:ext cx="136440" cy="136440"/>
          </a:xfrm>
          <a:prstGeom prst="ellipse">
            <a:avLst/>
          </a:prstGeom>
          <a:solidFill>
            <a:srgbClr val="1f8a82"/>
          </a:solidFill>
          <a:ln w="15840">
            <a:solidFill>
              <a:srgbClr val="ffffff"/>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71" name="Text 22"/>
          <p:cNvSpPr/>
          <p:nvPr/>
        </p:nvSpPr>
        <p:spPr>
          <a:xfrm>
            <a:off x="6012000" y="2354760"/>
            <a:ext cx="287964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0" u="none" strike="noStrike">
                <a:solidFill>
                  <a:srgbClr val="000000"/>
                </a:solidFill>
                <a:effectLst/>
                <a:uFillTx/>
                <a:latin typeface="Calibri"/>
                <a:ea typeface="Calibri"/>
              </a:rPr>
              <a:t>SMD −0,56 [−0,66; −0,45]  ·  </a:t>
            </a:r>
            <a:r>
              <a:rPr lang="pl-PL" sz="1100" b="1" u="none" strike="noStrike">
                <a:solidFill>
                  <a:srgbClr val="000000"/>
                </a:solidFill>
                <a:effectLst/>
                <a:uFillTx/>
                <a:latin typeface="Calibri"/>
                <a:ea typeface="Calibri"/>
              </a:rPr>
              <a:t>umiarkowany efekt </a:t>
            </a:r>
            <a:endParaRPr lang="pl-PL" sz="1100" b="0" u="none" strike="noStrike">
              <a:solidFill>
                <a:srgbClr val="000000"/>
              </a:solidFill>
              <a:effectLst/>
              <a:uFillTx/>
              <a:latin typeface="Arial"/>
            </a:endParaRPr>
          </a:p>
        </p:txBody>
      </p:sp>
      <p:sp>
        <p:nvSpPr>
          <p:cNvPr id="372" name="Text 23"/>
          <p:cNvSpPr/>
          <p:nvPr/>
        </p:nvSpPr>
        <p:spPr>
          <a:xfrm>
            <a:off x="1620000" y="2586600"/>
            <a:ext cx="5479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u="none" strike="noStrike">
                <a:solidFill>
                  <a:srgbClr val="000000"/>
                </a:solidFill>
                <a:effectLst/>
                <a:uFillTx/>
                <a:latin typeface="Calibri"/>
                <a:ea typeface="Calibri"/>
              </a:rPr>
              <a:t>-1.3</a:t>
            </a:r>
            <a:endParaRPr lang="pl-PL" sz="1000" b="0" u="none" strike="noStrike">
              <a:solidFill>
                <a:srgbClr val="000000"/>
              </a:solidFill>
              <a:effectLst/>
              <a:uFillTx/>
              <a:latin typeface="Arial"/>
            </a:endParaRPr>
          </a:p>
        </p:txBody>
      </p:sp>
      <p:sp>
        <p:nvSpPr>
          <p:cNvPr id="373" name="Text 24"/>
          <p:cNvSpPr/>
          <p:nvPr/>
        </p:nvSpPr>
        <p:spPr>
          <a:xfrm>
            <a:off x="5256000" y="2766600"/>
            <a:ext cx="1279440" cy="182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050" b="0" u="none" strike="noStrike">
                <a:solidFill>
                  <a:srgbClr val="000000"/>
                </a:solidFill>
                <a:effectLst/>
                <a:uFillTx/>
                <a:latin typeface="Calibri"/>
                <a:ea typeface="Calibri"/>
              </a:rPr>
              <a:t>brak efektu (0)</a:t>
            </a:r>
            <a:endParaRPr lang="pl-PL" sz="1050" b="0" u="none" strike="noStrike">
              <a:solidFill>
                <a:srgbClr val="000000"/>
              </a:solidFill>
              <a:effectLst/>
              <a:uFillTx/>
              <a:latin typeface="Arial"/>
            </a:endParaRPr>
          </a:p>
        </p:txBody>
      </p:sp>
      <p:sp>
        <p:nvSpPr>
          <p:cNvPr id="374" name="Text 25"/>
          <p:cNvSpPr/>
          <p:nvPr/>
        </p:nvSpPr>
        <p:spPr>
          <a:xfrm>
            <a:off x="5275800" y="2592000"/>
            <a:ext cx="5479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50" b="0" u="none" strike="noStrike">
                <a:solidFill>
                  <a:srgbClr val="000000"/>
                </a:solidFill>
                <a:effectLst/>
                <a:uFillTx/>
                <a:latin typeface="Calibri"/>
                <a:ea typeface="Calibri"/>
              </a:rPr>
              <a:t>0</a:t>
            </a:r>
            <a:endParaRPr lang="pl-PL" sz="850" b="0" u="none" strike="noStrike">
              <a:solidFill>
                <a:srgbClr val="000000"/>
              </a:solidFill>
              <a:effectLst/>
              <a:uFillTx/>
              <a:latin typeface="Arial"/>
            </a:endParaRPr>
          </a:p>
        </p:txBody>
      </p:sp>
      <p:graphicFrame>
        <p:nvGraphicFramePr>
          <p:cNvPr id="375" name="Table 0"/>
          <p:cNvGraphicFramePr/>
          <p:nvPr/>
        </p:nvGraphicFramePr>
        <p:xfrm>
          <a:off x="502920" y="3204360"/>
          <a:ext cx="8137800" cy="1461600"/>
        </p:xfrm>
        <a:graphic>
          <a:graphicData uri="http://schemas.openxmlformats.org/drawingml/2006/table">
            <a:tbl>
              <a:tblPr/>
              <a:tblGrid>
                <a:gridCol w="1737360"/>
                <a:gridCol w="2834640"/>
                <a:gridCol w="3566160"/>
              </a:tblGrid>
              <a:tr h="292320">
                <a:tc>
                  <a:txBody>
                    <a:bodyPr tIns="36360" bIns="36360" anchor="ctr">
                      <a:noAutofit/>
                    </a:bodyPr>
                    <a:p>
                      <a:pPr defTabSz="914400">
                        <a:lnSpc>
                          <a:spcPct val="100000"/>
                        </a:lnSpc>
                        <a:tabLst>
                          <a:tab algn="l" pos="0"/>
                        </a:tabLst>
                      </a:pPr>
                      <a:r>
                        <a:rPr lang="pl-PL" sz="1200" b="1" u="none" strike="noStrike">
                          <a:solidFill>
                            <a:srgbClr val="ffffff"/>
                          </a:solidFill>
                          <a:effectLst/>
                          <a:uFillTx/>
                          <a:latin typeface="Calibri"/>
                          <a:ea typeface="Calibri"/>
                        </a:rPr>
                        <a:t>Klasa</a:t>
                      </a:r>
                      <a:endParaRPr lang="pl-PL" sz="12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pl-PL" sz="1200" b="1" u="none" strike="noStrike">
                          <a:solidFill>
                            <a:srgbClr val="ffffff"/>
                          </a:solidFill>
                          <a:effectLst/>
                          <a:uFillTx/>
                          <a:latin typeface="Calibri"/>
                          <a:ea typeface="Calibri"/>
                        </a:rPr>
                        <a:t>Mechanizm</a:t>
                      </a:r>
                      <a:endParaRPr lang="pl-PL" sz="12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c>
                  <a:txBody>
                    <a:bodyPr tIns="36360" bIns="36360" anchor="ctr">
                      <a:noAutofit/>
                    </a:bodyPr>
                    <a:p>
                      <a:pPr defTabSz="914400">
                        <a:lnSpc>
                          <a:spcPct val="100000"/>
                        </a:lnSpc>
                        <a:tabLst>
                          <a:tab algn="l" pos="0"/>
                        </a:tabLst>
                      </a:pPr>
                      <a:r>
                        <a:rPr lang="pl-PL" sz="1200" b="1" u="none" strike="noStrike">
                          <a:solidFill>
                            <a:srgbClr val="ffffff"/>
                          </a:solidFill>
                          <a:effectLst/>
                          <a:uFillTx/>
                          <a:latin typeface="Calibri"/>
                          <a:ea typeface="Calibri"/>
                        </a:rPr>
                        <a:t>Charakterystyka</a:t>
                      </a:r>
                      <a:endParaRPr lang="pl-PL" sz="1200" b="0" u="none" strike="noStrike">
                        <a:solidFill>
                          <a:srgbClr val="ffffff"/>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1b2148"/>
                    </a:solidFill>
                  </a:tcPr>
                </a:tc>
              </a:tr>
              <a:tr h="29232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Metylofenidat</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Hamowanie wychwytu DA/NA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Szybki początek, liczne postacie uwalniania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232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Amfetaminy</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 uwalnianie i ↓ wychwyt katecholamin</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Najwyższa skuteczność objawowa; bezsenność</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r h="29232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Atomoksetyna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Hamowanie transportera NA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Brak typowego potencjału nadużywania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fffff"/>
                    </a:solidFill>
                  </a:tcPr>
                </a:tc>
              </a:tr>
              <a:tr h="292320">
                <a:tc>
                  <a:txBody>
                    <a:bodyPr tIns="36360" bIns="36360" anchor="ctr">
                      <a:noAutofit/>
                    </a:bodyPr>
                    <a:p>
                      <a:pPr defTabSz="914400">
                        <a:lnSpc>
                          <a:spcPct val="100000"/>
                        </a:lnSpc>
                        <a:tabLst>
                          <a:tab algn="l" pos="0"/>
                        </a:tabLst>
                      </a:pPr>
                      <a:r>
                        <a:rPr lang="pl-PL" sz="1200" b="1" u="none" strike="noStrike">
                          <a:solidFill>
                            <a:srgbClr val="1b2148"/>
                          </a:solidFill>
                          <a:effectLst/>
                          <a:uFillTx/>
                          <a:latin typeface="Calibri"/>
                          <a:ea typeface="Calibri"/>
                        </a:rPr>
                        <a:t>Guanfacyna / klonidyna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Modulacja receptorów α2A</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c>
                  <a:txBody>
                    <a:bodyPr tIns="36360" bIns="36360" anchor="ctr">
                      <a:noAutofit/>
                    </a:bodyPr>
                    <a:p>
                      <a:pPr defTabSz="914400">
                        <a:lnSpc>
                          <a:spcPct val="100000"/>
                        </a:lnSpc>
                        <a:tabLst>
                          <a:tab algn="l" pos="0"/>
                        </a:tabLst>
                      </a:pPr>
                      <a:r>
                        <a:rPr lang="pl-PL" sz="1200" b="0" u="none" strike="noStrike">
                          <a:solidFill>
                            <a:srgbClr val="55607a"/>
                          </a:solidFill>
                          <a:effectLst/>
                          <a:uFillTx/>
                          <a:latin typeface="Calibri"/>
                          <a:ea typeface="Calibri"/>
                        </a:rPr>
                        <a:t>Mniejsza skuteczność; przydatne przy tikach</a:t>
                      </a:r>
                      <a:endParaRPr lang="pl-PL" sz="1200" b="0" u="none" strike="noStrike">
                        <a:solidFill>
                          <a:srgbClr val="000000"/>
                        </a:solidFill>
                        <a:effectLst/>
                        <a:uFillTx/>
                        <a:latin typeface="Arial"/>
                      </a:endParaRPr>
                    </a:p>
                  </a:txBody>
                  <a:tcPr anchor="ctr" marL="91440" marR="91440" marT="36360" marB="36360">
                    <a:lnL w="9360">
                      <a:solidFill>
                        <a:srgbClr val="e2e6f0"/>
                      </a:solidFill>
                      <a:prstDash val="solid"/>
                    </a:lnL>
                    <a:lnR w="9360">
                      <a:solidFill>
                        <a:srgbClr val="e2e6f0"/>
                      </a:solidFill>
                      <a:prstDash val="solid"/>
                    </a:lnR>
                    <a:lnT w="9360">
                      <a:solidFill>
                        <a:srgbClr val="e2e6f0"/>
                      </a:solidFill>
                      <a:prstDash val="solid"/>
                    </a:lnT>
                    <a:lnB w="9360">
                      <a:solidFill>
                        <a:srgbClr val="e2e6f0"/>
                      </a:solidFill>
                      <a:prstDash val="solid"/>
                    </a:lnB>
                    <a:solidFill>
                      <a:srgbClr val="f4f6fa"/>
                    </a:solidFill>
                  </a:tcPr>
                </a:tc>
              </a:tr>
            </a:tbl>
          </a:graphicData>
        </a:graphic>
      </p:graphicFrame>
      <p:sp>
        <p:nvSpPr>
          <p:cNvPr id="376" name="Text 26"/>
          <p:cNvSpPr/>
          <p:nvPr/>
        </p:nvSpPr>
        <p:spPr>
          <a:xfrm>
            <a:off x="502920" y="4684680"/>
            <a:ext cx="81374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000" b="0" i="1" u="none" strike="noStrike">
                <a:solidFill>
                  <a:srgbClr val="96a0bc"/>
                </a:solidFill>
                <a:effectLst/>
                <a:uFillTx/>
                <a:latin typeface="Calibri"/>
                <a:ea typeface="Calibri"/>
              </a:rPr>
              <a:t>Źródło: Cortese, S., et al. (2018). The Lancet Psychiatry, 5(9), 727–738. Metylofenidat preferowany jako pierwsza opcja u dzieci (bilans skuteczności i tolerancji).</a:t>
            </a:r>
            <a:endParaRPr lang="pl-PL" sz="1000" b="0" u="none" strike="noStrike">
              <a:solidFill>
                <a:srgbClr val="000000"/>
              </a:solidFill>
              <a:effectLst/>
              <a:uFillTx/>
              <a:latin typeface="Arial"/>
            </a:endParaRPr>
          </a:p>
        </p:txBody>
      </p:sp>
      <p:sp>
        <p:nvSpPr>
          <p:cNvPr id="377" name="Text 27"/>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24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8" name="Text 0"/>
          <p:cNvSpPr/>
          <p:nvPr/>
        </p:nvSpPr>
        <p:spPr>
          <a:xfrm>
            <a:off x="502920" y="36576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c75a26"/>
                </a:solidFill>
                <a:effectLst/>
                <a:uFillTx/>
                <a:latin typeface="Calibri"/>
                <a:ea typeface="Calibri"/>
              </a:rPr>
              <a:t>BEZPIECZEŃSTWO I GRANICE WNIOSKOWANIA</a:t>
            </a:r>
            <a:endParaRPr lang="pl-PL" sz="1100" b="0" u="none" strike="noStrike">
              <a:solidFill>
                <a:srgbClr val="000000"/>
              </a:solidFill>
              <a:effectLst/>
              <a:uFillTx/>
              <a:latin typeface="Arial"/>
            </a:endParaRPr>
          </a:p>
        </p:txBody>
      </p:sp>
      <p:sp>
        <p:nvSpPr>
          <p:cNvPr id="379" name="Text 1"/>
          <p:cNvSpPr/>
          <p:nvPr/>
        </p:nvSpPr>
        <p:spPr>
          <a:xfrm>
            <a:off x="502920" y="621720"/>
            <a:ext cx="813744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500" b="1" u="none" strike="noStrike">
                <a:solidFill>
                  <a:srgbClr val="1b2148"/>
                </a:solidFill>
                <a:effectLst/>
                <a:uFillTx/>
                <a:latin typeface="Cambria"/>
                <a:ea typeface="Cambria"/>
              </a:rPr>
              <a:t>Monitorowanie leczenia i ograniczenia interpretacyjne</a:t>
            </a:r>
            <a:endParaRPr lang="pl-PL" sz="2500" b="0" u="none" strike="noStrike">
              <a:solidFill>
                <a:srgbClr val="000000"/>
              </a:solidFill>
              <a:effectLst/>
              <a:uFillTx/>
              <a:latin typeface="Arial"/>
            </a:endParaRPr>
          </a:p>
        </p:txBody>
      </p:sp>
      <p:sp>
        <p:nvSpPr>
          <p:cNvPr id="380" name="Text 2"/>
          <p:cNvSpPr/>
          <p:nvPr/>
        </p:nvSpPr>
        <p:spPr>
          <a:xfrm>
            <a:off x="502920" y="1017360"/>
            <a:ext cx="8137440" cy="310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200" b="0" i="1" u="none" strike="noStrike">
                <a:solidFill>
                  <a:srgbClr val="55607a"/>
                </a:solidFill>
                <a:effectLst/>
                <a:uFillTx/>
                <a:latin typeface="Calibri"/>
                <a:ea typeface="Calibri"/>
              </a:rPr>
              <a:t>Częste działania niepożądane nie są porównywalne head-to-head między preparatami</a:t>
            </a:r>
            <a:endParaRPr lang="pl-PL" sz="1200" b="0" u="none" strike="noStrike">
              <a:solidFill>
                <a:srgbClr val="000000"/>
              </a:solidFill>
              <a:effectLst/>
              <a:uFillTx/>
              <a:latin typeface="Arial"/>
            </a:endParaRPr>
          </a:p>
        </p:txBody>
      </p:sp>
      <p:sp>
        <p:nvSpPr>
          <p:cNvPr id="381" name="Shape 3"/>
          <p:cNvSpPr/>
          <p:nvPr/>
        </p:nvSpPr>
        <p:spPr>
          <a:xfrm>
            <a:off x="322920" y="1645920"/>
            <a:ext cx="3456720" cy="2313720"/>
          </a:xfrm>
          <a:prstGeom prst="roundRect">
            <a:avLst>
              <a:gd name="adj" fmla="val 3051"/>
            </a:avLst>
          </a:prstGeom>
          <a:solidFill>
            <a:srgbClr val="f4f6fa"/>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82" name="Text 4"/>
          <p:cNvSpPr/>
          <p:nvPr/>
        </p:nvSpPr>
        <p:spPr>
          <a:xfrm>
            <a:off x="389160" y="1684080"/>
            <a:ext cx="35654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1b2148"/>
                </a:solidFill>
                <a:effectLst/>
                <a:uFillTx/>
                <a:latin typeface="Cambria"/>
                <a:ea typeface="Cambria"/>
              </a:rPr>
              <a:t>Najczęstsze działania niepożądane</a:t>
            </a:r>
            <a:endParaRPr lang="pl-PL" sz="1600" b="0" u="none" strike="noStrike">
              <a:solidFill>
                <a:srgbClr val="000000"/>
              </a:solidFill>
              <a:effectLst/>
              <a:uFillTx/>
              <a:latin typeface="Arial"/>
            </a:endParaRPr>
          </a:p>
        </p:txBody>
      </p:sp>
      <p:sp>
        <p:nvSpPr>
          <p:cNvPr id="383" name="Text 5"/>
          <p:cNvSpPr/>
          <p:nvPr/>
        </p:nvSpPr>
        <p:spPr>
          <a:xfrm>
            <a:off x="360000" y="2340720"/>
            <a:ext cx="3455640" cy="16189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99"/>
              </a:spcAft>
              <a:buClr>
                <a:srgbClr val="1b2148"/>
              </a:buClr>
              <a:buFont typeface="Wingdings" charset="2"/>
              <a:buChar char=""/>
            </a:pPr>
            <a:r>
              <a:rPr lang="pl-PL" sz="1200" b="0" u="none" strike="noStrike">
                <a:solidFill>
                  <a:srgbClr val="1b2148"/>
                </a:solidFill>
                <a:effectLst/>
                <a:uFillTx/>
                <a:latin typeface="Calibri"/>
                <a:ea typeface="Calibri"/>
              </a:rPr>
              <a:t>MPH OROS: </a:t>
            </a:r>
            <a:br>
              <a:rPr sz="1200"/>
            </a:br>
            <a:r>
              <a:rPr lang="pl-PL" sz="1200" b="0" u="none" strike="noStrike">
                <a:solidFill>
                  <a:srgbClr val="1b2148"/>
                </a:solidFill>
                <a:effectLst/>
                <a:uFillTx/>
                <a:latin typeface="Calibri"/>
                <a:ea typeface="Calibri"/>
              </a:rPr>
              <a:t>ból głowy 22%, ↓ apetytu 15%, ból brzucha 14%</a:t>
            </a:r>
            <a:endParaRPr lang="pl-PL" sz="12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200" b="0" u="none" strike="noStrike">
                <a:solidFill>
                  <a:srgbClr val="1b2148"/>
                </a:solidFill>
                <a:effectLst/>
                <a:uFillTx/>
                <a:latin typeface="Calibri"/>
                <a:ea typeface="Calibri"/>
              </a:rPr>
              <a:t>Atomoksetyna: </a:t>
            </a:r>
            <a:br>
              <a:rPr sz="1200"/>
            </a:br>
            <a:r>
              <a:rPr lang="pl-PL" sz="1200" b="0" u="none" strike="noStrike">
                <a:solidFill>
                  <a:srgbClr val="1b2148"/>
                </a:solidFill>
                <a:effectLst/>
                <a:uFillTx/>
                <a:latin typeface="Calibri"/>
                <a:ea typeface="Calibri"/>
              </a:rPr>
              <a:t>nudności 26%, ból brzucha 18%, ↓ apetytu 16%</a:t>
            </a:r>
            <a:endParaRPr lang="pl-PL" sz="1200" b="0" u="none" strike="noStrike">
              <a:solidFill>
                <a:srgbClr val="000000"/>
              </a:solidFill>
              <a:effectLst/>
              <a:uFillTx/>
              <a:latin typeface="Arial"/>
            </a:endParaRPr>
          </a:p>
          <a:p>
            <a:pPr marL="177840" indent="-177840" defTabSz="914400">
              <a:lnSpc>
                <a:spcPct val="108000"/>
              </a:lnSpc>
              <a:spcAft>
                <a:spcPts val="799"/>
              </a:spcAft>
              <a:buClr>
                <a:srgbClr val="1b2148"/>
              </a:buClr>
              <a:buFont typeface="Wingdings" charset="2"/>
              <a:buChar char=""/>
            </a:pPr>
            <a:r>
              <a:rPr lang="pl-PL" sz="1200" b="0" u="none" strike="noStrike">
                <a:solidFill>
                  <a:srgbClr val="1b2148"/>
                </a:solidFill>
                <a:effectLst/>
                <a:uFillTx/>
                <a:latin typeface="Calibri"/>
                <a:ea typeface="Calibri"/>
              </a:rPr>
              <a:t>Guanfacyna ER: </a:t>
            </a:r>
            <a:br>
              <a:rPr sz="1200"/>
            </a:br>
            <a:r>
              <a:rPr lang="pl-PL" sz="1200" b="0" u="none" strike="noStrike">
                <a:solidFill>
                  <a:srgbClr val="1b2148"/>
                </a:solidFill>
                <a:effectLst/>
                <a:uFillTx/>
                <a:latin typeface="Calibri"/>
                <a:ea typeface="Calibri"/>
              </a:rPr>
              <a:t>senność 38%, ból głowy 24%, zmęczenie 14%</a:t>
            </a:r>
            <a:endParaRPr lang="pl-PL" sz="1200" b="0" u="none" strike="noStrike">
              <a:solidFill>
                <a:srgbClr val="000000"/>
              </a:solidFill>
              <a:effectLst/>
              <a:uFillTx/>
              <a:latin typeface="Arial"/>
            </a:endParaRPr>
          </a:p>
        </p:txBody>
      </p:sp>
      <p:sp>
        <p:nvSpPr>
          <p:cNvPr id="384" name="Shape 6"/>
          <p:cNvSpPr/>
          <p:nvPr/>
        </p:nvSpPr>
        <p:spPr>
          <a:xfrm>
            <a:off x="3960000" y="1645920"/>
            <a:ext cx="4679640" cy="2313720"/>
          </a:xfrm>
          <a:prstGeom prst="roundRect">
            <a:avLst>
              <a:gd name="adj" fmla="val 3051"/>
            </a:avLst>
          </a:prstGeom>
          <a:solidFill>
            <a:srgbClr val="fceadd"/>
          </a:solidFill>
          <a:ln w="12600">
            <a:solidFill>
              <a:srgbClr val="e2e6f0"/>
            </a:solidFill>
            <a:round/>
          </a:ln>
          <a:effectLst>
            <a:outerShdw blurRad="114480" dir="8100000" dist="37674" rotWithShape="0">
              <a:srgbClr val="000000">
                <a:alpha val="13000"/>
              </a:srgbClr>
            </a:outerShdw>
          </a:effectLst>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000000"/>
              </a:solidFill>
              <a:effectLst/>
              <a:uFillTx/>
              <a:latin typeface="Arial"/>
              <a:ea typeface="DejaVu Sans"/>
            </a:endParaRPr>
          </a:p>
        </p:txBody>
      </p:sp>
      <p:sp>
        <p:nvSpPr>
          <p:cNvPr id="385" name="Text 7"/>
          <p:cNvSpPr/>
          <p:nvPr/>
        </p:nvSpPr>
        <p:spPr>
          <a:xfrm>
            <a:off x="4549680" y="1684080"/>
            <a:ext cx="35654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600" b="1" u="none" strike="noStrike">
                <a:solidFill>
                  <a:srgbClr val="c75a26"/>
                </a:solidFill>
                <a:effectLst/>
                <a:uFillTx/>
                <a:latin typeface="Cambria"/>
                <a:ea typeface="Cambria"/>
              </a:rPr>
              <a:t>Ograniczenia interpretacyjne</a:t>
            </a:r>
            <a:endParaRPr lang="pl-PL" sz="1600" b="0" u="none" strike="noStrike">
              <a:solidFill>
                <a:srgbClr val="000000"/>
              </a:solidFill>
              <a:effectLst/>
              <a:uFillTx/>
              <a:latin typeface="Arial"/>
            </a:endParaRPr>
          </a:p>
        </p:txBody>
      </p:sp>
      <p:sp>
        <p:nvSpPr>
          <p:cNvPr id="386" name="Text 8"/>
          <p:cNvSpPr/>
          <p:nvPr/>
        </p:nvSpPr>
        <p:spPr>
          <a:xfrm>
            <a:off x="4032000" y="2340720"/>
            <a:ext cx="4571640" cy="1618920"/>
          </a:xfrm>
          <a:prstGeom prst="rect">
            <a:avLst/>
          </a:prstGeom>
          <a:noFill/>
          <a:ln w="0">
            <a:noFill/>
          </a:ln>
        </p:spPr>
        <p:style>
          <a:lnRef idx="0"/>
          <a:fillRef idx="0"/>
          <a:effectRef idx="0"/>
          <a:fontRef idx="minor"/>
        </p:style>
        <p:txBody>
          <a:bodyPr lIns="0" rIns="0" tIns="0" bIns="0" anchor="t">
            <a:noAutofit/>
          </a:bodyPr>
          <a:p>
            <a:pPr marL="177840" indent="-177840" defTabSz="914400">
              <a:lnSpc>
                <a:spcPct val="108000"/>
              </a:lnSpc>
              <a:spcAft>
                <a:spcPts val="700"/>
              </a:spcAft>
              <a:buClr>
                <a:srgbClr val="1b2148"/>
              </a:buClr>
              <a:buFont typeface="Wingdings" charset="2"/>
              <a:buChar char=""/>
            </a:pPr>
            <a:r>
              <a:rPr lang="pl-PL" sz="1200" b="0" u="none" strike="noStrike">
                <a:solidFill>
                  <a:srgbClr val="1b2148"/>
                </a:solidFill>
                <a:effectLst/>
                <a:uFillTx/>
                <a:latin typeface="Calibri"/>
                <a:ea typeface="Calibri"/>
              </a:rPr>
              <a:t>Brak wieloletnich RCT z randomizacją do leczenia / braku leczenia</a:t>
            </a:r>
            <a:endParaRPr lang="pl-PL" sz="12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200" b="0" u="none" strike="noStrike">
                <a:solidFill>
                  <a:srgbClr val="1b2148"/>
                </a:solidFill>
                <a:effectLst/>
                <a:uFillTx/>
                <a:latin typeface="Calibri"/>
                <a:ea typeface="Calibri"/>
              </a:rPr>
              <a:t>Dane o przestępczości, śmiertelności i kosztach </a:t>
            </a:r>
            <a:br>
              <a:rPr sz="1200"/>
            </a:br>
            <a:r>
              <a:rPr lang="pl-PL" sz="1200" b="0" u="none" strike="noStrike">
                <a:solidFill>
                  <a:srgbClr val="1b2148"/>
                </a:solidFill>
                <a:effectLst/>
                <a:uFillTx/>
                <a:latin typeface="Calibri"/>
                <a:ea typeface="Calibri"/>
              </a:rPr>
              <a:t>są w dużej mierze obserwacyjne</a:t>
            </a:r>
            <a:endParaRPr lang="pl-PL" sz="12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200" b="0" u="none" strike="noStrike">
                <a:solidFill>
                  <a:srgbClr val="1b2148"/>
                </a:solidFill>
                <a:effectLst/>
                <a:uFillTx/>
                <a:latin typeface="Calibri"/>
                <a:ea typeface="Calibri"/>
              </a:rPr>
              <a:t>Heterogeniczność ADHD: płeć, wiek, współchorobowość, środowisko</a:t>
            </a:r>
            <a:endParaRPr lang="pl-PL" sz="1200" b="0" u="none" strike="noStrike">
              <a:solidFill>
                <a:srgbClr val="000000"/>
              </a:solidFill>
              <a:effectLst/>
              <a:uFillTx/>
              <a:latin typeface="Arial"/>
            </a:endParaRPr>
          </a:p>
          <a:p>
            <a:pPr marL="177840" indent="-177840" defTabSz="914400">
              <a:lnSpc>
                <a:spcPct val="108000"/>
              </a:lnSpc>
              <a:spcAft>
                <a:spcPts val="700"/>
              </a:spcAft>
              <a:buClr>
                <a:srgbClr val="1b2148"/>
              </a:buClr>
              <a:buFont typeface="Wingdings" charset="2"/>
              <a:buChar char=""/>
            </a:pPr>
            <a:r>
              <a:rPr lang="pl-PL" sz="1200" b="0" u="none" strike="noStrike">
                <a:solidFill>
                  <a:srgbClr val="1b2148"/>
                </a:solidFill>
                <a:effectLst/>
                <a:uFillTx/>
                <a:latin typeface="Calibri"/>
                <a:ea typeface="Calibri"/>
              </a:rPr>
              <a:t>HR / OR ≠ bezwzględne prawdopodobieństwo zdarzenia u jednej osoby</a:t>
            </a:r>
            <a:endParaRPr lang="pl-PL" sz="1200" b="0" u="none" strike="noStrike">
              <a:solidFill>
                <a:srgbClr val="000000"/>
              </a:solidFill>
              <a:effectLst/>
              <a:uFillTx/>
              <a:latin typeface="Arial"/>
            </a:endParaRPr>
          </a:p>
        </p:txBody>
      </p:sp>
      <p:sp>
        <p:nvSpPr>
          <p:cNvPr id="387" name="Shape 9"/>
          <p:cNvSpPr/>
          <p:nvPr/>
        </p:nvSpPr>
        <p:spPr>
          <a:xfrm>
            <a:off x="502920" y="4498920"/>
            <a:ext cx="8137440" cy="438120"/>
          </a:xfrm>
          <a:prstGeom prst="roundRect">
            <a:avLst>
              <a:gd name="adj" fmla="val 18750"/>
            </a:avLst>
          </a:prstGeom>
          <a:solidFill>
            <a:srgbClr val="1b2148"/>
          </a:solidFill>
          <a:ln w="12600">
            <a:solidFill>
              <a:srgbClr val="e2e6f0"/>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88" name="Text 10"/>
          <p:cNvSpPr/>
          <p:nvPr/>
        </p:nvSpPr>
        <p:spPr>
          <a:xfrm>
            <a:off x="551520" y="4498920"/>
            <a:ext cx="7908120" cy="438120"/>
          </a:xfrm>
          <a:prstGeom prst="rect">
            <a:avLst/>
          </a:prstGeom>
          <a:noFill/>
          <a:ln w="0">
            <a:noFill/>
          </a:ln>
        </p:spPr>
        <p:style>
          <a:lnRef idx="0"/>
          <a:fillRef idx="0"/>
          <a:effectRef idx="0"/>
          <a:fontRef idx="minor"/>
        </p:style>
        <p:txBody>
          <a:bodyPr lIns="0" rIns="0" tIns="0" bIns="0" anchor="ctr" anchorCtr="1">
            <a:noAutofit/>
          </a:bodyPr>
          <a:p>
            <a:pPr algn="ctr" defTabSz="914400">
              <a:lnSpc>
                <a:spcPct val="100000"/>
              </a:lnSpc>
              <a:tabLst>
                <a:tab algn="l" pos="0"/>
              </a:tabLst>
            </a:pPr>
            <a:r>
              <a:rPr lang="pl-PL" sz="1300" b="0" i="1" u="none" strike="noStrike">
                <a:solidFill>
                  <a:srgbClr val="ffffff"/>
                </a:solidFill>
                <a:effectLst/>
                <a:uFillTx/>
                <a:latin typeface="Calibri"/>
                <a:ea typeface="Calibri"/>
              </a:rPr>
              <a:t>Wyniki grupowe nie pozwalają przewidzieć losu konkretnej osoby, dlatego interpretacja kliniczna pozostaje niezbędna</a:t>
            </a:r>
            <a:endParaRPr lang="pl-PL" sz="1300" b="0" u="none" strike="noStrike">
              <a:solidFill>
                <a:srgbClr val="000000"/>
              </a:solidFill>
              <a:effectLst/>
              <a:uFillTx/>
              <a:latin typeface="Arial"/>
            </a:endParaRPr>
          </a:p>
        </p:txBody>
      </p:sp>
      <p:sp>
        <p:nvSpPr>
          <p:cNvPr id="389" name="Text 11"/>
          <p:cNvSpPr/>
          <p:nvPr/>
        </p:nvSpPr>
        <p:spPr>
          <a:xfrm>
            <a:off x="8275320" y="4901040"/>
            <a:ext cx="41076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pl-PL" sz="800" b="0" u="none" strike="noStrike">
                <a:solidFill>
                  <a:srgbClr val="96a0bc"/>
                </a:solidFill>
                <a:effectLst/>
                <a:uFillTx/>
                <a:latin typeface="Calibri"/>
                <a:ea typeface="Calibri"/>
              </a:rPr>
              <a:t>25 / 26</a:t>
            </a:r>
            <a:endParaRPr lang="pl-PL"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148"/>
        </a:solidFill>
      </p:bgPr>
    </p:bg>
    <p:spTree>
      <p:nvGrpSpPr>
        <p:cNvPr id="1" name=""/>
        <p:cNvGrpSpPr/>
        <p:nvPr/>
      </p:nvGrpSpPr>
      <p:grpSpPr>
        <a:xfrm>
          <a:off x="0" y="0"/>
          <a:ext cx="0" cy="0"/>
          <a:chOff x="0" y="0"/>
          <a:chExt cx="0" cy="0"/>
        </a:xfrm>
      </p:grpSpPr>
      <p:sp>
        <p:nvSpPr>
          <p:cNvPr id="390" name="Shape 0"/>
          <p:cNvSpPr/>
          <p:nvPr/>
        </p:nvSpPr>
        <p:spPr>
          <a:xfrm>
            <a:off x="6126480" y="3291840"/>
            <a:ext cx="3839760" cy="3839760"/>
          </a:xfrm>
          <a:prstGeom prst="ellipse">
            <a:avLst/>
          </a:prstGeom>
          <a:solidFill>
            <a:srgbClr val="1f8a82">
              <a:alpha val="10000"/>
            </a:srgbClr>
          </a:solidFill>
          <a:ln w="12600">
            <a:solidFill>
              <a:srgbClr val="1f8a82">
                <a:alpha val="25000"/>
              </a:srgbClr>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1" name="Text 1"/>
          <p:cNvSpPr/>
          <p:nvPr/>
        </p:nvSpPr>
        <p:spPr>
          <a:xfrm>
            <a:off x="502920" y="411480"/>
            <a:ext cx="81374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100" b="1" u="none" spc="139" strike="noStrike">
                <a:solidFill>
                  <a:srgbClr val="f2a679"/>
                </a:solidFill>
                <a:effectLst/>
                <a:uFillTx/>
                <a:latin typeface="Calibri"/>
                <a:ea typeface="Calibri"/>
              </a:rPr>
              <a:t>WNIOSKI</a:t>
            </a:r>
            <a:endParaRPr lang="pl-PL" sz="1100" b="0" u="none" strike="noStrike">
              <a:solidFill>
                <a:srgbClr val="ffffff"/>
              </a:solidFill>
              <a:effectLst/>
              <a:uFillTx/>
              <a:latin typeface="Arial"/>
            </a:endParaRPr>
          </a:p>
        </p:txBody>
      </p:sp>
      <p:sp>
        <p:nvSpPr>
          <p:cNvPr id="392" name="Text 2"/>
          <p:cNvSpPr/>
          <p:nvPr/>
        </p:nvSpPr>
        <p:spPr>
          <a:xfrm>
            <a:off x="502920" y="621720"/>
            <a:ext cx="7954560" cy="52956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lang="pl-PL" sz="2500" b="1" u="none" strike="noStrike">
                <a:solidFill>
                  <a:srgbClr val="ffffff"/>
                </a:solidFill>
                <a:effectLst/>
                <a:uFillTx/>
                <a:latin typeface="Cambria"/>
                <a:ea typeface="Cambria"/>
              </a:rPr>
              <a:t>ADHD wymaga wczesnej, kompleksowej interwencji</a:t>
            </a:r>
            <a:endParaRPr lang="pl-PL" sz="2500" b="0" u="none" strike="noStrike">
              <a:solidFill>
                <a:srgbClr val="ffffff"/>
              </a:solidFill>
              <a:effectLst/>
              <a:uFillTx/>
              <a:latin typeface="Arial"/>
            </a:endParaRPr>
          </a:p>
        </p:txBody>
      </p:sp>
      <p:sp>
        <p:nvSpPr>
          <p:cNvPr id="393" name="Shape 3"/>
          <p:cNvSpPr/>
          <p:nvPr/>
        </p:nvSpPr>
        <p:spPr>
          <a:xfrm>
            <a:off x="502920" y="1481400"/>
            <a:ext cx="346680" cy="34668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4" name="Text 4"/>
          <p:cNvSpPr/>
          <p:nvPr/>
        </p:nvSpPr>
        <p:spPr>
          <a:xfrm>
            <a:off x="502920" y="148140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Calibri"/>
              </a:rPr>
              <a:t>1</a:t>
            </a:r>
            <a:endParaRPr lang="pl-PL" sz="1200" b="0" u="none" strike="noStrike">
              <a:solidFill>
                <a:srgbClr val="ffffff"/>
              </a:solidFill>
              <a:effectLst/>
              <a:uFillTx/>
              <a:latin typeface="Arial"/>
            </a:endParaRPr>
          </a:p>
        </p:txBody>
      </p:sp>
      <p:sp>
        <p:nvSpPr>
          <p:cNvPr id="395" name="Text 5"/>
          <p:cNvSpPr/>
          <p:nvPr/>
        </p:nvSpPr>
        <p:spPr>
          <a:xfrm>
            <a:off x="987480" y="1444680"/>
            <a:ext cx="7472160" cy="354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dde2f4"/>
                </a:solidFill>
                <a:effectLst/>
                <a:uFillTx/>
                <a:latin typeface="Calibri"/>
                <a:ea typeface="Calibri"/>
              </a:rPr>
              <a:t>ADHD silnie zwiększa ryzyko uzależnień</a:t>
            </a:r>
            <a:r>
              <a:rPr lang="pl-PL" sz="1300" b="0" u="none" strike="noStrike">
                <a:solidFill>
                  <a:srgbClr val="dde2f4"/>
                </a:solidFill>
                <a:effectLst/>
                <a:uFillTx/>
                <a:latin typeface="Calibri"/>
                <a:ea typeface="Calibri"/>
              </a:rPr>
              <a:t>, lecz prawidłowo prowadzona farmakoterapia tego ryzyka nie zwiększa.</a:t>
            </a:r>
            <a:endParaRPr lang="pl-PL" sz="1300" b="0" u="none" strike="noStrike">
              <a:solidFill>
                <a:srgbClr val="ffffff"/>
              </a:solidFill>
              <a:effectLst/>
              <a:uFillTx/>
              <a:latin typeface="Arial"/>
            </a:endParaRPr>
          </a:p>
        </p:txBody>
      </p:sp>
      <p:sp>
        <p:nvSpPr>
          <p:cNvPr id="396" name="Shape 6"/>
          <p:cNvSpPr/>
          <p:nvPr/>
        </p:nvSpPr>
        <p:spPr>
          <a:xfrm>
            <a:off x="502920" y="2048400"/>
            <a:ext cx="346680" cy="34668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397" name="Text 7"/>
          <p:cNvSpPr/>
          <p:nvPr/>
        </p:nvSpPr>
        <p:spPr>
          <a:xfrm>
            <a:off x="502920" y="204840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Calibri"/>
              </a:rPr>
              <a:t>2</a:t>
            </a:r>
            <a:endParaRPr lang="pl-PL" sz="1200" b="0" u="none" strike="noStrike">
              <a:solidFill>
                <a:srgbClr val="ffffff"/>
              </a:solidFill>
              <a:effectLst/>
              <a:uFillTx/>
              <a:latin typeface="Arial"/>
            </a:endParaRPr>
          </a:p>
        </p:txBody>
      </p:sp>
      <p:sp>
        <p:nvSpPr>
          <p:cNvPr id="398" name="Text 8"/>
          <p:cNvSpPr/>
          <p:nvPr/>
        </p:nvSpPr>
        <p:spPr>
          <a:xfrm>
            <a:off x="987480" y="2047680"/>
            <a:ext cx="7472160" cy="327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dde2f4"/>
                </a:solidFill>
                <a:effectLst/>
                <a:uFillTx/>
                <a:latin typeface="Calibri"/>
                <a:ea typeface="Calibri"/>
              </a:rPr>
              <a:t>Najgorszy przebieg dotyczy konfiguracji</a:t>
            </a:r>
            <a:r>
              <a:rPr lang="pl-PL" sz="1300" b="0" u="none" strike="noStrike">
                <a:solidFill>
                  <a:srgbClr val="dde2f4"/>
                </a:solidFill>
                <a:effectLst/>
                <a:uFillTx/>
                <a:latin typeface="Calibri"/>
                <a:ea typeface="Calibri"/>
              </a:rPr>
              <a:t>:</a:t>
            </a:r>
            <a:endParaRPr lang="pl-PL" sz="1300" b="0" u="none" strike="noStrike">
              <a:solidFill>
                <a:srgbClr val="ffffff"/>
              </a:solidFill>
              <a:effectLst/>
              <a:uFillTx/>
              <a:latin typeface="Arial"/>
            </a:endParaRPr>
          </a:p>
          <a:p>
            <a:pPr algn="ctr" defTabSz="914400">
              <a:lnSpc>
                <a:spcPct val="100000"/>
              </a:lnSpc>
              <a:tabLst>
                <a:tab algn="l" pos="0"/>
              </a:tabLst>
            </a:pPr>
            <a:r>
              <a:rPr lang="pl-PL" sz="1300" b="0" u="none" strike="noStrike">
                <a:solidFill>
                  <a:srgbClr val="dde2f4"/>
                </a:solidFill>
                <a:effectLst/>
                <a:uFillTx/>
                <a:latin typeface="Calibri"/>
                <a:ea typeface="Calibri"/>
              </a:rPr>
              <a:t>ADHD + zaburzenia zachowania/ASPD + depresja lub SUD + niekorzystne środowisko + brak leczenia</a:t>
            </a:r>
            <a:endParaRPr lang="pl-PL" sz="1300" b="0" u="none" strike="noStrike">
              <a:solidFill>
                <a:srgbClr val="ffffff"/>
              </a:solidFill>
              <a:effectLst/>
              <a:uFillTx/>
              <a:latin typeface="Arial"/>
            </a:endParaRPr>
          </a:p>
        </p:txBody>
      </p:sp>
      <p:sp>
        <p:nvSpPr>
          <p:cNvPr id="399" name="Shape 9"/>
          <p:cNvSpPr/>
          <p:nvPr/>
        </p:nvSpPr>
        <p:spPr>
          <a:xfrm>
            <a:off x="502920" y="2615040"/>
            <a:ext cx="346680" cy="34668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0" name="Text 10"/>
          <p:cNvSpPr/>
          <p:nvPr/>
        </p:nvSpPr>
        <p:spPr>
          <a:xfrm>
            <a:off x="502920" y="261504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Calibri"/>
              </a:rPr>
              <a:t>3</a:t>
            </a:r>
            <a:endParaRPr lang="pl-PL" sz="1200" b="0" u="none" strike="noStrike">
              <a:solidFill>
                <a:srgbClr val="ffffff"/>
              </a:solidFill>
              <a:effectLst/>
              <a:uFillTx/>
              <a:latin typeface="Arial"/>
            </a:endParaRPr>
          </a:p>
        </p:txBody>
      </p:sp>
      <p:sp>
        <p:nvSpPr>
          <p:cNvPr id="401" name="Text 11"/>
          <p:cNvSpPr/>
          <p:nvPr/>
        </p:nvSpPr>
        <p:spPr>
          <a:xfrm>
            <a:off x="987480" y="2650680"/>
            <a:ext cx="7472160" cy="300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dde2f4"/>
                </a:solidFill>
                <a:effectLst/>
                <a:uFillTx/>
                <a:latin typeface="Calibri"/>
                <a:ea typeface="Calibri"/>
              </a:rPr>
              <a:t>Leczenie wiąże się z niższym ryzykiem przestępczości, wypadków transportowych i zachowań samobójczych</a:t>
            </a:r>
            <a:endParaRPr lang="pl-PL" sz="1300" b="0" u="none" strike="noStrike">
              <a:solidFill>
                <a:srgbClr val="ffffff"/>
              </a:solidFill>
              <a:effectLst/>
              <a:uFillTx/>
              <a:latin typeface="Arial"/>
            </a:endParaRPr>
          </a:p>
        </p:txBody>
      </p:sp>
      <p:sp>
        <p:nvSpPr>
          <p:cNvPr id="402" name="Shape 12"/>
          <p:cNvSpPr/>
          <p:nvPr/>
        </p:nvSpPr>
        <p:spPr>
          <a:xfrm>
            <a:off x="502920" y="3182040"/>
            <a:ext cx="346680" cy="34668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3" name="Text 13"/>
          <p:cNvSpPr/>
          <p:nvPr/>
        </p:nvSpPr>
        <p:spPr>
          <a:xfrm>
            <a:off x="502920" y="318204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Calibri"/>
              </a:rPr>
              <a:t>4</a:t>
            </a:r>
            <a:endParaRPr lang="pl-PL" sz="1200" b="0" u="none" strike="noStrike">
              <a:solidFill>
                <a:srgbClr val="ffffff"/>
              </a:solidFill>
              <a:effectLst/>
              <a:uFillTx/>
              <a:latin typeface="Arial"/>
            </a:endParaRPr>
          </a:p>
        </p:txBody>
      </p:sp>
      <p:sp>
        <p:nvSpPr>
          <p:cNvPr id="404" name="Text 14"/>
          <p:cNvSpPr/>
          <p:nvPr/>
        </p:nvSpPr>
        <p:spPr>
          <a:xfrm>
            <a:off x="987480" y="3217680"/>
            <a:ext cx="7472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1" u="none" strike="noStrike">
                <a:solidFill>
                  <a:srgbClr val="dde2f4"/>
                </a:solidFill>
                <a:effectLst/>
                <a:uFillTx/>
                <a:latin typeface="Calibri"/>
                <a:ea typeface="Calibri"/>
              </a:rPr>
              <a:t>Koszty społeczne ADHD</a:t>
            </a:r>
            <a:r>
              <a:rPr lang="pl-PL" sz="1300" b="0" u="none" strike="noStrike">
                <a:solidFill>
                  <a:srgbClr val="dde2f4"/>
                </a:solidFill>
                <a:effectLst/>
                <a:uFillTx/>
                <a:latin typeface="Calibri"/>
                <a:ea typeface="Calibri"/>
              </a:rPr>
              <a:t> liczone są w setkach miliardów dolarów rocznie</a:t>
            </a:r>
            <a:endParaRPr lang="pl-PL" sz="1300" b="0" u="none" strike="noStrike">
              <a:solidFill>
                <a:srgbClr val="ffffff"/>
              </a:solidFill>
              <a:effectLst/>
              <a:uFillTx/>
              <a:latin typeface="Arial"/>
            </a:endParaRPr>
          </a:p>
        </p:txBody>
      </p:sp>
      <p:sp>
        <p:nvSpPr>
          <p:cNvPr id="405" name="Shape 15"/>
          <p:cNvSpPr/>
          <p:nvPr/>
        </p:nvSpPr>
        <p:spPr>
          <a:xfrm>
            <a:off x="502920" y="3749040"/>
            <a:ext cx="346680" cy="346680"/>
          </a:xfrm>
          <a:prstGeom prst="ellipse">
            <a:avLst/>
          </a:prstGeom>
          <a:solidFill>
            <a:srgbClr val="e8743a"/>
          </a:solidFill>
          <a:ln w="12600">
            <a:solidFill>
              <a:srgbClr val="e8743a"/>
            </a:solidFill>
            <a:round/>
          </a:ln>
        </p:spPr>
        <p:style>
          <a:lnRef idx="0"/>
          <a:fillRef idx="0"/>
          <a:effectRef idx="0"/>
          <a:fontRef idx="minor"/>
        </p:style>
        <p:txBody>
          <a:bodyPr lIns="90000" rIns="90000" tIns="45000" bIns="45000" anchor="t">
            <a:noAutofit/>
          </a:bodyPr>
          <a:p>
            <a:pPr>
              <a:lnSpc>
                <a:spcPct val="100000"/>
              </a:lnSpc>
            </a:pPr>
            <a:endParaRPr lang="pl-PL" sz="1800" b="0" u="none" strike="noStrike">
              <a:solidFill>
                <a:srgbClr val="ffffff"/>
              </a:solidFill>
              <a:effectLst/>
              <a:uFillTx/>
              <a:latin typeface="Arial"/>
              <a:ea typeface="DejaVu Sans"/>
            </a:endParaRPr>
          </a:p>
        </p:txBody>
      </p:sp>
      <p:sp>
        <p:nvSpPr>
          <p:cNvPr id="406" name="Text 16"/>
          <p:cNvSpPr/>
          <p:nvPr/>
        </p:nvSpPr>
        <p:spPr>
          <a:xfrm>
            <a:off x="502920" y="3749040"/>
            <a:ext cx="346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pl-PL" sz="1200" b="1" u="none" strike="noStrike">
                <a:solidFill>
                  <a:srgbClr val="ffffff"/>
                </a:solidFill>
                <a:effectLst/>
                <a:uFillTx/>
                <a:latin typeface="Calibri"/>
                <a:ea typeface="Calibri"/>
              </a:rPr>
              <a:t>5</a:t>
            </a:r>
            <a:endParaRPr lang="pl-PL" sz="1200" b="0" u="none" strike="noStrike">
              <a:solidFill>
                <a:srgbClr val="ffffff"/>
              </a:solidFill>
              <a:effectLst/>
              <a:uFillTx/>
              <a:latin typeface="Arial"/>
            </a:endParaRPr>
          </a:p>
        </p:txBody>
      </p:sp>
      <p:sp>
        <p:nvSpPr>
          <p:cNvPr id="407" name="Text 17"/>
          <p:cNvSpPr/>
          <p:nvPr/>
        </p:nvSpPr>
        <p:spPr>
          <a:xfrm>
            <a:off x="987480" y="3712320"/>
            <a:ext cx="7472160" cy="427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300" b="0" u="none" strike="noStrike">
                <a:solidFill>
                  <a:srgbClr val="dde2f4"/>
                </a:solidFill>
                <a:effectLst/>
                <a:uFillTx/>
                <a:latin typeface="Calibri"/>
                <a:ea typeface="Calibri"/>
              </a:rPr>
              <a:t>Wczesne, wielomodalne leczenie to nie tylko redukcja objawów, lecz potencjalna profilaktyka uzależnień, wypadków i marginalizacji.</a:t>
            </a:r>
            <a:endParaRPr lang="pl-PL" sz="1300" b="0" u="none" strike="noStrike">
              <a:solidFill>
                <a:srgbClr val="ffffff"/>
              </a:solidFill>
              <a:effectLst/>
              <a:uFillTx/>
              <a:latin typeface="Arial"/>
            </a:endParaRPr>
          </a:p>
        </p:txBody>
      </p:sp>
      <p:sp>
        <p:nvSpPr>
          <p:cNvPr id="408" name="Shape 18"/>
          <p:cNvSpPr/>
          <p:nvPr/>
        </p:nvSpPr>
        <p:spPr>
          <a:xfrm>
            <a:off x="502920" y="4398840"/>
            <a:ext cx="7589520" cy="360"/>
          </a:xfrm>
          <a:prstGeom prst="line">
            <a:avLst/>
          </a:prstGeom>
          <a:ln w="12600">
            <a:solidFill>
              <a:srgbClr val="3a4480"/>
            </a:solidFill>
            <a:round/>
          </a:ln>
        </p:spPr>
        <p:style>
          <a:lnRef idx="0"/>
          <a:fillRef idx="0"/>
          <a:effectRef idx="0"/>
          <a:fontRef idx="minor"/>
        </p:style>
        <p:txBody>
          <a:bodyPr lIns="90000" rIns="90000" tIns="-44640" bIns="-44640" anchor="t" anchorCtr="1">
            <a:noAutofit/>
          </a:bodyPr>
          <a:p>
            <a:endParaRPr lang="pl-PL" sz="1800" b="0" u="none" strike="noStrike">
              <a:solidFill>
                <a:srgbClr val="ffffff"/>
              </a:solidFill>
              <a:effectLst/>
              <a:uFillTx/>
              <a:latin typeface="Arial"/>
              <a:ea typeface="DejaVu Sans"/>
            </a:endParaRPr>
          </a:p>
        </p:txBody>
      </p:sp>
      <p:sp>
        <p:nvSpPr>
          <p:cNvPr id="409" name="Text 19"/>
          <p:cNvSpPr/>
          <p:nvPr/>
        </p:nvSpPr>
        <p:spPr>
          <a:xfrm>
            <a:off x="502920" y="4445640"/>
            <a:ext cx="7954560" cy="450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pl-PL" sz="1500" b="0" i="1" u="none" strike="noStrike">
                <a:solidFill>
                  <a:srgbClr val="ffffff"/>
                </a:solidFill>
                <a:effectLst/>
                <a:uFillTx/>
                <a:latin typeface="Cambria"/>
                <a:ea typeface="Cambria"/>
              </a:rPr>
              <a:t>Funkcjonalne konsekwencje ADHD rozciągają się od dzialania neuronu po budżet państwa, </a:t>
            </a:r>
            <a:br>
              <a:rPr sz="1500"/>
            </a:br>
            <a:r>
              <a:rPr lang="pl-PL" sz="1500" b="0" i="1" u="none" strike="noStrike">
                <a:solidFill>
                  <a:srgbClr val="ffffff"/>
                </a:solidFill>
                <a:effectLst/>
                <a:uFillTx/>
                <a:latin typeface="Cambria"/>
                <a:ea typeface="Cambria"/>
              </a:rPr>
              <a:t>ale to wczesna, kompleksowa interwencja decyduje o tym, w którą stronę przechyli się ten bilans.</a:t>
            </a:r>
            <a:endParaRPr lang="pl-PL"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76</TotalTime>
  <Application>LibreOffice/25.8.5.2$Linux_X86_64 LibreOffice_project/580$Build-2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2026-06-28T14:12:51Z</dcterms:created>
  <dc:creator>dr inż. Mateusz Pomianek</dc:creator>
  <dc:description/>
  <dc:language>pl-PL</dc:language>
  <cp:lastModifiedBy/>
  <dcterms:modified xsi:type="dcterms:W3CDTF">2026-06-28T18:30:12Z</dcterms:modified>
  <cp:revision>54</cp:revision>
  <dc:subject>PptxGenJS Presentation</dc:subject>
  <dc:title>ADHD a funkcjonowanie psychospołeczne — Przegląd literatury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26</vt:r8>
  </property>
  <property fmtid="{D5CDD505-2E9C-101B-9397-08002B2CF9AE}" pid="3" name="PresentationFormat">
    <vt:lpwstr>On-screen Show (16:9)</vt:lpwstr>
  </property>
  <property fmtid="{D5CDD505-2E9C-101B-9397-08002B2CF9AE}" pid="4" name="Slides">
    <vt:r8>26</vt:r8>
  </property>
</Properties>
</file>