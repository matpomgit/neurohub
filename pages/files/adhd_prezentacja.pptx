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charts/chart1.xml" ContentType="application/vnd.openxmlformats-officedocument.drawingml.chart+xml"/>
  <Override PartName="/ppt/charts/chart2.xml" ContentType="application/vnd.openxmlformats-officedocument.drawingml.chart+xml"/>
  <Override PartName="/ppt/slides/slide12.xml" ContentType="application/vnd.openxmlformats-officedocument.presentationml.slide+xml"/>
  <Override PartName="/ppt/slides/slide8.xml" ContentType="application/vnd.openxmlformats-officedocument.presentationml.slide+xml"/>
  <Override PartName="/ppt/slides/slide24.xml" ContentType="application/vnd.openxmlformats-officedocument.presentationml.slide+xml"/>
  <Override PartName="/ppt/slides/slide10.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25.xml" ContentType="application/vnd.openxmlformats-officedocument.presentationml.slide+xml"/>
  <Override PartName="/ppt/slides/slide21.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19.xml" ContentType="application/vnd.openxmlformats-officedocument.presentationml.slide+xml"/>
  <Override PartName="/ppt/notesSlides/notesSlide12.xml" ContentType="application/vnd.openxmlformats-officedocument.presentationml.notesSlide+xml"/>
  <Override PartName="/ppt/notesSlides/notesSlide9.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notesSlides/notesSlide3.xml" ContentType="application/vnd.openxmlformats-officedocument.presentationml.notesSlide+xml"/>
  <Override PartName="/ppt/notesSlides/notesSlide2.xml" ContentType="application/vnd.openxmlformats-officedocument.presentationml.notesSlide+xml"/>
  <Override PartName="/ppt/notesSlides/notesSlide13.xml" ContentType="application/vnd.openxmlformats-officedocument.presentationml.notesSlide+xml"/>
  <Override PartName="/ppt/notesSlides/notesSlide1.xml" ContentType="application/vnd.openxmlformats-officedocument.presentationml.notesSlide+xml"/>
  <Override PartName="/ppt/notesSlides/notesSlide25.xml" ContentType="application/vnd.openxmlformats-officedocument.presentationml.notesSlide+xml"/>
  <Override PartName="/ppt/notesSlides/notesSlide24.xml" ContentType="application/vnd.openxmlformats-officedocument.presentationml.notesSlide+xml"/>
  <Override PartName="/ppt/notesSlides/notesSlide7.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3.xml" ContentType="application/vnd.openxmlformats-officedocument.presentationml.notesSlide+xml"/>
  <Override PartName="/ppt/notesSlides/notesSlide16.xml" ContentType="application/vnd.openxmlformats-officedocument.presentationml.notesSlide+xml"/>
  <Override PartName="/ppt/notesSlides/notesSlide10.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6.xml" ContentType="application/vnd.openxmlformats-officedocument.presentationml.notesSlide+xml"/>
  <Override PartName="/ppt/notesSlides/notesSlide22.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Lst>
  <p:sldSz cx="9144000" cy="5143500"/>
  <p:notesSz cx="51435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presProps" Target="presProps.xml"/>
</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bar"/>
        <c:grouping val="clustered"/>
        <c:varyColors val="0"/>
        <c:ser>
          <c:idx val="0"/>
          <c:order val="0"/>
          <c:tx>
            <c:strRef>
              <c:f>label 0</c:f>
              <c:strCache>
                <c:ptCount val="1"/>
                <c:pt idx="0">
                  <c:v>RR</c:v>
                </c:pt>
              </c:strCache>
            </c:strRef>
          </c:tx>
          <c:spPr>
            <a:solidFill>
              <a:srgbClr val="e8743a"/>
            </a:solidFill>
            <a:ln w="0">
              <a:noFill/>
            </a:ln>
          </c:spPr>
          <c:invertIfNegative val="0"/>
          <c:dLbls>
            <c:numFmt formatCode="0.0\×" sourceLinked="0"/>
            <c:txPr>
              <a:bodyPr wrap="square"/>
              <a:lstStyle/>
              <a:p>
                <a:pPr>
                  <a:defRPr sz="1100" b="0" u="none" strike="noStrike">
                    <a:solidFill>
                      <a:srgbClr val="1b2148"/>
                    </a:solidFill>
                    <a:uFillTx/>
                    <a:latin typeface="Calibri"/>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5"/>
                <c:pt idx="0">
                  <c:v>Zaburzenia używania alkoholu</c:v>
                </c:pt>
                <c:pt idx="1">
                  <c:v>Zaburzenia używania konopi</c:v>
                </c:pt>
                <c:pt idx="2">
                  <c:v>Zaburzenia używania narkotyków</c:v>
                </c:pt>
                <c:pt idx="3">
                  <c:v>Zaburzenia używania nikotyny</c:v>
                </c:pt>
                <c:pt idx="4">
                  <c:v>Palenie nikotyny</c:v>
                </c:pt>
              </c:strCache>
            </c:strRef>
          </c:cat>
          <c:val>
            <c:numRef>
              <c:f>0</c:f>
              <c:numCache>
                <c:formatCode>General</c:formatCode>
                <c:ptCount val="5"/>
                <c:pt idx="0">
                  <c:v>2.4</c:v>
                </c:pt>
                <c:pt idx="1">
                  <c:v>3.1</c:v>
                </c:pt>
                <c:pt idx="2">
                  <c:v>3.4</c:v>
                </c:pt>
                <c:pt idx="3">
                  <c:v>4.3</c:v>
                </c:pt>
                <c:pt idx="4">
                  <c:v>4.7</c:v>
                </c:pt>
              </c:numCache>
            </c:numRef>
          </c:val>
        </c:ser>
        <c:gapWidth val="35"/>
        <c:overlap val="0"/>
        <c:axId val="56865970"/>
        <c:axId val="69850749"/>
      </c:barChart>
      <c:catAx>
        <c:axId val="56865970"/>
        <c:scaling>
          <c:orientation val="minMax"/>
        </c:scaling>
        <c:delete val="0"/>
        <c:axPos val="b"/>
        <c:numFmt formatCode="General" sourceLinked="0"/>
        <c:majorTickMark val="out"/>
        <c:minorTickMark val="none"/>
        <c:tickLblPos val="nextTo"/>
        <c:spPr>
          <a:ln w="12600">
            <a:solidFill>
              <a:srgbClr val="888888"/>
            </a:solidFill>
            <a:round/>
          </a:ln>
        </c:spPr>
        <c:txPr>
          <a:bodyPr/>
          <a:lstStyle/>
          <a:p>
            <a:pPr>
              <a:defRPr sz="1050" b="0" u="none" strike="noStrike">
                <a:solidFill>
                  <a:srgbClr val="1b2148"/>
                </a:solidFill>
                <a:uFillTx/>
                <a:latin typeface="Calibri"/>
              </a:defRPr>
            </a:pPr>
          </a:p>
        </c:txPr>
        <c:crossAx val="69850749"/>
        <c:crosses val="autoZero"/>
        <c:auto val="1"/>
        <c:lblAlgn val="ctr"/>
        <c:lblOffset val="100"/>
        <c:noMultiLvlLbl val="0"/>
      </c:catAx>
      <c:valAx>
        <c:axId val="69850749"/>
        <c:scaling>
          <c:orientation val="minMax"/>
          <c:max val="5"/>
          <c:min val="0"/>
        </c:scaling>
        <c:delete val="0"/>
        <c:axPos val="l"/>
        <c:majorGridlines>
          <c:spPr>
            <a:ln w="6480">
              <a:solidFill>
                <a:srgbClr val="e2e6f0"/>
              </a:solidFill>
              <a:round/>
            </a:ln>
          </c:spPr>
        </c:majorGridlines>
        <c:numFmt formatCode="General" sourceLinked="0"/>
        <c:majorTickMark val="out"/>
        <c:minorTickMark val="none"/>
        <c:tickLblPos val="low"/>
        <c:spPr>
          <a:ln w="12600">
            <a:solidFill>
              <a:srgbClr val="888888"/>
            </a:solidFill>
            <a:round/>
          </a:ln>
        </c:spPr>
        <c:txPr>
          <a:bodyPr/>
          <a:lstStyle/>
          <a:p>
            <a:pPr>
              <a:defRPr sz="900" b="0" u="none" strike="noStrike">
                <a:solidFill>
                  <a:srgbClr val="96a0bc"/>
                </a:solidFill>
                <a:uFillTx/>
                <a:latin typeface="Calibri"/>
              </a:defRPr>
            </a:pPr>
          </a:p>
        </c:txPr>
        <c:crossAx val="56865970"/>
        <c:crosses val="autoZero"/>
        <c:crossBetween val="between"/>
      </c:valAx>
      <c:spPr>
        <a:noFill/>
        <a:ln w="0">
          <a:noFill/>
        </a:ln>
      </c:spPr>
    </c:plotArea>
    <c:plotVisOnly val="1"/>
    <c:dispBlanksAs val="span"/>
  </c:chart>
  <c:spPr>
    <a:solidFill>
      <a:srgbClr val="ffffff"/>
    </a:solidFill>
    <a:ln w="0">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bar"/>
        <c:grouping val="clustered"/>
        <c:varyColors val="0"/>
        <c:ser>
          <c:idx val="0"/>
          <c:order val="0"/>
          <c:tx>
            <c:strRef>
              <c:f>label 0</c:f>
              <c:strCache>
                <c:ptCount val="1"/>
                <c:pt idx="0">
                  <c:v>d</c:v>
                </c:pt>
              </c:strCache>
            </c:strRef>
          </c:tx>
          <c:spPr>
            <a:solidFill>
              <a:srgbClr val="c23b4b"/>
            </a:solidFill>
            <a:ln w="0">
              <a:noFill/>
            </a:ln>
          </c:spPr>
          <c:invertIfNegative val="0"/>
          <c:dLbls>
            <c:numFmt formatCode="0.00" sourceLinked="0"/>
            <c:txPr>
              <a:bodyPr wrap="square"/>
              <a:lstStyle/>
              <a:p>
                <a:pPr>
                  <a:defRPr sz="1050" b="0" u="none" strike="noStrike">
                    <a:solidFill>
                      <a:srgbClr val="1b2148"/>
                    </a:solidFill>
                    <a:uFillTx/>
                    <a:latin typeface="Calibri"/>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7"/>
                <c:pt idx="0">
                  <c:v>Relacje interpersonalne</c:v>
                </c:pt>
                <c:pt idx="1">
                  <c:v>Zatrudnienie</c:v>
                </c:pt>
                <c:pt idx="2">
                  <c:v>Osiągnięcia edukacyjne</c:v>
                </c:pt>
                <c:pt idx="3">
                  <c:v>Dochody</c:v>
                </c:pt>
                <c:pt idx="4">
                  <c:v>Pewność siebie / samoocena</c:v>
                </c:pt>
                <c:pt idx="5">
                  <c:v>Jakość życia</c:v>
                </c:pt>
                <c:pt idx="6">
                  <c:v>Zdrowie psychiczne</c:v>
                </c:pt>
              </c:strCache>
            </c:strRef>
          </c:cat>
          <c:val>
            <c:numRef>
              <c:f>0</c:f>
              <c:numCache>
                <c:formatCode>General</c:formatCode>
                <c:ptCount val="7"/>
                <c:pt idx="0">
                  <c:v>-0.57</c:v>
                </c:pt>
                <c:pt idx="1">
                  <c:v>-0.58</c:v>
                </c:pt>
                <c:pt idx="2">
                  <c:v>-0.61</c:v>
                </c:pt>
                <c:pt idx="3">
                  <c:v>-0.66</c:v>
                </c:pt>
                <c:pt idx="4">
                  <c:v>-0.72</c:v>
                </c:pt>
                <c:pt idx="5">
                  <c:v>-0.73</c:v>
                </c:pt>
                <c:pt idx="6">
                  <c:v>-0.81</c:v>
                </c:pt>
              </c:numCache>
            </c:numRef>
          </c:val>
        </c:ser>
        <c:gapWidth val="30"/>
        <c:overlap val="0"/>
        <c:axId val="51218040"/>
        <c:axId val="38270004"/>
      </c:barChart>
      <c:catAx>
        <c:axId val="51218040"/>
        <c:scaling>
          <c:orientation val="minMax"/>
        </c:scaling>
        <c:delete val="0"/>
        <c:axPos val="b"/>
        <c:numFmt formatCode="General" sourceLinked="0"/>
        <c:majorTickMark val="out"/>
        <c:minorTickMark val="none"/>
        <c:tickLblPos val="nextTo"/>
        <c:spPr>
          <a:ln w="12600">
            <a:solidFill>
              <a:srgbClr val="888888"/>
            </a:solidFill>
            <a:round/>
          </a:ln>
        </c:spPr>
        <c:txPr>
          <a:bodyPr/>
          <a:lstStyle/>
          <a:p>
            <a:pPr>
              <a:defRPr sz="1000" b="0" u="none" strike="noStrike">
                <a:solidFill>
                  <a:srgbClr val="1b2148"/>
                </a:solidFill>
                <a:uFillTx/>
                <a:latin typeface="Calibri"/>
              </a:defRPr>
            </a:pPr>
          </a:p>
        </c:txPr>
        <c:crossAx val="38270004"/>
        <c:crosses val="autoZero"/>
        <c:auto val="1"/>
        <c:lblAlgn val="ctr"/>
        <c:lblOffset val="100"/>
        <c:noMultiLvlLbl val="0"/>
      </c:catAx>
      <c:valAx>
        <c:axId val="38270004"/>
        <c:scaling>
          <c:orientation val="minMax"/>
          <c:max val="0"/>
          <c:min val="-1"/>
        </c:scaling>
        <c:delete val="0"/>
        <c:axPos val="l"/>
        <c:majorGridlines>
          <c:spPr>
            <a:ln w="6480">
              <a:solidFill>
                <a:srgbClr val="e2e6f0"/>
              </a:solidFill>
              <a:round/>
            </a:ln>
          </c:spPr>
        </c:majorGridlines>
        <c:numFmt formatCode="General" sourceLinked="0"/>
        <c:majorTickMark val="out"/>
        <c:minorTickMark val="none"/>
        <c:tickLblPos val="low"/>
        <c:spPr>
          <a:ln w="12600">
            <a:solidFill>
              <a:srgbClr val="888888"/>
            </a:solidFill>
            <a:round/>
          </a:ln>
        </c:spPr>
        <c:txPr>
          <a:bodyPr/>
          <a:lstStyle/>
          <a:p>
            <a:pPr>
              <a:defRPr sz="900" b="0" u="none" strike="noStrike">
                <a:solidFill>
                  <a:srgbClr val="96a0bc"/>
                </a:solidFill>
                <a:uFillTx/>
                <a:latin typeface="Calibri"/>
              </a:defRPr>
            </a:pPr>
          </a:p>
        </c:txPr>
        <c:crossAx val="51218040"/>
        <c:crosses val="autoZero"/>
        <c:crossBetween val="between"/>
      </c:valAx>
      <c:spPr>
        <a:noFill/>
        <a:ln w="0">
          <a:noFill/>
        </a:ln>
      </c:spPr>
    </c:plotArea>
    <c:plotVisOnly val="1"/>
    <c:dispBlanksAs val="span"/>
  </c:chart>
  <c:spPr>
    <a:solidFill>
      <a:srgbClr val="ffffff"/>
    </a:solidFill>
    <a:ln w="0">
      <a:noFill/>
    </a:ln>
  </c:spPr>
</c:chartSpace>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lang="pl-PL" sz="1800" b="0" u="none" strike="noStrike">
                <a:solidFill>
                  <a:schemeClr val="dk1"/>
                </a:solidFill>
                <a:effectLst/>
                <a:uFillTx/>
                <a:latin typeface="Calibri"/>
              </a:rPr>
              <a:t>K</a:t>
            </a:r>
            <a:r>
              <a:rPr lang="pl-PL" sz="1800" b="0" u="none" strike="noStrike">
                <a:solidFill>
                  <a:schemeClr val="dk1"/>
                </a:solidFill>
                <a:effectLst/>
                <a:uFillTx/>
                <a:latin typeface="Calibri"/>
              </a:rPr>
              <a:t>l</a:t>
            </a:r>
            <a:r>
              <a:rPr lang="pl-PL" sz="1800" b="0" u="none" strike="noStrike">
                <a:solidFill>
                  <a:schemeClr val="dk1"/>
                </a:solidFill>
                <a:effectLst/>
                <a:uFillTx/>
                <a:latin typeface="Calibri"/>
              </a:rPr>
              <a:t>i</a:t>
            </a:r>
            <a:r>
              <a:rPr lang="pl-PL" sz="1800" b="0" u="none" strike="noStrike">
                <a:solidFill>
                  <a:schemeClr val="dk1"/>
                </a:solidFill>
                <a:effectLst/>
                <a:uFillTx/>
                <a:latin typeface="Calibri"/>
              </a:rPr>
              <a:t>k</a:t>
            </a:r>
            <a:r>
              <a:rPr lang="pl-PL" sz="1800" b="0" u="none" strike="noStrike">
                <a:solidFill>
                  <a:schemeClr val="dk1"/>
                </a:solidFill>
                <a:effectLst/>
                <a:uFillTx/>
                <a:latin typeface="Calibri"/>
              </a:rPr>
              <a:t>n</a:t>
            </a:r>
            <a:r>
              <a:rPr lang="pl-PL" sz="1800" b="0" u="none" strike="noStrike">
                <a:solidFill>
                  <a:schemeClr val="dk1"/>
                </a:solidFill>
                <a:effectLst/>
                <a:uFillTx/>
                <a:latin typeface="Calibri"/>
              </a:rPr>
              <a:t>i</a:t>
            </a:r>
            <a:r>
              <a:rPr lang="pl-PL" sz="1800" b="0" u="none" strike="noStrike">
                <a:solidFill>
                  <a:schemeClr val="dk1"/>
                </a:solidFill>
                <a:effectLst/>
                <a:uFillTx/>
                <a:latin typeface="Calibri"/>
              </a:rPr>
              <a:t>j</a:t>
            </a:r>
            <a:r>
              <a:rPr lang="pl-PL" sz="1800" b="0" u="none" strike="noStrike">
                <a:solidFill>
                  <a:schemeClr val="dk1"/>
                </a:solidFill>
                <a:effectLst/>
                <a:uFillTx/>
                <a:latin typeface="Calibri"/>
              </a:rPr>
              <a:t>, </a:t>
            </a:r>
            <a:r>
              <a:rPr lang="pl-PL" sz="1800" b="0" u="none" strike="noStrike">
                <a:solidFill>
                  <a:schemeClr val="dk1"/>
                </a:solidFill>
                <a:effectLst/>
                <a:uFillTx/>
                <a:latin typeface="Calibri"/>
              </a:rPr>
              <a:t>a</a:t>
            </a:r>
            <a:r>
              <a:rPr lang="pl-PL" sz="1800" b="0" u="none" strike="noStrike">
                <a:solidFill>
                  <a:schemeClr val="dk1"/>
                </a:solidFill>
                <a:effectLst/>
                <a:uFillTx/>
                <a:latin typeface="Calibri"/>
              </a:rPr>
              <a:t>b</a:t>
            </a:r>
            <a:r>
              <a:rPr lang="pl-PL" sz="1800" b="0" u="none" strike="noStrike">
                <a:solidFill>
                  <a:schemeClr val="dk1"/>
                </a:solidFill>
                <a:effectLst/>
                <a:uFillTx/>
                <a:latin typeface="Calibri"/>
              </a:rPr>
              <a:t>y</a:t>
            </a:r>
            <a:r>
              <a:rPr lang="pl-PL" sz="1800" b="0" u="none" strike="noStrike">
                <a:solidFill>
                  <a:schemeClr val="dk1"/>
                </a:solidFill>
                <a:effectLst/>
                <a:uFillTx/>
                <a:latin typeface="Calibri"/>
              </a:rPr>
              <a:t> </a:t>
            </a:r>
            <a:r>
              <a:rPr lang="pl-PL" sz="1800" b="0" u="none" strike="noStrike">
                <a:solidFill>
                  <a:schemeClr val="dk1"/>
                </a:solidFill>
                <a:effectLst/>
                <a:uFillTx/>
                <a:latin typeface="Calibri"/>
              </a:rPr>
              <a:t>p</a:t>
            </a:r>
            <a:r>
              <a:rPr lang="pl-PL" sz="1800" b="0" u="none" strike="noStrike">
                <a:solidFill>
                  <a:schemeClr val="dk1"/>
                </a:solidFill>
                <a:effectLst/>
                <a:uFillTx/>
                <a:latin typeface="Calibri"/>
              </a:rPr>
              <a:t>r</a:t>
            </a:r>
            <a:r>
              <a:rPr lang="pl-PL" sz="1800" b="0" u="none" strike="noStrike">
                <a:solidFill>
                  <a:schemeClr val="dk1"/>
                </a:solidFill>
                <a:effectLst/>
                <a:uFillTx/>
                <a:latin typeface="Calibri"/>
              </a:rPr>
              <a:t>z</a:t>
            </a:r>
            <a:r>
              <a:rPr lang="pl-PL" sz="1800" b="0" u="none" strike="noStrike">
                <a:solidFill>
                  <a:schemeClr val="dk1"/>
                </a:solidFill>
                <a:effectLst/>
                <a:uFillTx/>
                <a:latin typeface="Calibri"/>
              </a:rPr>
              <a:t>e</a:t>
            </a:r>
            <a:r>
              <a:rPr lang="pl-PL" sz="1800" b="0" u="none" strike="noStrike">
                <a:solidFill>
                  <a:schemeClr val="dk1"/>
                </a:solidFill>
                <a:effectLst/>
                <a:uFillTx/>
                <a:latin typeface="Calibri"/>
              </a:rPr>
              <a:t>s</a:t>
            </a:r>
            <a:r>
              <a:rPr lang="pl-PL" sz="1800" b="0" u="none" strike="noStrike">
                <a:solidFill>
                  <a:schemeClr val="dk1"/>
                </a:solidFill>
                <a:effectLst/>
                <a:uFillTx/>
                <a:latin typeface="Calibri"/>
              </a:rPr>
              <a:t>u</a:t>
            </a:r>
            <a:r>
              <a:rPr lang="pl-PL" sz="1800" b="0" u="none" strike="noStrike">
                <a:solidFill>
                  <a:schemeClr val="dk1"/>
                </a:solidFill>
                <a:effectLst/>
                <a:uFillTx/>
                <a:latin typeface="Calibri"/>
              </a:rPr>
              <a:t>n</a:t>
            </a:r>
            <a:r>
              <a:rPr lang="pl-PL" sz="1800" b="0" u="none" strike="noStrike">
                <a:solidFill>
                  <a:schemeClr val="dk1"/>
                </a:solidFill>
                <a:effectLst/>
                <a:uFillTx/>
                <a:latin typeface="Calibri"/>
              </a:rPr>
              <a:t>ą</a:t>
            </a:r>
            <a:r>
              <a:rPr lang="pl-PL" sz="1800" b="0" u="none" strike="noStrike">
                <a:solidFill>
                  <a:schemeClr val="dk1"/>
                </a:solidFill>
                <a:effectLst/>
                <a:uFillTx/>
                <a:latin typeface="Calibri"/>
              </a:rPr>
              <a:t>ć</a:t>
            </a:r>
            <a:r>
              <a:rPr lang="pl-PL" sz="1800" b="0" u="none" strike="noStrike">
                <a:solidFill>
                  <a:schemeClr val="dk1"/>
                </a:solidFill>
                <a:effectLst/>
                <a:uFillTx/>
                <a:latin typeface="Calibri"/>
              </a:rPr>
              <a:t> </a:t>
            </a:r>
            <a:r>
              <a:rPr lang="pl-PL" sz="1800" b="0" u="none" strike="noStrike">
                <a:solidFill>
                  <a:schemeClr val="dk1"/>
                </a:solidFill>
                <a:effectLst/>
                <a:uFillTx/>
                <a:latin typeface="Calibri"/>
              </a:rPr>
              <a:t>s</a:t>
            </a:r>
            <a:r>
              <a:rPr lang="pl-PL" sz="1800" b="0" u="none" strike="noStrike">
                <a:solidFill>
                  <a:schemeClr val="dk1"/>
                </a:solidFill>
                <a:effectLst/>
                <a:uFillTx/>
                <a:latin typeface="Calibri"/>
              </a:rPr>
              <a:t>l</a:t>
            </a:r>
            <a:r>
              <a:rPr lang="pl-PL" sz="1800" b="0" u="none" strike="noStrike">
                <a:solidFill>
                  <a:schemeClr val="dk1"/>
                </a:solidFill>
                <a:effectLst/>
                <a:uFillTx/>
                <a:latin typeface="Calibri"/>
              </a:rPr>
              <a:t>a</a:t>
            </a:r>
            <a:r>
              <a:rPr lang="pl-PL" sz="1800" b="0" u="none" strike="noStrike">
                <a:solidFill>
                  <a:schemeClr val="dk1"/>
                </a:solidFill>
                <a:effectLst/>
                <a:uFillTx/>
                <a:latin typeface="Calibri"/>
              </a:rPr>
              <a:t>j</a:t>
            </a:r>
            <a:r>
              <a:rPr lang="pl-PL" sz="1800" b="0" u="none" strike="noStrike">
                <a:solidFill>
                  <a:schemeClr val="dk1"/>
                </a:solidFill>
                <a:effectLst/>
                <a:uFillTx/>
                <a:latin typeface="Calibri"/>
              </a:rPr>
              <a:t>d</a:t>
            </a:r>
            <a:endParaRPr lang="pl-PL" sz="1800" b="0" u="none" strike="noStrike">
              <a:solidFill>
                <a:schemeClr val="dk1"/>
              </a:solidFill>
              <a:effectLst/>
              <a:uFillTx/>
              <a:latin typeface="Calibri"/>
            </a:endParaRPr>
          </a:p>
        </p:txBody>
      </p:sp>
      <p:sp>
        <p:nvSpPr>
          <p:cNvPr id="7"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indent="0">
              <a:buNone/>
            </a:pPr>
            <a:r>
              <a:rPr lang="pl-PL" sz="2000" b="0" u="none" strike="noStrike">
                <a:solidFill>
                  <a:srgbClr val="000000"/>
                </a:solidFill>
                <a:effectLst/>
                <a:uFillTx/>
                <a:latin typeface="Arial"/>
              </a:rPr>
              <a:t>Kliknij, aby edytować format notatek</a:t>
            </a:r>
            <a:endParaRPr lang="pl-PL" sz="2000" b="0" u="none" strike="noStrike">
              <a:solidFill>
                <a:srgbClr val="000000"/>
              </a:solidFill>
              <a:effectLst/>
              <a:uFillTx/>
              <a:latin typeface="Arial"/>
            </a:endParaRPr>
          </a:p>
        </p:txBody>
      </p:sp>
      <p:sp>
        <p:nvSpPr>
          <p:cNvPr id="8"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lang="pl-PL" sz="1400" b="0" u="none" strike="noStrike">
                <a:solidFill>
                  <a:srgbClr val="000000"/>
                </a:solidFill>
                <a:effectLst/>
                <a:uFillTx/>
                <a:latin typeface="Times New Roman"/>
              </a:rPr>
              <a:t>&lt;główka&gt;</a:t>
            </a:r>
            <a:endParaRPr lang="pl-PL" sz="1400" b="0" u="none" strike="noStrike">
              <a:solidFill>
                <a:srgbClr val="000000"/>
              </a:solidFill>
              <a:effectLst/>
              <a:uFillTx/>
              <a:latin typeface="Times New Roman"/>
            </a:endParaRPr>
          </a:p>
        </p:txBody>
      </p:sp>
      <p:sp>
        <p:nvSpPr>
          <p:cNvPr id="9"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lang="pl-PL" sz="1400" b="0" u="none" strike="noStrike">
                <a:solidFill>
                  <a:srgbClr val="000000"/>
                </a:solidFill>
                <a:effectLst/>
                <a:uFillTx/>
                <a:latin typeface="Times New Roman"/>
              </a:defRPr>
            </a:lvl1pPr>
          </a:lstStyle>
          <a:p>
            <a:pPr indent="0" algn="r">
              <a:buNone/>
            </a:pPr>
            <a:r>
              <a:rPr lang="pl-PL" sz="1400" b="0" u="none" strike="noStrike">
                <a:solidFill>
                  <a:srgbClr val="000000"/>
                </a:solidFill>
                <a:effectLst/>
                <a:uFillTx/>
                <a:latin typeface="Times New Roman"/>
              </a:rPr>
              <a:t>&lt;data/godzina&gt;</a:t>
            </a:r>
            <a:endParaRPr lang="pl-PL" sz="1400" b="0" u="none" strike="noStrike">
              <a:solidFill>
                <a:srgbClr val="000000"/>
              </a:solidFill>
              <a:effectLst/>
              <a:uFillTx/>
              <a:latin typeface="Times New Roman"/>
            </a:endParaRPr>
          </a:p>
        </p:txBody>
      </p:sp>
      <p:sp>
        <p:nvSpPr>
          <p:cNvPr id="10"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lang="pl-PL" sz="1400" b="0" u="none" strike="noStrike">
                <a:solidFill>
                  <a:srgbClr val="000000"/>
                </a:solidFill>
                <a:effectLst/>
                <a:uFillTx/>
                <a:latin typeface="Times New Roman"/>
              </a:defRPr>
            </a:lvl1pPr>
          </a:lstStyle>
          <a:p>
            <a:pPr indent="0">
              <a:buNone/>
            </a:pPr>
            <a:r>
              <a:rPr lang="pl-PL" sz="1400" b="0" u="none" strike="noStrike">
                <a:solidFill>
                  <a:srgbClr val="000000"/>
                </a:solidFill>
                <a:effectLst/>
                <a:uFillTx/>
                <a:latin typeface="Times New Roman"/>
              </a:rPr>
              <a:t>&lt;stopka&gt;</a:t>
            </a:r>
            <a:endParaRPr lang="pl-PL" sz="1400" b="0" u="none" strike="noStrike">
              <a:solidFill>
                <a:srgbClr val="000000"/>
              </a:solidFill>
              <a:effectLst/>
              <a:uFillTx/>
              <a:latin typeface="Times New Roman"/>
            </a:endParaRPr>
          </a:p>
        </p:txBody>
      </p:sp>
      <p:sp>
        <p:nvSpPr>
          <p:cNvPr id="11"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lang="pl-PL" sz="1400" b="0" u="none" strike="noStrike">
                <a:solidFill>
                  <a:srgbClr val="000000"/>
                </a:solidFill>
                <a:effectLst/>
                <a:uFillTx/>
                <a:latin typeface="Times New Roman"/>
              </a:defRPr>
            </a:lvl1pPr>
          </a:lstStyle>
          <a:p>
            <a:pPr indent="0" algn="r">
              <a:buNone/>
            </a:pPr>
            <a:fld id="{A7438F40-CBDF-431C-8335-951C3BB69780}" type="slidenum">
              <a:rPr lang="pl-PL" sz="1400" b="0" u="none" strike="noStrike">
                <a:solidFill>
                  <a:srgbClr val="000000"/>
                </a:solidFill>
                <a:effectLst/>
                <a:uFillTx/>
                <a:latin typeface="Times New Roman"/>
              </a:rPr>
              <a:t>&lt;numer&gt;</a:t>
            </a:fld>
            <a:endParaRPr lang="pl-PL"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0" name="PlaceHolder 1"/>
          <p:cNvSpPr>
            <a:spLocks noGrp="1"/>
          </p:cNvSpPr>
          <p:nvPr>
            <p:ph type="sldImg"/>
          </p:nvPr>
        </p:nvSpPr>
        <p:spPr>
          <a:xfrm>
            <a:off x="685800" y="1143000"/>
            <a:ext cx="5486040" cy="3085920"/>
          </a:xfrm>
          <a:prstGeom prst="rect">
            <a:avLst/>
          </a:prstGeom>
          <a:ln w="0">
            <a:noFill/>
          </a:ln>
        </p:spPr>
      </p:sp>
      <p:sp>
        <p:nvSpPr>
          <p:cNvPr id="41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ł</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f</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ę</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ą</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ą</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ę</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g</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ś</a:t>
            </a:r>
            <a:r>
              <a:rPr lang="pl-PL" sz="2000" b="0" u="none" strike="noStrike">
                <a:solidFill>
                  <a:srgbClr val="000000"/>
                </a:solidFill>
                <a:effectLst/>
                <a:uFillTx/>
                <a:latin typeface="Arial"/>
              </a:rPr>
              <a:t>ć</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ś</a:t>
            </a:r>
            <a:r>
              <a:rPr lang="pl-PL" sz="2000" b="0" u="none" strike="noStrike">
                <a:solidFill>
                  <a:srgbClr val="000000"/>
                </a:solidFill>
                <a:effectLst/>
                <a:uFillTx/>
                <a:latin typeface="Arial"/>
              </a:rPr>
              <a:t>ć</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ż</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ń</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ó</a:t>
            </a:r>
            <a:r>
              <a:rPr lang="pl-PL" sz="2000" b="0" u="none" strike="noStrike">
                <a:solidFill>
                  <a:srgbClr val="000000"/>
                </a:solidFill>
                <a:effectLst/>
                <a:uFillTx/>
                <a:latin typeface="Arial"/>
              </a:rPr>
              <a:t>ł</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ś</a:t>
            </a:r>
            <a:r>
              <a:rPr lang="pl-PL" sz="2000" b="0" u="none" strike="noStrike">
                <a:solidFill>
                  <a:srgbClr val="000000"/>
                </a:solidFill>
                <a:effectLst/>
                <a:uFillTx/>
                <a:latin typeface="Arial"/>
              </a:rPr>
              <a:t>ć</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ą</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ę</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ś</a:t>
            </a:r>
            <a:r>
              <a:rPr lang="pl-PL" sz="2000" b="0" u="none" strike="noStrike">
                <a:solidFill>
                  <a:srgbClr val="000000"/>
                </a:solidFill>
                <a:effectLst/>
                <a:uFillTx/>
                <a:latin typeface="Arial"/>
              </a:rPr>
              <a:t>ć</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f</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ł</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ł</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ł</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g</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ą</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ł</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ś</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ó</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g</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ą</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ż</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f</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ą</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g</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ę</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ę</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ó</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ż</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ń</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a:t>
            </a:r>
            <a:endParaRPr lang="pl-PL" sz="2000" b="0" u="none" strike="noStrike">
              <a:solidFill>
                <a:srgbClr val="000000"/>
              </a:solidFill>
              <a:effectLst/>
              <a:uFillTx/>
              <a:latin typeface="Arial"/>
            </a:endParaRPr>
          </a:p>
        </p:txBody>
      </p:sp>
      <p:sp>
        <p:nvSpPr>
          <p:cNvPr id="412" name="PlaceHolder 3"/>
          <p:cNvSpPr>
            <a:spLocks noGrp="1"/>
          </p:cNvSpPr>
          <p:nvPr>
            <p:ph type="sldNum" idx="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89C54FB4-ACE4-4E30-B9E4-296A47FB9619}"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3" name="PlaceHolder 1"/>
          <p:cNvSpPr>
            <a:spLocks noGrp="1"/>
          </p:cNvSpPr>
          <p:nvPr>
            <p:ph type="sldImg"/>
          </p:nvPr>
        </p:nvSpPr>
        <p:spPr>
          <a:xfrm>
            <a:off x="685800" y="1143000"/>
            <a:ext cx="5486040" cy="3085920"/>
          </a:xfrm>
          <a:prstGeom prst="rect">
            <a:avLst/>
          </a:prstGeom>
          <a:ln w="0">
            <a:noFill/>
          </a:ln>
        </p:spPr>
      </p:sp>
      <p:sp>
        <p:nvSpPr>
          <p:cNvPr id="41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ę</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ę</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ż</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ę</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ś</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ą</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ż</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ł</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ó</a:t>
            </a:r>
            <a:r>
              <a:rPr lang="pl-PL" sz="2000" b="0" u="none" strike="noStrike">
                <a:solidFill>
                  <a:srgbClr val="000000"/>
                </a:solidFill>
                <a:effectLst/>
                <a:uFillTx/>
                <a:latin typeface="Arial"/>
              </a:rPr>
              <a:t>ł</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ś</a:t>
            </a:r>
            <a:r>
              <a:rPr lang="pl-PL" sz="2000" b="0" u="none" strike="noStrike">
                <a:solidFill>
                  <a:srgbClr val="000000"/>
                </a:solidFill>
                <a:effectLst/>
                <a:uFillTx/>
                <a:latin typeface="Arial"/>
              </a:rPr>
              <a:t>ć</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ą</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ę</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ś</a:t>
            </a:r>
            <a:r>
              <a:rPr lang="pl-PL" sz="2000" b="0" u="none" strike="noStrike">
                <a:solidFill>
                  <a:srgbClr val="000000"/>
                </a:solidFill>
                <a:effectLst/>
                <a:uFillTx/>
                <a:latin typeface="Arial"/>
              </a:rPr>
              <a:t>ć</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ę</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ż</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ó</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f</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ż</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g</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ć</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ę</a:t>
            </a:r>
            <a:r>
              <a:rPr lang="pl-PL" sz="2000" b="0" u="none" strike="noStrike">
                <a:solidFill>
                  <a:srgbClr val="000000"/>
                </a:solidFill>
                <a:effectLst/>
                <a:uFillTx/>
                <a:latin typeface="Arial"/>
              </a:rPr>
              <a:t>ć</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ó</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ą</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ę</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ł</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a:t>
            </a:r>
            <a:endParaRPr lang="pl-PL" sz="2000" b="0" u="none" strike="noStrike">
              <a:solidFill>
                <a:srgbClr val="000000"/>
              </a:solidFill>
              <a:effectLst/>
              <a:uFillTx/>
              <a:latin typeface="Arial"/>
            </a:endParaRPr>
          </a:p>
        </p:txBody>
      </p:sp>
      <p:sp>
        <p:nvSpPr>
          <p:cNvPr id="415" name="PlaceHolder 3"/>
          <p:cNvSpPr>
            <a:spLocks noGrp="1"/>
          </p:cNvSpPr>
          <p:nvPr>
            <p:ph type="sldNum" idx="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CFA66818-8859-4997-9083-FEA7FC13D0CD}"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6" name="PlaceHolder 1"/>
          <p:cNvSpPr>
            <a:spLocks noGrp="1"/>
          </p:cNvSpPr>
          <p:nvPr>
            <p:ph type="sldImg"/>
          </p:nvPr>
        </p:nvSpPr>
        <p:spPr>
          <a:xfrm>
            <a:off x="685800" y="1143000"/>
            <a:ext cx="5486040" cy="3085920"/>
          </a:xfrm>
          <a:prstGeom prst="rect">
            <a:avLst/>
          </a:prstGeom>
          <a:ln w="0">
            <a:noFill/>
          </a:ln>
        </p:spPr>
      </p:sp>
      <p:sp>
        <p:nvSpPr>
          <p:cNvPr id="41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Najmocniejsze dowody dotyczą skuteczności leków w redukcji </a:t>
            </a:r>
            <a:r>
              <a:rPr lang="pl-PL" sz="2000" b="0" u="none" strike="noStrike">
                <a:solidFill>
                  <a:srgbClr val="000000"/>
                </a:solidFill>
                <a:effectLst/>
                <a:uFillTx/>
                <a:latin typeface="Arial"/>
              </a:rPr>
              <a:t>podstawowych objawów ADHD. Dla wyników długoterminowych — </a:t>
            </a:r>
            <a:r>
              <a:rPr lang="pl-PL" sz="2000" b="0" u="none" strike="noStrike">
                <a:solidFill>
                  <a:srgbClr val="000000"/>
                </a:solidFill>
                <a:effectLst/>
                <a:uFillTx/>
                <a:latin typeface="Arial"/>
              </a:rPr>
              <a:t>uzależnień, przestępczości, śmiertelności, dochodów — dominują </a:t>
            </a:r>
            <a:r>
              <a:rPr lang="pl-PL" sz="2000" b="0" u="none" strike="noStrike">
                <a:solidFill>
                  <a:srgbClr val="000000"/>
                </a:solidFill>
                <a:effectLst/>
                <a:uFillTx/>
                <a:latin typeface="Arial"/>
              </a:rPr>
              <a:t>badania obserwacyjne i rejestrowe. Są wartościowe ze względu na dużą </a:t>
            </a:r>
            <a:r>
              <a:rPr lang="pl-PL" sz="2000" b="0" u="none" strike="noStrike">
                <a:solidFill>
                  <a:srgbClr val="000000"/>
                </a:solidFill>
                <a:effectLst/>
                <a:uFillTx/>
                <a:latin typeface="Arial"/>
              </a:rPr>
              <a:t>liczebność prób i możliwość porównywania okresów leczenia i </a:t>
            </a:r>
            <a:r>
              <a:rPr lang="pl-PL" sz="2000" b="0" u="none" strike="noStrike">
                <a:solidFill>
                  <a:srgbClr val="000000"/>
                </a:solidFill>
                <a:effectLst/>
                <a:uFillTx/>
                <a:latin typeface="Arial"/>
              </a:rPr>
              <a:t>nieleczenia u tych samych osób, ale nie eliminują całkowicie wpływu </a:t>
            </a:r>
            <a:r>
              <a:rPr lang="pl-PL" sz="2000" b="0" u="none" strike="noStrike">
                <a:solidFill>
                  <a:srgbClr val="000000"/>
                </a:solidFill>
                <a:effectLst/>
                <a:uFillTx/>
                <a:latin typeface="Arial"/>
              </a:rPr>
              <a:t>czynników zakłócających. Dlatego w całym raporcie rozróżniamy </a:t>
            </a:r>
            <a:r>
              <a:rPr lang="pl-PL" sz="2000" b="0" u="none" strike="noStrike">
                <a:solidFill>
                  <a:srgbClr val="000000"/>
                </a:solidFill>
                <a:effectLst/>
                <a:uFillTx/>
                <a:latin typeface="Arial"/>
              </a:rPr>
              <a:t>związek statystyczny od pewnego efektu przyczynowego — i będziemy </a:t>
            </a:r>
            <a:r>
              <a:rPr lang="pl-PL" sz="2000" b="0" u="none" strike="noStrike">
                <a:solidFill>
                  <a:srgbClr val="000000"/>
                </a:solidFill>
                <a:effectLst/>
                <a:uFillTx/>
                <a:latin typeface="Arial"/>
              </a:rPr>
              <a:t>do tego rozróżnienia wracać przy każdej kolejnej grupie wyników.</a:t>
            </a:r>
            <a:endParaRPr lang="pl-PL" sz="2000" b="0" u="none" strike="noStrike">
              <a:solidFill>
                <a:srgbClr val="000000"/>
              </a:solidFill>
              <a:effectLst/>
              <a:uFillTx/>
              <a:latin typeface="Arial"/>
            </a:endParaRPr>
          </a:p>
        </p:txBody>
      </p:sp>
      <p:sp>
        <p:nvSpPr>
          <p:cNvPr id="418" name="PlaceHolder 3"/>
          <p:cNvSpPr>
            <a:spLocks noGrp="1"/>
          </p:cNvSpPr>
          <p:nvPr>
            <p:ph type="sldNum" idx="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DBD84ADC-28A3-4BE6-BBAF-9B3EFBBA7E92}"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9" name="PlaceHolder 1"/>
          <p:cNvSpPr>
            <a:spLocks noGrp="1"/>
          </p:cNvSpPr>
          <p:nvPr>
            <p:ph type="sldImg"/>
          </p:nvPr>
        </p:nvSpPr>
        <p:spPr>
          <a:xfrm>
            <a:off x="685800" y="1143000"/>
            <a:ext cx="5486040" cy="3085920"/>
          </a:xfrm>
          <a:prstGeom prst="rect">
            <a:avLst/>
          </a:prstGeom>
          <a:ln w="0">
            <a:noFill/>
          </a:ln>
        </p:spPr>
      </p:sp>
      <p:sp>
        <p:nvSpPr>
          <p:cNvPr id="42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Model jest wieloczynnikowy: ADHD nie działa w izolacji. Zaburzenia zachowania, depresja, uzależnienia, trauma, osobowość antyspołeczna i niekorzystne warunki społeczne mogą zarówno współtworzyć ryzyko, jak i pośredniczyć w związku między ADHD a wynikiem życiowym. Z tego powodu ADHD należy traktować jako czynnik podatności, a nie pojedynczą i wystarczającą przyczynę niekorzystnego przebiegu — to ramowanie będzie wracać przy każdym kolejnym omawianym obszarze: uzależnieniach, przestępczości i współchorobowości.</a:t>
            </a:r>
            <a:endParaRPr lang="pl-PL" sz="2000" b="0" u="none" strike="noStrike">
              <a:solidFill>
                <a:srgbClr val="000000"/>
              </a:solidFill>
              <a:effectLst/>
              <a:uFillTx/>
              <a:latin typeface="Arial"/>
            </a:endParaRPr>
          </a:p>
        </p:txBody>
      </p:sp>
      <p:sp>
        <p:nvSpPr>
          <p:cNvPr id="421" name="PlaceHolder 3"/>
          <p:cNvSpPr>
            <a:spLocks noGrp="1"/>
          </p:cNvSpPr>
          <p:nvPr>
            <p:ph type="sldNum" idx="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BCDC8DB8-075A-4213-9E2A-72E36DA7064F}"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2" name="PlaceHolder 1"/>
          <p:cNvSpPr>
            <a:spLocks noGrp="1"/>
          </p:cNvSpPr>
          <p:nvPr>
            <p:ph type="sldImg"/>
          </p:nvPr>
        </p:nvSpPr>
        <p:spPr>
          <a:xfrm>
            <a:off x="685800" y="1143000"/>
            <a:ext cx="5486040" cy="3085920"/>
          </a:xfrm>
          <a:prstGeom prst="rect">
            <a:avLst/>
          </a:prstGeom>
          <a:ln w="0">
            <a:noFill/>
          </a:ln>
        </p:spPr>
      </p:sp>
      <p:sp>
        <p:nvSpPr>
          <p:cNvPr id="42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Metaanalizy prospektywnych badań kohortowych wskazują, że rozpoznanie ADHD w dzieciństwie wiąże się z podwyższonym ryzykiem późniejszego palenia nikotyny oraz zaburzeń używania alkoholu, konopi, narkotyków. Związek z samym eksperymentowaniem z alkoholem jest słabszy niż z rozwojem klinicznego zaburzenia używania — ADHD silniej przewiduje wczesny początek, intensyfikację używania i przejście do problemowego wzorca niż jednorazowy kontakt z substancją. Wysoka częstość ADHD w populacjach leczonych z powodu uzależnień potwierdza kliniczne znaczenie tego związku, choć badania przesiewowe zwykle dają wyższe wskaźniki niż pełna diagnoza kliniczna.</a:t>
            </a:r>
            <a:endParaRPr lang="pl-PL" sz="2000" b="0" u="none" strike="noStrike">
              <a:solidFill>
                <a:srgbClr val="000000"/>
              </a:solidFill>
              <a:effectLst/>
              <a:uFillTx/>
              <a:latin typeface="Arial"/>
            </a:endParaRPr>
          </a:p>
        </p:txBody>
      </p:sp>
      <p:sp>
        <p:nvSpPr>
          <p:cNvPr id="424" name="PlaceHolder 3"/>
          <p:cNvSpPr>
            <a:spLocks noGrp="1"/>
          </p:cNvSpPr>
          <p:nvPr>
            <p:ph type="sldNum" idx="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A053FBA9-CEB1-4EED-BCCA-1E7FBB86A1EE}"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5" name="PlaceHolder 1"/>
          <p:cNvSpPr>
            <a:spLocks noGrp="1"/>
          </p:cNvSpPr>
          <p:nvPr>
            <p:ph type="sldImg"/>
          </p:nvPr>
        </p:nvSpPr>
        <p:spPr>
          <a:xfrm>
            <a:off x="685800" y="1143000"/>
            <a:ext cx="5486040" cy="3085920"/>
          </a:xfrm>
          <a:prstGeom prst="rect">
            <a:avLst/>
          </a:prstGeom>
          <a:ln w="0">
            <a:noFill/>
          </a:ln>
        </p:spPr>
      </p:sp>
      <p:sp>
        <p:nvSpPr>
          <p:cNvPr id="42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Najbardziej prawdopodobny model jest wieloczynnikowy. Impulsywność </a:t>
            </a:r>
            <a:r>
              <a:rPr lang="pl-PL" sz="2000" b="0" u="none" strike="noStrike">
                <a:solidFill>
                  <a:srgbClr val="000000"/>
                </a:solidFill>
                <a:effectLst/>
                <a:uFillTx/>
                <a:latin typeface="Arial"/>
              </a:rPr>
              <a:t>zwiększa prawdopodobieństwo podjęcia zachowania bez pełnej oceny </a:t>
            </a:r>
            <a:r>
              <a:rPr lang="pl-PL" sz="2000" b="0" u="none" strike="noStrike">
                <a:solidFill>
                  <a:srgbClr val="000000"/>
                </a:solidFill>
                <a:effectLst/>
                <a:uFillTx/>
                <a:latin typeface="Arial"/>
              </a:rPr>
              <a:t>konsekwencji. Preferencja natychmiastowej nagrody sprawia, że szybkie </a:t>
            </a:r>
            <a:r>
              <a:rPr lang="pl-PL" sz="2000" b="0" u="none" strike="noStrike">
                <a:solidFill>
                  <a:srgbClr val="000000"/>
                </a:solidFill>
                <a:effectLst/>
                <a:uFillTx/>
                <a:latin typeface="Arial"/>
              </a:rPr>
              <a:t>wzmocnienie z substancji może przeważać nad odległymi korzyściami </a:t>
            </a:r>
            <a:r>
              <a:rPr lang="pl-PL" sz="2000" b="0" u="none" strike="noStrike">
                <a:solidFill>
                  <a:srgbClr val="000000"/>
                </a:solidFill>
                <a:effectLst/>
                <a:uFillTx/>
                <a:latin typeface="Arial"/>
              </a:rPr>
              <a:t>abstynencji. Poszukiwanie stymulacji i dysregulacja pobudzenia mogą </a:t>
            </a:r>
            <a:r>
              <a:rPr lang="pl-PL" sz="2000" b="0" u="none" strike="noStrike">
                <a:solidFill>
                  <a:srgbClr val="000000"/>
                </a:solidFill>
                <a:effectLst/>
                <a:uFillTx/>
                <a:latin typeface="Arial"/>
              </a:rPr>
              <a:t>sprzyjać używaniu substancji jako sposobu modyfikowania </a:t>
            </a:r>
            <a:r>
              <a:rPr lang="pl-PL" sz="2000" b="0" u="none" strike="noStrike">
                <a:solidFill>
                  <a:srgbClr val="000000"/>
                </a:solidFill>
                <a:effectLst/>
                <a:uFillTx/>
                <a:latin typeface="Arial"/>
              </a:rPr>
              <a:t>samopoczucia. Hipoteza samoleczenia jest istotna, ale wymaga </a:t>
            </a:r>
            <a:r>
              <a:rPr lang="pl-PL" sz="2000" b="0" u="none" strike="noStrike">
                <a:solidFill>
                  <a:srgbClr val="000000"/>
                </a:solidFill>
                <a:effectLst/>
                <a:uFillTx/>
                <a:latin typeface="Arial"/>
              </a:rPr>
              <a:t>ostrożności interpretacyjnej: krótkotrwała poprawa subiektywna nie </a:t>
            </a:r>
            <a:r>
              <a:rPr lang="pl-PL" sz="2000" b="0" u="none" strike="noStrike">
                <a:solidFill>
                  <a:srgbClr val="000000"/>
                </a:solidFill>
                <a:effectLst/>
                <a:uFillTx/>
                <a:latin typeface="Arial"/>
              </a:rPr>
              <a:t>oznacza terapeutycznego działania na ADHD, a ryzyko dodatkowo </a:t>
            </a:r>
            <a:r>
              <a:rPr lang="pl-PL" sz="2000" b="0" u="none" strike="noStrike">
                <a:solidFill>
                  <a:srgbClr val="000000"/>
                </a:solidFill>
                <a:effectLst/>
                <a:uFillTx/>
                <a:latin typeface="Arial"/>
              </a:rPr>
              <a:t>zwiększają doświadczenia niepowodzeń, odrzucenia, bezrobocia i </a:t>
            </a:r>
            <a:r>
              <a:rPr lang="pl-PL" sz="2000" b="0" u="none" strike="noStrike">
                <a:solidFill>
                  <a:srgbClr val="000000"/>
                </a:solidFill>
                <a:effectLst/>
                <a:uFillTx/>
                <a:latin typeface="Arial"/>
              </a:rPr>
              <a:t>niskiej samooceny.</a:t>
            </a:r>
            <a:endParaRPr lang="pl-PL" sz="2000" b="0" u="none" strike="noStrike">
              <a:solidFill>
                <a:srgbClr val="000000"/>
              </a:solidFill>
              <a:effectLst/>
              <a:uFillTx/>
              <a:latin typeface="Arial"/>
            </a:endParaRPr>
          </a:p>
        </p:txBody>
      </p:sp>
      <p:sp>
        <p:nvSpPr>
          <p:cNvPr id="427" name="PlaceHolder 3"/>
          <p:cNvSpPr>
            <a:spLocks noGrp="1"/>
          </p:cNvSpPr>
          <p:nvPr>
            <p:ph type="sldNum" idx="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BCE20995-F29D-42B7-8E98-707EC6753AA9}"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8" name="PlaceHolder 1"/>
          <p:cNvSpPr>
            <a:spLocks noGrp="1"/>
          </p:cNvSpPr>
          <p:nvPr>
            <p:ph type="sldImg"/>
          </p:nvPr>
        </p:nvSpPr>
        <p:spPr>
          <a:xfrm>
            <a:off x="685800" y="1143000"/>
            <a:ext cx="5486040" cy="3085920"/>
          </a:xfrm>
          <a:prstGeom prst="rect">
            <a:avLst/>
          </a:prstGeom>
          <a:ln w="0">
            <a:noFill/>
          </a:ln>
        </p:spPr>
      </p:sp>
      <p:sp>
        <p:nvSpPr>
          <p:cNvPr id="42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ADHD może utrudniać leczenie uzależnienia poprzez nieregularne </a:t>
            </a:r>
            <a:r>
              <a:rPr lang="pl-PL" sz="2000" b="0" u="none" strike="noStrike">
                <a:solidFill>
                  <a:srgbClr val="000000"/>
                </a:solidFill>
                <a:effectLst/>
                <a:uFillTx/>
                <a:latin typeface="Arial"/>
              </a:rPr>
              <a:t>uczęszczanie na terapię, zapominanie o wizytach, słabą realizację </a:t>
            </a:r>
            <a:r>
              <a:rPr lang="pl-PL" sz="2000" b="0" u="none" strike="noStrike">
                <a:solidFill>
                  <a:srgbClr val="000000"/>
                </a:solidFill>
                <a:effectLst/>
                <a:uFillTx/>
                <a:latin typeface="Arial"/>
              </a:rPr>
              <a:t>zadań terapeutycznych, impulsywne nawroty, trudności w planowaniu </a:t>
            </a:r>
            <a:r>
              <a:rPr lang="pl-PL" sz="2000" b="0" u="none" strike="noStrike">
                <a:solidFill>
                  <a:srgbClr val="000000"/>
                </a:solidFill>
                <a:effectLst/>
                <a:uFillTx/>
                <a:latin typeface="Arial"/>
              </a:rPr>
              <a:t>sytuacji wysokiego ryzyka i gorsze przestrzeganie farmakoterapii. Osoby </a:t>
            </a:r>
            <a:r>
              <a:rPr lang="pl-PL" sz="2000" b="0" u="none" strike="noStrike">
                <a:solidFill>
                  <a:srgbClr val="000000"/>
                </a:solidFill>
                <a:effectLst/>
                <a:uFillTx/>
                <a:latin typeface="Arial"/>
              </a:rPr>
              <a:t>z jednoczesnym ADHD i SUD często rozpoczynają używanie wcześniej, </a:t>
            </a:r>
            <a:r>
              <a:rPr lang="pl-PL" sz="2000" b="0" u="none" strike="noStrike">
                <a:solidFill>
                  <a:srgbClr val="000000"/>
                </a:solidFill>
                <a:effectLst/>
                <a:uFillTx/>
                <a:latin typeface="Arial"/>
              </a:rPr>
              <a:t>używają większej liczby substancji i mają więcej problemów </a:t>
            </a:r>
            <a:r>
              <a:rPr lang="pl-PL" sz="2000" b="0" u="none" strike="noStrike">
                <a:solidFill>
                  <a:srgbClr val="000000"/>
                </a:solidFill>
                <a:effectLst/>
                <a:uFillTx/>
                <a:latin typeface="Arial"/>
              </a:rPr>
              <a:t>psychiatrycznych, społecznych oraz prawnych. Nie wszystkie badania </a:t>
            </a:r>
            <a:r>
              <a:rPr lang="pl-PL" sz="2000" b="0" u="none" strike="noStrike">
                <a:solidFill>
                  <a:srgbClr val="000000"/>
                </a:solidFill>
                <a:effectLst/>
                <a:uFillTx/>
                <a:latin typeface="Arial"/>
              </a:rPr>
              <a:t>wykazują jednak, że ADHD niezależnie przewiduje każdy nawrót — po </a:t>
            </a:r>
            <a:r>
              <a:rPr lang="pl-PL" sz="2000" b="0" u="none" strike="noStrike">
                <a:solidFill>
                  <a:srgbClr val="000000"/>
                </a:solidFill>
                <a:effectLst/>
                <a:uFillTx/>
                <a:latin typeface="Arial"/>
              </a:rPr>
              <a:t>uwzględnieniu współchorobowości część efektu słabnie.</a:t>
            </a:r>
            <a:endParaRPr lang="pl-PL" sz="2000" b="0" u="none" strike="noStrike">
              <a:solidFill>
                <a:srgbClr val="000000"/>
              </a:solidFill>
              <a:effectLst/>
              <a:uFillTx/>
              <a:latin typeface="Arial"/>
            </a:endParaRPr>
          </a:p>
        </p:txBody>
      </p:sp>
      <p:sp>
        <p:nvSpPr>
          <p:cNvPr id="430" name="PlaceHolder 3"/>
          <p:cNvSpPr>
            <a:spLocks noGrp="1"/>
          </p:cNvSpPr>
          <p:nvPr>
            <p:ph type="sldNum" idx="1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76DF5C4D-D718-4E8B-B09B-D9580E67D221}"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1" name="PlaceHolder 1"/>
          <p:cNvSpPr>
            <a:spLocks noGrp="1"/>
          </p:cNvSpPr>
          <p:nvPr>
            <p:ph type="sldImg"/>
          </p:nvPr>
        </p:nvSpPr>
        <p:spPr>
          <a:xfrm>
            <a:off x="685800" y="1143000"/>
            <a:ext cx="5486040" cy="3085920"/>
          </a:xfrm>
          <a:prstGeom prst="rect">
            <a:avLst/>
          </a:prstGeom>
          <a:ln w="0">
            <a:noFill/>
          </a:ln>
        </p:spPr>
      </p:sp>
      <p:sp>
        <p:nvSpPr>
          <p:cNvPr id="43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Dostępne dane nie potwierdzają, aby prawidłowo prowadzona farmakoterapia ADHD zwiększała późniejsze ryzyko zaburzeń używania substancji. Należy jednak odróżnić kontrolowane przyjmowanie leku od pozamedycznego stosowania, przekazywania leków innym osobom oraz zmiany drogi podania. U pacjentów z wysokim ryzykiem nadużywania można preferować preparaty długo działające, leki niestymulujące, ograniczoną liczbę wydawanych dawek oraz regularne monitorowanie — decyzja powinna być indywidualna i uwzględniać aktywne używanie substancji, stabilność pacjenta i możliwość nadzoru.</a:t>
            </a:r>
            <a:endParaRPr lang="pl-PL" sz="2000" b="0" u="none" strike="noStrike">
              <a:solidFill>
                <a:srgbClr val="000000"/>
              </a:solidFill>
              <a:effectLst/>
              <a:uFillTx/>
              <a:latin typeface="Arial"/>
            </a:endParaRPr>
          </a:p>
        </p:txBody>
      </p:sp>
      <p:sp>
        <p:nvSpPr>
          <p:cNvPr id="433" name="PlaceHolder 3"/>
          <p:cNvSpPr>
            <a:spLocks noGrp="1"/>
          </p:cNvSpPr>
          <p:nvPr>
            <p:ph type="sldNum" idx="1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130FBD47-4C28-47CD-8CE8-AF1AACEF7F0E}"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4" name="PlaceHolder 1"/>
          <p:cNvSpPr>
            <a:spLocks noGrp="1"/>
          </p:cNvSpPr>
          <p:nvPr>
            <p:ph type="sldImg"/>
          </p:nvPr>
        </p:nvSpPr>
        <p:spPr>
          <a:xfrm>
            <a:off x="685800" y="1143000"/>
            <a:ext cx="5486040" cy="3085920"/>
          </a:xfrm>
          <a:prstGeom prst="rect">
            <a:avLst/>
          </a:prstGeom>
          <a:ln w="0">
            <a:noFill/>
          </a:ln>
        </p:spPr>
      </p:sp>
      <p:sp>
        <p:nvSpPr>
          <p:cNvPr id="43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Farmakoter</a:t>
            </a:r>
            <a:r>
              <a:rPr lang="pl-PL" sz="2000" b="0" u="none" strike="noStrike">
                <a:solidFill>
                  <a:srgbClr val="000000"/>
                </a:solidFill>
                <a:effectLst/>
                <a:uFillTx/>
                <a:latin typeface="Arial"/>
              </a:rPr>
              <a:t>apia może </a:t>
            </a:r>
            <a:r>
              <a:rPr lang="pl-PL" sz="2000" b="0" u="none" strike="noStrike">
                <a:solidFill>
                  <a:srgbClr val="000000"/>
                </a:solidFill>
                <a:effectLst/>
                <a:uFillTx/>
                <a:latin typeface="Arial"/>
              </a:rPr>
              <a:t>poprawiać </a:t>
            </a:r>
            <a:r>
              <a:rPr lang="pl-PL" sz="2000" b="0" u="none" strike="noStrike">
                <a:solidFill>
                  <a:srgbClr val="000000"/>
                </a:solidFill>
                <a:effectLst/>
                <a:uFillTx/>
                <a:latin typeface="Arial"/>
              </a:rPr>
              <a:t>objawy </a:t>
            </a:r>
            <a:r>
              <a:rPr lang="pl-PL" sz="2000" b="0" u="none" strike="noStrike">
                <a:solidFill>
                  <a:srgbClr val="000000"/>
                </a:solidFill>
                <a:effectLst/>
                <a:uFillTx/>
                <a:latin typeface="Arial"/>
              </a:rPr>
              <a:t>ADHD u </a:t>
            </a:r>
            <a:r>
              <a:rPr lang="pl-PL" sz="2000" b="0" u="none" strike="noStrike">
                <a:solidFill>
                  <a:srgbClr val="000000"/>
                </a:solidFill>
                <a:effectLst/>
                <a:uFillTx/>
                <a:latin typeface="Arial"/>
              </a:rPr>
              <a:t>osoby z </a:t>
            </a:r>
            <a:r>
              <a:rPr lang="pl-PL" sz="2000" b="0" u="none" strike="noStrike">
                <a:solidFill>
                  <a:srgbClr val="000000"/>
                </a:solidFill>
                <a:effectLst/>
                <a:uFillTx/>
                <a:latin typeface="Arial"/>
              </a:rPr>
              <a:t>uzależnieni</a:t>
            </a:r>
            <a:r>
              <a:rPr lang="pl-PL" sz="2000" b="0" u="none" strike="noStrike">
                <a:solidFill>
                  <a:srgbClr val="000000"/>
                </a:solidFill>
                <a:effectLst/>
                <a:uFillTx/>
                <a:latin typeface="Arial"/>
              </a:rPr>
              <a:t>em, ale </a:t>
            </a:r>
            <a:r>
              <a:rPr lang="pl-PL" sz="2000" b="0" u="none" strike="noStrike">
                <a:solidFill>
                  <a:srgbClr val="000000"/>
                </a:solidFill>
                <a:effectLst/>
                <a:uFillTx/>
                <a:latin typeface="Arial"/>
              </a:rPr>
              <a:t>zwykle nie </a:t>
            </a:r>
            <a:r>
              <a:rPr lang="pl-PL" sz="2000" b="0" u="none" strike="noStrike">
                <a:solidFill>
                  <a:srgbClr val="000000"/>
                </a:solidFill>
                <a:effectLst/>
                <a:uFillTx/>
                <a:latin typeface="Arial"/>
              </a:rPr>
              <a:t>jest </a:t>
            </a:r>
            <a:r>
              <a:rPr lang="pl-PL" sz="2000" b="0" u="none" strike="noStrike">
                <a:solidFill>
                  <a:srgbClr val="000000"/>
                </a:solidFill>
                <a:effectLst/>
                <a:uFillTx/>
                <a:latin typeface="Arial"/>
              </a:rPr>
              <a:t>wystarczają</a:t>
            </a:r>
            <a:r>
              <a:rPr lang="pl-PL" sz="2000" b="0" u="none" strike="noStrike">
                <a:solidFill>
                  <a:srgbClr val="000000"/>
                </a:solidFill>
                <a:effectLst/>
                <a:uFillTx/>
                <a:latin typeface="Arial"/>
              </a:rPr>
              <a:t>cym </a:t>
            </a:r>
            <a:r>
              <a:rPr lang="pl-PL" sz="2000" b="0" u="none" strike="noStrike">
                <a:solidFill>
                  <a:srgbClr val="000000"/>
                </a:solidFill>
                <a:effectLst/>
                <a:uFillTx/>
                <a:latin typeface="Arial"/>
              </a:rPr>
              <a:t>leczeniem </a:t>
            </a:r>
            <a:r>
              <a:rPr lang="pl-PL" sz="2000" b="0" u="none" strike="noStrike">
                <a:solidFill>
                  <a:srgbClr val="000000"/>
                </a:solidFill>
                <a:effectLst/>
                <a:uFillTx/>
                <a:latin typeface="Arial"/>
              </a:rPr>
              <a:t>samego </a:t>
            </a:r>
            <a:r>
              <a:rPr lang="pl-PL" sz="2000" b="0" u="none" strike="noStrike">
                <a:solidFill>
                  <a:srgbClr val="000000"/>
                </a:solidFill>
                <a:effectLst/>
                <a:uFillTx/>
                <a:latin typeface="Arial"/>
              </a:rPr>
              <a:t>SUD. </a:t>
            </a:r>
            <a:r>
              <a:rPr lang="pl-PL" sz="2000" b="0" u="none" strike="noStrike">
                <a:solidFill>
                  <a:srgbClr val="000000"/>
                </a:solidFill>
                <a:effectLst/>
                <a:uFillTx/>
                <a:latin typeface="Arial"/>
              </a:rPr>
              <a:t>Najbardziej </a:t>
            </a:r>
            <a:r>
              <a:rPr lang="pl-PL" sz="2000" b="0" u="none" strike="noStrike">
                <a:solidFill>
                  <a:srgbClr val="000000"/>
                </a:solidFill>
                <a:effectLst/>
                <a:uFillTx/>
                <a:latin typeface="Arial"/>
              </a:rPr>
              <a:t>racjonalny </a:t>
            </a:r>
            <a:r>
              <a:rPr lang="pl-PL" sz="2000" b="0" u="none" strike="noStrike">
                <a:solidFill>
                  <a:srgbClr val="000000"/>
                </a:solidFill>
                <a:effectLst/>
                <a:uFillTx/>
                <a:latin typeface="Arial"/>
              </a:rPr>
              <a:t>model </a:t>
            </a:r>
            <a:r>
              <a:rPr lang="pl-PL" sz="2000" b="0" u="none" strike="noStrike">
                <a:solidFill>
                  <a:srgbClr val="000000"/>
                </a:solidFill>
                <a:effectLst/>
                <a:uFillTx/>
                <a:latin typeface="Arial"/>
              </a:rPr>
              <a:t>obejmuje </a:t>
            </a:r>
            <a:r>
              <a:rPr lang="pl-PL" sz="2000" b="0" u="none" strike="noStrike">
                <a:solidFill>
                  <a:srgbClr val="000000"/>
                </a:solidFill>
                <a:effectLst/>
                <a:uFillTx/>
                <a:latin typeface="Arial"/>
              </a:rPr>
              <a:t>równoległe </a:t>
            </a:r>
            <a:r>
              <a:rPr lang="pl-PL" sz="2000" b="0" u="none" strike="noStrike">
                <a:solidFill>
                  <a:srgbClr val="000000"/>
                </a:solidFill>
                <a:effectLst/>
                <a:uFillTx/>
                <a:latin typeface="Arial"/>
              </a:rPr>
              <a:t>leczenie </a:t>
            </a:r>
            <a:r>
              <a:rPr lang="pl-PL" sz="2000" b="0" u="none" strike="noStrike">
                <a:solidFill>
                  <a:srgbClr val="000000"/>
                </a:solidFill>
                <a:effectLst/>
                <a:uFillTx/>
                <a:latin typeface="Arial"/>
              </a:rPr>
              <a:t>obu </a:t>
            </a:r>
            <a:r>
              <a:rPr lang="pl-PL" sz="2000" b="0" u="none" strike="noStrike">
                <a:solidFill>
                  <a:srgbClr val="000000"/>
                </a:solidFill>
                <a:effectLst/>
                <a:uFillTx/>
                <a:latin typeface="Arial"/>
              </a:rPr>
              <a:t>zaburzeń: </a:t>
            </a:r>
            <a:r>
              <a:rPr lang="pl-PL" sz="2000" b="0" u="none" strike="noStrike">
                <a:solidFill>
                  <a:srgbClr val="000000"/>
                </a:solidFill>
                <a:effectLst/>
                <a:uFillTx/>
                <a:latin typeface="Arial"/>
              </a:rPr>
              <a:t>farmakoter</a:t>
            </a:r>
            <a:r>
              <a:rPr lang="pl-PL" sz="2000" b="0" u="none" strike="noStrike">
                <a:solidFill>
                  <a:srgbClr val="000000"/>
                </a:solidFill>
                <a:effectLst/>
                <a:uFillTx/>
                <a:latin typeface="Arial"/>
              </a:rPr>
              <a:t>apię ADHD, </a:t>
            </a:r>
            <a:r>
              <a:rPr lang="pl-PL" sz="2000" b="0" u="none" strike="noStrike">
                <a:solidFill>
                  <a:srgbClr val="000000"/>
                </a:solidFill>
                <a:effectLst/>
                <a:uFillTx/>
                <a:latin typeface="Arial"/>
              </a:rPr>
              <a:t>terapię </a:t>
            </a:r>
            <a:r>
              <a:rPr lang="pl-PL" sz="2000" b="0" u="none" strike="noStrike">
                <a:solidFill>
                  <a:srgbClr val="000000"/>
                </a:solidFill>
                <a:effectLst/>
                <a:uFillTx/>
                <a:latin typeface="Arial"/>
              </a:rPr>
              <a:t>poznawczo</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behawioral</a:t>
            </a:r>
            <a:r>
              <a:rPr lang="pl-PL" sz="2000" b="0" u="none" strike="noStrike">
                <a:solidFill>
                  <a:srgbClr val="000000"/>
                </a:solidFill>
                <a:effectLst/>
                <a:uFillTx/>
                <a:latin typeface="Arial"/>
              </a:rPr>
              <a:t>ną, </a:t>
            </a:r>
            <a:r>
              <a:rPr lang="pl-PL" sz="2000" b="0" u="none" strike="noStrike">
                <a:solidFill>
                  <a:srgbClr val="000000"/>
                </a:solidFill>
                <a:effectLst/>
                <a:uFillTx/>
                <a:latin typeface="Arial"/>
              </a:rPr>
              <a:t>monitorowa</a:t>
            </a:r>
            <a:r>
              <a:rPr lang="pl-PL" sz="2000" b="0" u="none" strike="noStrike">
                <a:solidFill>
                  <a:srgbClr val="000000"/>
                </a:solidFill>
                <a:effectLst/>
                <a:uFillTx/>
                <a:latin typeface="Arial"/>
              </a:rPr>
              <a:t>nie </a:t>
            </a:r>
            <a:r>
              <a:rPr lang="pl-PL" sz="2000" b="0" u="none" strike="noStrike">
                <a:solidFill>
                  <a:srgbClr val="000000"/>
                </a:solidFill>
                <a:effectLst/>
                <a:uFillTx/>
                <a:latin typeface="Arial"/>
              </a:rPr>
              <a:t>używania, </a:t>
            </a:r>
            <a:r>
              <a:rPr lang="pl-PL" sz="2000" b="0" u="none" strike="noStrike">
                <a:solidFill>
                  <a:srgbClr val="000000"/>
                </a:solidFill>
                <a:effectLst/>
                <a:uFillTx/>
                <a:latin typeface="Arial"/>
              </a:rPr>
              <a:t>psychoedu</a:t>
            </a:r>
            <a:r>
              <a:rPr lang="pl-PL" sz="2000" b="0" u="none" strike="noStrike">
                <a:solidFill>
                  <a:srgbClr val="000000"/>
                </a:solidFill>
                <a:effectLst/>
                <a:uFillTx/>
                <a:latin typeface="Arial"/>
              </a:rPr>
              <a:t>kację, </a:t>
            </a:r>
            <a:r>
              <a:rPr lang="pl-PL" sz="2000" b="0" u="none" strike="noStrike">
                <a:solidFill>
                  <a:srgbClr val="000000"/>
                </a:solidFill>
                <a:effectLst/>
                <a:uFillTx/>
                <a:latin typeface="Arial"/>
              </a:rPr>
              <a:t>organizację </a:t>
            </a:r>
            <a:r>
              <a:rPr lang="pl-PL" sz="2000" b="0" u="none" strike="noStrike">
                <a:solidFill>
                  <a:srgbClr val="000000"/>
                </a:solidFill>
                <a:effectLst/>
                <a:uFillTx/>
                <a:latin typeface="Arial"/>
              </a:rPr>
              <a:t>terminów </a:t>
            </a:r>
            <a:r>
              <a:rPr lang="pl-PL" sz="2000" b="0" u="none" strike="noStrike">
                <a:solidFill>
                  <a:srgbClr val="000000"/>
                </a:solidFill>
                <a:effectLst/>
                <a:uFillTx/>
                <a:latin typeface="Arial"/>
              </a:rPr>
              <a:t>oraz </a:t>
            </a:r>
            <a:r>
              <a:rPr lang="pl-PL" sz="2000" b="0" u="none" strike="noStrike">
                <a:solidFill>
                  <a:srgbClr val="000000"/>
                </a:solidFill>
                <a:effectLst/>
                <a:uFillTx/>
                <a:latin typeface="Arial"/>
              </a:rPr>
              <a:t>leczenie </a:t>
            </a:r>
            <a:r>
              <a:rPr lang="pl-PL" sz="2000" b="0" u="none" strike="noStrike">
                <a:solidFill>
                  <a:srgbClr val="000000"/>
                </a:solidFill>
                <a:effectLst/>
                <a:uFillTx/>
                <a:latin typeface="Arial"/>
              </a:rPr>
              <a:t>depresji, </a:t>
            </a:r>
            <a:r>
              <a:rPr lang="pl-PL" sz="2000" b="0" u="none" strike="noStrike">
                <a:solidFill>
                  <a:srgbClr val="000000"/>
                </a:solidFill>
                <a:effectLst/>
                <a:uFillTx/>
                <a:latin typeface="Arial"/>
              </a:rPr>
              <a:t>lęku i </a:t>
            </a:r>
            <a:r>
              <a:rPr lang="pl-PL" sz="2000" b="0" u="none" strike="noStrike">
                <a:solidFill>
                  <a:srgbClr val="000000"/>
                </a:solidFill>
                <a:effectLst/>
                <a:uFillTx/>
                <a:latin typeface="Arial"/>
              </a:rPr>
              <a:t>zaburzeń </a:t>
            </a:r>
            <a:r>
              <a:rPr lang="pl-PL" sz="2000" b="0" u="none" strike="noStrike">
                <a:solidFill>
                  <a:srgbClr val="000000"/>
                </a:solidFill>
                <a:effectLst/>
                <a:uFillTx/>
                <a:latin typeface="Arial"/>
              </a:rPr>
              <a:t>snu. W </a:t>
            </a:r>
            <a:r>
              <a:rPr lang="pl-PL" sz="2000" b="0" u="none" strike="noStrike">
                <a:solidFill>
                  <a:srgbClr val="000000"/>
                </a:solidFill>
                <a:effectLst/>
                <a:uFillTx/>
                <a:latin typeface="Arial"/>
              </a:rPr>
              <a:t>nowszych </a:t>
            </a:r>
            <a:r>
              <a:rPr lang="pl-PL" sz="2000" b="0" u="none" strike="noStrike">
                <a:solidFill>
                  <a:srgbClr val="000000"/>
                </a:solidFill>
                <a:effectLst/>
                <a:uFillTx/>
                <a:latin typeface="Arial"/>
              </a:rPr>
              <a:t>dużych </a:t>
            </a:r>
            <a:r>
              <a:rPr lang="pl-PL" sz="2000" b="0" u="none" strike="noStrike">
                <a:solidFill>
                  <a:srgbClr val="000000"/>
                </a:solidFill>
                <a:effectLst/>
                <a:uFillTx/>
                <a:latin typeface="Arial"/>
              </a:rPr>
              <a:t>analizach </a:t>
            </a:r>
            <a:r>
              <a:rPr lang="pl-PL" sz="2000" b="0" u="none" strike="noStrike">
                <a:solidFill>
                  <a:srgbClr val="000000"/>
                </a:solidFill>
                <a:effectLst/>
                <a:uFillTx/>
                <a:latin typeface="Arial"/>
              </a:rPr>
              <a:t>rejestrowyc</a:t>
            </a:r>
            <a:r>
              <a:rPr lang="pl-PL" sz="2000" b="0" u="none" strike="noStrike">
                <a:solidFill>
                  <a:srgbClr val="000000"/>
                </a:solidFill>
                <a:effectLst/>
                <a:uFillTx/>
                <a:latin typeface="Arial"/>
              </a:rPr>
              <a:t>h </a:t>
            </a:r>
            <a:r>
              <a:rPr lang="pl-PL" sz="2000" b="0" u="none" strike="noStrike">
                <a:solidFill>
                  <a:srgbClr val="000000"/>
                </a:solidFill>
                <a:effectLst/>
                <a:uFillTx/>
                <a:latin typeface="Arial"/>
              </a:rPr>
              <a:t>rozpoczęci</a:t>
            </a:r>
            <a:r>
              <a:rPr lang="pl-PL" sz="2000" b="0" u="none" strike="noStrike">
                <a:solidFill>
                  <a:srgbClr val="000000"/>
                </a:solidFill>
                <a:effectLst/>
                <a:uFillTx/>
                <a:latin typeface="Arial"/>
              </a:rPr>
              <a:t>e leczenia </a:t>
            </a:r>
            <a:r>
              <a:rPr lang="pl-PL" sz="2000" b="0" u="none" strike="noStrike">
                <a:solidFill>
                  <a:srgbClr val="000000"/>
                </a:solidFill>
                <a:effectLst/>
                <a:uFillTx/>
                <a:latin typeface="Arial"/>
              </a:rPr>
              <a:t>ADHD </a:t>
            </a:r>
            <a:r>
              <a:rPr lang="pl-PL" sz="2000" b="0" u="none" strike="noStrike">
                <a:solidFill>
                  <a:srgbClr val="000000"/>
                </a:solidFill>
                <a:effectLst/>
                <a:uFillTx/>
                <a:latin typeface="Arial"/>
              </a:rPr>
              <a:t>wiązało się </a:t>
            </a:r>
            <a:r>
              <a:rPr lang="pl-PL" sz="2000" b="0" u="none" strike="noStrike">
                <a:solidFill>
                  <a:srgbClr val="000000"/>
                </a:solidFill>
                <a:effectLst/>
                <a:uFillTx/>
                <a:latin typeface="Arial"/>
              </a:rPr>
              <a:t>z niższą </a:t>
            </a:r>
            <a:r>
              <a:rPr lang="pl-PL" sz="2000" b="0" u="none" strike="noStrike">
                <a:solidFill>
                  <a:srgbClr val="000000"/>
                </a:solidFill>
                <a:effectLst/>
                <a:uFillTx/>
                <a:latin typeface="Arial"/>
              </a:rPr>
              <a:t>częstością </a:t>
            </a:r>
            <a:r>
              <a:rPr lang="pl-PL" sz="2000" b="0" u="none" strike="noStrike">
                <a:solidFill>
                  <a:srgbClr val="000000"/>
                </a:solidFill>
                <a:effectLst/>
                <a:uFillTx/>
                <a:latin typeface="Arial"/>
              </a:rPr>
              <a:t>pierwszego </a:t>
            </a:r>
            <a:r>
              <a:rPr lang="pl-PL" sz="2000" b="0" u="none" strike="noStrike">
                <a:solidFill>
                  <a:srgbClr val="000000"/>
                </a:solidFill>
                <a:effectLst/>
                <a:uFillTx/>
                <a:latin typeface="Arial"/>
              </a:rPr>
              <a:t>zdarzenia </a:t>
            </a:r>
            <a:r>
              <a:rPr lang="pl-PL" sz="2000" b="0" u="none" strike="noStrike">
                <a:solidFill>
                  <a:srgbClr val="000000"/>
                </a:solidFill>
                <a:effectLst/>
                <a:uFillTx/>
                <a:latin typeface="Arial"/>
              </a:rPr>
              <a:t>związanego </a:t>
            </a:r>
            <a:r>
              <a:rPr lang="pl-PL" sz="2000" b="0" u="none" strike="noStrike">
                <a:solidFill>
                  <a:srgbClr val="000000"/>
                </a:solidFill>
                <a:effectLst/>
                <a:uFillTx/>
                <a:latin typeface="Arial"/>
              </a:rPr>
              <a:t>z </a:t>
            </a:r>
            <a:r>
              <a:rPr lang="pl-PL" sz="2000" b="0" u="none" strike="noStrike">
                <a:solidFill>
                  <a:srgbClr val="000000"/>
                </a:solidFill>
                <a:effectLst/>
                <a:uFillTx/>
                <a:latin typeface="Arial"/>
              </a:rPr>
              <a:t>nadużywani</a:t>
            </a:r>
            <a:r>
              <a:rPr lang="pl-PL" sz="2000" b="0" u="none" strike="noStrike">
                <a:solidFill>
                  <a:srgbClr val="000000"/>
                </a:solidFill>
                <a:effectLst/>
                <a:uFillTx/>
                <a:latin typeface="Arial"/>
              </a:rPr>
              <a:t>em </a:t>
            </a:r>
            <a:r>
              <a:rPr lang="pl-PL" sz="2000" b="0" u="none" strike="noStrike">
                <a:solidFill>
                  <a:srgbClr val="000000"/>
                </a:solidFill>
                <a:effectLst/>
                <a:uFillTx/>
                <a:latin typeface="Arial"/>
              </a:rPr>
              <a:t>substancji, </a:t>
            </a:r>
            <a:r>
              <a:rPr lang="pl-PL" sz="2000" b="0" u="none" strike="noStrike">
                <a:solidFill>
                  <a:srgbClr val="000000"/>
                </a:solidFill>
                <a:effectLst/>
                <a:uFillTx/>
                <a:latin typeface="Arial"/>
              </a:rPr>
              <a:t>lecz </a:t>
            </a:r>
            <a:r>
              <a:rPr lang="pl-PL" sz="2000" b="0" u="none" strike="noStrike">
                <a:solidFill>
                  <a:srgbClr val="000000"/>
                </a:solidFill>
                <a:effectLst/>
                <a:uFillTx/>
                <a:latin typeface="Arial"/>
              </a:rPr>
              <a:t>obserwacyj</a:t>
            </a:r>
            <a:r>
              <a:rPr lang="pl-PL" sz="2000" b="0" u="none" strike="noStrike">
                <a:solidFill>
                  <a:srgbClr val="000000"/>
                </a:solidFill>
                <a:effectLst/>
                <a:uFillTx/>
                <a:latin typeface="Arial"/>
              </a:rPr>
              <a:t>ny </a:t>
            </a:r>
            <a:r>
              <a:rPr lang="pl-PL" sz="2000" b="0" u="none" strike="noStrike">
                <a:solidFill>
                  <a:srgbClr val="000000"/>
                </a:solidFill>
                <a:effectLst/>
                <a:uFillTx/>
                <a:latin typeface="Arial"/>
              </a:rPr>
              <a:t>charakter </a:t>
            </a:r>
            <a:r>
              <a:rPr lang="pl-PL" sz="2000" b="0" u="none" strike="noStrike">
                <a:solidFill>
                  <a:srgbClr val="000000"/>
                </a:solidFill>
                <a:effectLst/>
                <a:uFillTx/>
                <a:latin typeface="Arial"/>
              </a:rPr>
              <a:t>tych </a:t>
            </a:r>
            <a:r>
              <a:rPr lang="pl-PL" sz="2000" b="0" u="none" strike="noStrike">
                <a:solidFill>
                  <a:srgbClr val="000000"/>
                </a:solidFill>
                <a:effectLst/>
                <a:uFillTx/>
                <a:latin typeface="Arial"/>
              </a:rPr>
              <a:t>wyników </a:t>
            </a:r>
            <a:r>
              <a:rPr lang="pl-PL" sz="2000" b="0" u="none" strike="noStrike">
                <a:solidFill>
                  <a:srgbClr val="000000"/>
                </a:solidFill>
                <a:effectLst/>
                <a:uFillTx/>
                <a:latin typeface="Arial"/>
              </a:rPr>
              <a:t>wymaga </a:t>
            </a:r>
            <a:r>
              <a:rPr lang="pl-PL" sz="2000" b="0" u="none" strike="noStrike">
                <a:solidFill>
                  <a:srgbClr val="000000"/>
                </a:solidFill>
                <a:effectLst/>
                <a:uFillTx/>
                <a:latin typeface="Arial"/>
              </a:rPr>
              <a:t>ostrożności </a:t>
            </a:r>
            <a:r>
              <a:rPr lang="pl-PL" sz="2000" b="0" u="none" strike="noStrike">
                <a:solidFill>
                  <a:srgbClr val="000000"/>
                </a:solidFill>
                <a:effectLst/>
                <a:uFillTx/>
                <a:latin typeface="Arial"/>
              </a:rPr>
              <a:t>interpretacy</a:t>
            </a:r>
            <a:r>
              <a:rPr lang="pl-PL" sz="2000" b="0" u="none" strike="noStrike">
                <a:solidFill>
                  <a:srgbClr val="000000"/>
                </a:solidFill>
                <a:effectLst/>
                <a:uFillTx/>
                <a:latin typeface="Arial"/>
              </a:rPr>
              <a:t>jnej.</a:t>
            </a:r>
            <a:endParaRPr lang="pl-PL" sz="2000" b="0" u="none" strike="noStrike">
              <a:solidFill>
                <a:srgbClr val="000000"/>
              </a:solidFill>
              <a:effectLst/>
              <a:uFillTx/>
              <a:latin typeface="Arial"/>
            </a:endParaRPr>
          </a:p>
        </p:txBody>
      </p:sp>
      <p:sp>
        <p:nvSpPr>
          <p:cNvPr id="436" name="PlaceHolder 3"/>
          <p:cNvSpPr>
            <a:spLocks noGrp="1"/>
          </p:cNvSpPr>
          <p:nvPr>
            <p:ph type="sldNum" idx="1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38FC3463-D7D4-43A8-A038-E98F75F2FDC3}"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7" name="PlaceHolder 1"/>
          <p:cNvSpPr>
            <a:spLocks noGrp="1"/>
          </p:cNvSpPr>
          <p:nvPr>
            <p:ph type="sldImg"/>
          </p:nvPr>
        </p:nvSpPr>
        <p:spPr>
          <a:xfrm>
            <a:off x="685800" y="1143000"/>
            <a:ext cx="5486040" cy="3085920"/>
          </a:xfrm>
          <a:prstGeom prst="rect">
            <a:avLst/>
          </a:prstGeom>
          <a:ln w="0">
            <a:noFill/>
          </a:ln>
        </p:spPr>
      </p:sp>
      <p:sp>
        <p:nvSpPr>
          <p:cNvPr id="43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Współwyst</a:t>
            </a:r>
            <a:r>
              <a:rPr lang="pl-PL" sz="2000" b="0" u="none" strike="noStrike">
                <a:solidFill>
                  <a:srgbClr val="000000"/>
                </a:solidFill>
                <a:effectLst/>
                <a:uFillTx/>
                <a:latin typeface="Arial"/>
              </a:rPr>
              <a:t>ępowanie </a:t>
            </a:r>
            <a:r>
              <a:rPr lang="pl-PL" sz="2000" b="0" u="none" strike="noStrike">
                <a:solidFill>
                  <a:srgbClr val="000000"/>
                </a:solidFill>
                <a:effectLst/>
                <a:uFillTx/>
                <a:latin typeface="Arial"/>
              </a:rPr>
              <a:t>innych </a:t>
            </a:r>
            <a:r>
              <a:rPr lang="pl-PL" sz="2000" b="0" u="none" strike="noStrike">
                <a:solidFill>
                  <a:srgbClr val="000000"/>
                </a:solidFill>
                <a:effectLst/>
                <a:uFillTx/>
                <a:latin typeface="Arial"/>
              </a:rPr>
              <a:t>zaburzeń </a:t>
            </a:r>
            <a:r>
              <a:rPr lang="pl-PL" sz="2000" b="0" u="none" strike="noStrike">
                <a:solidFill>
                  <a:srgbClr val="000000"/>
                </a:solidFill>
                <a:effectLst/>
                <a:uFillTx/>
                <a:latin typeface="Arial"/>
              </a:rPr>
              <a:t>psychiczny</a:t>
            </a:r>
            <a:r>
              <a:rPr lang="pl-PL" sz="2000" b="0" u="none" strike="noStrike">
                <a:solidFill>
                  <a:srgbClr val="000000"/>
                </a:solidFill>
                <a:effectLst/>
                <a:uFillTx/>
                <a:latin typeface="Arial"/>
              </a:rPr>
              <a:t>ch u </a:t>
            </a:r>
            <a:r>
              <a:rPr lang="pl-PL" sz="2000" b="0" u="none" strike="noStrike">
                <a:solidFill>
                  <a:srgbClr val="000000"/>
                </a:solidFill>
                <a:effectLst/>
                <a:uFillTx/>
                <a:latin typeface="Arial"/>
              </a:rPr>
              <a:t>dorosłych z </a:t>
            </a:r>
            <a:r>
              <a:rPr lang="pl-PL" sz="2000" b="0" u="none" strike="noStrike">
                <a:solidFill>
                  <a:srgbClr val="000000"/>
                </a:solidFill>
                <a:effectLst/>
                <a:uFillTx/>
                <a:latin typeface="Arial"/>
              </a:rPr>
              <a:t>ADHD jest </a:t>
            </a:r>
            <a:r>
              <a:rPr lang="pl-PL" sz="2000" b="0" u="none" strike="noStrike">
                <a:solidFill>
                  <a:srgbClr val="000000"/>
                </a:solidFill>
                <a:effectLst/>
                <a:uFillTx/>
                <a:latin typeface="Arial"/>
              </a:rPr>
              <a:t>częste. </a:t>
            </a:r>
            <a:r>
              <a:rPr lang="pl-PL" sz="2000" b="0" u="none" strike="noStrike">
                <a:solidFill>
                  <a:srgbClr val="000000"/>
                </a:solidFill>
                <a:effectLst/>
                <a:uFillTx/>
                <a:latin typeface="Arial"/>
              </a:rPr>
              <a:t>Systematy</a:t>
            </a:r>
            <a:r>
              <a:rPr lang="pl-PL" sz="2000" b="0" u="none" strike="noStrike">
                <a:solidFill>
                  <a:srgbClr val="000000"/>
                </a:solidFill>
                <a:effectLst/>
                <a:uFillTx/>
                <a:latin typeface="Arial"/>
              </a:rPr>
              <a:t>czny </a:t>
            </a:r>
            <a:r>
              <a:rPr lang="pl-PL" sz="2000" b="0" u="none" strike="noStrike">
                <a:solidFill>
                  <a:srgbClr val="000000"/>
                </a:solidFill>
                <a:effectLst/>
                <a:uFillTx/>
                <a:latin typeface="Arial"/>
              </a:rPr>
              <a:t>przegląd </a:t>
            </a:r>
            <a:r>
              <a:rPr lang="pl-PL" sz="2000" b="0" u="none" strike="noStrike">
                <a:solidFill>
                  <a:srgbClr val="000000"/>
                </a:solidFill>
                <a:effectLst/>
                <a:uFillTx/>
                <a:latin typeface="Arial"/>
              </a:rPr>
              <a:t>porównują</a:t>
            </a:r>
            <a:r>
              <a:rPr lang="pl-PL" sz="2000" b="0" u="none" strike="noStrike">
                <a:solidFill>
                  <a:srgbClr val="000000"/>
                </a:solidFill>
                <a:effectLst/>
                <a:uFillTx/>
                <a:latin typeface="Arial"/>
              </a:rPr>
              <a:t>cy </a:t>
            </a:r>
            <a:r>
              <a:rPr lang="pl-PL" sz="2000" b="0" u="none" strike="noStrike">
                <a:solidFill>
                  <a:srgbClr val="000000"/>
                </a:solidFill>
                <a:effectLst/>
                <a:uFillTx/>
                <a:latin typeface="Arial"/>
              </a:rPr>
              <a:t>populacje z </a:t>
            </a:r>
            <a:r>
              <a:rPr lang="pl-PL" sz="2000" b="0" u="none" strike="noStrike">
                <a:solidFill>
                  <a:srgbClr val="000000"/>
                </a:solidFill>
                <a:effectLst/>
                <a:uFillTx/>
                <a:latin typeface="Arial"/>
              </a:rPr>
              <a:t>ADHD i </a:t>
            </a:r>
            <a:r>
              <a:rPr lang="pl-PL" sz="2000" b="0" u="none" strike="noStrike">
                <a:solidFill>
                  <a:srgbClr val="000000"/>
                </a:solidFill>
                <a:effectLst/>
                <a:uFillTx/>
                <a:latin typeface="Arial"/>
              </a:rPr>
              <a:t>bez ADHD </a:t>
            </a:r>
            <a:r>
              <a:rPr lang="pl-PL" sz="2000" b="0" u="none" strike="noStrike">
                <a:solidFill>
                  <a:srgbClr val="000000"/>
                </a:solidFill>
                <a:effectLst/>
                <a:uFillTx/>
                <a:latin typeface="Arial"/>
              </a:rPr>
              <a:t>wykazał </a:t>
            </a:r>
            <a:r>
              <a:rPr lang="pl-PL" sz="2000" b="0" u="none" strike="noStrike">
                <a:solidFill>
                  <a:srgbClr val="000000"/>
                </a:solidFill>
                <a:effectLst/>
                <a:uFillTx/>
                <a:latin typeface="Arial"/>
              </a:rPr>
              <a:t>wyższą </a:t>
            </a:r>
            <a:r>
              <a:rPr lang="pl-PL" sz="2000" b="0" u="none" strike="noStrike">
                <a:solidFill>
                  <a:srgbClr val="000000"/>
                </a:solidFill>
                <a:effectLst/>
                <a:uFillTx/>
                <a:latin typeface="Arial"/>
              </a:rPr>
              <a:t>częstość </a:t>
            </a:r>
            <a:r>
              <a:rPr lang="pl-PL" sz="2000" b="0" u="none" strike="noStrike">
                <a:solidFill>
                  <a:srgbClr val="000000"/>
                </a:solidFill>
                <a:effectLst/>
                <a:uFillTx/>
                <a:latin typeface="Arial"/>
              </a:rPr>
              <a:t>zaburzeń </a:t>
            </a:r>
            <a:r>
              <a:rPr lang="pl-PL" sz="2000" b="0" u="none" strike="noStrike">
                <a:solidFill>
                  <a:srgbClr val="000000"/>
                </a:solidFill>
                <a:effectLst/>
                <a:uFillTx/>
                <a:latin typeface="Arial"/>
              </a:rPr>
              <a:t>nastroju, </a:t>
            </a:r>
            <a:r>
              <a:rPr lang="pl-PL" sz="2000" b="0" u="none" strike="noStrike">
                <a:solidFill>
                  <a:srgbClr val="000000"/>
                </a:solidFill>
                <a:effectLst/>
                <a:uFillTx/>
                <a:latin typeface="Arial"/>
              </a:rPr>
              <a:t>lękowych, </a:t>
            </a:r>
            <a:r>
              <a:rPr lang="pl-PL" sz="2000" b="0" u="none" strike="noStrike">
                <a:solidFill>
                  <a:srgbClr val="000000"/>
                </a:solidFill>
                <a:effectLst/>
                <a:uFillTx/>
                <a:latin typeface="Arial"/>
              </a:rPr>
              <a:t>dwubiegun</a:t>
            </a:r>
            <a:r>
              <a:rPr lang="pl-PL" sz="2000" b="0" u="none" strike="noStrike">
                <a:solidFill>
                  <a:srgbClr val="000000"/>
                </a:solidFill>
                <a:effectLst/>
                <a:uFillTx/>
                <a:latin typeface="Arial"/>
              </a:rPr>
              <a:t>owych, </a:t>
            </a:r>
            <a:r>
              <a:rPr lang="pl-PL" sz="2000" b="0" u="none" strike="noStrike">
                <a:solidFill>
                  <a:srgbClr val="000000"/>
                </a:solidFill>
                <a:effectLst/>
                <a:uFillTx/>
                <a:latin typeface="Arial"/>
              </a:rPr>
              <a:t>używania </a:t>
            </a:r>
            <a:r>
              <a:rPr lang="pl-PL" sz="2000" b="0" u="none" strike="noStrike">
                <a:solidFill>
                  <a:srgbClr val="000000"/>
                </a:solidFill>
                <a:effectLst/>
                <a:uFillTx/>
                <a:latin typeface="Arial"/>
              </a:rPr>
              <a:t>substancji </a:t>
            </a:r>
            <a:r>
              <a:rPr lang="pl-PL" sz="2000" b="0" u="none" strike="noStrike">
                <a:solidFill>
                  <a:srgbClr val="000000"/>
                </a:solidFill>
                <a:effectLst/>
                <a:uFillTx/>
                <a:latin typeface="Arial"/>
              </a:rPr>
              <a:t>oraz </a:t>
            </a:r>
            <a:r>
              <a:rPr lang="pl-PL" sz="2000" b="0" u="none" strike="noStrike">
                <a:solidFill>
                  <a:srgbClr val="000000"/>
                </a:solidFill>
                <a:effectLst/>
                <a:uFillTx/>
                <a:latin typeface="Arial"/>
              </a:rPr>
              <a:t>zaburzeń </a:t>
            </a:r>
            <a:r>
              <a:rPr lang="pl-PL" sz="2000" b="0" u="none" strike="noStrike">
                <a:solidFill>
                  <a:srgbClr val="000000"/>
                </a:solidFill>
                <a:effectLst/>
                <a:uFillTx/>
                <a:latin typeface="Arial"/>
              </a:rPr>
              <a:t>osobowośc</a:t>
            </a:r>
            <a:r>
              <a:rPr lang="pl-PL" sz="2000" b="0" u="none" strike="noStrike">
                <a:solidFill>
                  <a:srgbClr val="000000"/>
                </a:solidFill>
                <a:effectLst/>
                <a:uFillTx/>
                <a:latin typeface="Arial"/>
              </a:rPr>
              <a:t>i w grupie </a:t>
            </a:r>
            <a:r>
              <a:rPr lang="pl-PL" sz="2000" b="0" u="none" strike="noStrike">
                <a:solidFill>
                  <a:srgbClr val="000000"/>
                </a:solidFill>
                <a:effectLst/>
                <a:uFillTx/>
                <a:latin typeface="Arial"/>
              </a:rPr>
              <a:t>ADHD </a:t>
            </a:r>
            <a:r>
              <a:rPr lang="pl-PL" sz="2000" b="0" u="none" strike="noStrike">
                <a:solidFill>
                  <a:srgbClr val="000000"/>
                </a:solidFill>
                <a:effectLst/>
                <a:uFillTx/>
                <a:latin typeface="Arial"/>
              </a:rPr>
              <a:t>(Choi et </a:t>
            </a:r>
            <a:r>
              <a:rPr lang="pl-PL" sz="2000" b="0" u="none" strike="noStrike">
                <a:solidFill>
                  <a:srgbClr val="000000"/>
                </a:solidFill>
                <a:effectLst/>
                <a:uFillTx/>
                <a:latin typeface="Arial"/>
              </a:rPr>
              <a:t>al., 2022). </a:t>
            </a:r>
            <a:r>
              <a:rPr lang="pl-PL" sz="2000" b="0" u="none" strike="noStrike">
                <a:solidFill>
                  <a:srgbClr val="000000"/>
                </a:solidFill>
                <a:effectLst/>
                <a:uFillTx/>
                <a:latin typeface="Arial"/>
              </a:rPr>
              <a:t>Zależności </a:t>
            </a:r>
            <a:r>
              <a:rPr lang="pl-PL" sz="2000" b="0" u="none" strike="noStrike">
                <a:solidFill>
                  <a:srgbClr val="000000"/>
                </a:solidFill>
                <a:effectLst/>
                <a:uFillTx/>
                <a:latin typeface="Arial"/>
              </a:rPr>
              <a:t>te </a:t>
            </a:r>
            <a:r>
              <a:rPr lang="pl-PL" sz="2000" b="0" u="none" strike="noStrike">
                <a:solidFill>
                  <a:srgbClr val="000000"/>
                </a:solidFill>
                <a:effectLst/>
                <a:uFillTx/>
                <a:latin typeface="Arial"/>
              </a:rPr>
              <a:t>odzwiercie</a:t>
            </a:r>
            <a:r>
              <a:rPr lang="pl-PL" sz="2000" b="0" u="none" strike="noStrike">
                <a:solidFill>
                  <a:srgbClr val="000000"/>
                </a:solidFill>
                <a:effectLst/>
                <a:uFillTx/>
                <a:latin typeface="Arial"/>
              </a:rPr>
              <a:t>dlają </a:t>
            </a:r>
            <a:r>
              <a:rPr lang="pl-PL" sz="2000" b="0" u="none" strike="noStrike">
                <a:solidFill>
                  <a:srgbClr val="000000"/>
                </a:solidFill>
                <a:effectLst/>
                <a:uFillTx/>
                <a:latin typeface="Arial"/>
              </a:rPr>
              <a:t>wspólną </a:t>
            </a:r>
            <a:r>
              <a:rPr lang="pl-PL" sz="2000" b="0" u="none" strike="noStrike">
                <a:solidFill>
                  <a:srgbClr val="000000"/>
                </a:solidFill>
                <a:effectLst/>
                <a:uFillTx/>
                <a:latin typeface="Arial"/>
              </a:rPr>
              <a:t>podatność </a:t>
            </a:r>
            <a:r>
              <a:rPr lang="pl-PL" sz="2000" b="0" u="none" strike="noStrike">
                <a:solidFill>
                  <a:srgbClr val="000000"/>
                </a:solidFill>
                <a:effectLst/>
                <a:uFillTx/>
                <a:latin typeface="Arial"/>
              </a:rPr>
              <a:t>genetyczn</a:t>
            </a:r>
            <a:r>
              <a:rPr lang="pl-PL" sz="2000" b="0" u="none" strike="noStrike">
                <a:solidFill>
                  <a:srgbClr val="000000"/>
                </a:solidFill>
                <a:effectLst/>
                <a:uFillTx/>
                <a:latin typeface="Arial"/>
              </a:rPr>
              <a:t>ą i </a:t>
            </a:r>
            <a:r>
              <a:rPr lang="pl-PL" sz="2000" b="0" u="none" strike="noStrike">
                <a:solidFill>
                  <a:srgbClr val="000000"/>
                </a:solidFill>
                <a:effectLst/>
                <a:uFillTx/>
                <a:latin typeface="Arial"/>
              </a:rPr>
              <a:t>neurorozw</a:t>
            </a:r>
            <a:r>
              <a:rPr lang="pl-PL" sz="2000" b="0" u="none" strike="noStrike">
                <a:solidFill>
                  <a:srgbClr val="000000"/>
                </a:solidFill>
                <a:effectLst/>
                <a:uFillTx/>
                <a:latin typeface="Arial"/>
              </a:rPr>
              <a:t>ojową, </a:t>
            </a:r>
            <a:r>
              <a:rPr lang="pl-PL" sz="2000" b="0" u="none" strike="noStrike">
                <a:solidFill>
                  <a:srgbClr val="000000"/>
                </a:solidFill>
                <a:effectLst/>
                <a:uFillTx/>
                <a:latin typeface="Arial"/>
              </a:rPr>
              <a:t>chroniczny </a:t>
            </a:r>
            <a:r>
              <a:rPr lang="pl-PL" sz="2000" b="0" u="none" strike="noStrike">
                <a:solidFill>
                  <a:srgbClr val="000000"/>
                </a:solidFill>
                <a:effectLst/>
                <a:uFillTx/>
                <a:latin typeface="Arial"/>
              </a:rPr>
              <a:t>stres oraz </a:t>
            </a:r>
            <a:r>
              <a:rPr lang="pl-PL" sz="2000" b="0" u="none" strike="noStrike">
                <a:solidFill>
                  <a:srgbClr val="000000"/>
                </a:solidFill>
                <a:effectLst/>
                <a:uFillTx/>
                <a:latin typeface="Arial"/>
              </a:rPr>
              <a:t>konsekwen</a:t>
            </a:r>
            <a:r>
              <a:rPr lang="pl-PL" sz="2000" b="0" u="none" strike="noStrike">
                <a:solidFill>
                  <a:srgbClr val="000000"/>
                </a:solidFill>
                <a:effectLst/>
                <a:uFillTx/>
                <a:latin typeface="Arial"/>
              </a:rPr>
              <a:t>cje </a:t>
            </a:r>
            <a:r>
              <a:rPr lang="pl-PL" sz="2000" b="0" u="none" strike="noStrike">
                <a:solidFill>
                  <a:srgbClr val="000000"/>
                </a:solidFill>
                <a:effectLst/>
                <a:uFillTx/>
                <a:latin typeface="Arial"/>
              </a:rPr>
              <a:t>funkcjonaln</a:t>
            </a:r>
            <a:r>
              <a:rPr lang="pl-PL" sz="2000" b="0" u="none" strike="noStrike">
                <a:solidFill>
                  <a:srgbClr val="000000"/>
                </a:solidFill>
                <a:effectLst/>
                <a:uFillTx/>
                <a:latin typeface="Arial"/>
              </a:rPr>
              <a:t>e ADHD — </a:t>
            </a:r>
            <a:r>
              <a:rPr lang="pl-PL" sz="2000" b="0" u="none" strike="noStrike">
                <a:solidFill>
                  <a:srgbClr val="000000"/>
                </a:solidFill>
                <a:effectLst/>
                <a:uFillTx/>
                <a:latin typeface="Arial"/>
              </a:rPr>
              <a:t>kolejne </a:t>
            </a:r>
            <a:r>
              <a:rPr lang="pl-PL" sz="2000" b="0" u="none" strike="noStrike">
                <a:solidFill>
                  <a:srgbClr val="000000"/>
                </a:solidFill>
                <a:effectLst/>
                <a:uFillTx/>
                <a:latin typeface="Arial"/>
              </a:rPr>
              <a:t>slajdy </a:t>
            </a:r>
            <a:r>
              <a:rPr lang="pl-PL" sz="2000" b="0" u="none" strike="noStrike">
                <a:solidFill>
                  <a:srgbClr val="000000"/>
                </a:solidFill>
                <a:effectLst/>
                <a:uFillTx/>
                <a:latin typeface="Arial"/>
              </a:rPr>
              <a:t>rozwijają </a:t>
            </a:r>
            <a:r>
              <a:rPr lang="pl-PL" sz="2000" b="0" u="none" strike="noStrike">
                <a:solidFill>
                  <a:srgbClr val="000000"/>
                </a:solidFill>
                <a:effectLst/>
                <a:uFillTx/>
                <a:latin typeface="Arial"/>
              </a:rPr>
              <a:t>najważniej</a:t>
            </a:r>
            <a:r>
              <a:rPr lang="pl-PL" sz="2000" b="0" u="none" strike="noStrike">
                <a:solidFill>
                  <a:srgbClr val="000000"/>
                </a:solidFill>
                <a:effectLst/>
                <a:uFillTx/>
                <a:latin typeface="Arial"/>
              </a:rPr>
              <a:t>sze z tych </a:t>
            </a:r>
            <a:r>
              <a:rPr lang="pl-PL" sz="2000" b="0" u="none" strike="noStrike">
                <a:solidFill>
                  <a:srgbClr val="000000"/>
                </a:solidFill>
                <a:effectLst/>
                <a:uFillTx/>
                <a:latin typeface="Arial"/>
              </a:rPr>
              <a:t>obszarów.</a:t>
            </a:r>
            <a:endParaRPr lang="pl-PL" sz="2000" b="0" u="none" strike="noStrike">
              <a:solidFill>
                <a:srgbClr val="000000"/>
              </a:solidFill>
              <a:effectLst/>
              <a:uFillTx/>
              <a:latin typeface="Arial"/>
            </a:endParaRPr>
          </a:p>
        </p:txBody>
      </p:sp>
      <p:sp>
        <p:nvSpPr>
          <p:cNvPr id="439" name="PlaceHolder 3"/>
          <p:cNvSpPr>
            <a:spLocks noGrp="1"/>
          </p:cNvSpPr>
          <p:nvPr>
            <p:ph type="sldNum" idx="1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AC2EC505-DCDE-4522-958A-7A6E5C49DFBD}"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0" name="PlaceHolder 1"/>
          <p:cNvSpPr>
            <a:spLocks noGrp="1"/>
          </p:cNvSpPr>
          <p:nvPr>
            <p:ph type="sldImg"/>
          </p:nvPr>
        </p:nvSpPr>
        <p:spPr>
          <a:xfrm>
            <a:off x="685800" y="1143000"/>
            <a:ext cx="5486040" cy="3085920"/>
          </a:xfrm>
          <a:prstGeom prst="rect">
            <a:avLst/>
          </a:prstGeom>
          <a:ln w="0">
            <a:noFill/>
          </a:ln>
        </p:spPr>
      </p:sp>
      <p:sp>
        <p:nvSpPr>
          <p:cNvPr id="44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Depresja może rozwijać się częściowo wtórnie do powtarzających się </a:t>
            </a:r>
            <a:r>
              <a:rPr lang="pl-PL" sz="2000" b="0" u="none" strike="noStrike">
                <a:solidFill>
                  <a:srgbClr val="000000"/>
                </a:solidFill>
                <a:effectLst/>
                <a:uFillTx/>
                <a:latin typeface="Arial"/>
              </a:rPr>
              <a:t>niepowodzeń, krytyki, odrzucenia, problemów finansowych i utraty pracy. </a:t>
            </a:r>
            <a:r>
              <a:rPr lang="pl-PL" sz="2000" b="0" u="none" strike="noStrike">
                <a:solidFill>
                  <a:srgbClr val="000000"/>
                </a:solidFill>
                <a:effectLst/>
                <a:uFillTx/>
                <a:latin typeface="Arial"/>
              </a:rPr>
              <a:t>Współwystępowanie ADHD i depresji wiąże się z cięższym </a:t>
            </a:r>
            <a:r>
              <a:rPr lang="pl-PL" sz="2000" b="0" u="none" strike="noStrike">
                <a:solidFill>
                  <a:srgbClr val="000000"/>
                </a:solidFill>
                <a:effectLst/>
                <a:uFillTx/>
                <a:latin typeface="Arial"/>
              </a:rPr>
              <a:t>upośledzeniem funkcjonowania i większym ryzykiem samobójczym. Lęk </a:t>
            </a:r>
            <a:r>
              <a:rPr lang="pl-PL" sz="2000" b="0" u="none" strike="noStrike">
                <a:solidFill>
                  <a:srgbClr val="000000"/>
                </a:solidFill>
                <a:effectLst/>
                <a:uFillTx/>
                <a:latin typeface="Arial"/>
              </a:rPr>
              <a:t>może wynikać z chronicznego doświadczenia braku kontroli nad </a:t>
            </a:r>
            <a:r>
              <a:rPr lang="pl-PL" sz="2000" b="0" u="none" strike="noStrike">
                <a:solidFill>
                  <a:srgbClr val="000000"/>
                </a:solidFill>
                <a:effectLst/>
                <a:uFillTx/>
                <a:latin typeface="Arial"/>
              </a:rPr>
              <a:t>terminami i obowiązkami. ADHD i ChAD częściowo nakładają się </a:t>
            </a:r>
            <a:r>
              <a:rPr lang="pl-PL" sz="2000" b="0" u="none" strike="noStrike">
                <a:solidFill>
                  <a:srgbClr val="000000"/>
                </a:solidFill>
                <a:effectLst/>
                <a:uFillTx/>
                <a:latin typeface="Arial"/>
              </a:rPr>
              <a:t>objawowo w zakresie impulsywności i rozpraszalności — kluczowe </a:t>
            </a:r>
            <a:r>
              <a:rPr lang="pl-PL" sz="2000" b="0" u="none" strike="noStrike">
                <a:solidFill>
                  <a:srgbClr val="000000"/>
                </a:solidFill>
                <a:effectLst/>
                <a:uFillTx/>
                <a:latin typeface="Arial"/>
              </a:rPr>
              <a:t>znaczenie ma przebieg czasowy: ADHD ma charakter rozwojowy i </a:t>
            </a:r>
            <a:r>
              <a:rPr lang="pl-PL" sz="2000" b="0" u="none" strike="noStrike">
                <a:solidFill>
                  <a:srgbClr val="000000"/>
                </a:solidFill>
                <a:effectLst/>
                <a:uFillTx/>
                <a:latin typeface="Arial"/>
              </a:rPr>
              <a:t>względnie przewlekły, podczas gdy mania lub hipomania stanowią </a:t>
            </a:r>
            <a:r>
              <a:rPr lang="pl-PL" sz="2000" b="0" u="none" strike="noStrike">
                <a:solidFill>
                  <a:srgbClr val="000000"/>
                </a:solidFill>
                <a:effectLst/>
                <a:uFillTx/>
                <a:latin typeface="Arial"/>
              </a:rPr>
              <a:t>epizody wyraźnie odmienne od typowego funkcjonowania.</a:t>
            </a:r>
            <a:endParaRPr lang="pl-PL" sz="2000" b="0" u="none" strike="noStrike">
              <a:solidFill>
                <a:srgbClr val="000000"/>
              </a:solidFill>
              <a:effectLst/>
              <a:uFillTx/>
              <a:latin typeface="Arial"/>
            </a:endParaRPr>
          </a:p>
        </p:txBody>
      </p:sp>
      <p:sp>
        <p:nvSpPr>
          <p:cNvPr id="442" name="PlaceHolder 3"/>
          <p:cNvSpPr>
            <a:spLocks noGrp="1"/>
          </p:cNvSpPr>
          <p:nvPr>
            <p:ph type="sldNum" idx="1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6DC2377F-F53A-4043-BA1E-543DBB9AB5F0}"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3" name="PlaceHolder 1"/>
          <p:cNvSpPr>
            <a:spLocks noGrp="1"/>
          </p:cNvSpPr>
          <p:nvPr>
            <p:ph type="sldImg"/>
          </p:nvPr>
        </p:nvSpPr>
        <p:spPr>
          <a:xfrm>
            <a:off x="685800" y="1143000"/>
            <a:ext cx="5486040" cy="3085920"/>
          </a:xfrm>
          <a:prstGeom prst="rect">
            <a:avLst/>
          </a:prstGeom>
          <a:ln w="0">
            <a:noFill/>
          </a:ln>
        </p:spPr>
      </p:sp>
      <p:sp>
        <p:nvSpPr>
          <p:cNvPr id="44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ą</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ż</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ó</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ą</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ę</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ś</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ą</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i </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ż</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ę</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ó</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ą</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g</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ą</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i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ó</a:t>
            </a:r>
            <a:r>
              <a:rPr lang="pl-PL" sz="2000" b="0" u="none" strike="noStrike">
                <a:solidFill>
                  <a:srgbClr val="000000"/>
                </a:solidFill>
                <a:effectLst/>
                <a:uFillTx/>
                <a:latin typeface="Arial"/>
              </a:rPr>
              <a:t>ź</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i </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i </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ł</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ż</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ó</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ż</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ó</a:t>
            </a:r>
            <a:r>
              <a:rPr lang="pl-PL" sz="2000" b="0" u="none" strike="noStrike">
                <a:solidFill>
                  <a:srgbClr val="000000"/>
                </a:solidFill>
                <a:effectLst/>
                <a:uFillTx/>
                <a:latin typeface="Arial"/>
              </a:rPr>
              <a:t>ł</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ę</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ć</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ś</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ą</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ę</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ś</a:t>
            </a:r>
            <a:r>
              <a:rPr lang="pl-PL" sz="2000" b="0" u="none" strike="noStrike">
                <a:solidFill>
                  <a:srgbClr val="000000"/>
                </a:solidFill>
                <a:effectLst/>
                <a:uFillTx/>
                <a:latin typeface="Arial"/>
              </a:rPr>
              <a:t>ć</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i </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g</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ś</a:t>
            </a:r>
            <a:r>
              <a:rPr lang="pl-PL" sz="2000" b="0" u="none" strike="noStrike">
                <a:solidFill>
                  <a:srgbClr val="000000"/>
                </a:solidFill>
                <a:effectLst/>
                <a:uFillTx/>
                <a:latin typeface="Arial"/>
              </a:rPr>
              <a:t>ć</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ą</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ś</a:t>
            </a:r>
            <a:r>
              <a:rPr lang="pl-PL" sz="2000" b="0" u="none" strike="noStrike">
                <a:solidFill>
                  <a:srgbClr val="000000"/>
                </a:solidFill>
                <a:effectLst/>
                <a:uFillTx/>
                <a:latin typeface="Arial"/>
              </a:rPr>
              <a:t>ć</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ą</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ż</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ś</a:t>
            </a:r>
            <a:r>
              <a:rPr lang="pl-PL" sz="2000" b="0" u="none" strike="noStrike">
                <a:solidFill>
                  <a:srgbClr val="000000"/>
                </a:solidFill>
                <a:effectLst/>
                <a:uFillTx/>
                <a:latin typeface="Arial"/>
              </a:rPr>
              <a:t>ć</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a:t>
            </a:r>
            <a:endParaRPr lang="pl-PL" sz="2000" b="0" u="none" strike="noStrike">
              <a:solidFill>
                <a:srgbClr val="000000"/>
              </a:solidFill>
              <a:effectLst/>
              <a:uFillTx/>
              <a:latin typeface="Arial"/>
            </a:endParaRPr>
          </a:p>
        </p:txBody>
      </p:sp>
      <p:sp>
        <p:nvSpPr>
          <p:cNvPr id="445" name="PlaceHolder 3"/>
          <p:cNvSpPr>
            <a:spLocks noGrp="1"/>
          </p:cNvSpPr>
          <p:nvPr>
            <p:ph type="sldNum" idx="1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9E0C9981-9F10-4EBB-9544-B203C2B6F047}"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6" name="PlaceHolder 1"/>
          <p:cNvSpPr>
            <a:spLocks noGrp="1"/>
          </p:cNvSpPr>
          <p:nvPr>
            <p:ph type="sldImg"/>
          </p:nvPr>
        </p:nvSpPr>
        <p:spPr>
          <a:xfrm>
            <a:off x="685800" y="1143000"/>
            <a:ext cx="5486040" cy="3085920"/>
          </a:xfrm>
          <a:prstGeom prst="rect">
            <a:avLst/>
          </a:prstGeom>
          <a:ln w="0">
            <a:noFill/>
          </a:ln>
        </p:spPr>
      </p:sp>
      <p:sp>
        <p:nvSpPr>
          <p:cNvPr id="44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ADHD wiąże się z podwyższonym ryzykiem myśli i prób samobójczych, zatruć, wypadków oraz przedwczesnej śmierci. Znaczną część tego ryzyka wyjaśniają depresja, SUD, impulsywność, konflikty i problemy ekonomiczne. Duże badania rejestrowe sugerują, że leczenie ADHD może obniżać częstość zdarzeń samobójczych i zgonów z przyczyn nienaturalnych — wynik biologicznie i psychologicznie wiarygodny, ponieważ poprawa kontroli impulsów może redukować ryzyko gwałtownych decyzji. Te dane epidemiologiczne nie zastępują jednak bezpośredniej oceny ryzyka samobójczego u konkretnej osoby — jeśli temat ten budzi niepokój słuchaczy, warto przypomnieć o telefonach zaufania i konsultacji ze specjalistą.</a:t>
            </a:r>
            <a:endParaRPr lang="pl-PL" sz="2000" b="0" u="none" strike="noStrike">
              <a:solidFill>
                <a:srgbClr val="000000"/>
              </a:solidFill>
              <a:effectLst/>
              <a:uFillTx/>
              <a:latin typeface="Arial"/>
            </a:endParaRPr>
          </a:p>
        </p:txBody>
      </p:sp>
      <p:sp>
        <p:nvSpPr>
          <p:cNvPr id="448" name="PlaceHolder 3"/>
          <p:cNvSpPr>
            <a:spLocks noGrp="1"/>
          </p:cNvSpPr>
          <p:nvPr>
            <p:ph type="sldNum" idx="1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6C1412A2-48E1-4D07-921F-ECCD6AFFA2D1}"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 name="PlaceHolder 1"/>
          <p:cNvSpPr>
            <a:spLocks noGrp="1"/>
          </p:cNvSpPr>
          <p:nvPr>
            <p:ph type="sldImg"/>
          </p:nvPr>
        </p:nvSpPr>
        <p:spPr>
          <a:xfrm>
            <a:off x="685800" y="1143000"/>
            <a:ext cx="5486040" cy="3085920"/>
          </a:xfrm>
          <a:prstGeom prst="rect">
            <a:avLst/>
          </a:prstGeom>
          <a:ln w="0">
            <a:noFill/>
          </a:ln>
        </p:spPr>
      </p:sp>
      <p:sp>
        <p:nvSpPr>
          <p:cNvPr id="45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ADHD jest znacznie częstsze w populacjach więziennych niż w populacji ogólnej. Szacunki różnią się zależnie od wieku, kraju i zastosowanej metody diagnostycznej; badania oparte wyłącznie na kwestionariuszach przesiewowych zwykle wskazują wyższą częstość niż pełne badania kliniczne. Nadreprezentacja nie oznacza, że ADHD jest równoznaczne z przestępczością. Największe znaczenie mają współwystępujące zaburzenia zachowania, SUD, ubóstwo, niepowodzenia szkolne, bezrobocie i ekspozycja na środowiska wysokiego ryzyka.</a:t>
            </a:r>
            <a:endParaRPr lang="pl-PL" sz="2000" b="0" u="none" strike="noStrike">
              <a:solidFill>
                <a:srgbClr val="000000"/>
              </a:solidFill>
              <a:effectLst/>
              <a:uFillTx/>
              <a:latin typeface="Arial"/>
            </a:endParaRPr>
          </a:p>
        </p:txBody>
      </p:sp>
      <p:sp>
        <p:nvSpPr>
          <p:cNvPr id="451" name="PlaceHolder 3"/>
          <p:cNvSpPr>
            <a:spLocks noGrp="1"/>
          </p:cNvSpPr>
          <p:nvPr>
            <p:ph type="sldNum" idx="1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B654B04B-0BB2-4FD1-848E-F5991CB22FCF}"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2" name="PlaceHolder 1"/>
          <p:cNvSpPr>
            <a:spLocks noGrp="1"/>
          </p:cNvSpPr>
          <p:nvPr>
            <p:ph type="sldImg"/>
          </p:nvPr>
        </p:nvSpPr>
        <p:spPr>
          <a:xfrm>
            <a:off x="685800" y="1143000"/>
            <a:ext cx="5486040" cy="3085920"/>
          </a:xfrm>
          <a:prstGeom prst="rect">
            <a:avLst/>
          </a:prstGeom>
          <a:ln w="0">
            <a:noFill/>
          </a:ln>
        </p:spPr>
      </p:sp>
      <p:sp>
        <p:nvSpPr>
          <p:cNvPr id="45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W szwedzkim badaniu rejestrowym obejmującym 25 656 osób porównywano okresy przyjmowania i nieprzyjmowania leków u tych samych pacjentów. W okresach leczenia częstość skazań była niższa o 32% u mężczyzn (HR = 0,68; 95% CI 0,63–0,73) oraz o 41% u kobiet (HR = 0,59; 95% CI 0,50–0,70). Konstrukcja wewnątrzosobnicza ogranicza wpływ stałych cech jednostki, ale nie eliminuje wszystkich zmiennych zależnych od czasu. Dowody na zmniejszenie recydywy po opuszczeniu zakładu karnego są słabsze — leczenie może ograniczać bieżące ryzyko impulsywnych zachowań, ale trwała redukcja recydywy wymaga też leczenia uzależnień, wsparcia zatrudnienia i pracy nad wzorcami antyspołecznymi.</a:t>
            </a:r>
            <a:endParaRPr lang="pl-PL" sz="2000" b="0" u="none" strike="noStrike">
              <a:solidFill>
                <a:srgbClr val="000000"/>
              </a:solidFill>
              <a:effectLst/>
              <a:uFillTx/>
              <a:latin typeface="Arial"/>
            </a:endParaRPr>
          </a:p>
        </p:txBody>
      </p:sp>
      <p:sp>
        <p:nvSpPr>
          <p:cNvPr id="454" name="PlaceHolder 3"/>
          <p:cNvSpPr>
            <a:spLocks noGrp="1"/>
          </p:cNvSpPr>
          <p:nvPr>
            <p:ph type="sldNum" idx="1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B886A8CE-397C-4ABA-94DD-BA080C763611}"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5" name="PlaceHolder 1"/>
          <p:cNvSpPr>
            <a:spLocks noGrp="1"/>
          </p:cNvSpPr>
          <p:nvPr>
            <p:ph type="sldImg"/>
          </p:nvPr>
        </p:nvSpPr>
        <p:spPr>
          <a:xfrm>
            <a:off x="685800" y="1143000"/>
            <a:ext cx="5486040" cy="3085920"/>
          </a:xfrm>
          <a:prstGeom prst="rect">
            <a:avLst/>
          </a:prstGeom>
          <a:ln w="0">
            <a:noFill/>
          </a:ln>
        </p:spPr>
      </p:sp>
      <p:sp>
        <p:nvSpPr>
          <p:cNvPr id="45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ADHD </a:t>
            </a:r>
            <a:r>
              <a:rPr lang="pl-PL" sz="2000" b="0" u="none" strike="noStrike">
                <a:solidFill>
                  <a:srgbClr val="000000"/>
                </a:solidFill>
                <a:effectLst/>
                <a:uFillTx/>
                <a:latin typeface="Arial"/>
              </a:rPr>
              <a:t>wiąże się </a:t>
            </a:r>
            <a:r>
              <a:rPr lang="pl-PL" sz="2000" b="0" u="none" strike="noStrike">
                <a:solidFill>
                  <a:srgbClr val="000000"/>
                </a:solidFill>
                <a:effectLst/>
                <a:uFillTx/>
                <a:latin typeface="Arial"/>
              </a:rPr>
              <a:t>przeciętnie </a:t>
            </a:r>
            <a:r>
              <a:rPr lang="pl-PL" sz="2000" b="0" u="none" strike="noStrike">
                <a:solidFill>
                  <a:srgbClr val="000000"/>
                </a:solidFill>
                <a:effectLst/>
                <a:uFillTx/>
                <a:latin typeface="Arial"/>
              </a:rPr>
              <a:t>z niższymi </a:t>
            </a:r>
            <a:r>
              <a:rPr lang="pl-PL" sz="2000" b="0" u="none" strike="noStrike">
                <a:solidFill>
                  <a:srgbClr val="000000"/>
                </a:solidFill>
                <a:effectLst/>
                <a:uFillTx/>
                <a:latin typeface="Arial"/>
              </a:rPr>
              <a:t>ocenami, </a:t>
            </a:r>
            <a:r>
              <a:rPr lang="pl-PL" sz="2000" b="0" u="none" strike="noStrike">
                <a:solidFill>
                  <a:srgbClr val="000000"/>
                </a:solidFill>
                <a:effectLst/>
                <a:uFillTx/>
                <a:latin typeface="Arial"/>
              </a:rPr>
              <a:t>większą </a:t>
            </a:r>
            <a:r>
              <a:rPr lang="pl-PL" sz="2000" b="0" u="none" strike="noStrike">
                <a:solidFill>
                  <a:srgbClr val="000000"/>
                </a:solidFill>
                <a:effectLst/>
                <a:uFillTx/>
                <a:latin typeface="Arial"/>
              </a:rPr>
              <a:t>absencją, </a:t>
            </a:r>
            <a:r>
              <a:rPr lang="pl-PL" sz="2000" b="0" u="none" strike="noStrike">
                <a:solidFill>
                  <a:srgbClr val="000000"/>
                </a:solidFill>
                <a:effectLst/>
                <a:uFillTx/>
                <a:latin typeface="Arial"/>
              </a:rPr>
              <a:t>częstszym </a:t>
            </a:r>
            <a:r>
              <a:rPr lang="pl-PL" sz="2000" b="0" u="none" strike="noStrike">
                <a:solidFill>
                  <a:srgbClr val="000000"/>
                </a:solidFill>
                <a:effectLst/>
                <a:uFillTx/>
                <a:latin typeface="Arial"/>
              </a:rPr>
              <a:t>powtarzani</a:t>
            </a:r>
            <a:r>
              <a:rPr lang="pl-PL" sz="2000" b="0" u="none" strike="noStrike">
                <a:solidFill>
                  <a:srgbClr val="000000"/>
                </a:solidFill>
                <a:effectLst/>
                <a:uFillTx/>
                <a:latin typeface="Arial"/>
              </a:rPr>
              <a:t>em klasy, </a:t>
            </a:r>
            <a:r>
              <a:rPr lang="pl-PL" sz="2000" b="0" u="none" strike="noStrike">
                <a:solidFill>
                  <a:srgbClr val="000000"/>
                </a:solidFill>
                <a:effectLst/>
                <a:uFillTx/>
                <a:latin typeface="Arial"/>
              </a:rPr>
              <a:t>większym </a:t>
            </a:r>
            <a:r>
              <a:rPr lang="pl-PL" sz="2000" b="0" u="none" strike="noStrike">
                <a:solidFill>
                  <a:srgbClr val="000000"/>
                </a:solidFill>
                <a:effectLst/>
                <a:uFillTx/>
                <a:latin typeface="Arial"/>
              </a:rPr>
              <a:t>wykorzysta</a:t>
            </a:r>
            <a:r>
              <a:rPr lang="pl-PL" sz="2000" b="0" u="none" strike="noStrike">
                <a:solidFill>
                  <a:srgbClr val="000000"/>
                </a:solidFill>
                <a:effectLst/>
                <a:uFillTx/>
                <a:latin typeface="Arial"/>
              </a:rPr>
              <a:t>niem </a:t>
            </a:r>
            <a:r>
              <a:rPr lang="pl-PL" sz="2000" b="0" u="none" strike="noStrike">
                <a:solidFill>
                  <a:srgbClr val="000000"/>
                </a:solidFill>
                <a:effectLst/>
                <a:uFillTx/>
                <a:latin typeface="Arial"/>
              </a:rPr>
              <a:t>wsparcia </a:t>
            </a:r>
            <a:r>
              <a:rPr lang="pl-PL" sz="2000" b="0" u="none" strike="noStrike">
                <a:solidFill>
                  <a:srgbClr val="000000"/>
                </a:solidFill>
                <a:effectLst/>
                <a:uFillTx/>
                <a:latin typeface="Arial"/>
              </a:rPr>
              <a:t>specjalistyc</a:t>
            </a:r>
            <a:r>
              <a:rPr lang="pl-PL" sz="2000" b="0" u="none" strike="noStrike">
                <a:solidFill>
                  <a:srgbClr val="000000"/>
                </a:solidFill>
                <a:effectLst/>
                <a:uFillTx/>
                <a:latin typeface="Arial"/>
              </a:rPr>
              <a:t>znego oraz </a:t>
            </a:r>
            <a:r>
              <a:rPr lang="pl-PL" sz="2000" b="0" u="none" strike="noStrike">
                <a:solidFill>
                  <a:srgbClr val="000000"/>
                </a:solidFill>
                <a:effectLst/>
                <a:uFillTx/>
                <a:latin typeface="Arial"/>
              </a:rPr>
              <a:t>wyższym </a:t>
            </a:r>
            <a:r>
              <a:rPr lang="pl-PL" sz="2000" b="0" u="none" strike="noStrike">
                <a:solidFill>
                  <a:srgbClr val="000000"/>
                </a:solidFill>
                <a:effectLst/>
                <a:uFillTx/>
                <a:latin typeface="Arial"/>
              </a:rPr>
              <a:t>ryzykiem </a:t>
            </a:r>
            <a:r>
              <a:rPr lang="pl-PL" sz="2000" b="0" u="none" strike="noStrike">
                <a:solidFill>
                  <a:srgbClr val="000000"/>
                </a:solidFill>
                <a:effectLst/>
                <a:uFillTx/>
                <a:latin typeface="Arial"/>
              </a:rPr>
              <a:t>przerwania </a:t>
            </a:r>
            <a:r>
              <a:rPr lang="pl-PL" sz="2000" b="0" u="none" strike="noStrike">
                <a:solidFill>
                  <a:srgbClr val="000000"/>
                </a:solidFill>
                <a:effectLst/>
                <a:uFillTx/>
                <a:latin typeface="Arial"/>
              </a:rPr>
              <a:t>edukacji. </a:t>
            </a:r>
            <a:r>
              <a:rPr lang="pl-PL" sz="2000" b="0" u="none" strike="noStrike">
                <a:solidFill>
                  <a:srgbClr val="000000"/>
                </a:solidFill>
                <a:effectLst/>
                <a:uFillTx/>
                <a:latin typeface="Arial"/>
              </a:rPr>
              <a:t>Nie wynika </a:t>
            </a:r>
            <a:r>
              <a:rPr lang="pl-PL" sz="2000" b="0" u="none" strike="noStrike">
                <a:solidFill>
                  <a:srgbClr val="000000"/>
                </a:solidFill>
                <a:effectLst/>
                <a:uFillTx/>
                <a:latin typeface="Arial"/>
              </a:rPr>
              <a:t>to przede </a:t>
            </a:r>
            <a:r>
              <a:rPr lang="pl-PL" sz="2000" b="0" u="none" strike="noStrike">
                <a:solidFill>
                  <a:srgbClr val="000000"/>
                </a:solidFill>
                <a:effectLst/>
                <a:uFillTx/>
                <a:latin typeface="Arial"/>
              </a:rPr>
              <a:t>wszystkim </a:t>
            </a:r>
            <a:r>
              <a:rPr lang="pl-PL" sz="2000" b="0" u="none" strike="noStrike">
                <a:solidFill>
                  <a:srgbClr val="000000"/>
                </a:solidFill>
                <a:effectLst/>
                <a:uFillTx/>
                <a:latin typeface="Arial"/>
              </a:rPr>
              <a:t>z niższej </a:t>
            </a:r>
            <a:r>
              <a:rPr lang="pl-PL" sz="2000" b="0" u="none" strike="noStrike">
                <a:solidFill>
                  <a:srgbClr val="000000"/>
                </a:solidFill>
                <a:effectLst/>
                <a:uFillTx/>
                <a:latin typeface="Arial"/>
              </a:rPr>
              <a:t>inteligencji </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kluczowa </a:t>
            </a:r>
            <a:r>
              <a:rPr lang="pl-PL" sz="2000" b="0" u="none" strike="noStrike">
                <a:solidFill>
                  <a:srgbClr val="000000"/>
                </a:solidFill>
                <a:effectLst/>
                <a:uFillTx/>
                <a:latin typeface="Arial"/>
              </a:rPr>
              <a:t>jest </a:t>
            </a:r>
            <a:r>
              <a:rPr lang="pl-PL" sz="2000" b="0" u="none" strike="noStrike">
                <a:solidFill>
                  <a:srgbClr val="000000"/>
                </a:solidFill>
                <a:effectLst/>
                <a:uFillTx/>
                <a:latin typeface="Arial"/>
              </a:rPr>
              <a:t>rozbieżnoś</a:t>
            </a:r>
            <a:r>
              <a:rPr lang="pl-PL" sz="2000" b="0" u="none" strike="noStrike">
                <a:solidFill>
                  <a:srgbClr val="000000"/>
                </a:solidFill>
                <a:effectLst/>
                <a:uFillTx/>
                <a:latin typeface="Arial"/>
              </a:rPr>
              <a:t>ć między </a:t>
            </a:r>
            <a:r>
              <a:rPr lang="pl-PL" sz="2000" b="0" u="none" strike="noStrike">
                <a:solidFill>
                  <a:srgbClr val="000000"/>
                </a:solidFill>
                <a:effectLst/>
                <a:uFillTx/>
                <a:latin typeface="Arial"/>
              </a:rPr>
              <a:t>potencjałe</a:t>
            </a:r>
            <a:r>
              <a:rPr lang="pl-PL" sz="2000" b="0" u="none" strike="noStrike">
                <a:solidFill>
                  <a:srgbClr val="000000"/>
                </a:solidFill>
                <a:effectLst/>
                <a:uFillTx/>
                <a:latin typeface="Arial"/>
              </a:rPr>
              <a:t>m a </a:t>
            </a:r>
            <a:r>
              <a:rPr lang="pl-PL" sz="2000" b="0" u="none" strike="noStrike">
                <a:solidFill>
                  <a:srgbClr val="000000"/>
                </a:solidFill>
                <a:effectLst/>
                <a:uFillTx/>
                <a:latin typeface="Arial"/>
              </a:rPr>
              <a:t>zdolnością </a:t>
            </a:r>
            <a:r>
              <a:rPr lang="pl-PL" sz="2000" b="0" u="none" strike="noStrike">
                <a:solidFill>
                  <a:srgbClr val="000000"/>
                </a:solidFill>
                <a:effectLst/>
                <a:uFillTx/>
                <a:latin typeface="Arial"/>
              </a:rPr>
              <a:t>do </a:t>
            </a:r>
            <a:r>
              <a:rPr lang="pl-PL" sz="2000" b="0" u="none" strike="noStrike">
                <a:solidFill>
                  <a:srgbClr val="000000"/>
                </a:solidFill>
                <a:effectLst/>
                <a:uFillTx/>
                <a:latin typeface="Arial"/>
              </a:rPr>
              <a:t>systematyc</a:t>
            </a:r>
            <a:r>
              <a:rPr lang="pl-PL" sz="2000" b="0" u="none" strike="noStrike">
                <a:solidFill>
                  <a:srgbClr val="000000"/>
                </a:solidFill>
                <a:effectLst/>
                <a:uFillTx/>
                <a:latin typeface="Arial"/>
              </a:rPr>
              <a:t>znej </a:t>
            </a:r>
            <a:r>
              <a:rPr lang="pl-PL" sz="2000" b="0" u="none" strike="noStrike">
                <a:solidFill>
                  <a:srgbClr val="000000"/>
                </a:solidFill>
                <a:effectLst/>
                <a:uFillTx/>
                <a:latin typeface="Arial"/>
              </a:rPr>
              <a:t>realizacji </a:t>
            </a:r>
            <a:r>
              <a:rPr lang="pl-PL" sz="2000" b="0" u="none" strike="noStrike">
                <a:solidFill>
                  <a:srgbClr val="000000"/>
                </a:solidFill>
                <a:effectLst/>
                <a:uFillTx/>
                <a:latin typeface="Arial"/>
              </a:rPr>
              <a:t>długotrwały</a:t>
            </a:r>
            <a:r>
              <a:rPr lang="pl-PL" sz="2000" b="0" u="none" strike="noStrike">
                <a:solidFill>
                  <a:srgbClr val="000000"/>
                </a:solidFill>
                <a:effectLst/>
                <a:uFillTx/>
                <a:latin typeface="Arial"/>
              </a:rPr>
              <a:t>ch, </a:t>
            </a:r>
            <a:r>
              <a:rPr lang="pl-PL" sz="2000" b="0" u="none" strike="noStrike">
                <a:solidFill>
                  <a:srgbClr val="000000"/>
                </a:solidFill>
                <a:effectLst/>
                <a:uFillTx/>
                <a:latin typeface="Arial"/>
              </a:rPr>
              <a:t>wieloetapo</a:t>
            </a:r>
            <a:r>
              <a:rPr lang="pl-PL" sz="2000" b="0" u="none" strike="noStrike">
                <a:solidFill>
                  <a:srgbClr val="000000"/>
                </a:solidFill>
                <a:effectLst/>
                <a:uFillTx/>
                <a:latin typeface="Arial"/>
              </a:rPr>
              <a:t>wych i </a:t>
            </a:r>
            <a:r>
              <a:rPr lang="pl-PL" sz="2000" b="0" u="none" strike="noStrike">
                <a:solidFill>
                  <a:srgbClr val="000000"/>
                </a:solidFill>
                <a:effectLst/>
                <a:uFillTx/>
                <a:latin typeface="Arial"/>
              </a:rPr>
              <a:t>odroczonyc</a:t>
            </a:r>
            <a:r>
              <a:rPr lang="pl-PL" sz="2000" b="0" u="none" strike="noStrike">
                <a:solidFill>
                  <a:srgbClr val="000000"/>
                </a:solidFill>
                <a:effectLst/>
                <a:uFillTx/>
                <a:latin typeface="Arial"/>
              </a:rPr>
              <a:t>h zadań. </a:t>
            </a:r>
            <a:r>
              <a:rPr lang="pl-PL" sz="2000" b="0" u="none" strike="noStrike">
                <a:solidFill>
                  <a:srgbClr val="000000"/>
                </a:solidFill>
                <a:effectLst/>
                <a:uFillTx/>
                <a:latin typeface="Arial"/>
              </a:rPr>
              <a:t>Farmakoter</a:t>
            </a:r>
            <a:r>
              <a:rPr lang="pl-PL" sz="2000" b="0" u="none" strike="noStrike">
                <a:solidFill>
                  <a:srgbClr val="000000"/>
                </a:solidFill>
                <a:effectLst/>
                <a:uFillTx/>
                <a:latin typeface="Arial"/>
              </a:rPr>
              <a:t>apia </a:t>
            </a:r>
            <a:r>
              <a:rPr lang="pl-PL" sz="2000" b="0" u="none" strike="noStrike">
                <a:solidFill>
                  <a:srgbClr val="000000"/>
                </a:solidFill>
                <a:effectLst/>
                <a:uFillTx/>
                <a:latin typeface="Arial"/>
              </a:rPr>
              <a:t>poprawia </a:t>
            </a:r>
            <a:r>
              <a:rPr lang="pl-PL" sz="2000" b="0" u="none" strike="noStrike">
                <a:solidFill>
                  <a:srgbClr val="000000"/>
                </a:solidFill>
                <a:effectLst/>
                <a:uFillTx/>
                <a:latin typeface="Arial"/>
              </a:rPr>
              <a:t>uwagę i </a:t>
            </a:r>
            <a:r>
              <a:rPr lang="pl-PL" sz="2000" b="0" u="none" strike="noStrike">
                <a:solidFill>
                  <a:srgbClr val="000000"/>
                </a:solidFill>
                <a:effectLst/>
                <a:uFillTx/>
                <a:latin typeface="Arial"/>
              </a:rPr>
              <a:t>hamowanie </a:t>
            </a:r>
            <a:r>
              <a:rPr lang="pl-PL" sz="2000" b="0" u="none" strike="noStrike">
                <a:solidFill>
                  <a:srgbClr val="000000"/>
                </a:solidFill>
                <a:effectLst/>
                <a:uFillTx/>
                <a:latin typeface="Arial"/>
              </a:rPr>
              <a:t>reakcji, lecz </a:t>
            </a:r>
            <a:r>
              <a:rPr lang="pl-PL" sz="2000" b="0" u="none" strike="noStrike">
                <a:solidFill>
                  <a:srgbClr val="000000"/>
                </a:solidFill>
                <a:effectLst/>
                <a:uFillTx/>
                <a:latin typeface="Arial"/>
              </a:rPr>
              <a:t>wpływ na </a:t>
            </a:r>
            <a:r>
              <a:rPr lang="pl-PL" sz="2000" b="0" u="none" strike="noStrike">
                <a:solidFill>
                  <a:srgbClr val="000000"/>
                </a:solidFill>
                <a:effectLst/>
                <a:uFillTx/>
                <a:latin typeface="Arial"/>
              </a:rPr>
              <a:t>końcowe </a:t>
            </a:r>
            <a:r>
              <a:rPr lang="pl-PL" sz="2000" b="0" u="none" strike="noStrike">
                <a:solidFill>
                  <a:srgbClr val="000000"/>
                </a:solidFill>
                <a:effectLst/>
                <a:uFillTx/>
                <a:latin typeface="Arial"/>
              </a:rPr>
              <a:t>wyniki </a:t>
            </a:r>
            <a:r>
              <a:rPr lang="pl-PL" sz="2000" b="0" u="none" strike="noStrike">
                <a:solidFill>
                  <a:srgbClr val="000000"/>
                </a:solidFill>
                <a:effectLst/>
                <a:uFillTx/>
                <a:latin typeface="Arial"/>
              </a:rPr>
              <a:t>edukacyjne </a:t>
            </a:r>
            <a:r>
              <a:rPr lang="pl-PL" sz="2000" b="0" u="none" strike="noStrike">
                <a:solidFill>
                  <a:srgbClr val="000000"/>
                </a:solidFill>
                <a:effectLst/>
                <a:uFillTx/>
                <a:latin typeface="Arial"/>
              </a:rPr>
              <a:t>jest zwykle </a:t>
            </a:r>
            <a:r>
              <a:rPr lang="pl-PL" sz="2000" b="0" u="none" strike="noStrike">
                <a:solidFill>
                  <a:srgbClr val="000000"/>
                </a:solidFill>
                <a:effectLst/>
                <a:uFillTx/>
                <a:latin typeface="Arial"/>
              </a:rPr>
              <a:t>mniejszy </a:t>
            </a:r>
            <a:r>
              <a:rPr lang="pl-PL" sz="2000" b="0" u="none" strike="noStrike">
                <a:solidFill>
                  <a:srgbClr val="000000"/>
                </a:solidFill>
                <a:effectLst/>
                <a:uFillTx/>
                <a:latin typeface="Arial"/>
              </a:rPr>
              <a:t>niż wpływ </a:t>
            </a:r>
            <a:r>
              <a:rPr lang="pl-PL" sz="2000" b="0" u="none" strike="noStrike">
                <a:solidFill>
                  <a:srgbClr val="000000"/>
                </a:solidFill>
                <a:effectLst/>
                <a:uFillTx/>
                <a:latin typeface="Arial"/>
              </a:rPr>
              <a:t>na objawy </a:t>
            </a:r>
            <a:r>
              <a:rPr lang="pl-PL" sz="2000" b="0" u="none" strike="noStrike">
                <a:solidFill>
                  <a:srgbClr val="000000"/>
                </a:solidFill>
                <a:effectLst/>
                <a:uFillTx/>
                <a:latin typeface="Arial"/>
              </a:rPr>
              <a:t>— leki nie </a:t>
            </a:r>
            <a:r>
              <a:rPr lang="pl-PL" sz="2000" b="0" u="none" strike="noStrike">
                <a:solidFill>
                  <a:srgbClr val="000000"/>
                </a:solidFill>
                <a:effectLst/>
                <a:uFillTx/>
                <a:latin typeface="Arial"/>
              </a:rPr>
              <a:t>usuwają </a:t>
            </a:r>
            <a:r>
              <a:rPr lang="pl-PL" sz="2000" b="0" u="none" strike="noStrike">
                <a:solidFill>
                  <a:srgbClr val="000000"/>
                </a:solidFill>
                <a:effectLst/>
                <a:uFillTx/>
                <a:latin typeface="Arial"/>
              </a:rPr>
              <a:t>automatycz</a:t>
            </a:r>
            <a:r>
              <a:rPr lang="pl-PL" sz="2000" b="0" u="none" strike="noStrike">
                <a:solidFill>
                  <a:srgbClr val="000000"/>
                </a:solidFill>
                <a:effectLst/>
                <a:uFillTx/>
                <a:latin typeface="Arial"/>
              </a:rPr>
              <a:t>nie </a:t>
            </a:r>
            <a:r>
              <a:rPr lang="pl-PL" sz="2000" b="0" u="none" strike="noStrike">
                <a:solidFill>
                  <a:srgbClr val="000000"/>
                </a:solidFill>
                <a:effectLst/>
                <a:uFillTx/>
                <a:latin typeface="Arial"/>
              </a:rPr>
              <a:t>zaległości </a:t>
            </a:r>
            <a:r>
              <a:rPr lang="pl-PL" sz="2000" b="0" u="none" strike="noStrike">
                <a:solidFill>
                  <a:srgbClr val="000000"/>
                </a:solidFill>
                <a:effectLst/>
                <a:uFillTx/>
                <a:latin typeface="Arial"/>
              </a:rPr>
              <a:t>ani braków </a:t>
            </a:r>
            <a:r>
              <a:rPr lang="pl-PL" sz="2000" b="0" u="none" strike="noStrike">
                <a:solidFill>
                  <a:srgbClr val="000000"/>
                </a:solidFill>
                <a:effectLst/>
                <a:uFillTx/>
                <a:latin typeface="Arial"/>
              </a:rPr>
              <a:t>w </a:t>
            </a:r>
            <a:r>
              <a:rPr lang="pl-PL" sz="2000" b="0" u="none" strike="noStrike">
                <a:solidFill>
                  <a:srgbClr val="000000"/>
                </a:solidFill>
                <a:effectLst/>
                <a:uFillTx/>
                <a:latin typeface="Arial"/>
              </a:rPr>
              <a:t>strategiach </a:t>
            </a:r>
            <a:r>
              <a:rPr lang="pl-PL" sz="2000" b="0" u="none" strike="noStrike">
                <a:solidFill>
                  <a:srgbClr val="000000"/>
                </a:solidFill>
                <a:effectLst/>
                <a:uFillTx/>
                <a:latin typeface="Arial"/>
              </a:rPr>
              <a:t>uczenia się. </a:t>
            </a:r>
            <a:r>
              <a:rPr lang="pl-PL" sz="2000" b="0" u="none" strike="noStrike">
                <a:solidFill>
                  <a:srgbClr val="000000"/>
                </a:solidFill>
                <a:effectLst/>
                <a:uFillTx/>
                <a:latin typeface="Arial"/>
              </a:rPr>
              <a:t>Najlepsze </a:t>
            </a:r>
            <a:r>
              <a:rPr lang="pl-PL" sz="2000" b="0" u="none" strike="noStrike">
                <a:solidFill>
                  <a:srgbClr val="000000"/>
                </a:solidFill>
                <a:effectLst/>
                <a:uFillTx/>
                <a:latin typeface="Arial"/>
              </a:rPr>
              <a:t>efekty daje </a:t>
            </a:r>
            <a:r>
              <a:rPr lang="pl-PL" sz="2000" b="0" u="none" strike="noStrike">
                <a:solidFill>
                  <a:srgbClr val="000000"/>
                </a:solidFill>
                <a:effectLst/>
                <a:uFillTx/>
                <a:latin typeface="Arial"/>
              </a:rPr>
              <a:t>połączenie </a:t>
            </a:r>
            <a:r>
              <a:rPr lang="pl-PL" sz="2000" b="0" u="none" strike="noStrike">
                <a:solidFill>
                  <a:srgbClr val="000000"/>
                </a:solidFill>
                <a:effectLst/>
                <a:uFillTx/>
                <a:latin typeface="Arial"/>
              </a:rPr>
              <a:t>leczenia z </a:t>
            </a:r>
            <a:r>
              <a:rPr lang="pl-PL" sz="2000" b="0" u="none" strike="noStrike">
                <a:solidFill>
                  <a:srgbClr val="000000"/>
                </a:solidFill>
                <a:effectLst/>
                <a:uFillTx/>
                <a:latin typeface="Arial"/>
              </a:rPr>
              <a:t>treningiem </a:t>
            </a:r>
            <a:r>
              <a:rPr lang="pl-PL" sz="2000" b="0" u="none" strike="noStrike">
                <a:solidFill>
                  <a:srgbClr val="000000"/>
                </a:solidFill>
                <a:effectLst/>
                <a:uFillTx/>
                <a:latin typeface="Arial"/>
              </a:rPr>
              <a:t>organizacji, </a:t>
            </a:r>
            <a:r>
              <a:rPr lang="pl-PL" sz="2000" b="0" u="none" strike="noStrike">
                <a:solidFill>
                  <a:srgbClr val="000000"/>
                </a:solidFill>
                <a:effectLst/>
                <a:uFillTx/>
                <a:latin typeface="Arial"/>
              </a:rPr>
              <a:t>zewnętrzny</a:t>
            </a:r>
            <a:r>
              <a:rPr lang="pl-PL" sz="2000" b="0" u="none" strike="noStrike">
                <a:solidFill>
                  <a:srgbClr val="000000"/>
                </a:solidFill>
                <a:effectLst/>
                <a:uFillTx/>
                <a:latin typeface="Arial"/>
              </a:rPr>
              <a:t>mi </a:t>
            </a:r>
            <a:r>
              <a:rPr lang="pl-PL" sz="2000" b="0" u="none" strike="noStrike">
                <a:solidFill>
                  <a:srgbClr val="000000"/>
                </a:solidFill>
                <a:effectLst/>
                <a:uFillTx/>
                <a:latin typeface="Arial"/>
              </a:rPr>
              <a:t>terminami i </a:t>
            </a:r>
            <a:r>
              <a:rPr lang="pl-PL" sz="2000" b="0" u="none" strike="noStrike">
                <a:solidFill>
                  <a:srgbClr val="000000"/>
                </a:solidFill>
                <a:effectLst/>
                <a:uFillTx/>
                <a:latin typeface="Arial"/>
              </a:rPr>
              <a:t>dostosowa</a:t>
            </a:r>
            <a:r>
              <a:rPr lang="pl-PL" sz="2000" b="0" u="none" strike="noStrike">
                <a:solidFill>
                  <a:srgbClr val="000000"/>
                </a:solidFill>
                <a:effectLst/>
                <a:uFillTx/>
                <a:latin typeface="Arial"/>
              </a:rPr>
              <a:t>niami.</a:t>
            </a:r>
            <a:endParaRPr lang="pl-PL" sz="2000" b="0" u="none" strike="noStrike">
              <a:solidFill>
                <a:srgbClr val="000000"/>
              </a:solidFill>
              <a:effectLst/>
              <a:uFillTx/>
              <a:latin typeface="Arial"/>
            </a:endParaRPr>
          </a:p>
        </p:txBody>
      </p:sp>
      <p:sp>
        <p:nvSpPr>
          <p:cNvPr id="457" name="PlaceHolder 3"/>
          <p:cNvSpPr>
            <a:spLocks noGrp="1"/>
          </p:cNvSpPr>
          <p:nvPr>
            <p:ph type="sldNum" idx="1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D6C6B49F-FED4-475A-83EE-5C07A2B35B3A}"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8" name="PlaceHolder 1"/>
          <p:cNvSpPr>
            <a:spLocks noGrp="1"/>
          </p:cNvSpPr>
          <p:nvPr>
            <p:ph type="sldImg"/>
          </p:nvPr>
        </p:nvSpPr>
        <p:spPr>
          <a:xfrm>
            <a:off x="685800" y="1143000"/>
            <a:ext cx="5486040" cy="3085920"/>
          </a:xfrm>
          <a:prstGeom prst="rect">
            <a:avLst/>
          </a:prstGeom>
          <a:ln w="0">
            <a:noFill/>
          </a:ln>
        </p:spPr>
      </p:sp>
      <p:sp>
        <p:nvSpPr>
          <p:cNvPr id="45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W dorosłości ADHD wiąże się ze zwiększonym ryzykiem bezrobocia, </a:t>
            </a:r>
            <a:r>
              <a:rPr lang="pl-PL" sz="2000" b="0" u="none" strike="noStrike">
                <a:solidFill>
                  <a:srgbClr val="000000"/>
                </a:solidFill>
                <a:effectLst/>
                <a:uFillTx/>
                <a:latin typeface="Arial"/>
              </a:rPr>
              <a:t>częstych zmian pracy, spóźnień, absencji, prezenteizmu, konfliktów oraz </a:t>
            </a:r>
            <a:r>
              <a:rPr lang="pl-PL" sz="2000" b="0" u="none" strike="noStrike">
                <a:solidFill>
                  <a:srgbClr val="000000"/>
                </a:solidFill>
                <a:effectLst/>
                <a:uFillTx/>
                <a:latin typeface="Arial"/>
              </a:rPr>
              <a:t>pracy poniżej kwalifikacji. Prezenteizm oznacza formalną obecność przy </a:t>
            </a:r>
            <a:r>
              <a:rPr lang="pl-PL" sz="2000" b="0" u="none" strike="noStrike">
                <a:solidFill>
                  <a:srgbClr val="000000"/>
                </a:solidFill>
                <a:effectLst/>
                <a:uFillTx/>
                <a:latin typeface="Arial"/>
              </a:rPr>
              <a:t>obniżonej wydajności — na przykład z powodu częstego przełączania </a:t>
            </a:r>
            <a:r>
              <a:rPr lang="pl-PL" sz="2000" b="0" u="none" strike="noStrike">
                <a:solidFill>
                  <a:srgbClr val="000000"/>
                </a:solidFill>
                <a:effectLst/>
                <a:uFillTx/>
                <a:latin typeface="Arial"/>
              </a:rPr>
              <a:t>zadań, odwlekania rozpoczęcia pracy albo konieczności naprawiania </a:t>
            </a:r>
            <a:r>
              <a:rPr lang="pl-PL" sz="2000" b="0" u="none" strike="noStrike">
                <a:solidFill>
                  <a:srgbClr val="000000"/>
                </a:solidFill>
                <a:effectLst/>
                <a:uFillTx/>
                <a:latin typeface="Arial"/>
              </a:rPr>
              <a:t>błędów. ADHD nie wyklucza wysokich osiągnięć — osoby mogą </a:t>
            </a:r>
            <a:r>
              <a:rPr lang="pl-PL" sz="2000" b="0" u="none" strike="noStrike">
                <a:solidFill>
                  <a:srgbClr val="000000"/>
                </a:solidFill>
                <a:effectLst/>
                <a:uFillTx/>
                <a:latin typeface="Arial"/>
              </a:rPr>
              <a:t>szczególnie dobrze funkcjonować w środowiskach dynamicznych, </a:t>
            </a:r>
            <a:r>
              <a:rPr lang="pl-PL" sz="2000" b="0" u="none" strike="noStrike">
                <a:solidFill>
                  <a:srgbClr val="000000"/>
                </a:solidFill>
                <a:effectLst/>
                <a:uFillTx/>
                <a:latin typeface="Arial"/>
              </a:rPr>
              <a:t>autonomicznych, zapewniających szybkie informacje zwrotne i zgodnych </a:t>
            </a:r>
            <a:r>
              <a:rPr lang="pl-PL" sz="2000" b="0" u="none" strike="noStrike">
                <a:solidFill>
                  <a:srgbClr val="000000"/>
                </a:solidFill>
                <a:effectLst/>
                <a:uFillTx/>
                <a:latin typeface="Arial"/>
              </a:rPr>
              <a:t>z silnymi zainteresowaniami. Ryzyko niekorzystnych wyników rośnie w </a:t>
            </a:r>
            <a:r>
              <a:rPr lang="pl-PL" sz="2000" b="0" u="none" strike="noStrike">
                <a:solidFill>
                  <a:srgbClr val="000000"/>
                </a:solidFill>
                <a:effectLst/>
                <a:uFillTx/>
                <a:latin typeface="Arial"/>
              </a:rPr>
              <a:t>pracy monotonnej, słabo ustrukturyzowanej i wymagającej </a:t>
            </a:r>
            <a:r>
              <a:rPr lang="pl-PL" sz="2000" b="0" u="none" strike="noStrike">
                <a:solidFill>
                  <a:srgbClr val="000000"/>
                </a:solidFill>
                <a:effectLst/>
                <a:uFillTx/>
                <a:latin typeface="Arial"/>
              </a:rPr>
              <a:t>wielomiesięcznego samodzielnego planowania.</a:t>
            </a:r>
            <a:endParaRPr lang="pl-PL" sz="2000" b="0" u="none" strike="noStrike">
              <a:solidFill>
                <a:srgbClr val="000000"/>
              </a:solidFill>
              <a:effectLst/>
              <a:uFillTx/>
              <a:latin typeface="Arial"/>
            </a:endParaRPr>
          </a:p>
        </p:txBody>
      </p:sp>
      <p:sp>
        <p:nvSpPr>
          <p:cNvPr id="460" name="PlaceHolder 3"/>
          <p:cNvSpPr>
            <a:spLocks noGrp="1"/>
          </p:cNvSpPr>
          <p:nvPr>
            <p:ph type="sldNum" idx="2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A7C0EAAC-8DF6-487A-A753-849F4F7491BD}"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1" name="PlaceHolder 1"/>
          <p:cNvSpPr>
            <a:spLocks noGrp="1"/>
          </p:cNvSpPr>
          <p:nvPr>
            <p:ph type="sldImg"/>
          </p:nvPr>
        </p:nvSpPr>
        <p:spPr>
          <a:xfrm>
            <a:off x="685800" y="1143000"/>
            <a:ext cx="5486040" cy="3085920"/>
          </a:xfrm>
          <a:prstGeom prst="rect">
            <a:avLst/>
          </a:prstGeom>
          <a:ln w="0">
            <a:noFill/>
          </a:ln>
        </p:spPr>
      </p:sp>
      <p:sp>
        <p:nvSpPr>
          <p:cNvPr id="46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ADHD wiąże się z większą częstością wypadków komunikacyjnych, urazów, zatruć, ryzykownych zachowań seksualnych oraz nieprzestrzegania zaleceń medycznych. Mechanizm obejmuje rozproszenie uwagi, impulsywność, poszukiwanie stymulacji i trudności w utrzymaniu rutyn bezpieczeństwa. Badania rejestrowe wskazują, że w okresach leczenia ryzyko części zdarzeń transportowych jest niższe, choć nie dla wszystkich typów urazów uzyskuje się jednoznaczne wyniki.</a:t>
            </a:r>
            <a:endParaRPr lang="pl-PL" sz="2000" b="0" u="none" strike="noStrike">
              <a:solidFill>
                <a:srgbClr val="000000"/>
              </a:solidFill>
              <a:effectLst/>
              <a:uFillTx/>
              <a:latin typeface="Arial"/>
            </a:endParaRPr>
          </a:p>
        </p:txBody>
      </p:sp>
      <p:sp>
        <p:nvSpPr>
          <p:cNvPr id="463" name="PlaceHolder 3"/>
          <p:cNvSpPr>
            <a:spLocks noGrp="1"/>
          </p:cNvSpPr>
          <p:nvPr>
            <p:ph type="sldNum" idx="2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A53D2252-1AE7-4A3D-8615-652CECD6B98C}"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4" name="PlaceHolder 1"/>
          <p:cNvSpPr>
            <a:spLocks noGrp="1"/>
          </p:cNvSpPr>
          <p:nvPr>
            <p:ph type="sldImg"/>
          </p:nvPr>
        </p:nvSpPr>
        <p:spPr>
          <a:xfrm>
            <a:off x="685800" y="1143000"/>
            <a:ext cx="5486040" cy="3085920"/>
          </a:xfrm>
          <a:prstGeom prst="rect">
            <a:avLst/>
          </a:prstGeom>
          <a:ln w="0">
            <a:noFill/>
          </a:ln>
        </p:spPr>
      </p:sp>
      <p:sp>
        <p:nvSpPr>
          <p:cNvPr id="46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ADHD </a:t>
            </a:r>
            <a:r>
              <a:rPr lang="pl-PL" sz="2000" b="0" u="none" strike="noStrike">
                <a:solidFill>
                  <a:srgbClr val="000000"/>
                </a:solidFill>
                <a:effectLst/>
                <a:uFillTx/>
                <a:latin typeface="Arial"/>
              </a:rPr>
              <a:t>może </a:t>
            </a:r>
            <a:r>
              <a:rPr lang="pl-PL" sz="2000" b="0" u="none" strike="noStrike">
                <a:solidFill>
                  <a:srgbClr val="000000"/>
                </a:solidFill>
                <a:effectLst/>
                <a:uFillTx/>
                <a:latin typeface="Arial"/>
              </a:rPr>
              <a:t>wpływać na </a:t>
            </a:r>
            <a:r>
              <a:rPr lang="pl-PL" sz="2000" b="0" u="none" strike="noStrike">
                <a:solidFill>
                  <a:srgbClr val="000000"/>
                </a:solidFill>
                <a:effectLst/>
                <a:uFillTx/>
                <a:latin typeface="Arial"/>
              </a:rPr>
              <a:t>relację </a:t>
            </a:r>
            <a:r>
              <a:rPr lang="pl-PL" sz="2000" b="0" u="none" strike="noStrike">
                <a:solidFill>
                  <a:srgbClr val="000000"/>
                </a:solidFill>
                <a:effectLst/>
                <a:uFillTx/>
                <a:latin typeface="Arial"/>
              </a:rPr>
              <a:t>poprzez </a:t>
            </a:r>
            <a:r>
              <a:rPr lang="pl-PL" sz="2000" b="0" u="none" strike="noStrike">
                <a:solidFill>
                  <a:srgbClr val="000000"/>
                </a:solidFill>
                <a:effectLst/>
                <a:uFillTx/>
                <a:latin typeface="Arial"/>
              </a:rPr>
              <a:t>zapominani</a:t>
            </a:r>
            <a:r>
              <a:rPr lang="pl-PL" sz="2000" b="0" u="none" strike="noStrike">
                <a:solidFill>
                  <a:srgbClr val="000000"/>
                </a:solidFill>
                <a:effectLst/>
                <a:uFillTx/>
                <a:latin typeface="Arial"/>
              </a:rPr>
              <a:t>e o </a:t>
            </a:r>
            <a:r>
              <a:rPr lang="pl-PL" sz="2000" b="0" u="none" strike="noStrike">
                <a:solidFill>
                  <a:srgbClr val="000000"/>
                </a:solidFill>
                <a:effectLst/>
                <a:uFillTx/>
                <a:latin typeface="Arial"/>
              </a:rPr>
              <a:t>ustaleniach</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niewykony</a:t>
            </a:r>
            <a:r>
              <a:rPr lang="pl-PL" sz="2000" b="0" u="none" strike="noStrike">
                <a:solidFill>
                  <a:srgbClr val="000000"/>
                </a:solidFill>
                <a:effectLst/>
                <a:uFillTx/>
                <a:latin typeface="Arial"/>
              </a:rPr>
              <a:t>wanie </a:t>
            </a:r>
            <a:r>
              <a:rPr lang="pl-PL" sz="2000" b="0" u="none" strike="noStrike">
                <a:solidFill>
                  <a:srgbClr val="000000"/>
                </a:solidFill>
                <a:effectLst/>
                <a:uFillTx/>
                <a:latin typeface="Arial"/>
              </a:rPr>
              <a:t>obowiązkó</a:t>
            </a:r>
            <a:r>
              <a:rPr lang="pl-PL" sz="2000" b="0" u="none" strike="noStrike">
                <a:solidFill>
                  <a:srgbClr val="000000"/>
                </a:solidFill>
                <a:effectLst/>
                <a:uFillTx/>
                <a:latin typeface="Arial"/>
              </a:rPr>
              <a:t>w, </a:t>
            </a:r>
            <a:r>
              <a:rPr lang="pl-PL" sz="2000" b="0" u="none" strike="noStrike">
                <a:solidFill>
                  <a:srgbClr val="000000"/>
                </a:solidFill>
                <a:effectLst/>
                <a:uFillTx/>
                <a:latin typeface="Arial"/>
              </a:rPr>
              <a:t>spóźnienia, </a:t>
            </a:r>
            <a:r>
              <a:rPr lang="pl-PL" sz="2000" b="0" u="none" strike="noStrike">
                <a:solidFill>
                  <a:srgbClr val="000000"/>
                </a:solidFill>
                <a:effectLst/>
                <a:uFillTx/>
                <a:latin typeface="Arial"/>
              </a:rPr>
              <a:t>impulsywne </a:t>
            </a:r>
            <a:r>
              <a:rPr lang="pl-PL" sz="2000" b="0" u="none" strike="noStrike">
                <a:solidFill>
                  <a:srgbClr val="000000"/>
                </a:solidFill>
                <a:effectLst/>
                <a:uFillTx/>
                <a:latin typeface="Arial"/>
              </a:rPr>
              <a:t>wydatki, </a:t>
            </a:r>
            <a:r>
              <a:rPr lang="pl-PL" sz="2000" b="0" u="none" strike="noStrike">
                <a:solidFill>
                  <a:srgbClr val="000000"/>
                </a:solidFill>
                <a:effectLst/>
                <a:uFillTx/>
                <a:latin typeface="Arial"/>
              </a:rPr>
              <a:t>trudności z </a:t>
            </a:r>
            <a:r>
              <a:rPr lang="pl-PL" sz="2000" b="0" u="none" strike="noStrike">
                <a:solidFill>
                  <a:srgbClr val="000000"/>
                </a:solidFill>
                <a:effectLst/>
                <a:uFillTx/>
                <a:latin typeface="Arial"/>
              </a:rPr>
              <a:t>aktywnym </a:t>
            </a:r>
            <a:r>
              <a:rPr lang="pl-PL" sz="2000" b="0" u="none" strike="noStrike">
                <a:solidFill>
                  <a:srgbClr val="000000"/>
                </a:solidFill>
                <a:effectLst/>
                <a:uFillTx/>
                <a:latin typeface="Arial"/>
              </a:rPr>
              <a:t>słuchaniem </a:t>
            </a:r>
            <a:r>
              <a:rPr lang="pl-PL" sz="2000" b="0" u="none" strike="noStrike">
                <a:solidFill>
                  <a:srgbClr val="000000"/>
                </a:solidFill>
                <a:effectLst/>
                <a:uFillTx/>
                <a:latin typeface="Arial"/>
              </a:rPr>
              <a:t>oraz </a:t>
            </a:r>
            <a:r>
              <a:rPr lang="pl-PL" sz="2000" b="0" u="none" strike="noStrike">
                <a:solidFill>
                  <a:srgbClr val="000000"/>
                </a:solidFill>
                <a:effectLst/>
                <a:uFillTx/>
                <a:latin typeface="Arial"/>
              </a:rPr>
              <a:t>gwałtowne </a:t>
            </a:r>
            <a:r>
              <a:rPr lang="pl-PL" sz="2000" b="0" u="none" strike="noStrike">
                <a:solidFill>
                  <a:srgbClr val="000000"/>
                </a:solidFill>
                <a:effectLst/>
                <a:uFillTx/>
                <a:latin typeface="Arial"/>
              </a:rPr>
              <a:t>reakcje </a:t>
            </a:r>
            <a:r>
              <a:rPr lang="pl-PL" sz="2000" b="0" u="none" strike="noStrike">
                <a:solidFill>
                  <a:srgbClr val="000000"/>
                </a:solidFill>
                <a:effectLst/>
                <a:uFillTx/>
                <a:latin typeface="Arial"/>
              </a:rPr>
              <a:t>emocjonaln</a:t>
            </a:r>
            <a:r>
              <a:rPr lang="pl-PL" sz="2000" b="0" u="none" strike="noStrike">
                <a:solidFill>
                  <a:srgbClr val="000000"/>
                </a:solidFill>
                <a:effectLst/>
                <a:uFillTx/>
                <a:latin typeface="Arial"/>
              </a:rPr>
              <a:t>e. Partner </a:t>
            </a:r>
            <a:r>
              <a:rPr lang="pl-PL" sz="2000" b="0" u="none" strike="noStrike">
                <a:solidFill>
                  <a:srgbClr val="000000"/>
                </a:solidFill>
                <a:effectLst/>
                <a:uFillTx/>
                <a:latin typeface="Arial"/>
              </a:rPr>
              <a:t>może </a:t>
            </a:r>
            <a:r>
              <a:rPr lang="pl-PL" sz="2000" b="0" u="none" strike="noStrike">
                <a:solidFill>
                  <a:srgbClr val="000000"/>
                </a:solidFill>
                <a:effectLst/>
                <a:uFillTx/>
                <a:latin typeface="Arial"/>
              </a:rPr>
              <a:t>interpretow</a:t>
            </a:r>
            <a:r>
              <a:rPr lang="pl-PL" sz="2000" b="0" u="none" strike="noStrike">
                <a:solidFill>
                  <a:srgbClr val="000000"/>
                </a:solidFill>
                <a:effectLst/>
                <a:uFillTx/>
                <a:latin typeface="Arial"/>
              </a:rPr>
              <a:t>ać objawy </a:t>
            </a:r>
            <a:r>
              <a:rPr lang="pl-PL" sz="2000" b="0" u="none" strike="noStrike">
                <a:solidFill>
                  <a:srgbClr val="000000"/>
                </a:solidFill>
                <a:effectLst/>
                <a:uFillTx/>
                <a:latin typeface="Arial"/>
              </a:rPr>
              <a:t>jako </a:t>
            </a:r>
            <a:r>
              <a:rPr lang="pl-PL" sz="2000" b="0" u="none" strike="noStrike">
                <a:solidFill>
                  <a:srgbClr val="000000"/>
                </a:solidFill>
                <a:effectLst/>
                <a:uFillTx/>
                <a:latin typeface="Arial"/>
              </a:rPr>
              <a:t>obojętność </a:t>
            </a:r>
            <a:r>
              <a:rPr lang="pl-PL" sz="2000" b="0" u="none" strike="noStrike">
                <a:solidFill>
                  <a:srgbClr val="000000"/>
                </a:solidFill>
                <a:effectLst/>
                <a:uFillTx/>
                <a:latin typeface="Arial"/>
              </a:rPr>
              <a:t>albo brak </a:t>
            </a:r>
            <a:r>
              <a:rPr lang="pl-PL" sz="2000" b="0" u="none" strike="noStrike">
                <a:solidFill>
                  <a:srgbClr val="000000"/>
                </a:solidFill>
                <a:effectLst/>
                <a:uFillTx/>
                <a:latin typeface="Arial"/>
              </a:rPr>
              <a:t>szacunku, </a:t>
            </a:r>
            <a:r>
              <a:rPr lang="pl-PL" sz="2000" b="0" u="none" strike="noStrike">
                <a:solidFill>
                  <a:srgbClr val="000000"/>
                </a:solidFill>
                <a:effectLst/>
                <a:uFillTx/>
                <a:latin typeface="Arial"/>
              </a:rPr>
              <a:t>natomiast </a:t>
            </a:r>
            <a:r>
              <a:rPr lang="pl-PL" sz="2000" b="0" u="none" strike="noStrike">
                <a:solidFill>
                  <a:srgbClr val="000000"/>
                </a:solidFill>
                <a:effectLst/>
                <a:uFillTx/>
                <a:latin typeface="Arial"/>
              </a:rPr>
              <a:t>osoba z </a:t>
            </a:r>
            <a:r>
              <a:rPr lang="pl-PL" sz="2000" b="0" u="none" strike="noStrike">
                <a:solidFill>
                  <a:srgbClr val="000000"/>
                </a:solidFill>
                <a:effectLst/>
                <a:uFillTx/>
                <a:latin typeface="Arial"/>
              </a:rPr>
              <a:t>ADHD </a:t>
            </a:r>
            <a:r>
              <a:rPr lang="pl-PL" sz="2000" b="0" u="none" strike="noStrike">
                <a:solidFill>
                  <a:srgbClr val="000000"/>
                </a:solidFill>
                <a:effectLst/>
                <a:uFillTx/>
                <a:latin typeface="Arial"/>
              </a:rPr>
              <a:t>może </a:t>
            </a:r>
            <a:r>
              <a:rPr lang="pl-PL" sz="2000" b="0" u="none" strike="noStrike">
                <a:solidFill>
                  <a:srgbClr val="000000"/>
                </a:solidFill>
                <a:effectLst/>
                <a:uFillTx/>
                <a:latin typeface="Arial"/>
              </a:rPr>
              <a:t>doświadcza</a:t>
            </a:r>
            <a:r>
              <a:rPr lang="pl-PL" sz="2000" b="0" u="none" strike="noStrike">
                <a:solidFill>
                  <a:srgbClr val="000000"/>
                </a:solidFill>
                <a:effectLst/>
                <a:uFillTx/>
                <a:latin typeface="Arial"/>
              </a:rPr>
              <a:t>ć stałej </a:t>
            </a:r>
            <a:r>
              <a:rPr lang="pl-PL" sz="2000" b="0" u="none" strike="noStrike">
                <a:solidFill>
                  <a:srgbClr val="000000"/>
                </a:solidFill>
                <a:effectLst/>
                <a:uFillTx/>
                <a:latin typeface="Arial"/>
              </a:rPr>
              <a:t>krytyki i </a:t>
            </a:r>
            <a:r>
              <a:rPr lang="pl-PL" sz="2000" b="0" u="none" strike="noStrike">
                <a:solidFill>
                  <a:srgbClr val="000000"/>
                </a:solidFill>
                <a:effectLst/>
                <a:uFillTx/>
                <a:latin typeface="Arial"/>
              </a:rPr>
              <a:t>kontroli. </a:t>
            </a:r>
            <a:r>
              <a:rPr lang="pl-PL" sz="2000" b="0" u="none" strike="noStrike">
                <a:solidFill>
                  <a:srgbClr val="000000"/>
                </a:solidFill>
                <a:effectLst/>
                <a:uFillTx/>
                <a:latin typeface="Arial"/>
              </a:rPr>
              <a:t>Powstaje </a:t>
            </a:r>
            <a:r>
              <a:rPr lang="pl-PL" sz="2000" b="0" u="none" strike="noStrike">
                <a:solidFill>
                  <a:srgbClr val="000000"/>
                </a:solidFill>
                <a:effectLst/>
                <a:uFillTx/>
                <a:latin typeface="Arial"/>
              </a:rPr>
              <a:t>sprzężenie </a:t>
            </a:r>
            <a:r>
              <a:rPr lang="pl-PL" sz="2000" b="0" u="none" strike="noStrike">
                <a:solidFill>
                  <a:srgbClr val="000000"/>
                </a:solidFill>
                <a:effectLst/>
                <a:uFillTx/>
                <a:latin typeface="Arial"/>
              </a:rPr>
              <a:t>zwrotne: </a:t>
            </a:r>
            <a:r>
              <a:rPr lang="pl-PL" sz="2000" b="0" u="none" strike="noStrike">
                <a:solidFill>
                  <a:srgbClr val="000000"/>
                </a:solidFill>
                <a:effectLst/>
                <a:uFillTx/>
                <a:latin typeface="Arial"/>
              </a:rPr>
              <a:t>objaw </a:t>
            </a:r>
            <a:r>
              <a:rPr lang="pl-PL" sz="2000" b="0" u="none" strike="noStrike">
                <a:solidFill>
                  <a:srgbClr val="000000"/>
                </a:solidFill>
                <a:effectLst/>
                <a:uFillTx/>
                <a:latin typeface="Arial"/>
              </a:rPr>
              <a:t>prowadzi </a:t>
            </a:r>
            <a:r>
              <a:rPr lang="pl-PL" sz="2000" b="0" u="none" strike="noStrike">
                <a:solidFill>
                  <a:srgbClr val="000000"/>
                </a:solidFill>
                <a:effectLst/>
                <a:uFillTx/>
                <a:latin typeface="Arial"/>
              </a:rPr>
              <a:t>do </a:t>
            </a:r>
            <a:r>
              <a:rPr lang="pl-PL" sz="2000" b="0" u="none" strike="noStrike">
                <a:solidFill>
                  <a:srgbClr val="000000"/>
                </a:solidFill>
                <a:effectLst/>
                <a:uFillTx/>
                <a:latin typeface="Arial"/>
              </a:rPr>
              <a:t>niewykonan</a:t>
            </a:r>
            <a:r>
              <a:rPr lang="pl-PL" sz="2000" b="0" u="none" strike="noStrike">
                <a:solidFill>
                  <a:srgbClr val="000000"/>
                </a:solidFill>
                <a:effectLst/>
                <a:uFillTx/>
                <a:latin typeface="Arial"/>
              </a:rPr>
              <a:t>ego </a:t>
            </a:r>
            <a:r>
              <a:rPr lang="pl-PL" sz="2000" b="0" u="none" strike="noStrike">
                <a:solidFill>
                  <a:srgbClr val="000000"/>
                </a:solidFill>
                <a:effectLst/>
                <a:uFillTx/>
                <a:latin typeface="Arial"/>
              </a:rPr>
              <a:t>zobowiązan</a:t>
            </a:r>
            <a:r>
              <a:rPr lang="pl-PL" sz="2000" b="0" u="none" strike="noStrike">
                <a:solidFill>
                  <a:srgbClr val="000000"/>
                </a:solidFill>
                <a:effectLst/>
                <a:uFillTx/>
                <a:latin typeface="Arial"/>
              </a:rPr>
              <a:t>ia, to </a:t>
            </a:r>
            <a:r>
              <a:rPr lang="pl-PL" sz="2000" b="0" u="none" strike="noStrike">
                <a:solidFill>
                  <a:srgbClr val="000000"/>
                </a:solidFill>
                <a:effectLst/>
                <a:uFillTx/>
                <a:latin typeface="Arial"/>
              </a:rPr>
              <a:t>uruchamia </a:t>
            </a:r>
            <a:r>
              <a:rPr lang="pl-PL" sz="2000" b="0" u="none" strike="noStrike">
                <a:solidFill>
                  <a:srgbClr val="000000"/>
                </a:solidFill>
                <a:effectLst/>
                <a:uFillTx/>
                <a:latin typeface="Arial"/>
              </a:rPr>
              <a:t>krytykę, </a:t>
            </a:r>
            <a:r>
              <a:rPr lang="pl-PL" sz="2000" b="0" u="none" strike="noStrike">
                <a:solidFill>
                  <a:srgbClr val="000000"/>
                </a:solidFill>
                <a:effectLst/>
                <a:uFillTx/>
                <a:latin typeface="Arial"/>
              </a:rPr>
              <a:t>następnie </a:t>
            </a:r>
            <a:r>
              <a:rPr lang="pl-PL" sz="2000" b="0" u="none" strike="noStrike">
                <a:solidFill>
                  <a:srgbClr val="000000"/>
                </a:solidFill>
                <a:effectLst/>
                <a:uFillTx/>
                <a:latin typeface="Arial"/>
              </a:rPr>
              <a:t>obronę lub </a:t>
            </a:r>
            <a:r>
              <a:rPr lang="pl-PL" sz="2000" b="0" u="none" strike="noStrike">
                <a:solidFill>
                  <a:srgbClr val="000000"/>
                </a:solidFill>
                <a:effectLst/>
                <a:uFillTx/>
                <a:latin typeface="Arial"/>
              </a:rPr>
              <a:t>wycofanie, </a:t>
            </a:r>
            <a:r>
              <a:rPr lang="pl-PL" sz="2000" b="0" u="none" strike="noStrike">
                <a:solidFill>
                  <a:srgbClr val="000000"/>
                </a:solidFill>
                <a:effectLst/>
                <a:uFillTx/>
                <a:latin typeface="Arial"/>
              </a:rPr>
              <a:t>a konflikt </a:t>
            </a:r>
            <a:r>
              <a:rPr lang="pl-PL" sz="2000" b="0" u="none" strike="noStrike">
                <a:solidFill>
                  <a:srgbClr val="000000"/>
                </a:solidFill>
                <a:effectLst/>
                <a:uFillTx/>
                <a:latin typeface="Arial"/>
              </a:rPr>
              <a:t>dodatkowo </a:t>
            </a:r>
            <a:r>
              <a:rPr lang="pl-PL" sz="2000" b="0" u="none" strike="noStrike">
                <a:solidFill>
                  <a:srgbClr val="000000"/>
                </a:solidFill>
                <a:effectLst/>
                <a:uFillTx/>
                <a:latin typeface="Arial"/>
              </a:rPr>
              <a:t>pogarsza </a:t>
            </a:r>
            <a:r>
              <a:rPr lang="pl-PL" sz="2000" b="0" u="none" strike="noStrike">
                <a:solidFill>
                  <a:srgbClr val="000000"/>
                </a:solidFill>
                <a:effectLst/>
                <a:uFillTx/>
                <a:latin typeface="Arial"/>
              </a:rPr>
              <a:t>samoregula</a:t>
            </a:r>
            <a:r>
              <a:rPr lang="pl-PL" sz="2000" b="0" u="none" strike="noStrike">
                <a:solidFill>
                  <a:srgbClr val="000000"/>
                </a:solidFill>
                <a:effectLst/>
                <a:uFillTx/>
                <a:latin typeface="Arial"/>
              </a:rPr>
              <a:t>cję. W </a:t>
            </a:r>
            <a:r>
              <a:rPr lang="pl-PL" sz="2000" b="0" u="none" strike="noStrike">
                <a:solidFill>
                  <a:srgbClr val="000000"/>
                </a:solidFill>
                <a:effectLst/>
                <a:uFillTx/>
                <a:latin typeface="Arial"/>
              </a:rPr>
              <a:t>części par </a:t>
            </a:r>
            <a:r>
              <a:rPr lang="pl-PL" sz="2000" b="0" u="none" strike="noStrike">
                <a:solidFill>
                  <a:srgbClr val="000000"/>
                </a:solidFill>
                <a:effectLst/>
                <a:uFillTx/>
                <a:latin typeface="Arial"/>
              </a:rPr>
              <a:t>partner bez </a:t>
            </a:r>
            <a:r>
              <a:rPr lang="pl-PL" sz="2000" b="0" u="none" strike="noStrike">
                <a:solidFill>
                  <a:srgbClr val="000000"/>
                </a:solidFill>
                <a:effectLst/>
                <a:uFillTx/>
                <a:latin typeface="Arial"/>
              </a:rPr>
              <a:t>ADHD </a:t>
            </a:r>
            <a:r>
              <a:rPr lang="pl-PL" sz="2000" b="0" u="none" strike="noStrike">
                <a:solidFill>
                  <a:srgbClr val="000000"/>
                </a:solidFill>
                <a:effectLst/>
                <a:uFillTx/>
                <a:latin typeface="Arial"/>
              </a:rPr>
              <a:t>przejmuje </a:t>
            </a:r>
            <a:r>
              <a:rPr lang="pl-PL" sz="2000" b="0" u="none" strike="noStrike">
                <a:solidFill>
                  <a:srgbClr val="000000"/>
                </a:solidFill>
                <a:effectLst/>
                <a:uFillTx/>
                <a:latin typeface="Arial"/>
              </a:rPr>
              <a:t>planowanie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przypomina</a:t>
            </a:r>
            <a:r>
              <a:rPr lang="pl-PL" sz="2000" b="0" u="none" strike="noStrike">
                <a:solidFill>
                  <a:srgbClr val="000000"/>
                </a:solidFill>
                <a:effectLst/>
                <a:uFillTx/>
                <a:latin typeface="Arial"/>
              </a:rPr>
              <a:t>nie, </a:t>
            </a:r>
            <a:r>
              <a:rPr lang="pl-PL" sz="2000" b="0" u="none" strike="noStrike">
                <a:solidFill>
                  <a:srgbClr val="000000"/>
                </a:solidFill>
                <a:effectLst/>
                <a:uFillTx/>
                <a:latin typeface="Arial"/>
              </a:rPr>
              <a:t>kontrolowa</a:t>
            </a:r>
            <a:r>
              <a:rPr lang="pl-PL" sz="2000" b="0" u="none" strike="noStrike">
                <a:solidFill>
                  <a:srgbClr val="000000"/>
                </a:solidFill>
                <a:effectLst/>
                <a:uFillTx/>
                <a:latin typeface="Arial"/>
              </a:rPr>
              <a:t>nie </a:t>
            </a:r>
            <a:r>
              <a:rPr lang="pl-PL" sz="2000" b="0" u="none" strike="noStrike">
                <a:solidFill>
                  <a:srgbClr val="000000"/>
                </a:solidFill>
                <a:effectLst/>
                <a:uFillTx/>
                <a:latin typeface="Arial"/>
              </a:rPr>
              <a:t>terminów i </a:t>
            </a:r>
            <a:r>
              <a:rPr lang="pl-PL" sz="2000" b="0" u="none" strike="noStrike">
                <a:solidFill>
                  <a:srgbClr val="000000"/>
                </a:solidFill>
                <a:effectLst/>
                <a:uFillTx/>
                <a:latin typeface="Arial"/>
              </a:rPr>
              <a:t>finanse, co </a:t>
            </a:r>
            <a:r>
              <a:rPr lang="pl-PL" sz="2000" b="0" u="none" strike="noStrike">
                <a:solidFill>
                  <a:srgbClr val="000000"/>
                </a:solidFill>
                <a:effectLst/>
                <a:uFillTx/>
                <a:latin typeface="Arial"/>
              </a:rPr>
              <a:t>tworzy </a:t>
            </a:r>
            <a:r>
              <a:rPr lang="pl-PL" sz="2000" b="0" u="none" strike="noStrike">
                <a:solidFill>
                  <a:srgbClr val="000000"/>
                </a:solidFill>
                <a:effectLst/>
                <a:uFillTx/>
                <a:latin typeface="Arial"/>
              </a:rPr>
              <a:t>asymetrycz</a:t>
            </a:r>
            <a:r>
              <a:rPr lang="pl-PL" sz="2000" b="0" u="none" strike="noStrike">
                <a:solidFill>
                  <a:srgbClr val="000000"/>
                </a:solidFill>
                <a:effectLst/>
                <a:uFillTx/>
                <a:latin typeface="Arial"/>
              </a:rPr>
              <a:t>ny układ </a:t>
            </a:r>
            <a:r>
              <a:rPr lang="pl-PL" sz="2000" b="0" u="none" strike="noStrike">
                <a:solidFill>
                  <a:srgbClr val="000000"/>
                </a:solidFill>
                <a:effectLst/>
                <a:uFillTx/>
                <a:latin typeface="Arial"/>
              </a:rPr>
              <a:t>przypomina</a:t>
            </a:r>
            <a:r>
              <a:rPr lang="pl-PL" sz="2000" b="0" u="none" strike="noStrike">
                <a:solidFill>
                  <a:srgbClr val="000000"/>
                </a:solidFill>
                <a:effectLst/>
                <a:uFillTx/>
                <a:latin typeface="Arial"/>
              </a:rPr>
              <a:t>jący relację </a:t>
            </a:r>
            <a:r>
              <a:rPr lang="pl-PL" sz="2000" b="0" u="none" strike="noStrike">
                <a:solidFill>
                  <a:srgbClr val="000000"/>
                </a:solidFill>
                <a:effectLst/>
                <a:uFillTx/>
                <a:latin typeface="Arial"/>
              </a:rPr>
              <a:t>rodzic–</a:t>
            </a:r>
            <a:r>
              <a:rPr lang="pl-PL" sz="2000" b="0" u="none" strike="noStrike">
                <a:solidFill>
                  <a:srgbClr val="000000"/>
                </a:solidFill>
                <a:effectLst/>
                <a:uFillTx/>
                <a:latin typeface="Arial"/>
              </a:rPr>
              <a:t>dziecko — </a:t>
            </a:r>
            <a:r>
              <a:rPr lang="pl-PL" sz="2000" b="0" u="none" strike="noStrike">
                <a:solidFill>
                  <a:srgbClr val="000000"/>
                </a:solidFill>
                <a:effectLst/>
                <a:uFillTx/>
                <a:latin typeface="Arial"/>
              </a:rPr>
              <a:t>z </a:t>
            </a:r>
            <a:r>
              <a:rPr lang="pl-PL" sz="2000" b="0" u="none" strike="noStrike">
                <a:solidFill>
                  <a:srgbClr val="000000"/>
                </a:solidFill>
                <a:effectLst/>
                <a:uFillTx/>
                <a:latin typeface="Arial"/>
              </a:rPr>
              <a:t>przeciążeni</a:t>
            </a:r>
            <a:r>
              <a:rPr lang="pl-PL" sz="2000" b="0" u="none" strike="noStrike">
                <a:solidFill>
                  <a:srgbClr val="000000"/>
                </a:solidFill>
                <a:effectLst/>
                <a:uFillTx/>
                <a:latin typeface="Arial"/>
              </a:rPr>
              <a:t>em jednej </a:t>
            </a:r>
            <a:r>
              <a:rPr lang="pl-PL" sz="2000" b="0" u="none" strike="noStrike">
                <a:solidFill>
                  <a:srgbClr val="000000"/>
                </a:solidFill>
                <a:effectLst/>
                <a:uFillTx/>
                <a:latin typeface="Arial"/>
              </a:rPr>
              <a:t>strony i </a:t>
            </a:r>
            <a:r>
              <a:rPr lang="pl-PL" sz="2000" b="0" u="none" strike="noStrike">
                <a:solidFill>
                  <a:srgbClr val="000000"/>
                </a:solidFill>
                <a:effectLst/>
                <a:uFillTx/>
                <a:latin typeface="Arial"/>
              </a:rPr>
              <a:t>poczuciem </a:t>
            </a:r>
            <a:r>
              <a:rPr lang="pl-PL" sz="2000" b="0" u="none" strike="noStrike">
                <a:solidFill>
                  <a:srgbClr val="000000"/>
                </a:solidFill>
                <a:effectLst/>
                <a:uFillTx/>
                <a:latin typeface="Arial"/>
              </a:rPr>
              <a:t>infantylizacj</a:t>
            </a:r>
            <a:r>
              <a:rPr lang="pl-PL" sz="2000" b="0" u="none" strike="noStrike">
                <a:solidFill>
                  <a:srgbClr val="000000"/>
                </a:solidFill>
                <a:effectLst/>
                <a:uFillTx/>
                <a:latin typeface="Arial"/>
              </a:rPr>
              <a:t>i drugiej.</a:t>
            </a:r>
            <a:endParaRPr lang="pl-PL" sz="2000" b="0" u="none" strike="noStrike">
              <a:solidFill>
                <a:srgbClr val="000000"/>
              </a:solidFill>
              <a:effectLst/>
              <a:uFillTx/>
              <a:latin typeface="Arial"/>
            </a:endParaRPr>
          </a:p>
        </p:txBody>
      </p:sp>
      <p:sp>
        <p:nvSpPr>
          <p:cNvPr id="466" name="PlaceHolder 3"/>
          <p:cNvSpPr>
            <a:spLocks noGrp="1"/>
          </p:cNvSpPr>
          <p:nvPr>
            <p:ph type="sldNum" idx="2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75B64D1B-591A-4205-8338-AE4DB54BF43F}"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7" name="PlaceHolder 1"/>
          <p:cNvSpPr>
            <a:spLocks noGrp="1"/>
          </p:cNvSpPr>
          <p:nvPr>
            <p:ph type="sldImg"/>
          </p:nvPr>
        </p:nvSpPr>
        <p:spPr>
          <a:xfrm>
            <a:off x="685800" y="1143000"/>
            <a:ext cx="5486040" cy="3085920"/>
          </a:xfrm>
          <a:prstGeom prst="rect">
            <a:avLst/>
          </a:prstGeom>
          <a:ln w="0">
            <a:noFill/>
          </a:ln>
        </p:spPr>
      </p:sp>
      <p:sp>
        <p:nvSpPr>
          <p:cNvPr id="46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Metaanaliza 32 </a:t>
            </a:r>
            <a:r>
              <a:rPr lang="pl-PL" sz="2000" b="0" u="none" strike="noStrike">
                <a:solidFill>
                  <a:srgbClr val="000000"/>
                </a:solidFill>
                <a:effectLst/>
                <a:uFillTx/>
                <a:latin typeface="Arial"/>
              </a:rPr>
              <a:t>badań wykazała, że </a:t>
            </a:r>
            <a:r>
              <a:rPr lang="pl-PL" sz="2000" b="0" u="none" strike="noStrike">
                <a:solidFill>
                  <a:srgbClr val="000000"/>
                </a:solidFill>
                <a:effectLst/>
                <a:uFillTx/>
                <a:latin typeface="Arial"/>
              </a:rPr>
              <a:t>nasilenie objawów </a:t>
            </a:r>
            <a:r>
              <a:rPr lang="pl-PL" sz="2000" b="0" u="none" strike="noStrike">
                <a:solidFill>
                  <a:srgbClr val="000000"/>
                </a:solidFill>
                <a:effectLst/>
                <a:uFillTx/>
                <a:latin typeface="Arial"/>
              </a:rPr>
              <a:t>ADHD u rodziców </a:t>
            </a:r>
            <a:r>
              <a:rPr lang="pl-PL" sz="2000" b="0" u="none" strike="noStrike">
                <a:solidFill>
                  <a:srgbClr val="000000"/>
                </a:solidFill>
                <a:effectLst/>
                <a:uFillTx/>
                <a:latin typeface="Arial"/>
              </a:rPr>
              <a:t>wiązało się z </a:t>
            </a:r>
            <a:r>
              <a:rPr lang="pl-PL" sz="2000" b="0" u="none" strike="noStrike">
                <a:solidFill>
                  <a:srgbClr val="000000"/>
                </a:solidFill>
                <a:effectLst/>
                <a:uFillTx/>
                <a:latin typeface="Arial"/>
              </a:rPr>
              <a:t>większym </a:t>
            </a:r>
            <a:r>
              <a:rPr lang="pl-PL" sz="2000" b="0" u="none" strike="noStrike">
                <a:solidFill>
                  <a:srgbClr val="000000"/>
                </a:solidFill>
                <a:effectLst/>
                <a:uFillTx/>
                <a:latin typeface="Arial"/>
              </a:rPr>
              <a:t>nasileniem </a:t>
            </a:r>
            <a:r>
              <a:rPr lang="pl-PL" sz="2000" b="0" u="none" strike="noStrike">
                <a:solidFill>
                  <a:srgbClr val="000000"/>
                </a:solidFill>
                <a:effectLst/>
                <a:uFillTx/>
                <a:latin typeface="Arial"/>
              </a:rPr>
              <a:t>rodzicielstwa </a:t>
            </a:r>
            <a:r>
              <a:rPr lang="pl-PL" sz="2000" b="0" u="none" strike="noStrike">
                <a:solidFill>
                  <a:srgbClr val="000000"/>
                </a:solidFill>
                <a:effectLst/>
                <a:uFillTx/>
                <a:latin typeface="Arial"/>
              </a:rPr>
              <a:t>surowego oraz </a:t>
            </a:r>
            <a:r>
              <a:rPr lang="pl-PL" sz="2000" b="0" u="none" strike="noStrike">
                <a:solidFill>
                  <a:srgbClr val="000000"/>
                </a:solidFill>
                <a:effectLst/>
                <a:uFillTx/>
                <a:latin typeface="Arial"/>
              </a:rPr>
              <a:t>niekonsekwentnego </a:t>
            </a:r>
            <a:r>
              <a:rPr lang="pl-PL" sz="2000" b="0" u="none" strike="noStrike">
                <a:solidFill>
                  <a:srgbClr val="000000"/>
                </a:solidFill>
                <a:effectLst/>
                <a:uFillTx/>
                <a:latin typeface="Arial"/>
              </a:rPr>
              <a:t>(Park et al., 2017). </a:t>
            </a:r>
            <a:r>
              <a:rPr lang="pl-PL" sz="2000" b="0" u="none" strike="noStrike">
                <a:solidFill>
                  <a:srgbClr val="000000"/>
                </a:solidFill>
                <a:effectLst/>
                <a:uFillTx/>
                <a:latin typeface="Arial"/>
              </a:rPr>
              <a:t>Efekty były małe, </a:t>
            </a:r>
            <a:r>
              <a:rPr lang="pl-PL" sz="2000" b="0" u="none" strike="noStrike">
                <a:solidFill>
                  <a:srgbClr val="000000"/>
                </a:solidFill>
                <a:effectLst/>
                <a:uFillTx/>
                <a:latin typeface="Arial"/>
              </a:rPr>
              <a:t>lecz mogą </a:t>
            </a:r>
            <a:r>
              <a:rPr lang="pl-PL" sz="2000" b="0" u="none" strike="noStrike">
                <a:solidFill>
                  <a:srgbClr val="000000"/>
                </a:solidFill>
                <a:effectLst/>
                <a:uFillTx/>
                <a:latin typeface="Arial"/>
              </a:rPr>
              <a:t>kumulować się w </a:t>
            </a:r>
            <a:r>
              <a:rPr lang="pl-PL" sz="2000" b="0" u="none" strike="noStrike">
                <a:solidFill>
                  <a:srgbClr val="000000"/>
                </a:solidFill>
                <a:effectLst/>
                <a:uFillTx/>
                <a:latin typeface="Arial"/>
              </a:rPr>
              <a:t>codziennym </a:t>
            </a:r>
            <a:r>
              <a:rPr lang="pl-PL" sz="2000" b="0" u="none" strike="noStrike">
                <a:solidFill>
                  <a:srgbClr val="000000"/>
                </a:solidFill>
                <a:effectLst/>
                <a:uFillTx/>
                <a:latin typeface="Arial"/>
              </a:rPr>
              <a:t>funkcjonowaniu. </a:t>
            </a:r>
            <a:r>
              <a:rPr lang="pl-PL" sz="2000" b="0" u="none" strike="noStrike">
                <a:solidFill>
                  <a:srgbClr val="000000"/>
                </a:solidFill>
                <a:effectLst/>
                <a:uFillTx/>
                <a:latin typeface="Arial"/>
              </a:rPr>
              <a:t>Rodzice dzieci z </a:t>
            </a:r>
            <a:r>
              <a:rPr lang="pl-PL" sz="2000" b="0" u="none" strike="noStrike">
                <a:solidFill>
                  <a:srgbClr val="000000"/>
                </a:solidFill>
                <a:effectLst/>
                <a:uFillTx/>
                <a:latin typeface="Arial"/>
              </a:rPr>
              <a:t>ADHD </a:t>
            </a:r>
            <a:r>
              <a:rPr lang="pl-PL" sz="2000" b="0" u="none" strike="noStrike">
                <a:solidFill>
                  <a:srgbClr val="000000"/>
                </a:solidFill>
                <a:effectLst/>
                <a:uFillTx/>
                <a:latin typeface="Arial"/>
              </a:rPr>
              <a:t>doświadczają </a:t>
            </a:r>
            <a:r>
              <a:rPr lang="pl-PL" sz="2000" b="0" u="none" strike="noStrike">
                <a:solidFill>
                  <a:srgbClr val="000000"/>
                </a:solidFill>
                <a:effectLst/>
                <a:uFillTx/>
                <a:latin typeface="Arial"/>
              </a:rPr>
              <a:t>przeciętnie </a:t>
            </a:r>
            <a:r>
              <a:rPr lang="pl-PL" sz="2000" b="0" u="none" strike="noStrike">
                <a:solidFill>
                  <a:srgbClr val="000000"/>
                </a:solidFill>
                <a:effectLst/>
                <a:uFillTx/>
                <a:latin typeface="Arial"/>
              </a:rPr>
              <a:t>większego stresu </a:t>
            </a:r>
            <a:r>
              <a:rPr lang="pl-PL" sz="2000" b="0" u="none" strike="noStrike">
                <a:solidFill>
                  <a:srgbClr val="000000"/>
                </a:solidFill>
                <a:effectLst/>
                <a:uFillTx/>
                <a:latin typeface="Arial"/>
              </a:rPr>
              <a:t>rodzicielskiego, co </a:t>
            </a:r>
            <a:r>
              <a:rPr lang="pl-PL" sz="2000" b="0" u="none" strike="noStrike">
                <a:solidFill>
                  <a:srgbClr val="000000"/>
                </a:solidFill>
                <a:effectLst/>
                <a:uFillTx/>
                <a:latin typeface="Arial"/>
              </a:rPr>
              <a:t>może prowadzić do </a:t>
            </a:r>
            <a:r>
              <a:rPr lang="pl-PL" sz="2000" b="0" u="none" strike="noStrike">
                <a:solidFill>
                  <a:srgbClr val="000000"/>
                </a:solidFill>
                <a:effectLst/>
                <a:uFillTx/>
                <a:latin typeface="Arial"/>
              </a:rPr>
              <a:t>niedoboru snu, </a:t>
            </a:r>
            <a:r>
              <a:rPr lang="pl-PL" sz="2000" b="0" u="none" strike="noStrike">
                <a:solidFill>
                  <a:srgbClr val="000000"/>
                </a:solidFill>
                <a:effectLst/>
                <a:uFillTx/>
                <a:latin typeface="Arial"/>
              </a:rPr>
              <a:t>ograniczenia pracy </a:t>
            </a:r>
            <a:r>
              <a:rPr lang="pl-PL" sz="2000" b="0" u="none" strike="noStrike">
                <a:solidFill>
                  <a:srgbClr val="000000"/>
                </a:solidFill>
                <a:effectLst/>
                <a:uFillTx/>
                <a:latin typeface="Arial"/>
              </a:rPr>
              <a:t>zawodowej i </a:t>
            </a:r>
            <a:r>
              <a:rPr lang="pl-PL" sz="2000" b="0" u="none" strike="noStrike">
                <a:solidFill>
                  <a:srgbClr val="000000"/>
                </a:solidFill>
                <a:effectLst/>
                <a:uFillTx/>
                <a:latin typeface="Arial"/>
              </a:rPr>
              <a:t>mniejszej </a:t>
            </a:r>
            <a:r>
              <a:rPr lang="pl-PL" sz="2000" b="0" u="none" strike="noStrike">
                <a:solidFill>
                  <a:srgbClr val="000000"/>
                </a:solidFill>
                <a:effectLst/>
                <a:uFillTx/>
                <a:latin typeface="Arial"/>
              </a:rPr>
              <a:t>dostępności dla </a:t>
            </a:r>
            <a:r>
              <a:rPr lang="pl-PL" sz="2000" b="0" u="none" strike="noStrike">
                <a:solidFill>
                  <a:srgbClr val="000000"/>
                </a:solidFill>
                <a:effectLst/>
                <a:uFillTx/>
                <a:latin typeface="Arial"/>
              </a:rPr>
              <a:t>rodzeństwa. ADHD </a:t>
            </a:r>
            <a:r>
              <a:rPr lang="pl-PL" sz="2000" b="0" u="none" strike="noStrike">
                <a:solidFill>
                  <a:srgbClr val="000000"/>
                </a:solidFill>
                <a:effectLst/>
                <a:uFillTx/>
                <a:latin typeface="Arial"/>
              </a:rPr>
              <a:t>może generować </a:t>
            </a:r>
            <a:r>
              <a:rPr lang="pl-PL" sz="2000" b="0" u="none" strike="noStrike">
                <a:solidFill>
                  <a:srgbClr val="000000"/>
                </a:solidFill>
                <a:effectLst/>
                <a:uFillTx/>
                <a:latin typeface="Arial"/>
              </a:rPr>
              <a:t>powtarzalne straty </a:t>
            </a:r>
            <a:r>
              <a:rPr lang="pl-PL" sz="2000" b="0" u="none" strike="noStrike">
                <a:solidFill>
                  <a:srgbClr val="000000"/>
                </a:solidFill>
                <a:effectLst/>
                <a:uFillTx/>
                <a:latin typeface="Arial"/>
              </a:rPr>
              <a:t>finansowe poprzez </a:t>
            </a:r>
            <a:r>
              <a:rPr lang="pl-PL" sz="2000" b="0" u="none" strike="noStrike">
                <a:solidFill>
                  <a:srgbClr val="000000"/>
                </a:solidFill>
                <a:effectLst/>
                <a:uFillTx/>
                <a:latin typeface="Arial"/>
              </a:rPr>
              <a:t>impulsywne zakupy, </a:t>
            </a:r>
            <a:r>
              <a:rPr lang="pl-PL" sz="2000" b="0" u="none" strike="noStrike">
                <a:solidFill>
                  <a:srgbClr val="000000"/>
                </a:solidFill>
                <a:effectLst/>
                <a:uFillTx/>
                <a:latin typeface="Arial"/>
              </a:rPr>
              <a:t>opłaty za </a:t>
            </a:r>
            <a:r>
              <a:rPr lang="pl-PL" sz="2000" b="0" u="none" strike="noStrike">
                <a:solidFill>
                  <a:srgbClr val="000000"/>
                </a:solidFill>
                <a:effectLst/>
                <a:uFillTx/>
                <a:latin typeface="Arial"/>
              </a:rPr>
              <a:t>nieterminowe </a:t>
            </a:r>
            <a:r>
              <a:rPr lang="pl-PL" sz="2000" b="0" u="none" strike="noStrike">
                <a:solidFill>
                  <a:srgbClr val="000000"/>
                </a:solidFill>
                <a:effectLst/>
                <a:uFillTx/>
                <a:latin typeface="Arial"/>
              </a:rPr>
              <a:t>rachunki, mandaty i </a:t>
            </a:r>
            <a:r>
              <a:rPr lang="pl-PL" sz="2000" b="0" u="none" strike="noStrike">
                <a:solidFill>
                  <a:srgbClr val="000000"/>
                </a:solidFill>
                <a:effectLst/>
                <a:uFillTx/>
                <a:latin typeface="Arial"/>
              </a:rPr>
              <a:t>niestabilność </a:t>
            </a:r>
            <a:r>
              <a:rPr lang="pl-PL" sz="2000" b="0" u="none" strike="noStrike">
                <a:solidFill>
                  <a:srgbClr val="000000"/>
                </a:solidFill>
                <a:effectLst/>
                <a:uFillTx/>
                <a:latin typeface="Arial"/>
              </a:rPr>
              <a:t>zatrudnienia — </a:t>
            </a:r>
            <a:r>
              <a:rPr lang="pl-PL" sz="2000" b="0" u="none" strike="noStrike">
                <a:solidFill>
                  <a:srgbClr val="000000"/>
                </a:solidFill>
                <a:effectLst/>
                <a:uFillTx/>
                <a:latin typeface="Arial"/>
              </a:rPr>
              <a:t>zjawisko bywa </a:t>
            </a:r>
            <a:r>
              <a:rPr lang="pl-PL" sz="2000" b="0" u="none" strike="noStrike">
                <a:solidFill>
                  <a:srgbClr val="000000"/>
                </a:solidFill>
                <a:effectLst/>
                <a:uFillTx/>
                <a:latin typeface="Arial"/>
              </a:rPr>
              <a:t>określane jako </a:t>
            </a:r>
            <a:r>
              <a:rPr lang="pl-PL" sz="2000" b="0" u="none" strike="noStrike">
                <a:solidFill>
                  <a:srgbClr val="000000"/>
                </a:solidFill>
                <a:effectLst/>
                <a:uFillTx/>
                <a:latin typeface="Arial"/>
              </a:rPr>
              <a:t>„podatek </a:t>
            </a:r>
            <a:r>
              <a:rPr lang="pl-PL" sz="2000" b="0" u="none" strike="noStrike">
                <a:solidFill>
                  <a:srgbClr val="000000"/>
                </a:solidFill>
                <a:effectLst/>
                <a:uFillTx/>
                <a:latin typeface="Arial"/>
              </a:rPr>
              <a:t>wykonawczy </a:t>
            </a:r>
            <a:r>
              <a:rPr lang="pl-PL" sz="2000" b="0" u="none" strike="noStrike">
                <a:solidFill>
                  <a:srgbClr val="000000"/>
                </a:solidFill>
                <a:effectLst/>
                <a:uFillTx/>
                <a:latin typeface="Arial"/>
              </a:rPr>
              <a:t>ADHD”: koszt </a:t>
            </a:r>
            <a:r>
              <a:rPr lang="pl-PL" sz="2000" b="0" u="none" strike="noStrike">
                <a:solidFill>
                  <a:srgbClr val="000000"/>
                </a:solidFill>
                <a:effectLst/>
                <a:uFillTx/>
                <a:latin typeface="Arial"/>
              </a:rPr>
              <a:t>wynikający nie z </a:t>
            </a:r>
            <a:r>
              <a:rPr lang="pl-PL" sz="2000" b="0" u="none" strike="noStrike">
                <a:solidFill>
                  <a:srgbClr val="000000"/>
                </a:solidFill>
                <a:effectLst/>
                <a:uFillTx/>
                <a:latin typeface="Arial"/>
              </a:rPr>
              <a:t>braku wiedzy, ale z </a:t>
            </a:r>
            <a:r>
              <a:rPr lang="pl-PL" sz="2000" b="0" u="none" strike="noStrike">
                <a:solidFill>
                  <a:srgbClr val="000000"/>
                </a:solidFill>
                <a:effectLst/>
                <a:uFillTx/>
                <a:latin typeface="Arial"/>
              </a:rPr>
              <a:t>trudności w </a:t>
            </a:r>
            <a:r>
              <a:rPr lang="pl-PL" sz="2000" b="0" u="none" strike="noStrike">
                <a:solidFill>
                  <a:srgbClr val="000000"/>
                </a:solidFill>
                <a:effectLst/>
                <a:uFillTx/>
                <a:latin typeface="Arial"/>
              </a:rPr>
              <a:t>regularnym </a:t>
            </a:r>
            <a:r>
              <a:rPr lang="pl-PL" sz="2000" b="0" u="none" strike="noStrike">
                <a:solidFill>
                  <a:srgbClr val="000000"/>
                </a:solidFill>
                <a:effectLst/>
                <a:uFillTx/>
                <a:latin typeface="Arial"/>
              </a:rPr>
              <a:t>przekładaniu </a:t>
            </a:r>
            <a:r>
              <a:rPr lang="pl-PL" sz="2000" b="0" u="none" strike="noStrike">
                <a:solidFill>
                  <a:srgbClr val="000000"/>
                </a:solidFill>
                <a:effectLst/>
                <a:uFillTx/>
                <a:latin typeface="Arial"/>
              </a:rPr>
              <a:t>intencji na działanie.</a:t>
            </a:r>
            <a:endParaRPr lang="pl-PL" sz="2000" b="0" u="none" strike="noStrike">
              <a:solidFill>
                <a:srgbClr val="000000"/>
              </a:solidFill>
              <a:effectLst/>
              <a:uFillTx/>
              <a:latin typeface="Arial"/>
            </a:endParaRPr>
          </a:p>
        </p:txBody>
      </p:sp>
      <p:sp>
        <p:nvSpPr>
          <p:cNvPr id="469" name="PlaceHolder 3"/>
          <p:cNvSpPr>
            <a:spLocks noGrp="1"/>
          </p:cNvSpPr>
          <p:nvPr>
            <p:ph type="sldNum" idx="2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ED499BEB-BF55-42B4-A69D-CB6BDC1BCDDD}"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0" name="PlaceHolder 1"/>
          <p:cNvSpPr>
            <a:spLocks noGrp="1"/>
          </p:cNvSpPr>
          <p:nvPr>
            <p:ph type="sldImg"/>
          </p:nvPr>
        </p:nvSpPr>
        <p:spPr>
          <a:xfrm>
            <a:off x="685800" y="1143000"/>
            <a:ext cx="5486040" cy="3085920"/>
          </a:xfrm>
          <a:prstGeom prst="rect">
            <a:avLst/>
          </a:prstGeom>
          <a:ln w="0">
            <a:noFill/>
          </a:ln>
        </p:spPr>
      </p:sp>
      <p:sp>
        <p:nvSpPr>
          <p:cNvPr id="47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Koszty ADHD obejmują wydatki bezpośrednie (ochrona zdrowia, diagnostyka, farmakoterapia, świadczenia edukacyjne) i pośrednie (utracona produktywność, absencja, bezrobocie, czas opiekunów, wypadki, wymiar sprawiedliwości). W analizie dotyczącej dorosłych w USA nadwyżkowe koszty społeczne ADHD w 2018 roku oszacowano na około 122,8 mld USD, czyli około 14 092 USD na jedną dorosłą osobę z ADHD. W starszym oszacowaniu obejmującym dzieci, dorosłych i rodziny roczny koszt wynosił 143–266 mld USD (Doshi et al., 2012). Dla Polski nie istnieje obecnie porównywalne pełne oszacowanie, a mechaniczne przeliczenie kosztów amerykańskich byłoby niepoprawne z powodu różnic systemowych. Znaczna część kosztów pozostaje poza budżetem psychiatrii — ukryta w edukacji, produktywności, świadczeniach i wypadkach.</a:t>
            </a:r>
            <a:endParaRPr lang="pl-PL" sz="2000" b="0" u="none" strike="noStrike">
              <a:solidFill>
                <a:srgbClr val="000000"/>
              </a:solidFill>
              <a:effectLst/>
              <a:uFillTx/>
              <a:latin typeface="Arial"/>
            </a:endParaRPr>
          </a:p>
        </p:txBody>
      </p:sp>
      <p:sp>
        <p:nvSpPr>
          <p:cNvPr id="472" name="PlaceHolder 3"/>
          <p:cNvSpPr>
            <a:spLocks noGrp="1"/>
          </p:cNvSpPr>
          <p:nvPr>
            <p:ph type="sldNum" idx="2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023A74D7-8018-40F8-BC0D-7F6DF9F09167}"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3" name="PlaceHolder 1"/>
          <p:cNvSpPr>
            <a:spLocks noGrp="1"/>
          </p:cNvSpPr>
          <p:nvPr>
            <p:ph type="sldImg"/>
          </p:nvPr>
        </p:nvSpPr>
        <p:spPr>
          <a:xfrm>
            <a:off x="685800" y="1143000"/>
            <a:ext cx="5486040" cy="3085920"/>
          </a:xfrm>
          <a:prstGeom prst="rect">
            <a:avLst/>
          </a:prstGeom>
          <a:ln w="0">
            <a:noFill/>
          </a:ln>
        </p:spPr>
      </p:sp>
      <p:sp>
        <p:nvSpPr>
          <p:cNvPr id="47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Ta metaanaliza syntetyzuje cały raport w jednym wykresie. Wszystkie kluczowe obszary funkcjonowania — relacje, zatrudnienie, edukacja, dochody, samoocena, jakość życia i zdrowie psychiczne — wykazują efekty umiarkowane do dużych na niekorzyść osób z ADHD, z największym efektem dla ogólnego obciążenia zdrowia psychicznego (d = -0,81). To pokazuje, że konsekwencje ADHD są systemowe, a nie ograniczone do jednej domeny — co uzasadnia wielomodalne podejście terapeutyczne omawiane w dalszej części wystąpienia.</a:t>
            </a:r>
            <a:endParaRPr lang="pl-PL" sz="2000" b="0" u="none" strike="noStrike">
              <a:solidFill>
                <a:srgbClr val="000000"/>
              </a:solidFill>
              <a:effectLst/>
              <a:uFillTx/>
              <a:latin typeface="Arial"/>
            </a:endParaRPr>
          </a:p>
        </p:txBody>
      </p:sp>
      <p:sp>
        <p:nvSpPr>
          <p:cNvPr id="475" name="PlaceHolder 3"/>
          <p:cNvSpPr>
            <a:spLocks noGrp="1"/>
          </p:cNvSpPr>
          <p:nvPr>
            <p:ph type="sldNum" idx="2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3269B9A0-31CE-4D9C-86CD-CBCB3CA0ABC1}"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6" name="PlaceHolder 1"/>
          <p:cNvSpPr>
            <a:spLocks noGrp="1"/>
          </p:cNvSpPr>
          <p:nvPr>
            <p:ph type="sldImg"/>
          </p:nvPr>
        </p:nvSpPr>
        <p:spPr>
          <a:xfrm>
            <a:off x="685800" y="1143000"/>
            <a:ext cx="5486040" cy="3085920"/>
          </a:xfrm>
          <a:prstGeom prst="rect">
            <a:avLst/>
          </a:prstGeom>
          <a:ln w="0">
            <a:noFill/>
          </a:ln>
        </p:spPr>
      </p:sp>
      <p:sp>
        <p:nvSpPr>
          <p:cNvPr id="47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Op</a:t>
            </a:r>
            <a:r>
              <a:rPr lang="pl-PL" sz="2000" b="0" u="none" strike="noStrike">
                <a:solidFill>
                  <a:srgbClr val="000000"/>
                </a:solidFill>
                <a:effectLst/>
                <a:uFillTx/>
                <a:latin typeface="Arial"/>
              </a:rPr>
              <a:t>ty</a:t>
            </a:r>
            <a:r>
              <a:rPr lang="pl-PL" sz="2000" b="0" u="none" strike="noStrike">
                <a:solidFill>
                  <a:srgbClr val="000000"/>
                </a:solidFill>
                <a:effectLst/>
                <a:uFillTx/>
                <a:latin typeface="Arial"/>
              </a:rPr>
              <a:t>ma</a:t>
            </a:r>
            <a:r>
              <a:rPr lang="pl-PL" sz="2000" b="0" u="none" strike="noStrike">
                <a:solidFill>
                  <a:srgbClr val="000000"/>
                </a:solidFill>
                <a:effectLst/>
                <a:uFillTx/>
                <a:latin typeface="Arial"/>
              </a:rPr>
              <a:t>lny </a:t>
            </a:r>
            <a:r>
              <a:rPr lang="pl-PL" sz="2000" b="0" u="none" strike="noStrike">
                <a:solidFill>
                  <a:srgbClr val="000000"/>
                </a:solidFill>
                <a:effectLst/>
                <a:uFillTx/>
                <a:latin typeface="Arial"/>
              </a:rPr>
              <a:t>mo</a:t>
            </a:r>
            <a:r>
              <a:rPr lang="pl-PL" sz="2000" b="0" u="none" strike="noStrike">
                <a:solidFill>
                  <a:srgbClr val="000000"/>
                </a:solidFill>
                <a:effectLst/>
                <a:uFillTx/>
                <a:latin typeface="Arial"/>
              </a:rPr>
              <a:t>del </a:t>
            </a:r>
            <a:r>
              <a:rPr lang="pl-PL" sz="2000" b="0" u="none" strike="noStrike">
                <a:solidFill>
                  <a:srgbClr val="000000"/>
                </a:solidFill>
                <a:effectLst/>
                <a:uFillTx/>
                <a:latin typeface="Arial"/>
              </a:rPr>
              <a:t>po</a:t>
            </a:r>
            <a:r>
              <a:rPr lang="pl-PL" sz="2000" b="0" u="none" strike="noStrike">
                <a:solidFill>
                  <a:srgbClr val="000000"/>
                </a:solidFill>
                <a:effectLst/>
                <a:uFillTx/>
                <a:latin typeface="Arial"/>
              </a:rPr>
              <a:t>stę</a:t>
            </a:r>
            <a:r>
              <a:rPr lang="pl-PL" sz="2000" b="0" u="none" strike="noStrike">
                <a:solidFill>
                  <a:srgbClr val="000000"/>
                </a:solidFill>
                <a:effectLst/>
                <a:uFillTx/>
                <a:latin typeface="Arial"/>
              </a:rPr>
              <a:t>po</a:t>
            </a:r>
            <a:r>
              <a:rPr lang="pl-PL" sz="2000" b="0" u="none" strike="noStrike">
                <a:solidFill>
                  <a:srgbClr val="000000"/>
                </a:solidFill>
                <a:effectLst/>
                <a:uFillTx/>
                <a:latin typeface="Arial"/>
              </a:rPr>
              <a:t>wa</a:t>
            </a:r>
            <a:r>
              <a:rPr lang="pl-PL" sz="2000" b="0" u="none" strike="noStrike">
                <a:solidFill>
                  <a:srgbClr val="000000"/>
                </a:solidFill>
                <a:effectLst/>
                <a:uFillTx/>
                <a:latin typeface="Arial"/>
              </a:rPr>
              <a:t>nia </a:t>
            </a:r>
            <a:r>
              <a:rPr lang="pl-PL" sz="2000" b="0" u="none" strike="noStrike">
                <a:solidFill>
                  <a:srgbClr val="000000"/>
                </a:solidFill>
                <a:effectLst/>
                <a:uFillTx/>
                <a:latin typeface="Arial"/>
              </a:rPr>
              <a:t>łąc</a:t>
            </a:r>
            <a:r>
              <a:rPr lang="pl-PL" sz="2000" b="0" u="none" strike="noStrike">
                <a:solidFill>
                  <a:srgbClr val="000000"/>
                </a:solidFill>
                <a:effectLst/>
                <a:uFillTx/>
                <a:latin typeface="Arial"/>
              </a:rPr>
              <a:t>zy </a:t>
            </a:r>
            <a:r>
              <a:rPr lang="pl-PL" sz="2000" b="0" u="none" strike="noStrike">
                <a:solidFill>
                  <a:srgbClr val="000000"/>
                </a:solidFill>
                <a:effectLst/>
                <a:uFillTx/>
                <a:latin typeface="Arial"/>
              </a:rPr>
              <a:t>far</a:t>
            </a:r>
            <a:r>
              <a:rPr lang="pl-PL" sz="2000" b="0" u="none" strike="noStrike">
                <a:solidFill>
                  <a:srgbClr val="000000"/>
                </a:solidFill>
                <a:effectLst/>
                <a:uFillTx/>
                <a:latin typeface="Arial"/>
              </a:rPr>
              <a:t>ma</a:t>
            </a:r>
            <a:r>
              <a:rPr lang="pl-PL" sz="2000" b="0" u="none" strike="noStrike">
                <a:solidFill>
                  <a:srgbClr val="000000"/>
                </a:solidFill>
                <a:effectLst/>
                <a:uFillTx/>
                <a:latin typeface="Arial"/>
              </a:rPr>
              <a:t>kot</a:t>
            </a:r>
            <a:r>
              <a:rPr lang="pl-PL" sz="2000" b="0" u="none" strike="noStrike">
                <a:solidFill>
                  <a:srgbClr val="000000"/>
                </a:solidFill>
                <a:effectLst/>
                <a:uFillTx/>
                <a:latin typeface="Arial"/>
              </a:rPr>
              <a:t>era</a:t>
            </a:r>
            <a:r>
              <a:rPr lang="pl-PL" sz="2000" b="0" u="none" strike="noStrike">
                <a:solidFill>
                  <a:srgbClr val="000000"/>
                </a:solidFill>
                <a:effectLst/>
                <a:uFillTx/>
                <a:latin typeface="Arial"/>
              </a:rPr>
              <a:t>pię </a:t>
            </a:r>
            <a:r>
              <a:rPr lang="pl-PL" sz="2000" b="0" u="none" strike="noStrike">
                <a:solidFill>
                  <a:srgbClr val="000000"/>
                </a:solidFill>
                <a:effectLst/>
                <a:uFillTx/>
                <a:latin typeface="Arial"/>
              </a:rPr>
              <a:t>do</a:t>
            </a:r>
            <a:r>
              <a:rPr lang="pl-PL" sz="2000" b="0" u="none" strike="noStrike">
                <a:solidFill>
                  <a:srgbClr val="000000"/>
                </a:solidFill>
                <a:effectLst/>
                <a:uFillTx/>
                <a:latin typeface="Arial"/>
              </a:rPr>
              <a:t>bra</a:t>
            </a:r>
            <a:r>
              <a:rPr lang="pl-PL" sz="2000" b="0" u="none" strike="noStrike">
                <a:solidFill>
                  <a:srgbClr val="000000"/>
                </a:solidFill>
                <a:effectLst/>
                <a:uFillTx/>
                <a:latin typeface="Arial"/>
              </a:rPr>
              <a:t>ną </a:t>
            </a:r>
            <a:r>
              <a:rPr lang="pl-PL" sz="2000" b="0" u="none" strike="noStrike">
                <a:solidFill>
                  <a:srgbClr val="000000"/>
                </a:solidFill>
                <a:effectLst/>
                <a:uFillTx/>
                <a:latin typeface="Arial"/>
              </a:rPr>
              <a:t>do </a:t>
            </a:r>
            <a:r>
              <a:rPr lang="pl-PL" sz="2000" b="0" u="none" strike="noStrike">
                <a:solidFill>
                  <a:srgbClr val="000000"/>
                </a:solidFill>
                <a:effectLst/>
                <a:uFillTx/>
                <a:latin typeface="Arial"/>
              </a:rPr>
              <a:t>pro</a:t>
            </a:r>
            <a:r>
              <a:rPr lang="pl-PL" sz="2000" b="0" u="none" strike="noStrike">
                <a:solidFill>
                  <a:srgbClr val="000000"/>
                </a:solidFill>
                <a:effectLst/>
                <a:uFillTx/>
                <a:latin typeface="Arial"/>
              </a:rPr>
              <a:t>filu </a:t>
            </a:r>
            <a:r>
              <a:rPr lang="pl-PL" sz="2000" b="0" u="none" strike="noStrike">
                <a:solidFill>
                  <a:srgbClr val="000000"/>
                </a:solidFill>
                <a:effectLst/>
                <a:uFillTx/>
                <a:latin typeface="Arial"/>
              </a:rPr>
              <a:t>ryz</a:t>
            </a:r>
            <a:r>
              <a:rPr lang="pl-PL" sz="2000" b="0" u="none" strike="noStrike">
                <a:solidFill>
                  <a:srgbClr val="000000"/>
                </a:solidFill>
                <a:effectLst/>
                <a:uFillTx/>
                <a:latin typeface="Arial"/>
              </a:rPr>
              <a:t>yk</a:t>
            </a:r>
            <a:r>
              <a:rPr lang="pl-PL" sz="2000" b="0" u="none" strike="noStrike">
                <a:solidFill>
                  <a:srgbClr val="000000"/>
                </a:solidFill>
                <a:effectLst/>
                <a:uFillTx/>
                <a:latin typeface="Arial"/>
              </a:rPr>
              <a:t>a, </a:t>
            </a:r>
            <a:r>
              <a:rPr lang="pl-PL" sz="2000" b="0" u="none" strike="noStrike">
                <a:solidFill>
                  <a:srgbClr val="000000"/>
                </a:solidFill>
                <a:effectLst/>
                <a:uFillTx/>
                <a:latin typeface="Arial"/>
              </a:rPr>
              <a:t>ps</a:t>
            </a:r>
            <a:r>
              <a:rPr lang="pl-PL" sz="2000" b="0" u="none" strike="noStrike">
                <a:solidFill>
                  <a:srgbClr val="000000"/>
                </a:solidFill>
                <a:effectLst/>
                <a:uFillTx/>
                <a:latin typeface="Arial"/>
              </a:rPr>
              <a:t>yc</a:t>
            </a:r>
            <a:r>
              <a:rPr lang="pl-PL" sz="2000" b="0" u="none" strike="noStrike">
                <a:solidFill>
                  <a:srgbClr val="000000"/>
                </a:solidFill>
                <a:effectLst/>
                <a:uFillTx/>
                <a:latin typeface="Arial"/>
              </a:rPr>
              <a:t>ho</a:t>
            </a:r>
            <a:r>
              <a:rPr lang="pl-PL" sz="2000" b="0" u="none" strike="noStrike">
                <a:solidFill>
                  <a:srgbClr val="000000"/>
                </a:solidFill>
                <a:effectLst/>
                <a:uFillTx/>
                <a:latin typeface="Arial"/>
              </a:rPr>
              <a:t>ed</a:t>
            </a:r>
            <a:r>
              <a:rPr lang="pl-PL" sz="2000" b="0" u="none" strike="noStrike">
                <a:solidFill>
                  <a:srgbClr val="000000"/>
                </a:solidFill>
                <a:effectLst/>
                <a:uFillTx/>
                <a:latin typeface="Arial"/>
              </a:rPr>
              <a:t>uk</a:t>
            </a:r>
            <a:r>
              <a:rPr lang="pl-PL" sz="2000" b="0" u="none" strike="noStrike">
                <a:solidFill>
                  <a:srgbClr val="000000"/>
                </a:solidFill>
                <a:effectLst/>
                <a:uFillTx/>
                <a:latin typeface="Arial"/>
              </a:rPr>
              <a:t>acj</a:t>
            </a:r>
            <a:r>
              <a:rPr lang="pl-PL" sz="2000" b="0" u="none" strike="noStrike">
                <a:solidFill>
                  <a:srgbClr val="000000"/>
                </a:solidFill>
                <a:effectLst/>
                <a:uFillTx/>
                <a:latin typeface="Arial"/>
              </a:rPr>
              <a:t>ę, </a:t>
            </a:r>
            <a:r>
              <a:rPr lang="pl-PL" sz="2000" b="0" u="none" strike="noStrike">
                <a:solidFill>
                  <a:srgbClr val="000000"/>
                </a:solidFill>
                <a:effectLst/>
                <a:uFillTx/>
                <a:latin typeface="Arial"/>
              </a:rPr>
              <a:t>ter</a:t>
            </a:r>
            <a:r>
              <a:rPr lang="pl-PL" sz="2000" b="0" u="none" strike="noStrike">
                <a:solidFill>
                  <a:srgbClr val="000000"/>
                </a:solidFill>
                <a:effectLst/>
                <a:uFillTx/>
                <a:latin typeface="Arial"/>
              </a:rPr>
              <a:t>api</a:t>
            </a:r>
            <a:r>
              <a:rPr lang="pl-PL" sz="2000" b="0" u="none" strike="noStrike">
                <a:solidFill>
                  <a:srgbClr val="000000"/>
                </a:solidFill>
                <a:effectLst/>
                <a:uFillTx/>
                <a:latin typeface="Arial"/>
              </a:rPr>
              <a:t>ę </a:t>
            </a:r>
            <a:r>
              <a:rPr lang="pl-PL" sz="2000" b="0" u="none" strike="noStrike">
                <a:solidFill>
                  <a:srgbClr val="000000"/>
                </a:solidFill>
                <a:effectLst/>
                <a:uFillTx/>
                <a:latin typeface="Arial"/>
              </a:rPr>
              <a:t>po</a:t>
            </a:r>
            <a:r>
              <a:rPr lang="pl-PL" sz="2000" b="0" u="none" strike="noStrike">
                <a:solidFill>
                  <a:srgbClr val="000000"/>
                </a:solidFill>
                <a:effectLst/>
                <a:uFillTx/>
                <a:latin typeface="Arial"/>
              </a:rPr>
              <a:t>zn</a:t>
            </a:r>
            <a:r>
              <a:rPr lang="pl-PL" sz="2000" b="0" u="none" strike="noStrike">
                <a:solidFill>
                  <a:srgbClr val="000000"/>
                </a:solidFill>
                <a:effectLst/>
                <a:uFillTx/>
                <a:latin typeface="Arial"/>
              </a:rPr>
              <a:t>aw</a:t>
            </a:r>
            <a:r>
              <a:rPr lang="pl-PL" sz="2000" b="0" u="none" strike="noStrike">
                <a:solidFill>
                  <a:srgbClr val="000000"/>
                </a:solidFill>
                <a:effectLst/>
                <a:uFillTx/>
                <a:latin typeface="Arial"/>
              </a:rPr>
              <a:t>cz</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be</a:t>
            </a:r>
            <a:r>
              <a:rPr lang="pl-PL" sz="2000" b="0" u="none" strike="noStrike">
                <a:solidFill>
                  <a:srgbClr val="000000"/>
                </a:solidFill>
                <a:effectLst/>
                <a:uFillTx/>
                <a:latin typeface="Arial"/>
              </a:rPr>
              <a:t>ha</a:t>
            </a:r>
            <a:r>
              <a:rPr lang="pl-PL" sz="2000" b="0" u="none" strike="noStrike">
                <a:solidFill>
                  <a:srgbClr val="000000"/>
                </a:solidFill>
                <a:effectLst/>
                <a:uFillTx/>
                <a:latin typeface="Arial"/>
              </a:rPr>
              <a:t>wio</a:t>
            </a:r>
            <a:r>
              <a:rPr lang="pl-PL" sz="2000" b="0" u="none" strike="noStrike">
                <a:solidFill>
                  <a:srgbClr val="000000"/>
                </a:solidFill>
                <a:effectLst/>
                <a:uFillTx/>
                <a:latin typeface="Arial"/>
              </a:rPr>
              <a:t>ral</a:t>
            </a:r>
            <a:r>
              <a:rPr lang="pl-PL" sz="2000" b="0" u="none" strike="noStrike">
                <a:solidFill>
                  <a:srgbClr val="000000"/>
                </a:solidFill>
                <a:effectLst/>
                <a:uFillTx/>
                <a:latin typeface="Arial"/>
              </a:rPr>
              <a:t>ną, </a:t>
            </a:r>
            <a:r>
              <a:rPr lang="pl-PL" sz="2000" b="0" u="none" strike="noStrike">
                <a:solidFill>
                  <a:srgbClr val="000000"/>
                </a:solidFill>
                <a:effectLst/>
                <a:uFillTx/>
                <a:latin typeface="Arial"/>
              </a:rPr>
              <a:t>tre</a:t>
            </a:r>
            <a:r>
              <a:rPr lang="pl-PL" sz="2000" b="0" u="none" strike="noStrike">
                <a:solidFill>
                  <a:srgbClr val="000000"/>
                </a:solidFill>
                <a:effectLst/>
                <a:uFillTx/>
                <a:latin typeface="Arial"/>
              </a:rPr>
              <a:t>nin</a:t>
            </a:r>
            <a:r>
              <a:rPr lang="pl-PL" sz="2000" b="0" u="none" strike="noStrike">
                <a:solidFill>
                  <a:srgbClr val="000000"/>
                </a:solidFill>
                <a:effectLst/>
                <a:uFillTx/>
                <a:latin typeface="Arial"/>
              </a:rPr>
              <a:t>g </a:t>
            </a:r>
            <a:r>
              <a:rPr lang="pl-PL" sz="2000" b="0" u="none" strike="noStrike">
                <a:solidFill>
                  <a:srgbClr val="000000"/>
                </a:solidFill>
                <a:effectLst/>
                <a:uFillTx/>
                <a:latin typeface="Arial"/>
              </a:rPr>
              <a:t>fun</a:t>
            </a:r>
            <a:r>
              <a:rPr lang="pl-PL" sz="2000" b="0" u="none" strike="noStrike">
                <a:solidFill>
                  <a:srgbClr val="000000"/>
                </a:solidFill>
                <a:effectLst/>
                <a:uFillTx/>
                <a:latin typeface="Arial"/>
              </a:rPr>
              <a:t>kcji </a:t>
            </a:r>
            <a:r>
              <a:rPr lang="pl-PL" sz="2000" b="0" u="none" strike="noStrike">
                <a:solidFill>
                  <a:srgbClr val="000000"/>
                </a:solidFill>
                <a:effectLst/>
                <a:uFillTx/>
                <a:latin typeface="Arial"/>
              </a:rPr>
              <a:t>wy</a:t>
            </a:r>
            <a:r>
              <a:rPr lang="pl-PL" sz="2000" b="0" u="none" strike="noStrike">
                <a:solidFill>
                  <a:srgbClr val="000000"/>
                </a:solidFill>
                <a:effectLst/>
                <a:uFillTx/>
                <a:latin typeface="Arial"/>
              </a:rPr>
              <a:t>ko</a:t>
            </a:r>
            <a:r>
              <a:rPr lang="pl-PL" sz="2000" b="0" u="none" strike="noStrike">
                <a:solidFill>
                  <a:srgbClr val="000000"/>
                </a:solidFill>
                <a:effectLst/>
                <a:uFillTx/>
                <a:latin typeface="Arial"/>
              </a:rPr>
              <a:t>na</a:t>
            </a:r>
            <a:r>
              <a:rPr lang="pl-PL" sz="2000" b="0" u="none" strike="noStrike">
                <a:solidFill>
                  <a:srgbClr val="000000"/>
                </a:solidFill>
                <a:effectLst/>
                <a:uFillTx/>
                <a:latin typeface="Arial"/>
              </a:rPr>
              <a:t>wc</a:t>
            </a:r>
            <a:r>
              <a:rPr lang="pl-PL" sz="2000" b="0" u="none" strike="noStrike">
                <a:solidFill>
                  <a:srgbClr val="000000"/>
                </a:solidFill>
                <a:effectLst/>
                <a:uFillTx/>
                <a:latin typeface="Arial"/>
              </a:rPr>
              <a:t>zyc</a:t>
            </a:r>
            <a:r>
              <a:rPr lang="pl-PL" sz="2000" b="0" u="none" strike="noStrike">
                <a:solidFill>
                  <a:srgbClr val="000000"/>
                </a:solidFill>
                <a:effectLst/>
                <a:uFillTx/>
                <a:latin typeface="Arial"/>
              </a:rPr>
              <a:t>h, </a:t>
            </a:r>
            <a:r>
              <a:rPr lang="pl-PL" sz="2000" b="0" u="none" strike="noStrike">
                <a:solidFill>
                  <a:srgbClr val="000000"/>
                </a:solidFill>
                <a:effectLst/>
                <a:uFillTx/>
                <a:latin typeface="Arial"/>
              </a:rPr>
              <a:t>lec</a:t>
            </a:r>
            <a:r>
              <a:rPr lang="pl-PL" sz="2000" b="0" u="none" strike="noStrike">
                <a:solidFill>
                  <a:srgbClr val="000000"/>
                </a:solidFill>
                <a:effectLst/>
                <a:uFillTx/>
                <a:latin typeface="Arial"/>
              </a:rPr>
              <a:t>ze</a:t>
            </a:r>
            <a:r>
              <a:rPr lang="pl-PL" sz="2000" b="0" u="none" strike="noStrike">
                <a:solidFill>
                  <a:srgbClr val="000000"/>
                </a:solidFill>
                <a:effectLst/>
                <a:uFillTx/>
                <a:latin typeface="Arial"/>
              </a:rPr>
              <a:t>nie </a:t>
            </a:r>
            <a:r>
              <a:rPr lang="pl-PL" sz="2000" b="0" u="none" strike="noStrike">
                <a:solidFill>
                  <a:srgbClr val="000000"/>
                </a:solidFill>
                <a:effectLst/>
                <a:uFillTx/>
                <a:latin typeface="Arial"/>
              </a:rPr>
              <a:t>uz</a:t>
            </a:r>
            <a:r>
              <a:rPr lang="pl-PL" sz="2000" b="0" u="none" strike="noStrike">
                <a:solidFill>
                  <a:srgbClr val="000000"/>
                </a:solidFill>
                <a:effectLst/>
                <a:uFillTx/>
                <a:latin typeface="Arial"/>
              </a:rPr>
              <a:t>ale</a:t>
            </a:r>
            <a:r>
              <a:rPr lang="pl-PL" sz="2000" b="0" u="none" strike="noStrike">
                <a:solidFill>
                  <a:srgbClr val="000000"/>
                </a:solidFill>
                <a:effectLst/>
                <a:uFillTx/>
                <a:latin typeface="Arial"/>
              </a:rPr>
              <a:t>żni</a:t>
            </a:r>
            <a:r>
              <a:rPr lang="pl-PL" sz="2000" b="0" u="none" strike="noStrike">
                <a:solidFill>
                  <a:srgbClr val="000000"/>
                </a:solidFill>
                <a:effectLst/>
                <a:uFillTx/>
                <a:latin typeface="Arial"/>
              </a:rPr>
              <a:t>eń </a:t>
            </a:r>
            <a:r>
              <a:rPr lang="pl-PL" sz="2000" b="0" u="none" strike="noStrike">
                <a:solidFill>
                  <a:srgbClr val="000000"/>
                </a:solidFill>
                <a:effectLst/>
                <a:uFillTx/>
                <a:latin typeface="Arial"/>
              </a:rPr>
              <a:t>i </a:t>
            </a:r>
            <a:r>
              <a:rPr lang="pl-PL" sz="2000" b="0" u="none" strike="noStrike">
                <a:solidFill>
                  <a:srgbClr val="000000"/>
                </a:solidFill>
                <a:effectLst/>
                <a:uFillTx/>
                <a:latin typeface="Arial"/>
              </a:rPr>
              <a:t>ws</a:t>
            </a:r>
            <a:r>
              <a:rPr lang="pl-PL" sz="2000" b="0" u="none" strike="noStrike">
                <a:solidFill>
                  <a:srgbClr val="000000"/>
                </a:solidFill>
                <a:effectLst/>
                <a:uFillTx/>
                <a:latin typeface="Arial"/>
              </a:rPr>
              <a:t>pół</a:t>
            </a:r>
            <a:r>
              <a:rPr lang="pl-PL" sz="2000" b="0" u="none" strike="noStrike">
                <a:solidFill>
                  <a:srgbClr val="000000"/>
                </a:solidFill>
                <a:effectLst/>
                <a:uFillTx/>
                <a:latin typeface="Arial"/>
              </a:rPr>
              <a:t>ch</a:t>
            </a:r>
            <a:r>
              <a:rPr lang="pl-PL" sz="2000" b="0" u="none" strike="noStrike">
                <a:solidFill>
                  <a:srgbClr val="000000"/>
                </a:solidFill>
                <a:effectLst/>
                <a:uFillTx/>
                <a:latin typeface="Arial"/>
              </a:rPr>
              <a:t>oro</a:t>
            </a:r>
            <a:r>
              <a:rPr lang="pl-PL" sz="2000" b="0" u="none" strike="noStrike">
                <a:solidFill>
                  <a:srgbClr val="000000"/>
                </a:solidFill>
                <a:effectLst/>
                <a:uFillTx/>
                <a:latin typeface="Arial"/>
              </a:rPr>
              <a:t>bo</a:t>
            </a:r>
            <a:r>
              <a:rPr lang="pl-PL" sz="2000" b="0" u="none" strike="noStrike">
                <a:solidFill>
                  <a:srgbClr val="000000"/>
                </a:solidFill>
                <a:effectLst/>
                <a:uFillTx/>
                <a:latin typeface="Arial"/>
              </a:rPr>
              <a:t>wo</a:t>
            </a:r>
            <a:r>
              <a:rPr lang="pl-PL" sz="2000" b="0" u="none" strike="noStrike">
                <a:solidFill>
                  <a:srgbClr val="000000"/>
                </a:solidFill>
                <a:effectLst/>
                <a:uFillTx/>
                <a:latin typeface="Arial"/>
              </a:rPr>
              <a:t>ści, </a:t>
            </a:r>
            <a:r>
              <a:rPr lang="pl-PL" sz="2000" b="0" u="none" strike="noStrike">
                <a:solidFill>
                  <a:srgbClr val="000000"/>
                </a:solidFill>
                <a:effectLst/>
                <a:uFillTx/>
                <a:latin typeface="Arial"/>
              </a:rPr>
              <a:t>int</a:t>
            </a:r>
            <a:r>
              <a:rPr lang="pl-PL" sz="2000" b="0" u="none" strike="noStrike">
                <a:solidFill>
                  <a:srgbClr val="000000"/>
                </a:solidFill>
                <a:effectLst/>
                <a:uFillTx/>
                <a:latin typeface="Arial"/>
              </a:rPr>
              <a:t>er</a:t>
            </a:r>
            <a:r>
              <a:rPr lang="pl-PL" sz="2000" b="0" u="none" strike="noStrike">
                <a:solidFill>
                  <a:srgbClr val="000000"/>
                </a:solidFill>
                <a:effectLst/>
                <a:uFillTx/>
                <a:latin typeface="Arial"/>
              </a:rPr>
              <a:t>we</a:t>
            </a:r>
            <a:r>
              <a:rPr lang="pl-PL" sz="2000" b="0" u="none" strike="noStrike">
                <a:solidFill>
                  <a:srgbClr val="000000"/>
                </a:solidFill>
                <a:effectLst/>
                <a:uFillTx/>
                <a:latin typeface="Arial"/>
              </a:rPr>
              <a:t>ncj</a:t>
            </a:r>
            <a:r>
              <a:rPr lang="pl-PL" sz="2000" b="0" u="none" strike="noStrike">
                <a:solidFill>
                  <a:srgbClr val="000000"/>
                </a:solidFill>
                <a:effectLst/>
                <a:uFillTx/>
                <a:latin typeface="Arial"/>
              </a:rPr>
              <a:t>e </a:t>
            </a:r>
            <a:r>
              <a:rPr lang="pl-PL" sz="2000" b="0" u="none" strike="noStrike">
                <a:solidFill>
                  <a:srgbClr val="000000"/>
                </a:solidFill>
                <a:effectLst/>
                <a:uFillTx/>
                <a:latin typeface="Arial"/>
              </a:rPr>
              <a:t>rod</a:t>
            </a:r>
            <a:r>
              <a:rPr lang="pl-PL" sz="2000" b="0" u="none" strike="noStrike">
                <a:solidFill>
                  <a:srgbClr val="000000"/>
                </a:solidFill>
                <a:effectLst/>
                <a:uFillTx/>
                <a:latin typeface="Arial"/>
              </a:rPr>
              <a:t>zin</a:t>
            </a:r>
            <a:r>
              <a:rPr lang="pl-PL" sz="2000" b="0" u="none" strike="noStrike">
                <a:solidFill>
                  <a:srgbClr val="000000"/>
                </a:solidFill>
                <a:effectLst/>
                <a:uFillTx/>
                <a:latin typeface="Arial"/>
              </a:rPr>
              <a:t>ne, </a:t>
            </a:r>
            <a:r>
              <a:rPr lang="pl-PL" sz="2000" b="0" u="none" strike="noStrike">
                <a:solidFill>
                  <a:srgbClr val="000000"/>
                </a:solidFill>
                <a:effectLst/>
                <a:uFillTx/>
                <a:latin typeface="Arial"/>
              </a:rPr>
              <a:t>do</a:t>
            </a:r>
            <a:r>
              <a:rPr lang="pl-PL" sz="2000" b="0" u="none" strike="noStrike">
                <a:solidFill>
                  <a:srgbClr val="000000"/>
                </a:solidFill>
                <a:effectLst/>
                <a:uFillTx/>
                <a:latin typeface="Arial"/>
              </a:rPr>
              <a:t>sto</a:t>
            </a:r>
            <a:r>
              <a:rPr lang="pl-PL" sz="2000" b="0" u="none" strike="noStrike">
                <a:solidFill>
                  <a:srgbClr val="000000"/>
                </a:solidFill>
                <a:effectLst/>
                <a:uFillTx/>
                <a:latin typeface="Arial"/>
              </a:rPr>
              <a:t>so</a:t>
            </a:r>
            <a:r>
              <a:rPr lang="pl-PL" sz="2000" b="0" u="none" strike="noStrike">
                <a:solidFill>
                  <a:srgbClr val="000000"/>
                </a:solidFill>
                <a:effectLst/>
                <a:uFillTx/>
                <a:latin typeface="Arial"/>
              </a:rPr>
              <a:t>wa</a:t>
            </a:r>
            <a:r>
              <a:rPr lang="pl-PL" sz="2000" b="0" u="none" strike="noStrike">
                <a:solidFill>
                  <a:srgbClr val="000000"/>
                </a:solidFill>
                <a:effectLst/>
                <a:uFillTx/>
                <a:latin typeface="Arial"/>
              </a:rPr>
              <a:t>nia </a:t>
            </a:r>
            <a:r>
              <a:rPr lang="pl-PL" sz="2000" b="0" u="none" strike="noStrike">
                <a:solidFill>
                  <a:srgbClr val="000000"/>
                </a:solidFill>
                <a:effectLst/>
                <a:uFillTx/>
                <a:latin typeface="Arial"/>
              </a:rPr>
              <a:t>ed</a:t>
            </a:r>
            <a:r>
              <a:rPr lang="pl-PL" sz="2000" b="0" u="none" strike="noStrike">
                <a:solidFill>
                  <a:srgbClr val="000000"/>
                </a:solidFill>
                <a:effectLst/>
                <a:uFillTx/>
                <a:latin typeface="Arial"/>
              </a:rPr>
              <a:t>uk</a:t>
            </a:r>
            <a:r>
              <a:rPr lang="pl-PL" sz="2000" b="0" u="none" strike="noStrike">
                <a:solidFill>
                  <a:srgbClr val="000000"/>
                </a:solidFill>
                <a:effectLst/>
                <a:uFillTx/>
                <a:latin typeface="Arial"/>
              </a:rPr>
              <a:t>ac</a:t>
            </a:r>
            <a:r>
              <a:rPr lang="pl-PL" sz="2000" b="0" u="none" strike="noStrike">
                <a:solidFill>
                  <a:srgbClr val="000000"/>
                </a:solidFill>
                <a:effectLst/>
                <a:uFillTx/>
                <a:latin typeface="Arial"/>
              </a:rPr>
              <a:t>yjn</a:t>
            </a:r>
            <a:r>
              <a:rPr lang="pl-PL" sz="2000" b="0" u="none" strike="noStrike">
                <a:solidFill>
                  <a:srgbClr val="000000"/>
                </a:solidFill>
                <a:effectLst/>
                <a:uFillTx/>
                <a:latin typeface="Arial"/>
              </a:rPr>
              <a:t>e i </a:t>
            </a:r>
            <a:r>
              <a:rPr lang="pl-PL" sz="2000" b="0" u="none" strike="noStrike">
                <a:solidFill>
                  <a:srgbClr val="000000"/>
                </a:solidFill>
                <a:effectLst/>
                <a:uFillTx/>
                <a:latin typeface="Arial"/>
              </a:rPr>
              <a:t>za</a:t>
            </a:r>
            <a:r>
              <a:rPr lang="pl-PL" sz="2000" b="0" u="none" strike="noStrike">
                <a:solidFill>
                  <a:srgbClr val="000000"/>
                </a:solidFill>
                <a:effectLst/>
                <a:uFillTx/>
                <a:latin typeface="Arial"/>
              </a:rPr>
              <a:t>wo</a:t>
            </a:r>
            <a:r>
              <a:rPr lang="pl-PL" sz="2000" b="0" u="none" strike="noStrike">
                <a:solidFill>
                  <a:srgbClr val="000000"/>
                </a:solidFill>
                <a:effectLst/>
                <a:uFillTx/>
                <a:latin typeface="Arial"/>
              </a:rPr>
              <a:t>do</a:t>
            </a:r>
            <a:r>
              <a:rPr lang="pl-PL" sz="2000" b="0" u="none" strike="noStrike">
                <a:solidFill>
                  <a:srgbClr val="000000"/>
                </a:solidFill>
                <a:effectLst/>
                <a:uFillTx/>
                <a:latin typeface="Arial"/>
              </a:rPr>
              <a:t>we </a:t>
            </a:r>
            <a:r>
              <a:rPr lang="pl-PL" sz="2000" b="0" u="none" strike="noStrike">
                <a:solidFill>
                  <a:srgbClr val="000000"/>
                </a:solidFill>
                <a:effectLst/>
                <a:uFillTx/>
                <a:latin typeface="Arial"/>
              </a:rPr>
              <a:t>ora</a:t>
            </a:r>
            <a:r>
              <a:rPr lang="pl-PL" sz="2000" b="0" u="none" strike="noStrike">
                <a:solidFill>
                  <a:srgbClr val="000000"/>
                </a:solidFill>
                <a:effectLst/>
                <a:uFillTx/>
                <a:latin typeface="Arial"/>
              </a:rPr>
              <a:t>z </a:t>
            </a:r>
            <a:r>
              <a:rPr lang="pl-PL" sz="2000" b="0" u="none" strike="noStrike">
                <a:solidFill>
                  <a:srgbClr val="000000"/>
                </a:solidFill>
                <a:effectLst/>
                <a:uFillTx/>
                <a:latin typeface="Arial"/>
              </a:rPr>
              <a:t>lec</a:t>
            </a:r>
            <a:r>
              <a:rPr lang="pl-PL" sz="2000" b="0" u="none" strike="noStrike">
                <a:solidFill>
                  <a:srgbClr val="000000"/>
                </a:solidFill>
                <a:effectLst/>
                <a:uFillTx/>
                <a:latin typeface="Arial"/>
              </a:rPr>
              <a:t>ze</a:t>
            </a:r>
            <a:r>
              <a:rPr lang="pl-PL" sz="2000" b="0" u="none" strike="noStrike">
                <a:solidFill>
                  <a:srgbClr val="000000"/>
                </a:solidFill>
                <a:effectLst/>
                <a:uFillTx/>
                <a:latin typeface="Arial"/>
              </a:rPr>
              <a:t>nie </a:t>
            </a:r>
            <a:r>
              <a:rPr lang="pl-PL" sz="2000" b="0" u="none" strike="noStrike">
                <a:solidFill>
                  <a:srgbClr val="000000"/>
                </a:solidFill>
                <a:effectLst/>
                <a:uFillTx/>
                <a:latin typeface="Arial"/>
              </a:rPr>
              <a:t>za</a:t>
            </a:r>
            <a:r>
              <a:rPr lang="pl-PL" sz="2000" b="0" u="none" strike="noStrike">
                <a:solidFill>
                  <a:srgbClr val="000000"/>
                </a:solidFill>
                <a:effectLst/>
                <a:uFillTx/>
                <a:latin typeface="Arial"/>
              </a:rPr>
              <a:t>bur</a:t>
            </a:r>
            <a:r>
              <a:rPr lang="pl-PL" sz="2000" b="0" u="none" strike="noStrike">
                <a:solidFill>
                  <a:srgbClr val="000000"/>
                </a:solidFill>
                <a:effectLst/>
                <a:uFillTx/>
                <a:latin typeface="Arial"/>
              </a:rPr>
              <a:t>ze</a:t>
            </a:r>
            <a:r>
              <a:rPr lang="pl-PL" sz="2000" b="0" u="none" strike="noStrike">
                <a:solidFill>
                  <a:srgbClr val="000000"/>
                </a:solidFill>
                <a:effectLst/>
                <a:uFillTx/>
                <a:latin typeface="Arial"/>
              </a:rPr>
              <a:t>ń </a:t>
            </a:r>
            <a:r>
              <a:rPr lang="pl-PL" sz="2000" b="0" u="none" strike="noStrike">
                <a:solidFill>
                  <a:srgbClr val="000000"/>
                </a:solidFill>
                <a:effectLst/>
                <a:uFillTx/>
                <a:latin typeface="Arial"/>
              </a:rPr>
              <a:t>sn</a:t>
            </a:r>
            <a:r>
              <a:rPr lang="pl-PL" sz="2000" b="0" u="none" strike="noStrike">
                <a:solidFill>
                  <a:srgbClr val="000000"/>
                </a:solidFill>
                <a:effectLst/>
                <a:uFillTx/>
                <a:latin typeface="Arial"/>
              </a:rPr>
              <a:t>u. </a:t>
            </a:r>
            <a:r>
              <a:rPr lang="pl-PL" sz="2000" b="0" u="none" strike="noStrike">
                <a:solidFill>
                  <a:srgbClr val="000000"/>
                </a:solidFill>
                <a:effectLst/>
                <a:uFillTx/>
                <a:latin typeface="Arial"/>
              </a:rPr>
              <a:t>Sy</a:t>
            </a:r>
            <a:r>
              <a:rPr lang="pl-PL" sz="2000" b="0" u="none" strike="noStrike">
                <a:solidFill>
                  <a:srgbClr val="000000"/>
                </a:solidFill>
                <a:effectLst/>
                <a:uFillTx/>
                <a:latin typeface="Arial"/>
              </a:rPr>
              <a:t>nte</a:t>
            </a:r>
            <a:r>
              <a:rPr lang="pl-PL" sz="2000" b="0" u="none" strike="noStrike">
                <a:solidFill>
                  <a:srgbClr val="000000"/>
                </a:solidFill>
                <a:effectLst/>
                <a:uFillTx/>
                <a:latin typeface="Arial"/>
              </a:rPr>
              <a:t>za </a:t>
            </a:r>
            <a:r>
              <a:rPr lang="pl-PL" sz="2000" b="0" u="none" strike="noStrike">
                <a:solidFill>
                  <a:srgbClr val="000000"/>
                </a:solidFill>
                <a:effectLst/>
                <a:uFillTx/>
                <a:latin typeface="Arial"/>
              </a:rPr>
              <a:t>do</a:t>
            </a:r>
            <a:r>
              <a:rPr lang="pl-PL" sz="2000" b="0" u="none" strike="noStrike">
                <a:solidFill>
                  <a:srgbClr val="000000"/>
                </a:solidFill>
                <a:effectLst/>
                <a:uFillTx/>
                <a:latin typeface="Arial"/>
              </a:rPr>
              <a:t>wo</a:t>
            </a:r>
            <a:r>
              <a:rPr lang="pl-PL" sz="2000" b="0" u="none" strike="noStrike">
                <a:solidFill>
                  <a:srgbClr val="000000"/>
                </a:solidFill>
                <a:effectLst/>
                <a:uFillTx/>
                <a:latin typeface="Arial"/>
              </a:rPr>
              <a:t>dó</a:t>
            </a:r>
            <a:r>
              <a:rPr lang="pl-PL" sz="2000" b="0" u="none" strike="noStrike">
                <a:solidFill>
                  <a:srgbClr val="000000"/>
                </a:solidFill>
                <a:effectLst/>
                <a:uFillTx/>
                <a:latin typeface="Arial"/>
              </a:rPr>
              <a:t>w </a:t>
            </a:r>
            <a:r>
              <a:rPr lang="pl-PL" sz="2000" b="0" u="none" strike="noStrike">
                <a:solidFill>
                  <a:srgbClr val="000000"/>
                </a:solidFill>
                <a:effectLst/>
                <a:uFillTx/>
                <a:latin typeface="Arial"/>
              </a:rPr>
              <a:t>po</a:t>
            </a:r>
            <a:r>
              <a:rPr lang="pl-PL" sz="2000" b="0" u="none" strike="noStrike">
                <a:solidFill>
                  <a:srgbClr val="000000"/>
                </a:solidFill>
                <a:effectLst/>
                <a:uFillTx/>
                <a:latin typeface="Arial"/>
              </a:rPr>
              <a:t>ka</a:t>
            </a:r>
            <a:r>
              <a:rPr lang="pl-PL" sz="2000" b="0" u="none" strike="noStrike">
                <a:solidFill>
                  <a:srgbClr val="000000"/>
                </a:solidFill>
                <a:effectLst/>
                <a:uFillTx/>
                <a:latin typeface="Arial"/>
              </a:rPr>
              <a:t>zuj</a:t>
            </a:r>
            <a:r>
              <a:rPr lang="pl-PL" sz="2000" b="0" u="none" strike="noStrike">
                <a:solidFill>
                  <a:srgbClr val="000000"/>
                </a:solidFill>
                <a:effectLst/>
                <a:uFillTx/>
                <a:latin typeface="Arial"/>
              </a:rPr>
              <a:t>e </a:t>
            </a:r>
            <a:r>
              <a:rPr lang="pl-PL" sz="2000" b="0" u="none" strike="noStrike">
                <a:solidFill>
                  <a:srgbClr val="000000"/>
                </a:solidFill>
                <a:effectLst/>
                <a:uFillTx/>
                <a:latin typeface="Arial"/>
              </a:rPr>
              <a:t>wy</a:t>
            </a:r>
            <a:r>
              <a:rPr lang="pl-PL" sz="2000" b="0" u="none" strike="noStrike">
                <a:solidFill>
                  <a:srgbClr val="000000"/>
                </a:solidFill>
                <a:effectLst/>
                <a:uFillTx/>
                <a:latin typeface="Arial"/>
              </a:rPr>
              <a:t>raź</a:t>
            </a:r>
            <a:r>
              <a:rPr lang="pl-PL" sz="2000" b="0" u="none" strike="noStrike">
                <a:solidFill>
                  <a:srgbClr val="000000"/>
                </a:solidFill>
                <a:effectLst/>
                <a:uFillTx/>
                <a:latin typeface="Arial"/>
              </a:rPr>
              <a:t>ną </a:t>
            </a:r>
            <a:r>
              <a:rPr lang="pl-PL" sz="2000" b="0" u="none" strike="noStrike">
                <a:solidFill>
                  <a:srgbClr val="000000"/>
                </a:solidFill>
                <a:effectLst/>
                <a:uFillTx/>
                <a:latin typeface="Arial"/>
              </a:rPr>
              <a:t>hie</a:t>
            </a:r>
            <a:r>
              <a:rPr lang="pl-PL" sz="2000" b="0" u="none" strike="noStrike">
                <a:solidFill>
                  <a:srgbClr val="000000"/>
                </a:solidFill>
                <a:effectLst/>
                <a:uFillTx/>
                <a:latin typeface="Arial"/>
              </a:rPr>
              <a:t>rar</a:t>
            </a:r>
            <a:r>
              <a:rPr lang="pl-PL" sz="2000" b="0" u="none" strike="noStrike">
                <a:solidFill>
                  <a:srgbClr val="000000"/>
                </a:solidFill>
                <a:effectLst/>
                <a:uFillTx/>
                <a:latin typeface="Arial"/>
              </a:rPr>
              <a:t>chi</a:t>
            </a:r>
            <a:r>
              <a:rPr lang="pl-PL" sz="2000" b="0" u="none" strike="noStrike">
                <a:solidFill>
                  <a:srgbClr val="000000"/>
                </a:solidFill>
                <a:effectLst/>
                <a:uFillTx/>
                <a:latin typeface="Arial"/>
              </a:rPr>
              <a:t>ę: </a:t>
            </a:r>
            <a:r>
              <a:rPr lang="pl-PL" sz="2000" b="0" u="none" strike="noStrike">
                <a:solidFill>
                  <a:srgbClr val="000000"/>
                </a:solidFill>
                <a:effectLst/>
                <a:uFillTx/>
                <a:latin typeface="Arial"/>
              </a:rPr>
              <a:t>naj</a:t>
            </a:r>
            <a:r>
              <a:rPr lang="pl-PL" sz="2000" b="0" u="none" strike="noStrike">
                <a:solidFill>
                  <a:srgbClr val="000000"/>
                </a:solidFill>
                <a:effectLst/>
                <a:uFillTx/>
                <a:latin typeface="Arial"/>
              </a:rPr>
              <a:t>siln</a:t>
            </a:r>
            <a:r>
              <a:rPr lang="pl-PL" sz="2000" b="0" u="none" strike="noStrike">
                <a:solidFill>
                  <a:srgbClr val="000000"/>
                </a:solidFill>
                <a:effectLst/>
                <a:uFillTx/>
                <a:latin typeface="Arial"/>
              </a:rPr>
              <a:t>iejs</a:t>
            </a:r>
            <a:r>
              <a:rPr lang="pl-PL" sz="2000" b="0" u="none" strike="noStrike">
                <a:solidFill>
                  <a:srgbClr val="000000"/>
                </a:solidFill>
                <a:effectLst/>
                <a:uFillTx/>
                <a:latin typeface="Arial"/>
              </a:rPr>
              <a:t>ze </a:t>
            </a:r>
            <a:r>
              <a:rPr lang="pl-PL" sz="2000" b="0" u="none" strike="noStrike">
                <a:solidFill>
                  <a:srgbClr val="000000"/>
                </a:solidFill>
                <a:effectLst/>
                <a:uFillTx/>
                <a:latin typeface="Arial"/>
              </a:rPr>
              <a:t>do</a:t>
            </a:r>
            <a:r>
              <a:rPr lang="pl-PL" sz="2000" b="0" u="none" strike="noStrike">
                <a:solidFill>
                  <a:srgbClr val="000000"/>
                </a:solidFill>
                <a:effectLst/>
                <a:uFillTx/>
                <a:latin typeface="Arial"/>
              </a:rPr>
              <a:t>wo</a:t>
            </a:r>
            <a:r>
              <a:rPr lang="pl-PL" sz="2000" b="0" u="none" strike="noStrike">
                <a:solidFill>
                  <a:srgbClr val="000000"/>
                </a:solidFill>
                <a:effectLst/>
                <a:uFillTx/>
                <a:latin typeface="Arial"/>
              </a:rPr>
              <a:t>dy </a:t>
            </a:r>
            <a:r>
              <a:rPr lang="pl-PL" sz="2000" b="0" u="none" strike="noStrike">
                <a:solidFill>
                  <a:srgbClr val="000000"/>
                </a:solidFill>
                <a:effectLst/>
                <a:uFillTx/>
                <a:latin typeface="Arial"/>
              </a:rPr>
              <a:t>dot</a:t>
            </a:r>
            <a:r>
              <a:rPr lang="pl-PL" sz="2000" b="0" u="none" strike="noStrike">
                <a:solidFill>
                  <a:srgbClr val="000000"/>
                </a:solidFill>
                <a:effectLst/>
                <a:uFillTx/>
                <a:latin typeface="Arial"/>
              </a:rPr>
              <a:t>ycz</a:t>
            </a:r>
            <a:r>
              <a:rPr lang="pl-PL" sz="2000" b="0" u="none" strike="noStrike">
                <a:solidFill>
                  <a:srgbClr val="000000"/>
                </a:solidFill>
                <a:effectLst/>
                <a:uFillTx/>
                <a:latin typeface="Arial"/>
              </a:rPr>
              <a:t>ą </a:t>
            </a:r>
            <a:r>
              <a:rPr lang="pl-PL" sz="2000" b="0" u="none" strike="noStrike">
                <a:solidFill>
                  <a:srgbClr val="000000"/>
                </a:solidFill>
                <a:effectLst/>
                <a:uFillTx/>
                <a:latin typeface="Arial"/>
              </a:rPr>
              <a:t>red</a:t>
            </a:r>
            <a:r>
              <a:rPr lang="pl-PL" sz="2000" b="0" u="none" strike="noStrike">
                <a:solidFill>
                  <a:srgbClr val="000000"/>
                </a:solidFill>
                <a:effectLst/>
                <a:uFillTx/>
                <a:latin typeface="Arial"/>
              </a:rPr>
              <a:t>uk</a:t>
            </a:r>
            <a:r>
              <a:rPr lang="pl-PL" sz="2000" b="0" u="none" strike="noStrike">
                <a:solidFill>
                  <a:srgbClr val="000000"/>
                </a:solidFill>
                <a:effectLst/>
                <a:uFillTx/>
                <a:latin typeface="Arial"/>
              </a:rPr>
              <a:t>cji </a:t>
            </a:r>
            <a:r>
              <a:rPr lang="pl-PL" sz="2000" b="0" u="none" strike="noStrike">
                <a:solidFill>
                  <a:srgbClr val="000000"/>
                </a:solidFill>
                <a:effectLst/>
                <a:uFillTx/>
                <a:latin typeface="Arial"/>
              </a:rPr>
              <a:t>po</a:t>
            </a:r>
            <a:r>
              <a:rPr lang="pl-PL" sz="2000" b="0" u="none" strike="noStrike">
                <a:solidFill>
                  <a:srgbClr val="000000"/>
                </a:solidFill>
                <a:effectLst/>
                <a:uFillTx/>
                <a:latin typeface="Arial"/>
              </a:rPr>
              <a:t>dst</a:t>
            </a:r>
            <a:r>
              <a:rPr lang="pl-PL" sz="2000" b="0" u="none" strike="noStrike">
                <a:solidFill>
                  <a:srgbClr val="000000"/>
                </a:solidFill>
                <a:effectLst/>
                <a:uFillTx/>
                <a:latin typeface="Arial"/>
              </a:rPr>
              <a:t>aw</a:t>
            </a:r>
            <a:r>
              <a:rPr lang="pl-PL" sz="2000" b="0" u="none" strike="noStrike">
                <a:solidFill>
                  <a:srgbClr val="000000"/>
                </a:solidFill>
                <a:effectLst/>
                <a:uFillTx/>
                <a:latin typeface="Arial"/>
              </a:rPr>
              <a:t>ow</a:t>
            </a:r>
            <a:r>
              <a:rPr lang="pl-PL" sz="2000" b="0" u="none" strike="noStrike">
                <a:solidFill>
                  <a:srgbClr val="000000"/>
                </a:solidFill>
                <a:effectLst/>
                <a:uFillTx/>
                <a:latin typeface="Arial"/>
              </a:rPr>
              <a:t>yc</a:t>
            </a:r>
            <a:r>
              <a:rPr lang="pl-PL" sz="2000" b="0" u="none" strike="noStrike">
                <a:solidFill>
                  <a:srgbClr val="000000"/>
                </a:solidFill>
                <a:effectLst/>
                <a:uFillTx/>
                <a:latin typeface="Arial"/>
              </a:rPr>
              <a:t>h </a:t>
            </a:r>
            <a:r>
              <a:rPr lang="pl-PL" sz="2000" b="0" u="none" strike="noStrike">
                <a:solidFill>
                  <a:srgbClr val="000000"/>
                </a:solidFill>
                <a:effectLst/>
                <a:uFillTx/>
                <a:latin typeface="Arial"/>
              </a:rPr>
              <a:t>obj</a:t>
            </a:r>
            <a:r>
              <a:rPr lang="pl-PL" sz="2000" b="0" u="none" strike="noStrike">
                <a:solidFill>
                  <a:srgbClr val="000000"/>
                </a:solidFill>
                <a:effectLst/>
                <a:uFillTx/>
                <a:latin typeface="Arial"/>
              </a:rPr>
              <a:t>aw</a:t>
            </a:r>
            <a:r>
              <a:rPr lang="pl-PL" sz="2000" b="0" u="none" strike="noStrike">
                <a:solidFill>
                  <a:srgbClr val="000000"/>
                </a:solidFill>
                <a:effectLst/>
                <a:uFillTx/>
                <a:latin typeface="Arial"/>
              </a:rPr>
              <a:t>ów, </a:t>
            </a:r>
            <a:r>
              <a:rPr lang="pl-PL" sz="2000" b="0" u="none" strike="noStrike">
                <a:solidFill>
                  <a:srgbClr val="000000"/>
                </a:solidFill>
                <a:effectLst/>
                <a:uFillTx/>
                <a:latin typeface="Arial"/>
              </a:rPr>
              <a:t>um</a:t>
            </a:r>
            <a:r>
              <a:rPr lang="pl-PL" sz="2000" b="0" u="none" strike="noStrike">
                <a:solidFill>
                  <a:srgbClr val="000000"/>
                </a:solidFill>
                <a:effectLst/>
                <a:uFillTx/>
                <a:latin typeface="Arial"/>
              </a:rPr>
              <a:t>iar</a:t>
            </a:r>
            <a:r>
              <a:rPr lang="pl-PL" sz="2000" b="0" u="none" strike="noStrike">
                <a:solidFill>
                  <a:srgbClr val="000000"/>
                </a:solidFill>
                <a:effectLst/>
                <a:uFillTx/>
                <a:latin typeface="Arial"/>
              </a:rPr>
              <a:t>ko</a:t>
            </a:r>
            <a:r>
              <a:rPr lang="pl-PL" sz="2000" b="0" u="none" strike="noStrike">
                <a:solidFill>
                  <a:srgbClr val="000000"/>
                </a:solidFill>
                <a:effectLst/>
                <a:uFillTx/>
                <a:latin typeface="Arial"/>
              </a:rPr>
              <a:t>wa</a:t>
            </a:r>
            <a:r>
              <a:rPr lang="pl-PL" sz="2000" b="0" u="none" strike="noStrike">
                <a:solidFill>
                  <a:srgbClr val="000000"/>
                </a:solidFill>
                <a:effectLst/>
                <a:uFillTx/>
                <a:latin typeface="Arial"/>
              </a:rPr>
              <a:t>nie </a:t>
            </a:r>
            <a:r>
              <a:rPr lang="pl-PL" sz="2000" b="0" u="none" strike="noStrike">
                <a:solidFill>
                  <a:srgbClr val="000000"/>
                </a:solidFill>
                <a:effectLst/>
                <a:uFillTx/>
                <a:latin typeface="Arial"/>
              </a:rPr>
              <a:t>siln</a:t>
            </a:r>
            <a:r>
              <a:rPr lang="pl-PL" sz="2000" b="0" u="none" strike="noStrike">
                <a:solidFill>
                  <a:srgbClr val="000000"/>
                </a:solidFill>
                <a:effectLst/>
                <a:uFillTx/>
                <a:latin typeface="Arial"/>
              </a:rPr>
              <a:t>e </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prz</a:t>
            </a:r>
            <a:r>
              <a:rPr lang="pl-PL" sz="2000" b="0" u="none" strike="noStrike">
                <a:solidFill>
                  <a:srgbClr val="000000"/>
                </a:solidFill>
                <a:effectLst/>
                <a:uFillTx/>
                <a:latin typeface="Arial"/>
              </a:rPr>
              <a:t>est</a:t>
            </a:r>
            <a:r>
              <a:rPr lang="pl-PL" sz="2000" b="0" u="none" strike="noStrike">
                <a:solidFill>
                  <a:srgbClr val="000000"/>
                </a:solidFill>
                <a:effectLst/>
                <a:uFillTx/>
                <a:latin typeface="Arial"/>
              </a:rPr>
              <a:t>ęp</a:t>
            </a:r>
            <a:r>
              <a:rPr lang="pl-PL" sz="2000" b="0" u="none" strike="noStrike">
                <a:solidFill>
                  <a:srgbClr val="000000"/>
                </a:solidFill>
                <a:effectLst/>
                <a:uFillTx/>
                <a:latin typeface="Arial"/>
              </a:rPr>
              <a:t>cz</a:t>
            </a:r>
            <a:r>
              <a:rPr lang="pl-PL" sz="2000" b="0" u="none" strike="noStrike">
                <a:solidFill>
                  <a:srgbClr val="000000"/>
                </a:solidFill>
                <a:effectLst/>
                <a:uFillTx/>
                <a:latin typeface="Arial"/>
              </a:rPr>
              <a:t>oś</a:t>
            </a:r>
            <a:r>
              <a:rPr lang="pl-PL" sz="2000" b="0" u="none" strike="noStrike">
                <a:solidFill>
                  <a:srgbClr val="000000"/>
                </a:solidFill>
                <a:effectLst/>
                <a:uFillTx/>
                <a:latin typeface="Arial"/>
              </a:rPr>
              <a:t>ci i </a:t>
            </a:r>
            <a:r>
              <a:rPr lang="pl-PL" sz="2000" b="0" u="none" strike="noStrike">
                <a:solidFill>
                  <a:srgbClr val="000000"/>
                </a:solidFill>
                <a:effectLst/>
                <a:uFillTx/>
                <a:latin typeface="Arial"/>
              </a:rPr>
              <a:t>wy</a:t>
            </a:r>
            <a:r>
              <a:rPr lang="pl-PL" sz="2000" b="0" u="none" strike="noStrike">
                <a:solidFill>
                  <a:srgbClr val="000000"/>
                </a:solidFill>
                <a:effectLst/>
                <a:uFillTx/>
                <a:latin typeface="Arial"/>
              </a:rPr>
              <a:t>pa</a:t>
            </a:r>
            <a:r>
              <a:rPr lang="pl-PL" sz="2000" b="0" u="none" strike="noStrike">
                <a:solidFill>
                  <a:srgbClr val="000000"/>
                </a:solidFill>
                <a:effectLst/>
                <a:uFillTx/>
                <a:latin typeface="Arial"/>
              </a:rPr>
              <a:t>dk</a:t>
            </a:r>
            <a:r>
              <a:rPr lang="pl-PL" sz="2000" b="0" u="none" strike="noStrike">
                <a:solidFill>
                  <a:srgbClr val="000000"/>
                </a:solidFill>
                <a:effectLst/>
                <a:uFillTx/>
                <a:latin typeface="Arial"/>
              </a:rPr>
              <a:t>ów, </a:t>
            </a:r>
            <a:r>
              <a:rPr lang="pl-PL" sz="2000" b="0" u="none" strike="noStrike">
                <a:solidFill>
                  <a:srgbClr val="000000"/>
                </a:solidFill>
                <a:effectLst/>
                <a:uFillTx/>
                <a:latin typeface="Arial"/>
              </a:rPr>
              <a:t>a </a:t>
            </a:r>
            <a:r>
              <a:rPr lang="pl-PL" sz="2000" b="0" u="none" strike="noStrike">
                <a:solidFill>
                  <a:srgbClr val="000000"/>
                </a:solidFill>
                <a:effectLst/>
                <a:uFillTx/>
                <a:latin typeface="Arial"/>
              </a:rPr>
              <a:t>naj</a:t>
            </a:r>
            <a:r>
              <a:rPr lang="pl-PL" sz="2000" b="0" u="none" strike="noStrike">
                <a:solidFill>
                  <a:srgbClr val="000000"/>
                </a:solidFill>
                <a:effectLst/>
                <a:uFillTx/>
                <a:latin typeface="Arial"/>
              </a:rPr>
              <a:t>sła</a:t>
            </a:r>
            <a:r>
              <a:rPr lang="pl-PL" sz="2000" b="0" u="none" strike="noStrike">
                <a:solidFill>
                  <a:srgbClr val="000000"/>
                </a:solidFill>
                <a:effectLst/>
                <a:uFillTx/>
                <a:latin typeface="Arial"/>
              </a:rPr>
              <a:t>bs</a:t>
            </a:r>
            <a:r>
              <a:rPr lang="pl-PL" sz="2000" b="0" u="none" strike="noStrike">
                <a:solidFill>
                  <a:srgbClr val="000000"/>
                </a:solidFill>
                <a:effectLst/>
                <a:uFillTx/>
                <a:latin typeface="Arial"/>
              </a:rPr>
              <a:t>ze </a:t>
            </a:r>
            <a:r>
              <a:rPr lang="pl-PL" sz="2000" b="0" u="none" strike="noStrike">
                <a:solidFill>
                  <a:srgbClr val="000000"/>
                </a:solidFill>
                <a:effectLst/>
                <a:uFillTx/>
                <a:latin typeface="Arial"/>
              </a:rPr>
              <a:t>i </a:t>
            </a:r>
            <a:r>
              <a:rPr lang="pl-PL" sz="2000" b="0" u="none" strike="noStrike">
                <a:solidFill>
                  <a:srgbClr val="000000"/>
                </a:solidFill>
                <a:effectLst/>
                <a:uFillTx/>
                <a:latin typeface="Arial"/>
              </a:rPr>
              <a:t>naj</a:t>
            </a:r>
            <a:r>
              <a:rPr lang="pl-PL" sz="2000" b="0" u="none" strike="noStrike">
                <a:solidFill>
                  <a:srgbClr val="000000"/>
                </a:solidFill>
                <a:effectLst/>
                <a:uFillTx/>
                <a:latin typeface="Arial"/>
              </a:rPr>
              <a:t>bar</a:t>
            </a:r>
            <a:r>
              <a:rPr lang="pl-PL" sz="2000" b="0" u="none" strike="noStrike">
                <a:solidFill>
                  <a:srgbClr val="000000"/>
                </a:solidFill>
                <a:effectLst/>
                <a:uFillTx/>
                <a:latin typeface="Arial"/>
              </a:rPr>
              <a:t>dzi</a:t>
            </a:r>
            <a:r>
              <a:rPr lang="pl-PL" sz="2000" b="0" u="none" strike="noStrike">
                <a:solidFill>
                  <a:srgbClr val="000000"/>
                </a:solidFill>
                <a:effectLst/>
                <a:uFillTx/>
                <a:latin typeface="Arial"/>
              </a:rPr>
              <a:t>ej </a:t>
            </a:r>
            <a:r>
              <a:rPr lang="pl-PL" sz="2000" b="0" u="none" strike="noStrike">
                <a:solidFill>
                  <a:srgbClr val="000000"/>
                </a:solidFill>
                <a:effectLst/>
                <a:uFillTx/>
                <a:latin typeface="Arial"/>
              </a:rPr>
              <a:t>ogr</a:t>
            </a:r>
            <a:r>
              <a:rPr lang="pl-PL" sz="2000" b="0" u="none" strike="noStrike">
                <a:solidFill>
                  <a:srgbClr val="000000"/>
                </a:solidFill>
                <a:effectLst/>
                <a:uFillTx/>
                <a:latin typeface="Arial"/>
              </a:rPr>
              <a:t>ani</a:t>
            </a:r>
            <a:r>
              <a:rPr lang="pl-PL" sz="2000" b="0" u="none" strike="noStrike">
                <a:solidFill>
                  <a:srgbClr val="000000"/>
                </a:solidFill>
                <a:effectLst/>
                <a:uFillTx/>
                <a:latin typeface="Arial"/>
              </a:rPr>
              <a:t>cz</a:t>
            </a:r>
            <a:r>
              <a:rPr lang="pl-PL" sz="2000" b="0" u="none" strike="noStrike">
                <a:solidFill>
                  <a:srgbClr val="000000"/>
                </a:solidFill>
                <a:effectLst/>
                <a:uFillTx/>
                <a:latin typeface="Arial"/>
              </a:rPr>
              <a:t>on</a:t>
            </a:r>
            <a:r>
              <a:rPr lang="pl-PL" sz="2000" b="0" u="none" strike="noStrike">
                <a:solidFill>
                  <a:srgbClr val="000000"/>
                </a:solidFill>
                <a:effectLst/>
                <a:uFillTx/>
                <a:latin typeface="Arial"/>
              </a:rPr>
              <a:t>e </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rec</a:t>
            </a:r>
            <a:r>
              <a:rPr lang="pl-PL" sz="2000" b="0" u="none" strike="noStrike">
                <a:solidFill>
                  <a:srgbClr val="000000"/>
                </a:solidFill>
                <a:effectLst/>
                <a:uFillTx/>
                <a:latin typeface="Arial"/>
              </a:rPr>
              <a:t>yd</a:t>
            </a:r>
            <a:r>
              <a:rPr lang="pl-PL" sz="2000" b="0" u="none" strike="noStrike">
                <a:solidFill>
                  <a:srgbClr val="000000"/>
                </a:solidFill>
                <a:effectLst/>
                <a:uFillTx/>
                <a:latin typeface="Arial"/>
              </a:rPr>
              <a:t>yw</a:t>
            </a:r>
            <a:r>
              <a:rPr lang="pl-PL" sz="2000" b="0" u="none" strike="noStrike">
                <a:solidFill>
                  <a:srgbClr val="000000"/>
                </a:solidFill>
                <a:effectLst/>
                <a:uFillTx/>
                <a:latin typeface="Arial"/>
              </a:rPr>
              <a:t>y </a:t>
            </a:r>
            <a:r>
              <a:rPr lang="pl-PL" sz="2000" b="0" u="none" strike="noStrike">
                <a:solidFill>
                  <a:srgbClr val="000000"/>
                </a:solidFill>
                <a:effectLst/>
                <a:uFillTx/>
                <a:latin typeface="Arial"/>
              </a:rPr>
              <a:t>po </a:t>
            </a:r>
            <a:r>
              <a:rPr lang="pl-PL" sz="2000" b="0" u="none" strike="noStrike">
                <a:solidFill>
                  <a:srgbClr val="000000"/>
                </a:solidFill>
                <a:effectLst/>
                <a:uFillTx/>
                <a:latin typeface="Arial"/>
              </a:rPr>
              <a:t>op</a:t>
            </a:r>
            <a:r>
              <a:rPr lang="pl-PL" sz="2000" b="0" u="none" strike="noStrike">
                <a:solidFill>
                  <a:srgbClr val="000000"/>
                </a:solidFill>
                <a:effectLst/>
                <a:uFillTx/>
                <a:latin typeface="Arial"/>
              </a:rPr>
              <a:t>us</a:t>
            </a:r>
            <a:r>
              <a:rPr lang="pl-PL" sz="2000" b="0" u="none" strike="noStrike">
                <a:solidFill>
                  <a:srgbClr val="000000"/>
                </a:solidFill>
                <a:effectLst/>
                <a:uFillTx/>
                <a:latin typeface="Arial"/>
              </a:rPr>
              <a:t>zcz</a:t>
            </a:r>
            <a:r>
              <a:rPr lang="pl-PL" sz="2000" b="0" u="none" strike="noStrike">
                <a:solidFill>
                  <a:srgbClr val="000000"/>
                </a:solidFill>
                <a:effectLst/>
                <a:uFillTx/>
                <a:latin typeface="Arial"/>
              </a:rPr>
              <a:t>eni</a:t>
            </a:r>
            <a:r>
              <a:rPr lang="pl-PL" sz="2000" b="0" u="none" strike="noStrike">
                <a:solidFill>
                  <a:srgbClr val="000000"/>
                </a:solidFill>
                <a:effectLst/>
                <a:uFillTx/>
                <a:latin typeface="Arial"/>
              </a:rPr>
              <a:t>u </a:t>
            </a:r>
            <a:r>
              <a:rPr lang="pl-PL" sz="2000" b="0" u="none" strike="noStrike">
                <a:solidFill>
                  <a:srgbClr val="000000"/>
                </a:solidFill>
                <a:effectLst/>
                <a:uFillTx/>
                <a:latin typeface="Arial"/>
              </a:rPr>
              <a:t>za</a:t>
            </a:r>
            <a:r>
              <a:rPr lang="pl-PL" sz="2000" b="0" u="none" strike="noStrike">
                <a:solidFill>
                  <a:srgbClr val="000000"/>
                </a:solidFill>
                <a:effectLst/>
                <a:uFillTx/>
                <a:latin typeface="Arial"/>
              </a:rPr>
              <a:t>kła</a:t>
            </a:r>
            <a:r>
              <a:rPr lang="pl-PL" sz="2000" b="0" u="none" strike="noStrike">
                <a:solidFill>
                  <a:srgbClr val="000000"/>
                </a:solidFill>
                <a:effectLst/>
                <a:uFillTx/>
                <a:latin typeface="Arial"/>
              </a:rPr>
              <a:t>du </a:t>
            </a:r>
            <a:r>
              <a:rPr lang="pl-PL" sz="2000" b="0" u="none" strike="noStrike">
                <a:solidFill>
                  <a:srgbClr val="000000"/>
                </a:solidFill>
                <a:effectLst/>
                <a:uFillTx/>
                <a:latin typeface="Arial"/>
              </a:rPr>
              <a:t>kar</a:t>
            </a:r>
            <a:r>
              <a:rPr lang="pl-PL" sz="2000" b="0" u="none" strike="noStrike">
                <a:solidFill>
                  <a:srgbClr val="000000"/>
                </a:solidFill>
                <a:effectLst/>
                <a:uFillTx/>
                <a:latin typeface="Arial"/>
              </a:rPr>
              <a:t>ne</a:t>
            </a:r>
            <a:r>
              <a:rPr lang="pl-PL" sz="2000" b="0" u="none" strike="noStrike">
                <a:solidFill>
                  <a:srgbClr val="000000"/>
                </a:solidFill>
                <a:effectLst/>
                <a:uFillTx/>
                <a:latin typeface="Arial"/>
              </a:rPr>
              <a:t>go. </a:t>
            </a:r>
            <a:r>
              <a:rPr lang="pl-PL" sz="2000" b="0" u="none" strike="noStrike">
                <a:solidFill>
                  <a:srgbClr val="000000"/>
                </a:solidFill>
                <a:effectLst/>
                <a:uFillTx/>
                <a:latin typeface="Arial"/>
              </a:rPr>
              <a:t>Far</a:t>
            </a:r>
            <a:r>
              <a:rPr lang="pl-PL" sz="2000" b="0" u="none" strike="noStrike">
                <a:solidFill>
                  <a:srgbClr val="000000"/>
                </a:solidFill>
                <a:effectLst/>
                <a:uFillTx/>
                <a:latin typeface="Arial"/>
              </a:rPr>
              <a:t>ma</a:t>
            </a:r>
            <a:r>
              <a:rPr lang="pl-PL" sz="2000" b="0" u="none" strike="noStrike">
                <a:solidFill>
                  <a:srgbClr val="000000"/>
                </a:solidFill>
                <a:effectLst/>
                <a:uFillTx/>
                <a:latin typeface="Arial"/>
              </a:rPr>
              <a:t>kot</a:t>
            </a:r>
            <a:r>
              <a:rPr lang="pl-PL" sz="2000" b="0" u="none" strike="noStrike">
                <a:solidFill>
                  <a:srgbClr val="000000"/>
                </a:solidFill>
                <a:effectLst/>
                <a:uFillTx/>
                <a:latin typeface="Arial"/>
              </a:rPr>
              <a:t>era</a:t>
            </a:r>
            <a:r>
              <a:rPr lang="pl-PL" sz="2000" b="0" u="none" strike="noStrike">
                <a:solidFill>
                  <a:srgbClr val="000000"/>
                </a:solidFill>
                <a:effectLst/>
                <a:uFillTx/>
                <a:latin typeface="Arial"/>
              </a:rPr>
              <a:t>pia </a:t>
            </a:r>
            <a:r>
              <a:rPr lang="pl-PL" sz="2000" b="0" u="none" strike="noStrike">
                <a:solidFill>
                  <a:srgbClr val="000000"/>
                </a:solidFill>
                <a:effectLst/>
                <a:uFillTx/>
                <a:latin typeface="Arial"/>
              </a:rPr>
              <a:t>nie </a:t>
            </a:r>
            <a:r>
              <a:rPr lang="pl-PL" sz="2000" b="0" u="none" strike="noStrike">
                <a:solidFill>
                  <a:srgbClr val="000000"/>
                </a:solidFill>
                <a:effectLst/>
                <a:uFillTx/>
                <a:latin typeface="Arial"/>
              </a:rPr>
              <a:t>od</a:t>
            </a:r>
            <a:r>
              <a:rPr lang="pl-PL" sz="2000" b="0" u="none" strike="noStrike">
                <a:solidFill>
                  <a:srgbClr val="000000"/>
                </a:solidFill>
                <a:effectLst/>
                <a:uFillTx/>
                <a:latin typeface="Arial"/>
              </a:rPr>
              <a:t>wr</a:t>
            </a:r>
            <a:r>
              <a:rPr lang="pl-PL" sz="2000" b="0" u="none" strike="noStrike">
                <a:solidFill>
                  <a:srgbClr val="000000"/>
                </a:solidFill>
                <a:effectLst/>
                <a:uFillTx/>
                <a:latin typeface="Arial"/>
              </a:rPr>
              <a:t>ac</a:t>
            </a:r>
            <a:r>
              <a:rPr lang="pl-PL" sz="2000" b="0" u="none" strike="noStrike">
                <a:solidFill>
                  <a:srgbClr val="000000"/>
                </a:solidFill>
                <a:effectLst/>
                <a:uFillTx/>
                <a:latin typeface="Arial"/>
              </a:rPr>
              <a:t>a </a:t>
            </a:r>
            <a:r>
              <a:rPr lang="pl-PL" sz="2000" b="0" u="none" strike="noStrike">
                <a:solidFill>
                  <a:srgbClr val="000000"/>
                </a:solidFill>
                <a:effectLst/>
                <a:uFillTx/>
                <a:latin typeface="Arial"/>
              </a:rPr>
              <a:t>aut</a:t>
            </a:r>
            <a:r>
              <a:rPr lang="pl-PL" sz="2000" b="0" u="none" strike="noStrike">
                <a:solidFill>
                  <a:srgbClr val="000000"/>
                </a:solidFill>
                <a:effectLst/>
                <a:uFillTx/>
                <a:latin typeface="Arial"/>
              </a:rPr>
              <a:t>om</a:t>
            </a:r>
            <a:r>
              <a:rPr lang="pl-PL" sz="2000" b="0" u="none" strike="noStrike">
                <a:solidFill>
                  <a:srgbClr val="000000"/>
                </a:solidFill>
                <a:effectLst/>
                <a:uFillTx/>
                <a:latin typeface="Arial"/>
              </a:rPr>
              <a:t>aty</a:t>
            </a:r>
            <a:r>
              <a:rPr lang="pl-PL" sz="2000" b="0" u="none" strike="noStrike">
                <a:solidFill>
                  <a:srgbClr val="000000"/>
                </a:solidFill>
                <a:effectLst/>
                <a:uFillTx/>
                <a:latin typeface="Arial"/>
              </a:rPr>
              <a:t>cz</a:t>
            </a:r>
            <a:r>
              <a:rPr lang="pl-PL" sz="2000" b="0" u="none" strike="noStrike">
                <a:solidFill>
                  <a:srgbClr val="000000"/>
                </a:solidFill>
                <a:effectLst/>
                <a:uFillTx/>
                <a:latin typeface="Arial"/>
              </a:rPr>
              <a:t>nie </a:t>
            </a:r>
            <a:r>
              <a:rPr lang="pl-PL" sz="2000" b="0" u="none" strike="noStrike">
                <a:solidFill>
                  <a:srgbClr val="000000"/>
                </a:solidFill>
                <a:effectLst/>
                <a:uFillTx/>
                <a:latin typeface="Arial"/>
              </a:rPr>
              <a:t>wie</a:t>
            </a:r>
            <a:r>
              <a:rPr lang="pl-PL" sz="2000" b="0" u="none" strike="noStrike">
                <a:solidFill>
                  <a:srgbClr val="000000"/>
                </a:solidFill>
                <a:effectLst/>
                <a:uFillTx/>
                <a:latin typeface="Arial"/>
              </a:rPr>
              <a:t>lol</a:t>
            </a:r>
            <a:r>
              <a:rPr lang="pl-PL" sz="2000" b="0" u="none" strike="noStrike">
                <a:solidFill>
                  <a:srgbClr val="000000"/>
                </a:solidFill>
                <a:effectLst/>
                <a:uFillTx/>
                <a:latin typeface="Arial"/>
              </a:rPr>
              <a:t>etn</a:t>
            </a:r>
            <a:r>
              <a:rPr lang="pl-PL" sz="2000" b="0" u="none" strike="noStrike">
                <a:solidFill>
                  <a:srgbClr val="000000"/>
                </a:solidFill>
                <a:effectLst/>
                <a:uFillTx/>
                <a:latin typeface="Arial"/>
              </a:rPr>
              <a:t>ich </a:t>
            </a:r>
            <a:r>
              <a:rPr lang="pl-PL" sz="2000" b="0" u="none" strike="noStrike">
                <a:solidFill>
                  <a:srgbClr val="000000"/>
                </a:solidFill>
                <a:effectLst/>
                <a:uFillTx/>
                <a:latin typeface="Arial"/>
              </a:rPr>
              <a:t>zal</a:t>
            </a:r>
            <a:r>
              <a:rPr lang="pl-PL" sz="2000" b="0" u="none" strike="noStrike">
                <a:solidFill>
                  <a:srgbClr val="000000"/>
                </a:solidFill>
                <a:effectLst/>
                <a:uFillTx/>
                <a:latin typeface="Arial"/>
              </a:rPr>
              <a:t>egł</a:t>
            </a:r>
            <a:r>
              <a:rPr lang="pl-PL" sz="2000" b="0" u="none" strike="noStrike">
                <a:solidFill>
                  <a:srgbClr val="000000"/>
                </a:solidFill>
                <a:effectLst/>
                <a:uFillTx/>
                <a:latin typeface="Arial"/>
              </a:rPr>
              <a:t>oś</a:t>
            </a:r>
            <a:r>
              <a:rPr lang="pl-PL" sz="2000" b="0" u="none" strike="noStrike">
                <a:solidFill>
                  <a:srgbClr val="000000"/>
                </a:solidFill>
                <a:effectLst/>
                <a:uFillTx/>
                <a:latin typeface="Arial"/>
              </a:rPr>
              <a:t>ci i </a:t>
            </a:r>
            <a:r>
              <a:rPr lang="pl-PL" sz="2000" b="0" u="none" strike="noStrike">
                <a:solidFill>
                  <a:srgbClr val="000000"/>
                </a:solidFill>
                <a:effectLst/>
                <a:uFillTx/>
                <a:latin typeface="Arial"/>
              </a:rPr>
              <a:t>utr</a:t>
            </a:r>
            <a:r>
              <a:rPr lang="pl-PL" sz="2000" b="0" u="none" strike="noStrike">
                <a:solidFill>
                  <a:srgbClr val="000000"/>
                </a:solidFill>
                <a:effectLst/>
                <a:uFillTx/>
                <a:latin typeface="Arial"/>
              </a:rPr>
              <a:t>wal</a:t>
            </a:r>
            <a:r>
              <a:rPr lang="pl-PL" sz="2000" b="0" u="none" strike="noStrike">
                <a:solidFill>
                  <a:srgbClr val="000000"/>
                </a:solidFill>
                <a:effectLst/>
                <a:uFillTx/>
                <a:latin typeface="Arial"/>
              </a:rPr>
              <a:t>on</a:t>
            </a:r>
            <a:r>
              <a:rPr lang="pl-PL" sz="2000" b="0" u="none" strike="noStrike">
                <a:solidFill>
                  <a:srgbClr val="000000"/>
                </a:solidFill>
                <a:effectLst/>
                <a:uFillTx/>
                <a:latin typeface="Arial"/>
              </a:rPr>
              <a:t>yc</a:t>
            </a:r>
            <a:r>
              <a:rPr lang="pl-PL" sz="2000" b="0" u="none" strike="noStrike">
                <a:solidFill>
                  <a:srgbClr val="000000"/>
                </a:solidFill>
                <a:effectLst/>
                <a:uFillTx/>
                <a:latin typeface="Arial"/>
              </a:rPr>
              <a:t>h </a:t>
            </a:r>
            <a:r>
              <a:rPr lang="pl-PL" sz="2000" b="0" u="none" strike="noStrike">
                <a:solidFill>
                  <a:srgbClr val="000000"/>
                </a:solidFill>
                <a:effectLst/>
                <a:uFillTx/>
                <a:latin typeface="Arial"/>
              </a:rPr>
              <a:t>wz</a:t>
            </a:r>
            <a:r>
              <a:rPr lang="pl-PL" sz="2000" b="0" u="none" strike="noStrike">
                <a:solidFill>
                  <a:srgbClr val="000000"/>
                </a:solidFill>
                <a:effectLst/>
                <a:uFillTx/>
                <a:latin typeface="Arial"/>
              </a:rPr>
              <a:t>orc</a:t>
            </a:r>
            <a:r>
              <a:rPr lang="pl-PL" sz="2000" b="0" u="none" strike="noStrike">
                <a:solidFill>
                  <a:srgbClr val="000000"/>
                </a:solidFill>
                <a:effectLst/>
                <a:uFillTx/>
                <a:latin typeface="Arial"/>
              </a:rPr>
              <a:t>ów </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stą</a:t>
            </a:r>
            <a:r>
              <a:rPr lang="pl-PL" sz="2000" b="0" u="none" strike="noStrike">
                <a:solidFill>
                  <a:srgbClr val="000000"/>
                </a:solidFill>
                <a:effectLst/>
                <a:uFillTx/>
                <a:latin typeface="Arial"/>
              </a:rPr>
              <a:t>d </a:t>
            </a:r>
            <a:r>
              <a:rPr lang="pl-PL" sz="2000" b="0" u="none" strike="noStrike">
                <a:solidFill>
                  <a:srgbClr val="000000"/>
                </a:solidFill>
                <a:effectLst/>
                <a:uFillTx/>
                <a:latin typeface="Arial"/>
              </a:rPr>
              <a:t>pot</a:t>
            </a:r>
            <a:r>
              <a:rPr lang="pl-PL" sz="2000" b="0" u="none" strike="noStrike">
                <a:solidFill>
                  <a:srgbClr val="000000"/>
                </a:solidFill>
                <a:effectLst/>
                <a:uFillTx/>
                <a:latin typeface="Arial"/>
              </a:rPr>
              <a:t>rze</a:t>
            </a:r>
            <a:r>
              <a:rPr lang="pl-PL" sz="2000" b="0" u="none" strike="noStrike">
                <a:solidFill>
                  <a:srgbClr val="000000"/>
                </a:solidFill>
                <a:effectLst/>
                <a:uFillTx/>
                <a:latin typeface="Arial"/>
              </a:rPr>
              <a:t>ba </a:t>
            </a:r>
            <a:r>
              <a:rPr lang="pl-PL" sz="2000" b="0" u="none" strike="noStrike">
                <a:solidFill>
                  <a:srgbClr val="000000"/>
                </a:solidFill>
                <a:effectLst/>
                <a:uFillTx/>
                <a:latin typeface="Arial"/>
              </a:rPr>
              <a:t>po</a:t>
            </a:r>
            <a:r>
              <a:rPr lang="pl-PL" sz="2000" b="0" u="none" strike="noStrike">
                <a:solidFill>
                  <a:srgbClr val="000000"/>
                </a:solidFill>
                <a:effectLst/>
                <a:uFillTx/>
                <a:latin typeface="Arial"/>
              </a:rPr>
              <a:t>dej</a:t>
            </a:r>
            <a:r>
              <a:rPr lang="pl-PL" sz="2000" b="0" u="none" strike="noStrike">
                <a:solidFill>
                  <a:srgbClr val="000000"/>
                </a:solidFill>
                <a:effectLst/>
                <a:uFillTx/>
                <a:latin typeface="Arial"/>
              </a:rPr>
              <a:t>ści</a:t>
            </a:r>
            <a:r>
              <a:rPr lang="pl-PL" sz="2000" b="0" u="none" strike="noStrike">
                <a:solidFill>
                  <a:srgbClr val="000000"/>
                </a:solidFill>
                <a:effectLst/>
                <a:uFillTx/>
                <a:latin typeface="Arial"/>
              </a:rPr>
              <a:t>a </a:t>
            </a:r>
            <a:r>
              <a:rPr lang="pl-PL" sz="2000" b="0" u="none" strike="noStrike">
                <a:solidFill>
                  <a:srgbClr val="000000"/>
                </a:solidFill>
                <a:effectLst/>
                <a:uFillTx/>
                <a:latin typeface="Arial"/>
              </a:rPr>
              <a:t>wie</a:t>
            </a:r>
            <a:r>
              <a:rPr lang="pl-PL" sz="2000" b="0" u="none" strike="noStrike">
                <a:solidFill>
                  <a:srgbClr val="000000"/>
                </a:solidFill>
                <a:effectLst/>
                <a:uFillTx/>
                <a:latin typeface="Arial"/>
              </a:rPr>
              <a:t>lo</a:t>
            </a:r>
            <a:r>
              <a:rPr lang="pl-PL" sz="2000" b="0" u="none" strike="noStrike">
                <a:solidFill>
                  <a:srgbClr val="000000"/>
                </a:solidFill>
                <a:effectLst/>
                <a:uFillTx/>
                <a:latin typeface="Arial"/>
              </a:rPr>
              <a:t>mo</a:t>
            </a:r>
            <a:r>
              <a:rPr lang="pl-PL" sz="2000" b="0" u="none" strike="noStrike">
                <a:solidFill>
                  <a:srgbClr val="000000"/>
                </a:solidFill>
                <a:effectLst/>
                <a:uFillTx/>
                <a:latin typeface="Arial"/>
              </a:rPr>
              <a:t>dal</a:t>
            </a:r>
            <a:r>
              <a:rPr lang="pl-PL" sz="2000" b="0" u="none" strike="noStrike">
                <a:solidFill>
                  <a:srgbClr val="000000"/>
                </a:solidFill>
                <a:effectLst/>
                <a:uFillTx/>
                <a:latin typeface="Arial"/>
              </a:rPr>
              <a:t>ne</a:t>
            </a:r>
            <a:r>
              <a:rPr lang="pl-PL" sz="2000" b="0" u="none" strike="noStrike">
                <a:solidFill>
                  <a:srgbClr val="000000"/>
                </a:solidFill>
                <a:effectLst/>
                <a:uFillTx/>
                <a:latin typeface="Arial"/>
              </a:rPr>
              <a:t>go.</a:t>
            </a:r>
            <a:endParaRPr lang="pl-PL" sz="2000" b="0" u="none" strike="noStrike">
              <a:solidFill>
                <a:srgbClr val="000000"/>
              </a:solidFill>
              <a:effectLst/>
              <a:uFillTx/>
              <a:latin typeface="Arial"/>
            </a:endParaRPr>
          </a:p>
        </p:txBody>
      </p:sp>
      <p:sp>
        <p:nvSpPr>
          <p:cNvPr id="478" name="PlaceHolder 3"/>
          <p:cNvSpPr>
            <a:spLocks noGrp="1"/>
          </p:cNvSpPr>
          <p:nvPr>
            <p:ph type="sldNum" idx="2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443C67F0-06F1-4256-A1AE-EC87BBC720D4}"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9" name="PlaceHolder 1"/>
          <p:cNvSpPr>
            <a:spLocks noGrp="1"/>
          </p:cNvSpPr>
          <p:nvPr>
            <p:ph type="sldImg"/>
          </p:nvPr>
        </p:nvSpPr>
        <p:spPr>
          <a:xfrm>
            <a:off x="685800" y="1143000"/>
            <a:ext cx="5486040" cy="3085920"/>
          </a:xfrm>
          <a:prstGeom prst="rect">
            <a:avLst/>
          </a:prstGeom>
          <a:ln w="0">
            <a:noFill/>
          </a:ln>
        </p:spPr>
      </p:sp>
      <p:sp>
        <p:nvSpPr>
          <p:cNvPr id="48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1</a:t>
            </a:r>
            <a:r>
              <a:rPr lang="pl-PL" sz="2000" b="0" u="none" strike="noStrike">
                <a:solidFill>
                  <a:srgbClr val="000000"/>
                </a:solidFill>
                <a:effectLst/>
                <a:uFillTx/>
                <a:latin typeface="Arial"/>
              </a:rPr>
              <a:t>3</a:t>
            </a:r>
            <a:r>
              <a:rPr lang="pl-PL" sz="2000" b="0" u="none" strike="noStrike">
                <a:solidFill>
                  <a:srgbClr val="000000"/>
                </a:solidFill>
                <a:effectLst/>
                <a:uFillTx/>
                <a:latin typeface="Arial"/>
              </a:rPr>
              <a:t>3</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ń</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ł</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ż</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g</a:t>
            </a:r>
            <a:r>
              <a:rPr lang="pl-PL" sz="2000" b="0" u="none" strike="noStrike">
                <a:solidFill>
                  <a:srgbClr val="000000"/>
                </a:solidFill>
                <a:effectLst/>
                <a:uFillTx/>
                <a:latin typeface="Arial"/>
              </a:rPr>
              <a:t>ł</a:t>
            </a:r>
            <a:r>
              <a:rPr lang="pl-PL" sz="2000" b="0" u="none" strike="noStrike">
                <a:solidFill>
                  <a:srgbClr val="000000"/>
                </a:solidFill>
                <a:effectLst/>
                <a:uFillTx/>
                <a:latin typeface="Arial"/>
              </a:rPr>
              <a:t>ó</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ó</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ł</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ó</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ó</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ł</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ż</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ó</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ó</a:t>
            </a:r>
            <a:r>
              <a:rPr lang="pl-PL" sz="2000" b="0" u="none" strike="noStrike">
                <a:solidFill>
                  <a:srgbClr val="000000"/>
                </a:solidFill>
                <a:effectLst/>
                <a:uFillTx/>
                <a:latin typeface="Arial"/>
              </a:rPr>
              <a:t>ż</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ś</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ł</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1</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0</a:t>
            </a:r>
            <a:r>
              <a:rPr lang="pl-PL" sz="2000" b="0" u="none" strike="noStrike">
                <a:solidFill>
                  <a:srgbClr val="000000"/>
                </a:solidFill>
                <a:effectLst/>
                <a:uFillTx/>
                <a:latin typeface="Arial"/>
              </a:rPr>
              <a:t>2</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f</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0</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7</a:t>
            </a:r>
            <a:r>
              <a:rPr lang="pl-PL" sz="2000" b="0" u="none" strike="noStrike">
                <a:solidFill>
                  <a:srgbClr val="000000"/>
                </a:solidFill>
                <a:effectLst/>
                <a:uFillTx/>
                <a:latin typeface="Arial"/>
              </a:rPr>
              <a:t>8</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f</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0</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5</a:t>
            </a:r>
            <a:r>
              <a:rPr lang="pl-PL" sz="2000" b="0" u="none" strike="noStrike">
                <a:solidFill>
                  <a:srgbClr val="000000"/>
                </a:solidFill>
                <a:effectLst/>
                <a:uFillTx/>
                <a:latin typeface="Arial"/>
              </a:rPr>
              <a:t>6</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f</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f</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ą</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ą</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ę</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ł</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ż</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g</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ś</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f</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ł</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h</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ą</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g</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l</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ź</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m</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ć</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ó</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d</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ę</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b</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ó</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p</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ę</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r</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z</a:t>
            </a:r>
            <a:r>
              <a:rPr lang="pl-PL" sz="2000" b="0" u="none" strike="noStrike">
                <a:solidFill>
                  <a:srgbClr val="000000"/>
                </a:solidFill>
                <a:effectLst/>
                <a:uFillTx/>
                <a:latin typeface="Arial"/>
              </a:rPr>
              <a:t>y</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s</a:t>
            </a:r>
            <a:r>
              <a:rPr lang="pl-PL" sz="2000" b="0" u="none" strike="noStrike">
                <a:solidFill>
                  <a:srgbClr val="000000"/>
                </a:solidFill>
                <a:effectLst/>
                <a:uFillTx/>
                <a:latin typeface="Arial"/>
              </a:rPr>
              <a:t>t</a:t>
            </a:r>
            <a:r>
              <a:rPr lang="pl-PL" sz="2000" b="0" u="none" strike="noStrike">
                <a:solidFill>
                  <a:srgbClr val="000000"/>
                </a:solidFill>
                <a:effectLst/>
                <a:uFillTx/>
                <a:latin typeface="Arial"/>
              </a:rPr>
              <a:t>e</a:t>
            </a:r>
            <a:r>
              <a:rPr lang="pl-PL" sz="2000" b="0" u="none" strike="noStrike">
                <a:solidFill>
                  <a:srgbClr val="000000"/>
                </a:solidFill>
                <a:effectLst/>
                <a:uFillTx/>
                <a:latin typeface="Arial"/>
              </a:rPr>
              <a:t>g</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 </a:t>
            </a:r>
            <a:r>
              <a:rPr lang="pl-PL" sz="2000" b="0" u="none" strike="noStrike">
                <a:solidFill>
                  <a:srgbClr val="000000"/>
                </a:solidFill>
                <a:effectLst/>
                <a:uFillTx/>
                <a:latin typeface="Arial"/>
              </a:rPr>
              <a:t>f</a:t>
            </a:r>
            <a:r>
              <a:rPr lang="pl-PL" sz="2000" b="0" u="none" strike="noStrike">
                <a:solidFill>
                  <a:srgbClr val="000000"/>
                </a:solidFill>
                <a:effectLst/>
                <a:uFillTx/>
                <a:latin typeface="Arial"/>
              </a:rPr>
              <a:t>u</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k</a:t>
            </a:r>
            <a:r>
              <a:rPr lang="pl-PL" sz="2000" b="0" u="none" strike="noStrike">
                <a:solidFill>
                  <a:srgbClr val="000000"/>
                </a:solidFill>
                <a:effectLst/>
                <a:uFillTx/>
                <a:latin typeface="Arial"/>
              </a:rPr>
              <a:t>c</a:t>
            </a:r>
            <a:r>
              <a:rPr lang="pl-PL" sz="2000" b="0" u="none" strike="noStrike">
                <a:solidFill>
                  <a:srgbClr val="000000"/>
                </a:solidFill>
                <a:effectLst/>
                <a:uFillTx/>
                <a:latin typeface="Arial"/>
              </a:rPr>
              <a:t>j</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o</a:t>
            </a:r>
            <a:r>
              <a:rPr lang="pl-PL" sz="2000" b="0" u="none" strike="noStrike">
                <a:solidFill>
                  <a:srgbClr val="000000"/>
                </a:solidFill>
                <a:effectLst/>
                <a:uFillTx/>
                <a:latin typeface="Arial"/>
              </a:rPr>
              <a:t>w</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n</a:t>
            </a:r>
            <a:r>
              <a:rPr lang="pl-PL" sz="2000" b="0" u="none" strike="noStrike">
                <a:solidFill>
                  <a:srgbClr val="000000"/>
                </a:solidFill>
                <a:effectLst/>
                <a:uFillTx/>
                <a:latin typeface="Arial"/>
              </a:rPr>
              <a:t>i</a:t>
            </a:r>
            <a:r>
              <a:rPr lang="pl-PL" sz="2000" b="0" u="none" strike="noStrike">
                <a:solidFill>
                  <a:srgbClr val="000000"/>
                </a:solidFill>
                <a:effectLst/>
                <a:uFillTx/>
                <a:latin typeface="Arial"/>
              </a:rPr>
              <a:t>a</a:t>
            </a:r>
            <a:r>
              <a:rPr lang="pl-PL" sz="2000" b="0" u="none" strike="noStrike">
                <a:solidFill>
                  <a:srgbClr val="000000"/>
                </a:solidFill>
                <a:effectLst/>
                <a:uFillTx/>
                <a:latin typeface="Arial"/>
              </a:rPr>
              <a:t>.</a:t>
            </a:r>
            <a:endParaRPr lang="pl-PL" sz="2000" b="0" u="none" strike="noStrike">
              <a:solidFill>
                <a:srgbClr val="000000"/>
              </a:solidFill>
              <a:effectLst/>
              <a:uFillTx/>
              <a:latin typeface="Arial"/>
            </a:endParaRPr>
          </a:p>
        </p:txBody>
      </p:sp>
      <p:sp>
        <p:nvSpPr>
          <p:cNvPr id="481" name="PlaceHolder 3"/>
          <p:cNvSpPr>
            <a:spLocks noGrp="1"/>
          </p:cNvSpPr>
          <p:nvPr>
            <p:ph type="sldNum" idx="2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FECDA93C-B959-42AF-AC51-044FF5371E3F}"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2" name="PlaceHolder 1"/>
          <p:cNvSpPr>
            <a:spLocks noGrp="1"/>
          </p:cNvSpPr>
          <p:nvPr>
            <p:ph type="sldImg"/>
          </p:nvPr>
        </p:nvSpPr>
        <p:spPr>
          <a:xfrm>
            <a:off x="685800" y="1143000"/>
            <a:ext cx="5486040" cy="3085920"/>
          </a:xfrm>
          <a:prstGeom prst="rect">
            <a:avLst/>
          </a:prstGeom>
          <a:ln w="0">
            <a:noFill/>
          </a:ln>
        </p:spPr>
      </p:sp>
      <p:sp>
        <p:nvSpPr>
          <p:cNvPr id="48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Najczęstsze działania niepożądane psychostymulantów obejmują zmniejszenie apetytu, trudności z zasypianiem, ból głowy i ból brzucha; atomoksetyna częściej powoduje dolegliwości żołądkowo-jelitowe i senność, a agoniści alfa-2A — sedację i hipotonię. Częstości pochodzą z odrębnych badań rejestracyjnych i nie powinny służyć do rankingu bezpieczeństwa preparatów. Nie jest możliwe prowadzenie wieloletnich badań randomizowanych, w których pacjenci byliby przydzielani do leczenia lub jego braku — dane dotyczące przestępczości, śmiertelności i kosztów są więc w dużej mierze obserwacyjne. Dodatkowym ograniczeniem jest heterogeniczność ADHD: rokowanie różni się zależnie od płci, wieku, prezentacji objawów, współchorobowości i środowiska — wyniki grupowe nie pozwalają przewidzieć losu konkretnej osoby.</a:t>
            </a:r>
            <a:endParaRPr lang="pl-PL" sz="2000" b="0" u="none" strike="noStrike">
              <a:solidFill>
                <a:srgbClr val="000000"/>
              </a:solidFill>
              <a:effectLst/>
              <a:uFillTx/>
              <a:latin typeface="Arial"/>
            </a:endParaRPr>
          </a:p>
        </p:txBody>
      </p:sp>
      <p:sp>
        <p:nvSpPr>
          <p:cNvPr id="484" name="PlaceHolder 3"/>
          <p:cNvSpPr>
            <a:spLocks noGrp="1"/>
          </p:cNvSpPr>
          <p:nvPr>
            <p:ph type="sldNum" idx="2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B99AEF10-B3B5-4B47-8309-375F7F02BADE}"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5" name="PlaceHolder 1"/>
          <p:cNvSpPr>
            <a:spLocks noGrp="1"/>
          </p:cNvSpPr>
          <p:nvPr>
            <p:ph type="sldImg"/>
          </p:nvPr>
        </p:nvSpPr>
        <p:spPr>
          <a:xfrm>
            <a:off x="685800" y="1143000"/>
            <a:ext cx="5486040" cy="3085920"/>
          </a:xfrm>
          <a:prstGeom prst="rect">
            <a:avLst/>
          </a:prstGeom>
          <a:ln w="0">
            <a:noFill/>
          </a:ln>
        </p:spPr>
      </p:sp>
      <p:sp>
        <p:nvSpPr>
          <p:cNvPr id="48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lang="pl-PL" sz="2000" b="0" u="none" strike="noStrike">
                <a:solidFill>
                  <a:srgbClr val="000000"/>
                </a:solidFill>
                <a:effectLst/>
                <a:uFillTx/>
                <a:latin typeface="Arial"/>
              </a:rPr>
              <a:t>ADHD jest istotnym czynnikiem podatności na uzależnienia, </a:t>
            </a:r>
            <a:r>
              <a:rPr lang="pl-PL" sz="2000" b="0" u="none" strike="noStrike">
                <a:solidFill>
                  <a:srgbClr val="000000"/>
                </a:solidFill>
                <a:effectLst/>
                <a:uFillTx/>
                <a:latin typeface="Arial"/>
              </a:rPr>
              <a:t>współchorobowość psychiatryczną, wypadki, problemy edukacyjne, </a:t>
            </a:r>
            <a:r>
              <a:rPr lang="pl-PL" sz="2000" b="0" u="none" strike="noStrike">
                <a:solidFill>
                  <a:srgbClr val="000000"/>
                </a:solidFill>
                <a:effectLst/>
                <a:uFillTx/>
                <a:latin typeface="Arial"/>
              </a:rPr>
              <a:t>trudności zawodowe, konflikty rodzinne i zachowania przestępcze. </a:t>
            </a:r>
            <a:r>
              <a:rPr lang="pl-PL" sz="2000" b="0" u="none" strike="noStrike">
                <a:solidFill>
                  <a:srgbClr val="000000"/>
                </a:solidFill>
                <a:effectLst/>
                <a:uFillTx/>
                <a:latin typeface="Arial"/>
              </a:rPr>
              <a:t>Najbardziej niekorzystny przebieg dotyczy zwykle konfiguracji </a:t>
            </a:r>
            <a:r>
              <a:rPr lang="pl-PL" sz="2000" b="0" u="none" strike="noStrike">
                <a:solidFill>
                  <a:srgbClr val="000000"/>
                </a:solidFill>
                <a:effectLst/>
                <a:uFillTx/>
                <a:latin typeface="Arial"/>
              </a:rPr>
              <a:t>obejmującej ADHD, zaburzenia zachowania lub cechy antyspołeczne, </a:t>
            </a:r>
            <a:r>
              <a:rPr lang="pl-PL" sz="2000" b="0" u="none" strike="noStrike">
                <a:solidFill>
                  <a:srgbClr val="000000"/>
                </a:solidFill>
                <a:effectLst/>
                <a:uFillTx/>
                <a:latin typeface="Arial"/>
              </a:rPr>
              <a:t>dysregulację emocjonalną, depresję lub SUD, niekorzystne środowisko i </a:t>
            </a:r>
            <a:r>
              <a:rPr lang="pl-PL" sz="2000" b="0" u="none" strike="noStrike">
                <a:solidFill>
                  <a:srgbClr val="000000"/>
                </a:solidFill>
                <a:effectLst/>
                <a:uFillTx/>
                <a:latin typeface="Arial"/>
              </a:rPr>
              <a:t>brak leczenia. Prawidłowo prowadzona farmakoterapia nie zwiększa </a:t>
            </a:r>
            <a:r>
              <a:rPr lang="pl-PL" sz="2000" b="0" u="none" strike="noStrike">
                <a:solidFill>
                  <a:srgbClr val="000000"/>
                </a:solidFill>
                <a:effectLst/>
                <a:uFillTx/>
                <a:latin typeface="Arial"/>
              </a:rPr>
              <a:t>ryzyka uzależnienia, a badania populacyjne wskazują na niższe ryzyko </a:t>
            </a:r>
            <a:r>
              <a:rPr lang="pl-PL" sz="2000" b="0" u="none" strike="noStrike">
                <a:solidFill>
                  <a:srgbClr val="000000"/>
                </a:solidFill>
                <a:effectLst/>
                <a:uFillTx/>
                <a:latin typeface="Arial"/>
              </a:rPr>
              <a:t>nadużywania substancji, przestępstw, wypadków transportowych i </a:t>
            </a:r>
            <a:r>
              <a:rPr lang="pl-PL" sz="2000" b="0" u="none" strike="noStrike">
                <a:solidFill>
                  <a:srgbClr val="000000"/>
                </a:solidFill>
                <a:effectLst/>
                <a:uFillTx/>
                <a:latin typeface="Arial"/>
              </a:rPr>
              <a:t>zachowań samobójczych w okresach leczenia. Wczesne rozpoznanie i </a:t>
            </a:r>
            <a:r>
              <a:rPr lang="pl-PL" sz="2000" b="0" u="none" strike="noStrike">
                <a:solidFill>
                  <a:srgbClr val="000000"/>
                </a:solidFill>
                <a:effectLst/>
                <a:uFillTx/>
                <a:latin typeface="Arial"/>
              </a:rPr>
              <a:t>ciągłe leczenie wielomodalne należy traktować nie tylko jako interwencję </a:t>
            </a:r>
            <a:r>
              <a:rPr lang="pl-PL" sz="2000" b="0" u="none" strike="noStrike">
                <a:solidFill>
                  <a:srgbClr val="000000"/>
                </a:solidFill>
                <a:effectLst/>
                <a:uFillTx/>
                <a:latin typeface="Arial"/>
              </a:rPr>
              <a:t>dotyczącą objawów, lecz także jako potencjalną formę profilaktyki </a:t>
            </a:r>
            <a:r>
              <a:rPr lang="pl-PL" sz="2000" b="0" u="none" strike="noStrike">
                <a:solidFill>
                  <a:srgbClr val="000000"/>
                </a:solidFill>
                <a:effectLst/>
                <a:uFillTx/>
                <a:latin typeface="Arial"/>
              </a:rPr>
              <a:t>uzależnień, wypadków, marginalizacji i utraty kapitału ludzkiego. To </a:t>
            </a:r>
            <a:r>
              <a:rPr lang="pl-PL" sz="2000" b="0" u="none" strike="noStrike">
                <a:solidFill>
                  <a:srgbClr val="000000"/>
                </a:solidFill>
                <a:effectLst/>
                <a:uFillTx/>
                <a:latin typeface="Arial"/>
              </a:rPr>
              <a:t>dobre miejsce, aby zakończyć i otworzyć dyskusję.</a:t>
            </a:r>
            <a:endParaRPr lang="pl-PL" sz="2000" b="0" u="none" strike="noStrike">
              <a:solidFill>
                <a:srgbClr val="000000"/>
              </a:solidFill>
              <a:effectLst/>
              <a:uFillTx/>
              <a:latin typeface="Arial"/>
            </a:endParaRPr>
          </a:p>
        </p:txBody>
      </p:sp>
      <p:sp>
        <p:nvSpPr>
          <p:cNvPr id="487" name="PlaceHolder 3"/>
          <p:cNvSpPr>
            <a:spLocks noGrp="1"/>
          </p:cNvSpPr>
          <p:nvPr>
            <p:ph type="sldNum" idx="2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pl-PL" sz="1200" b="0" u="none" strike="noStrike">
                <a:solidFill>
                  <a:schemeClr val="dk1"/>
                </a:solidFill>
                <a:effectLst/>
                <a:uFillTx/>
                <a:latin typeface="+mn-lt"/>
                <a:ea typeface="+mn-ea"/>
              </a:defRPr>
            </a:lvl1pPr>
          </a:lstStyle>
          <a:p>
            <a:pPr indent="0" algn="r" defTabSz="914400">
              <a:lnSpc>
                <a:spcPct val="100000"/>
              </a:lnSpc>
              <a:buNone/>
            </a:pPr>
            <a:fld id="{3F47D2C0-B874-4252-97EF-14C0592ADF5C}" type="slidenum">
              <a:rPr lang="pl-PL" sz="1200" b="0" u="none" strike="noStrike">
                <a:solidFill>
                  <a:schemeClr val="dk1"/>
                </a:solidFill>
                <a:effectLst/>
                <a:uFillTx/>
                <a:latin typeface="+mn-lt"/>
                <a:ea typeface="+mn-ea"/>
              </a:rPr>
              <a:t>&lt;numer&gt;</a:t>
            </a:fld>
            <a:endParaRPr lang="pl-PL"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spTree>
      <p:nvGrpSpPr>
        <p:cNvPr id="1" name=""/>
        <p:cNvGrpSpPr/>
        <p:nvPr/>
      </p:nvGrpSpPr>
      <p:grpSpPr>
        <a:xfrm>
          <a:off x="0" y="0"/>
          <a:ext cx="0" cy="0"/>
          <a:chOff x="0" y="0"/>
          <a:chExt cx="0" cy="0"/>
        </a:xfrm>
      </p:grpSpPr>
      <p:sp>
        <p:nvSpPr>
          <p:cNvPr id="4" name="PlaceHolder 1"/>
          <p:cNvSpPr>
            <a:spLocks noGrp="1"/>
          </p:cNvSpPr>
          <p:nvPr>
            <p:ph type="title"/>
          </p:nvPr>
        </p:nvSpPr>
        <p:spPr>
          <a:xfrm>
            <a:off x="457200" y="205200"/>
            <a:ext cx="8229240" cy="858600"/>
          </a:xfrm>
          <a:prstGeom prst="rect">
            <a:avLst/>
          </a:prstGeom>
          <a:noFill/>
          <a:ln w="0">
            <a:noFill/>
          </a:ln>
        </p:spPr>
        <p:txBody>
          <a:bodyPr lIns="0" rIns="0" tIns="0" bIns="0" anchor="ctr">
            <a:spAutoFit/>
          </a:bodyPr>
          <a:p>
            <a:pPr indent="0">
              <a:buNone/>
            </a:pPr>
            <a:endParaRPr lang="pl-PL" sz="1800" b="0" u="none" strike="noStrike">
              <a:solidFill>
                <a:schemeClr val="dk1"/>
              </a:solidFill>
              <a:effectLst/>
              <a:uFillTx/>
              <a:latin typeface="Calibri"/>
            </a:endParaRPr>
          </a:p>
        </p:txBody>
      </p:sp>
      <p:sp>
        <p:nvSpPr>
          <p:cNvPr id="5" name="PlaceHolder 2"/>
          <p:cNvSpPr>
            <a:spLocks noGrp="1"/>
          </p:cNvSpPr>
          <p:nvPr>
            <p:ph type="subTitle"/>
          </p:nvPr>
        </p:nvSpPr>
        <p:spPr>
          <a:xfrm>
            <a:off x="457200" y="1203480"/>
            <a:ext cx="8229240" cy="2982960"/>
          </a:xfrm>
          <a:prstGeom prst="rect">
            <a:avLst/>
          </a:prstGeom>
          <a:noFill/>
          <a:ln w="0">
            <a:noFill/>
          </a:ln>
        </p:spPr>
        <p:txBody>
          <a:bodyPr lIns="0" rIns="0" tIns="0" bIns="0" anchor="ctr">
            <a:spAutoFit/>
          </a:bodyPr>
          <a:p>
            <a:pPr indent="0" algn="ctr">
              <a:buNone/>
            </a:pPr>
            <a:endParaRPr lang="pl-PL" sz="3200" b="0" u="none" strike="noStrike">
              <a:solidFill>
                <a:srgbClr val="000000"/>
              </a:solidFill>
              <a:effectLst/>
              <a:uFillTx/>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r>
              <a:rPr lang="pl-PL" sz="1800" b="0" u="none" strike="noStrike">
                <a:solidFill>
                  <a:schemeClr val="dk1"/>
                </a:solidFill>
                <a:effectLst/>
                <a:uFillTx/>
                <a:latin typeface="Calibri"/>
              </a:rPr>
              <a:t>K</a:t>
            </a:r>
            <a:r>
              <a:rPr lang="pl-PL" sz="1800" b="0" u="none" strike="noStrike">
                <a:solidFill>
                  <a:schemeClr val="dk1"/>
                </a:solidFill>
                <a:effectLst/>
                <a:uFillTx/>
                <a:latin typeface="Calibri"/>
              </a:rPr>
              <a:t>l</a:t>
            </a:r>
            <a:r>
              <a:rPr lang="pl-PL" sz="1800" b="0" u="none" strike="noStrike">
                <a:solidFill>
                  <a:schemeClr val="dk1"/>
                </a:solidFill>
                <a:effectLst/>
                <a:uFillTx/>
                <a:latin typeface="Calibri"/>
              </a:rPr>
              <a:t>i</a:t>
            </a:r>
            <a:r>
              <a:rPr lang="pl-PL" sz="1800" b="0" u="none" strike="noStrike">
                <a:solidFill>
                  <a:schemeClr val="dk1"/>
                </a:solidFill>
                <a:effectLst/>
                <a:uFillTx/>
                <a:latin typeface="Calibri"/>
              </a:rPr>
              <a:t>k</a:t>
            </a:r>
            <a:r>
              <a:rPr lang="pl-PL" sz="1800" b="0" u="none" strike="noStrike">
                <a:solidFill>
                  <a:schemeClr val="dk1"/>
                </a:solidFill>
                <a:effectLst/>
                <a:uFillTx/>
                <a:latin typeface="Calibri"/>
              </a:rPr>
              <a:t>n</a:t>
            </a:r>
            <a:r>
              <a:rPr lang="pl-PL" sz="1800" b="0" u="none" strike="noStrike">
                <a:solidFill>
                  <a:schemeClr val="dk1"/>
                </a:solidFill>
                <a:effectLst/>
                <a:uFillTx/>
                <a:latin typeface="Calibri"/>
              </a:rPr>
              <a:t>i</a:t>
            </a:r>
            <a:r>
              <a:rPr lang="pl-PL" sz="1800" b="0" u="none" strike="noStrike">
                <a:solidFill>
                  <a:schemeClr val="dk1"/>
                </a:solidFill>
                <a:effectLst/>
                <a:uFillTx/>
                <a:latin typeface="Calibri"/>
              </a:rPr>
              <a:t>j</a:t>
            </a:r>
            <a:r>
              <a:rPr lang="pl-PL" sz="1800" b="0" u="none" strike="noStrike">
                <a:solidFill>
                  <a:schemeClr val="dk1"/>
                </a:solidFill>
                <a:effectLst/>
                <a:uFillTx/>
                <a:latin typeface="Calibri"/>
              </a:rPr>
              <a:t>,</a:t>
            </a:r>
            <a:r>
              <a:rPr lang="pl-PL" sz="1800" b="0" u="none" strike="noStrike">
                <a:solidFill>
                  <a:schemeClr val="dk1"/>
                </a:solidFill>
                <a:effectLst/>
                <a:uFillTx/>
                <a:latin typeface="Calibri"/>
              </a:rPr>
              <a:t> </a:t>
            </a:r>
            <a:r>
              <a:rPr lang="pl-PL" sz="1800" b="0" u="none" strike="noStrike">
                <a:solidFill>
                  <a:schemeClr val="dk1"/>
                </a:solidFill>
                <a:effectLst/>
                <a:uFillTx/>
                <a:latin typeface="Calibri"/>
              </a:rPr>
              <a:t>a</a:t>
            </a:r>
            <a:r>
              <a:rPr lang="pl-PL" sz="1800" b="0" u="none" strike="noStrike">
                <a:solidFill>
                  <a:schemeClr val="dk1"/>
                </a:solidFill>
                <a:effectLst/>
                <a:uFillTx/>
                <a:latin typeface="Calibri"/>
              </a:rPr>
              <a:t>b</a:t>
            </a:r>
            <a:r>
              <a:rPr lang="pl-PL" sz="1800" b="0" u="none" strike="noStrike">
                <a:solidFill>
                  <a:schemeClr val="dk1"/>
                </a:solidFill>
                <a:effectLst/>
                <a:uFillTx/>
                <a:latin typeface="Calibri"/>
              </a:rPr>
              <a:t>y</a:t>
            </a:r>
            <a:r>
              <a:rPr lang="pl-PL" sz="1800" b="0" u="none" strike="noStrike">
                <a:solidFill>
                  <a:schemeClr val="dk1"/>
                </a:solidFill>
                <a:effectLst/>
                <a:uFillTx/>
                <a:latin typeface="Calibri"/>
              </a:rPr>
              <a:t> </a:t>
            </a:r>
            <a:r>
              <a:rPr lang="pl-PL" sz="1800" b="0" u="none" strike="noStrike">
                <a:solidFill>
                  <a:schemeClr val="dk1"/>
                </a:solidFill>
                <a:effectLst/>
                <a:uFillTx/>
                <a:latin typeface="Calibri"/>
              </a:rPr>
              <a:t>e</a:t>
            </a:r>
            <a:r>
              <a:rPr lang="pl-PL" sz="1800" b="0" u="none" strike="noStrike">
                <a:solidFill>
                  <a:schemeClr val="dk1"/>
                </a:solidFill>
                <a:effectLst/>
                <a:uFillTx/>
                <a:latin typeface="Calibri"/>
              </a:rPr>
              <a:t>d</a:t>
            </a:r>
            <a:r>
              <a:rPr lang="pl-PL" sz="1800" b="0" u="none" strike="noStrike">
                <a:solidFill>
                  <a:schemeClr val="dk1"/>
                </a:solidFill>
                <a:effectLst/>
                <a:uFillTx/>
                <a:latin typeface="Calibri"/>
              </a:rPr>
              <a:t>y</a:t>
            </a:r>
            <a:r>
              <a:rPr lang="pl-PL" sz="1800" b="0" u="none" strike="noStrike">
                <a:solidFill>
                  <a:schemeClr val="dk1"/>
                </a:solidFill>
                <a:effectLst/>
                <a:uFillTx/>
                <a:latin typeface="Calibri"/>
              </a:rPr>
              <a:t>t</a:t>
            </a:r>
            <a:r>
              <a:rPr lang="pl-PL" sz="1800" b="0" u="none" strike="noStrike">
                <a:solidFill>
                  <a:schemeClr val="dk1"/>
                </a:solidFill>
                <a:effectLst/>
                <a:uFillTx/>
                <a:latin typeface="Calibri"/>
              </a:rPr>
              <a:t>o</a:t>
            </a:r>
            <a:r>
              <a:rPr lang="pl-PL" sz="1800" b="0" u="none" strike="noStrike">
                <a:solidFill>
                  <a:schemeClr val="dk1"/>
                </a:solidFill>
                <a:effectLst/>
                <a:uFillTx/>
                <a:latin typeface="Calibri"/>
              </a:rPr>
              <a:t>w</a:t>
            </a:r>
            <a:r>
              <a:rPr lang="pl-PL" sz="1800" b="0" u="none" strike="noStrike">
                <a:solidFill>
                  <a:schemeClr val="dk1"/>
                </a:solidFill>
                <a:effectLst/>
                <a:uFillTx/>
                <a:latin typeface="Calibri"/>
              </a:rPr>
              <a:t>a</a:t>
            </a:r>
            <a:r>
              <a:rPr lang="pl-PL" sz="1800" b="0" u="none" strike="noStrike">
                <a:solidFill>
                  <a:schemeClr val="dk1"/>
                </a:solidFill>
                <a:effectLst/>
                <a:uFillTx/>
                <a:latin typeface="Calibri"/>
              </a:rPr>
              <a:t>ć</a:t>
            </a:r>
            <a:r>
              <a:rPr lang="pl-PL" sz="1800" b="0" u="none" strike="noStrike">
                <a:solidFill>
                  <a:schemeClr val="dk1"/>
                </a:solidFill>
                <a:effectLst/>
                <a:uFillTx/>
                <a:latin typeface="Calibri"/>
              </a:rPr>
              <a:t> </a:t>
            </a:r>
            <a:r>
              <a:rPr lang="pl-PL" sz="1800" b="0" u="none" strike="noStrike">
                <a:solidFill>
                  <a:schemeClr val="dk1"/>
                </a:solidFill>
                <a:effectLst/>
                <a:uFillTx/>
                <a:latin typeface="Calibri"/>
              </a:rPr>
              <a:t>f</a:t>
            </a:r>
            <a:r>
              <a:rPr lang="pl-PL" sz="1800" b="0" u="none" strike="noStrike">
                <a:solidFill>
                  <a:schemeClr val="dk1"/>
                </a:solidFill>
                <a:effectLst/>
                <a:uFillTx/>
                <a:latin typeface="Calibri"/>
              </a:rPr>
              <a:t>o</a:t>
            </a:r>
            <a:r>
              <a:rPr lang="pl-PL" sz="1800" b="0" u="none" strike="noStrike">
                <a:solidFill>
                  <a:schemeClr val="dk1"/>
                </a:solidFill>
                <a:effectLst/>
                <a:uFillTx/>
                <a:latin typeface="Calibri"/>
              </a:rPr>
              <a:t>r</a:t>
            </a:r>
            <a:r>
              <a:rPr lang="pl-PL" sz="1800" b="0" u="none" strike="noStrike">
                <a:solidFill>
                  <a:schemeClr val="dk1"/>
                </a:solidFill>
                <a:effectLst/>
                <a:uFillTx/>
                <a:latin typeface="Calibri"/>
              </a:rPr>
              <a:t>m</a:t>
            </a:r>
            <a:r>
              <a:rPr lang="pl-PL" sz="1800" b="0" u="none" strike="noStrike">
                <a:solidFill>
                  <a:schemeClr val="dk1"/>
                </a:solidFill>
                <a:effectLst/>
                <a:uFillTx/>
                <a:latin typeface="Calibri"/>
              </a:rPr>
              <a:t>a</a:t>
            </a:r>
            <a:r>
              <a:rPr lang="pl-PL" sz="1800" b="0" u="none" strike="noStrike">
                <a:solidFill>
                  <a:schemeClr val="dk1"/>
                </a:solidFill>
                <a:effectLst/>
                <a:uFillTx/>
                <a:latin typeface="Calibri"/>
              </a:rPr>
              <a:t>t</a:t>
            </a:r>
            <a:r>
              <a:rPr lang="pl-PL" sz="1800" b="0" u="none" strike="noStrike">
                <a:solidFill>
                  <a:schemeClr val="dk1"/>
                </a:solidFill>
                <a:effectLst/>
                <a:uFillTx/>
                <a:latin typeface="Calibri"/>
              </a:rPr>
              <a:t> </a:t>
            </a:r>
            <a:r>
              <a:rPr lang="pl-PL" sz="1800" b="0" u="none" strike="noStrike">
                <a:solidFill>
                  <a:schemeClr val="dk1"/>
                </a:solidFill>
                <a:effectLst/>
                <a:uFillTx/>
                <a:latin typeface="Calibri"/>
              </a:rPr>
              <a:t>t</a:t>
            </a:r>
            <a:r>
              <a:rPr lang="pl-PL" sz="1800" b="0" u="none" strike="noStrike">
                <a:solidFill>
                  <a:schemeClr val="dk1"/>
                </a:solidFill>
                <a:effectLst/>
                <a:uFillTx/>
                <a:latin typeface="Calibri"/>
              </a:rPr>
              <a:t>e</a:t>
            </a:r>
            <a:r>
              <a:rPr lang="pl-PL" sz="1800" b="0" u="none" strike="noStrike">
                <a:solidFill>
                  <a:schemeClr val="dk1"/>
                </a:solidFill>
                <a:effectLst/>
                <a:uFillTx/>
                <a:latin typeface="Calibri"/>
              </a:rPr>
              <a:t>k</a:t>
            </a:r>
            <a:r>
              <a:rPr lang="pl-PL" sz="1800" b="0" u="none" strike="noStrike">
                <a:solidFill>
                  <a:schemeClr val="dk1"/>
                </a:solidFill>
                <a:effectLst/>
                <a:uFillTx/>
                <a:latin typeface="Calibri"/>
              </a:rPr>
              <a:t>s</a:t>
            </a:r>
            <a:r>
              <a:rPr lang="pl-PL" sz="1800" b="0" u="none" strike="noStrike">
                <a:solidFill>
                  <a:schemeClr val="dk1"/>
                </a:solidFill>
                <a:effectLst/>
                <a:uFillTx/>
                <a:latin typeface="Calibri"/>
              </a:rPr>
              <a:t>t</a:t>
            </a:r>
            <a:r>
              <a:rPr lang="pl-PL" sz="1800" b="0" u="none" strike="noStrike">
                <a:solidFill>
                  <a:schemeClr val="dk1"/>
                </a:solidFill>
                <a:effectLst/>
                <a:uFillTx/>
                <a:latin typeface="Calibri"/>
              </a:rPr>
              <a:t>u</a:t>
            </a:r>
            <a:r>
              <a:rPr lang="pl-PL" sz="1800" b="0" u="none" strike="noStrike">
                <a:solidFill>
                  <a:schemeClr val="dk1"/>
                </a:solidFill>
                <a:effectLst/>
                <a:uFillTx/>
                <a:latin typeface="Calibri"/>
              </a:rPr>
              <a:t> </a:t>
            </a:r>
            <a:r>
              <a:rPr lang="pl-PL" sz="1800" b="0" u="none" strike="noStrike">
                <a:solidFill>
                  <a:schemeClr val="dk1"/>
                </a:solidFill>
                <a:effectLst/>
                <a:uFillTx/>
                <a:latin typeface="Calibri"/>
              </a:rPr>
              <a:t>t</a:t>
            </a:r>
            <a:r>
              <a:rPr lang="pl-PL" sz="1800" b="0" u="none" strike="noStrike">
                <a:solidFill>
                  <a:schemeClr val="dk1"/>
                </a:solidFill>
                <a:effectLst/>
                <a:uFillTx/>
                <a:latin typeface="Calibri"/>
              </a:rPr>
              <a:t>y</a:t>
            </a:r>
            <a:r>
              <a:rPr lang="pl-PL" sz="1800" b="0" u="none" strike="noStrike">
                <a:solidFill>
                  <a:schemeClr val="dk1"/>
                </a:solidFill>
                <a:effectLst/>
                <a:uFillTx/>
                <a:latin typeface="Calibri"/>
              </a:rPr>
              <a:t>t</a:t>
            </a:r>
            <a:r>
              <a:rPr lang="pl-PL" sz="1800" b="0" u="none" strike="noStrike">
                <a:solidFill>
                  <a:schemeClr val="dk1"/>
                </a:solidFill>
                <a:effectLst/>
                <a:uFillTx/>
                <a:latin typeface="Calibri"/>
              </a:rPr>
              <a:t>u</a:t>
            </a:r>
            <a:r>
              <a:rPr lang="pl-PL" sz="1800" b="0" u="none" strike="noStrike">
                <a:solidFill>
                  <a:schemeClr val="dk1"/>
                </a:solidFill>
                <a:effectLst/>
                <a:uFillTx/>
                <a:latin typeface="Calibri"/>
              </a:rPr>
              <a:t>ł</a:t>
            </a:r>
            <a:r>
              <a:rPr lang="pl-PL" sz="1800" b="0" u="none" strike="noStrike">
                <a:solidFill>
                  <a:schemeClr val="dk1"/>
                </a:solidFill>
                <a:effectLst/>
                <a:uFillTx/>
                <a:latin typeface="Calibri"/>
              </a:rPr>
              <a:t>u</a:t>
            </a:r>
            <a:endParaRPr lang="pl-PL" sz="1800" b="0" u="none" strike="noStrike">
              <a:solidFill>
                <a:schemeClr val="dk1"/>
              </a:solidFill>
              <a:effectLst/>
              <a:uFillTx/>
              <a:latin typeface="Calibri"/>
            </a:endParaRPr>
          </a:p>
        </p:txBody>
      </p:sp>
      <p:sp>
        <p:nvSpPr>
          <p:cNvPr id="3" name="PlaceHolder 2"/>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pl-PL" sz="3200" b="0" u="none" strike="noStrike">
                <a:solidFill>
                  <a:schemeClr val="dk1"/>
                </a:solidFill>
                <a:effectLst/>
                <a:uFillTx/>
                <a:latin typeface="Calibri"/>
              </a:rPr>
              <a:t>Kliknij, aby edytować format tekstu konspektu</a:t>
            </a:r>
            <a:endParaRPr lang="pl-PL" sz="3200" b="0" u="none" strike="noStrike">
              <a:solidFill>
                <a:schemeClr val="dk1"/>
              </a:solidFill>
              <a:effectLst/>
              <a:uFillTx/>
              <a:latin typeface="Calibri"/>
            </a:endParaRPr>
          </a:p>
          <a:p>
            <a:pPr marL="864000" lvl="1" indent="-324000">
              <a:spcBef>
                <a:spcPts val="1134"/>
              </a:spcBef>
              <a:buClr>
                <a:srgbClr val="000000"/>
              </a:buClr>
              <a:buSzPct val="75000"/>
              <a:buFont typeface="Symbol" charset="2"/>
              <a:buChar char=""/>
            </a:pPr>
            <a:r>
              <a:rPr lang="pl-PL" sz="2400" b="0" u="none" strike="noStrike">
                <a:solidFill>
                  <a:schemeClr val="dk1"/>
                </a:solidFill>
                <a:effectLst/>
                <a:uFillTx/>
                <a:latin typeface="Calibri"/>
              </a:rPr>
              <a:t>Drugi poziom konspektu</a:t>
            </a:r>
            <a:endParaRPr lang="pl-PL" sz="2400" b="0" u="none" strike="noStrike">
              <a:solidFill>
                <a:schemeClr val="dk1"/>
              </a:solidFill>
              <a:effectLst/>
              <a:uFillTx/>
              <a:latin typeface="Calibri"/>
            </a:endParaRPr>
          </a:p>
          <a:p>
            <a:pPr marL="1296000" lvl="2" indent="-288000">
              <a:spcBef>
                <a:spcPts val="850"/>
              </a:spcBef>
              <a:buClr>
                <a:srgbClr val="000000"/>
              </a:buClr>
              <a:buSzPct val="45000"/>
              <a:buFont typeface="Wingdings" charset="2"/>
              <a:buChar char=""/>
            </a:pPr>
            <a:r>
              <a:rPr lang="pl-PL" sz="2000" b="0" u="none" strike="noStrike">
                <a:solidFill>
                  <a:schemeClr val="dk1"/>
                </a:solidFill>
                <a:effectLst/>
                <a:uFillTx/>
                <a:latin typeface="Calibri"/>
              </a:rPr>
              <a:t>Trzeci poziom konspektu</a:t>
            </a:r>
            <a:endParaRPr lang="pl-PL" sz="2000" b="0" u="none" strike="noStrike">
              <a:solidFill>
                <a:schemeClr val="dk1"/>
              </a:solidFill>
              <a:effectLst/>
              <a:uFillTx/>
              <a:latin typeface="Calibri"/>
            </a:endParaRPr>
          </a:p>
          <a:p>
            <a:pPr marL="1728000" lvl="3" indent="-216000">
              <a:spcBef>
                <a:spcPts val="567"/>
              </a:spcBef>
              <a:buClr>
                <a:srgbClr val="000000"/>
              </a:buClr>
              <a:buSzPct val="75000"/>
              <a:buFont typeface="Symbol" charset="2"/>
              <a:buChar char=""/>
            </a:pPr>
            <a:r>
              <a:rPr lang="pl-PL" sz="2000" b="0" u="none" strike="noStrike">
                <a:solidFill>
                  <a:schemeClr val="dk1"/>
                </a:solidFill>
                <a:effectLst/>
                <a:uFillTx/>
                <a:latin typeface="Calibri"/>
              </a:rPr>
              <a:t>Czwarty poziom konspektu</a:t>
            </a:r>
            <a:endParaRPr lang="pl-PL" sz="2000" b="0" u="none" strike="noStrike">
              <a:solidFill>
                <a:schemeClr val="dk1"/>
              </a:solidFill>
              <a:effectLst/>
              <a:uFillTx/>
              <a:latin typeface="Calibri"/>
            </a:endParaRPr>
          </a:p>
          <a:p>
            <a:pPr marL="2160000" lvl="4" indent="-216000">
              <a:spcBef>
                <a:spcPts val="283"/>
              </a:spcBef>
              <a:buClr>
                <a:srgbClr val="000000"/>
              </a:buClr>
              <a:buSzPct val="45000"/>
              <a:buFont typeface="Wingdings" charset="2"/>
              <a:buChar char=""/>
            </a:pPr>
            <a:r>
              <a:rPr lang="pl-PL" sz="2000" b="0" u="none" strike="noStrike">
                <a:solidFill>
                  <a:schemeClr val="dk1"/>
                </a:solidFill>
                <a:effectLst/>
                <a:uFillTx/>
                <a:latin typeface="Calibri"/>
              </a:rPr>
              <a:t>Piąty poziom konspektu</a:t>
            </a:r>
            <a:endParaRPr lang="pl-PL" sz="2000" b="0" u="none" strike="noStrike">
              <a:solidFill>
                <a:schemeClr val="dk1"/>
              </a:solidFill>
              <a:effectLst/>
              <a:uFillTx/>
              <a:latin typeface="Calibri"/>
            </a:endParaRPr>
          </a:p>
          <a:p>
            <a:pPr marL="2592000" lvl="5" indent="-216000">
              <a:spcBef>
                <a:spcPts val="283"/>
              </a:spcBef>
              <a:buClr>
                <a:srgbClr val="000000"/>
              </a:buClr>
              <a:buSzPct val="45000"/>
              <a:buFont typeface="Wingdings" charset="2"/>
              <a:buChar char=""/>
            </a:pPr>
            <a:r>
              <a:rPr lang="pl-PL" sz="2000" b="0" u="none" strike="noStrike">
                <a:solidFill>
                  <a:schemeClr val="dk1"/>
                </a:solidFill>
                <a:effectLst/>
                <a:uFillTx/>
                <a:latin typeface="Calibri"/>
              </a:rPr>
              <a:t>Szósty poziom konspektu</a:t>
            </a:r>
            <a:endParaRPr lang="pl-PL" sz="2000" b="0" u="none" strike="noStrike">
              <a:solidFill>
                <a:schemeClr val="dk1"/>
              </a:solidFill>
              <a:effectLst/>
              <a:uFillTx/>
              <a:latin typeface="Calibri"/>
            </a:endParaRPr>
          </a:p>
          <a:p>
            <a:pPr marL="3024000" lvl="6" indent="-216000">
              <a:spcBef>
                <a:spcPts val="283"/>
              </a:spcBef>
              <a:buClr>
                <a:srgbClr val="000000"/>
              </a:buClr>
              <a:buSzPct val="45000"/>
              <a:buFont typeface="Wingdings" charset="2"/>
              <a:buChar char=""/>
            </a:pPr>
            <a:r>
              <a:rPr lang="pl-PL" sz="2000" b="0" u="none" strike="noStrike">
                <a:solidFill>
                  <a:schemeClr val="dk1"/>
                </a:solidFill>
                <a:effectLst/>
                <a:uFillTx/>
                <a:latin typeface="Calibri"/>
              </a:rPr>
              <a:t>Siódmy poziom konspektu</a:t>
            </a:r>
            <a:endParaRPr lang="pl-PL"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b2148"/>
        </a:solidFill>
      </p:bgPr>
    </p:bg>
    <p:spTree>
      <p:nvGrpSpPr>
        <p:cNvPr id="1" name=""/>
        <p:cNvGrpSpPr/>
        <p:nvPr/>
      </p:nvGrpSpPr>
      <p:grpSpPr>
        <a:xfrm>
          <a:off x="0" y="0"/>
          <a:ext cx="0" cy="0"/>
          <a:chOff x="0" y="0"/>
          <a:chExt cx="0" cy="0"/>
        </a:xfrm>
      </p:grpSpPr>
      <p:sp>
        <p:nvSpPr>
          <p:cNvPr id="12" name="Shape 0"/>
          <p:cNvSpPr/>
          <p:nvPr/>
        </p:nvSpPr>
        <p:spPr>
          <a:xfrm>
            <a:off x="6400800" y="-1188720"/>
            <a:ext cx="4205880" cy="4205880"/>
          </a:xfrm>
          <a:prstGeom prst="ellipse">
            <a:avLst/>
          </a:prstGeom>
          <a:solidFill>
            <a:srgbClr val="e8743a">
              <a:alpha val="10000"/>
            </a:srgbClr>
          </a:solidFill>
          <a:ln w="12600">
            <a:solidFill>
              <a:srgbClr val="e8743a">
                <a:alpha val="25000"/>
              </a:srgbClr>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13" name="Shape 1"/>
          <p:cNvSpPr/>
          <p:nvPr/>
        </p:nvSpPr>
        <p:spPr>
          <a:xfrm>
            <a:off x="7223760" y="-457200"/>
            <a:ext cx="2194200" cy="2194200"/>
          </a:xfrm>
          <a:prstGeom prst="ellipse">
            <a:avLst/>
          </a:prstGeom>
          <a:solidFill>
            <a:srgbClr val="1f8a82">
              <a:alpha val="12000"/>
            </a:srgbClr>
          </a:solidFill>
          <a:ln w="12600">
            <a:solidFill>
              <a:srgbClr val="1f8a82">
                <a:alpha val="30000"/>
              </a:srgbClr>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14" name="Text 2"/>
          <p:cNvSpPr/>
          <p:nvPr/>
        </p:nvSpPr>
        <p:spPr>
          <a:xfrm>
            <a:off x="322920" y="190440"/>
            <a:ext cx="327708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400" b="1" u="none" spc="139" strike="noStrike">
                <a:solidFill>
                  <a:srgbClr val="f2a679"/>
                </a:solidFill>
                <a:effectLst/>
                <a:uFillTx/>
                <a:latin typeface="Calibri"/>
                <a:ea typeface="Calibri"/>
              </a:rPr>
              <a:t>PSYCHOLOGIA KLINICZNA</a:t>
            </a:r>
            <a:endParaRPr lang="pl-PL" sz="1400" b="0" u="none" strike="noStrike">
              <a:solidFill>
                <a:srgbClr val="ffffff"/>
              </a:solidFill>
              <a:effectLst/>
              <a:uFillTx/>
              <a:latin typeface="Arial"/>
            </a:endParaRPr>
          </a:p>
        </p:txBody>
      </p:sp>
      <p:sp>
        <p:nvSpPr>
          <p:cNvPr id="15" name="Text 3"/>
          <p:cNvSpPr/>
          <p:nvPr/>
        </p:nvSpPr>
        <p:spPr>
          <a:xfrm>
            <a:off x="394920" y="546480"/>
            <a:ext cx="5797080" cy="1554120"/>
          </a:xfrm>
          <a:prstGeom prst="rect">
            <a:avLst/>
          </a:prstGeom>
          <a:noFill/>
          <a:ln w="0">
            <a:noFill/>
          </a:ln>
        </p:spPr>
        <p:style>
          <a:lnRef idx="0"/>
          <a:fillRef idx="0"/>
          <a:effectRef idx="0"/>
          <a:fontRef idx="minor"/>
        </p:style>
        <p:txBody>
          <a:bodyPr lIns="0" rIns="0" tIns="0" bIns="0" anchor="ctr">
            <a:noAutofit/>
          </a:bodyPr>
          <a:p>
            <a:pPr defTabSz="914400">
              <a:lnSpc>
                <a:spcPct val="104000"/>
              </a:lnSpc>
              <a:tabLst>
                <a:tab algn="l" pos="0"/>
              </a:tabLst>
            </a:pPr>
            <a:r>
              <a:rPr lang="pl-PL" sz="4000" b="1" u="none" strike="noStrike">
                <a:solidFill>
                  <a:srgbClr val="ffffff"/>
                </a:solidFill>
                <a:effectLst/>
                <a:uFillTx/>
                <a:latin typeface="Cambria"/>
                <a:ea typeface="Cambria"/>
              </a:rPr>
              <a:t>ADHD, a funkcjonowanie</a:t>
            </a:r>
            <a:endParaRPr lang="pl-PL" sz="4000" b="0" u="none" strike="noStrike">
              <a:solidFill>
                <a:srgbClr val="ffffff"/>
              </a:solidFill>
              <a:effectLst/>
              <a:uFillTx/>
              <a:latin typeface="Arial"/>
            </a:endParaRPr>
          </a:p>
          <a:p>
            <a:pPr defTabSz="914400">
              <a:lnSpc>
                <a:spcPct val="104000"/>
              </a:lnSpc>
              <a:tabLst>
                <a:tab algn="l" pos="0"/>
              </a:tabLst>
            </a:pPr>
            <a:r>
              <a:rPr lang="pl-PL" sz="4000" b="1" u="none" strike="noStrike">
                <a:solidFill>
                  <a:srgbClr val="ffffff"/>
                </a:solidFill>
                <a:effectLst/>
                <a:uFillTx/>
                <a:latin typeface="Cambria"/>
                <a:ea typeface="Cambria"/>
              </a:rPr>
              <a:t>psychospołeczne</a:t>
            </a:r>
            <a:endParaRPr lang="pl-PL" sz="4000" b="0" u="none" strike="noStrike">
              <a:solidFill>
                <a:srgbClr val="ffffff"/>
              </a:solidFill>
              <a:effectLst/>
              <a:uFillTx/>
              <a:latin typeface="Arial"/>
            </a:endParaRPr>
          </a:p>
        </p:txBody>
      </p:sp>
      <p:sp>
        <p:nvSpPr>
          <p:cNvPr id="16" name="Text 4"/>
          <p:cNvSpPr/>
          <p:nvPr/>
        </p:nvSpPr>
        <p:spPr>
          <a:xfrm>
            <a:off x="502920" y="2866680"/>
            <a:ext cx="5797080" cy="63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450" b="0" u="none" strike="noStrike">
                <a:solidFill>
                  <a:srgbClr val="c7cdee"/>
                </a:solidFill>
                <a:effectLst/>
                <a:uFillTx/>
                <a:latin typeface="Calibri"/>
                <a:ea typeface="Calibri"/>
              </a:rPr>
              <a:t>Uzależnienia, współchorobowość, przestępczość, edukacja, praca i rodzina</a:t>
            </a:r>
            <a:r>
              <a:rPr lang="pl-PL" sz="1450" b="0" i="1" u="none" strike="noStrike">
                <a:solidFill>
                  <a:srgbClr val="8f9bd4"/>
                </a:solidFill>
                <a:effectLst/>
                <a:uFillTx/>
                <a:latin typeface="Calibri"/>
                <a:ea typeface="Calibri"/>
              </a:rPr>
              <a:t>  </a:t>
            </a:r>
            <a:br>
              <a:rPr sz="1450"/>
            </a:br>
            <a:r>
              <a:rPr lang="pl-PL" sz="1400" b="0" i="1" u="none" strike="noStrike">
                <a:solidFill>
                  <a:srgbClr val="8f9bd4"/>
                </a:solidFill>
                <a:effectLst/>
                <a:uFillTx/>
                <a:latin typeface="Calibri"/>
                <a:ea typeface="Calibri"/>
              </a:rPr>
              <a:t>synteza dowodów z metaanaliz, badań kohortowych i analiz rejestrowych</a:t>
            </a:r>
            <a:endParaRPr lang="pl-PL" sz="1400" b="0" u="none" strike="noStrike">
              <a:solidFill>
                <a:srgbClr val="ffffff"/>
              </a:solidFill>
              <a:effectLst/>
              <a:uFillTx/>
              <a:latin typeface="Arial"/>
            </a:endParaRPr>
          </a:p>
        </p:txBody>
      </p:sp>
      <p:sp>
        <p:nvSpPr>
          <p:cNvPr id="17" name="Shape 5"/>
          <p:cNvSpPr/>
          <p:nvPr/>
        </p:nvSpPr>
        <p:spPr>
          <a:xfrm>
            <a:off x="502920" y="4160520"/>
            <a:ext cx="2743200" cy="360"/>
          </a:xfrm>
          <a:prstGeom prst="line">
            <a:avLst/>
          </a:prstGeom>
          <a:ln w="12600">
            <a:solidFill>
              <a:srgbClr val="454f8c"/>
            </a:solidFill>
            <a:round/>
          </a:ln>
        </p:spPr>
        <p:style>
          <a:lnRef idx="0"/>
          <a:fillRef idx="0"/>
          <a:effectRef idx="0"/>
          <a:fontRef idx="minor"/>
        </p:style>
        <p:txBody>
          <a:bodyPr lIns="90000" rIns="90000" tIns="-44640" bIns="-44640" anchor="t" anchorCtr="1">
            <a:noAutofit/>
          </a:bodyPr>
          <a:p>
            <a:endParaRPr lang="pl-PL" sz="1800" b="0" u="none" strike="noStrike">
              <a:solidFill>
                <a:srgbClr val="ffffff"/>
              </a:solidFill>
              <a:effectLst/>
              <a:uFillTx/>
              <a:latin typeface="Arial"/>
            </a:endParaRPr>
          </a:p>
        </p:txBody>
      </p:sp>
      <p:sp>
        <p:nvSpPr>
          <p:cNvPr id="18" name="Text 6"/>
          <p:cNvSpPr/>
          <p:nvPr/>
        </p:nvSpPr>
        <p:spPr>
          <a:xfrm>
            <a:off x="502920" y="4279320"/>
            <a:ext cx="795492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50" b="0" u="none" strike="noStrike">
                <a:solidFill>
                  <a:srgbClr val="9aa4d8"/>
                </a:solidFill>
                <a:effectLst/>
                <a:uFillTx/>
                <a:latin typeface="Calibri"/>
                <a:ea typeface="Calibri"/>
              </a:rPr>
              <a:t>dr inż. Mateusz Pomianek   ·   Politechnika Rzeszowska   ·   27 czerwca 2026 r.</a:t>
            </a:r>
            <a:endParaRPr lang="pl-PL" sz="11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WPROWADZENIE</a:t>
            </a:r>
            <a:endParaRPr lang="pl-PL" sz="1100" b="0" u="none" strike="noStrike">
              <a:solidFill>
                <a:srgbClr val="000000"/>
              </a:solidFill>
              <a:effectLst/>
              <a:uFillTx/>
              <a:latin typeface="Arial"/>
            </a:endParaRPr>
          </a:p>
        </p:txBody>
      </p:sp>
      <p:sp>
        <p:nvSpPr>
          <p:cNvPr id="20"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200" b="1" u="none" strike="noStrike">
                <a:solidFill>
                  <a:srgbClr val="1b2148"/>
                </a:solidFill>
                <a:effectLst/>
                <a:uFillTx/>
                <a:latin typeface="Cambria"/>
                <a:ea typeface="Cambria"/>
              </a:rPr>
              <a:t>Cel i zakres raportu</a:t>
            </a:r>
            <a:endParaRPr lang="pl-PL" sz="2200" b="0" u="none" strike="noStrike">
              <a:solidFill>
                <a:srgbClr val="000000"/>
              </a:solidFill>
              <a:effectLst/>
              <a:uFillTx/>
              <a:latin typeface="Arial"/>
            </a:endParaRPr>
          </a:p>
        </p:txBody>
      </p:sp>
      <p:sp>
        <p:nvSpPr>
          <p:cNvPr id="21" name="Text 2"/>
          <p:cNvSpPr/>
          <p:nvPr/>
        </p:nvSpPr>
        <p:spPr>
          <a:xfrm>
            <a:off x="502920" y="1017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400" b="0" i="1" u="none" strike="noStrike">
                <a:solidFill>
                  <a:srgbClr val="55607a"/>
                </a:solidFill>
                <a:effectLst/>
                <a:uFillTx/>
                <a:latin typeface="Calibri"/>
                <a:ea typeface="Calibri"/>
              </a:rPr>
              <a:t>ADHD jako zaburzenie samoregulacji; dlaczego jego konsekwencje wykraczają daleko poza klasę szkolną</a:t>
            </a:r>
            <a:endParaRPr lang="pl-PL" sz="1400" b="0" u="none" strike="noStrike">
              <a:solidFill>
                <a:srgbClr val="000000"/>
              </a:solidFill>
              <a:effectLst/>
              <a:uFillTx/>
              <a:latin typeface="Arial"/>
            </a:endParaRPr>
          </a:p>
        </p:txBody>
      </p:sp>
      <p:sp>
        <p:nvSpPr>
          <p:cNvPr id="22" name="Text 3"/>
          <p:cNvSpPr/>
          <p:nvPr/>
        </p:nvSpPr>
        <p:spPr>
          <a:xfrm>
            <a:off x="502920" y="1627560"/>
            <a:ext cx="8137800" cy="63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400" b="0" u="none" strike="noStrike">
                <a:solidFill>
                  <a:srgbClr val="000000"/>
                </a:solidFill>
                <a:effectLst/>
                <a:uFillTx/>
                <a:latin typeface="Calibri"/>
                <a:ea typeface="Calibri"/>
              </a:rPr>
              <a:t>Kliniczny obraz ADHD obejmuje nieuwagę, impulsywność i nadruchliwość, ale jego funkcjonalne znaczenie wynika przede wszystkim z trudności w samoregulacji, planowaniu, hamowaniu reakcji i odraczaniu gratyfikacji, nawet przy prawidłowych lub wysokich zdolnościach intelektualnych.</a:t>
            </a:r>
            <a:endParaRPr lang="pl-PL" sz="1400" b="0" u="none" strike="noStrike">
              <a:solidFill>
                <a:srgbClr val="000000"/>
              </a:solidFill>
              <a:effectLst/>
              <a:uFillTx/>
              <a:latin typeface="Arial"/>
            </a:endParaRPr>
          </a:p>
        </p:txBody>
      </p:sp>
      <p:sp>
        <p:nvSpPr>
          <p:cNvPr id="23" name="Shape 4"/>
          <p:cNvSpPr/>
          <p:nvPr/>
        </p:nvSpPr>
        <p:spPr>
          <a:xfrm>
            <a:off x="502920" y="2664000"/>
            <a:ext cx="1590840" cy="1551600"/>
          </a:xfrm>
          <a:prstGeom prst="roundRect">
            <a:avLst>
              <a:gd name="adj" fmla="val 5172"/>
            </a:avLst>
          </a:prstGeom>
          <a:solidFill>
            <a:srgbClr val="f4f6fa"/>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4" name="Shape 5"/>
          <p:cNvSpPr/>
          <p:nvPr/>
        </p:nvSpPr>
        <p:spPr>
          <a:xfrm>
            <a:off x="667440" y="2795760"/>
            <a:ext cx="383760" cy="383760"/>
          </a:xfrm>
          <a:prstGeom prst="ellipse">
            <a:avLst/>
          </a:prstGeom>
          <a:solidFill>
            <a:srgbClr val="e8743a"/>
          </a:solidFill>
          <a:ln w="12600">
            <a:solidFill>
              <a:srgbClr val="e8743a"/>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25" name="Text 6"/>
          <p:cNvSpPr/>
          <p:nvPr/>
        </p:nvSpPr>
        <p:spPr>
          <a:xfrm>
            <a:off x="667440" y="2795760"/>
            <a:ext cx="38376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300" b="1" u="none" strike="noStrike">
                <a:solidFill>
                  <a:srgbClr val="ffffff"/>
                </a:solidFill>
                <a:effectLst/>
                <a:uFillTx/>
                <a:latin typeface="Calibri"/>
                <a:ea typeface="Calibri"/>
              </a:rPr>
              <a:t>1</a:t>
            </a:r>
            <a:endParaRPr lang="pl-PL" sz="1300" b="0" u="none" strike="noStrike">
              <a:solidFill>
                <a:srgbClr val="000000"/>
              </a:solidFill>
              <a:effectLst/>
              <a:uFillTx/>
              <a:latin typeface="Arial"/>
            </a:endParaRPr>
          </a:p>
        </p:txBody>
      </p:sp>
      <p:sp>
        <p:nvSpPr>
          <p:cNvPr id="26" name="Text 7"/>
          <p:cNvSpPr/>
          <p:nvPr/>
        </p:nvSpPr>
        <p:spPr>
          <a:xfrm>
            <a:off x="631080" y="3182040"/>
            <a:ext cx="1334520" cy="603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50" b="1" u="none" strike="noStrike">
                <a:solidFill>
                  <a:srgbClr val="1b2148"/>
                </a:solidFill>
                <a:effectLst/>
                <a:uFillTx/>
                <a:latin typeface="Cambria"/>
                <a:ea typeface="Cambria"/>
              </a:rPr>
              <a:t>Uzależnienia</a:t>
            </a:r>
            <a:endParaRPr lang="pl-PL" sz="1250" b="0" u="none" strike="noStrike">
              <a:solidFill>
                <a:srgbClr val="000000"/>
              </a:solidFill>
              <a:effectLst/>
              <a:uFillTx/>
              <a:latin typeface="Arial"/>
            </a:endParaRPr>
          </a:p>
        </p:txBody>
      </p:sp>
      <p:sp>
        <p:nvSpPr>
          <p:cNvPr id="27" name="Text 8"/>
          <p:cNvSpPr/>
          <p:nvPr/>
        </p:nvSpPr>
        <p:spPr>
          <a:xfrm>
            <a:off x="631080" y="3730680"/>
            <a:ext cx="133452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000" b="0" u="none" strike="noStrike">
                <a:solidFill>
                  <a:srgbClr val="55607a"/>
                </a:solidFill>
                <a:effectLst/>
                <a:uFillTx/>
                <a:latin typeface="Calibri"/>
                <a:ea typeface="Calibri"/>
              </a:rPr>
              <a:t>rozwój, utrzymywanie się i leczenie SUD</a:t>
            </a:r>
            <a:endParaRPr lang="pl-PL" sz="1000" b="0" u="none" strike="noStrike">
              <a:solidFill>
                <a:srgbClr val="000000"/>
              </a:solidFill>
              <a:effectLst/>
              <a:uFillTx/>
              <a:latin typeface="Arial"/>
            </a:endParaRPr>
          </a:p>
        </p:txBody>
      </p:sp>
      <p:sp>
        <p:nvSpPr>
          <p:cNvPr id="28" name="Shape 9"/>
          <p:cNvSpPr/>
          <p:nvPr/>
        </p:nvSpPr>
        <p:spPr>
          <a:xfrm>
            <a:off x="2148840" y="2664000"/>
            <a:ext cx="1590840" cy="1551600"/>
          </a:xfrm>
          <a:prstGeom prst="roundRect">
            <a:avLst>
              <a:gd name="adj" fmla="val 5172"/>
            </a:avLst>
          </a:prstGeom>
          <a:solidFill>
            <a:srgbClr val="f4f6fa"/>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9" name="Shape 10"/>
          <p:cNvSpPr/>
          <p:nvPr/>
        </p:nvSpPr>
        <p:spPr>
          <a:xfrm>
            <a:off x="2313360" y="2795760"/>
            <a:ext cx="383760" cy="383760"/>
          </a:xfrm>
          <a:prstGeom prst="ellipse">
            <a:avLst/>
          </a:prstGeom>
          <a:solidFill>
            <a:srgbClr val="e8743a"/>
          </a:solidFill>
          <a:ln w="12600">
            <a:solidFill>
              <a:srgbClr val="e8743a"/>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30" name="Text 11"/>
          <p:cNvSpPr/>
          <p:nvPr/>
        </p:nvSpPr>
        <p:spPr>
          <a:xfrm>
            <a:off x="2313360" y="2795760"/>
            <a:ext cx="38376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300" b="1" u="none" strike="noStrike">
                <a:solidFill>
                  <a:srgbClr val="ffffff"/>
                </a:solidFill>
                <a:effectLst/>
                <a:uFillTx/>
                <a:latin typeface="Calibri"/>
                <a:ea typeface="Calibri"/>
              </a:rPr>
              <a:t>2</a:t>
            </a:r>
            <a:endParaRPr lang="pl-PL" sz="1300" b="0" u="none" strike="noStrike">
              <a:solidFill>
                <a:srgbClr val="000000"/>
              </a:solidFill>
              <a:effectLst/>
              <a:uFillTx/>
              <a:latin typeface="Arial"/>
            </a:endParaRPr>
          </a:p>
        </p:txBody>
      </p:sp>
      <p:sp>
        <p:nvSpPr>
          <p:cNvPr id="31" name="Text 12"/>
          <p:cNvSpPr/>
          <p:nvPr/>
        </p:nvSpPr>
        <p:spPr>
          <a:xfrm>
            <a:off x="2241000" y="3182040"/>
            <a:ext cx="1503000" cy="603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1" u="none" strike="noStrike">
                <a:solidFill>
                  <a:srgbClr val="1b2148"/>
                </a:solidFill>
                <a:effectLst/>
                <a:uFillTx/>
                <a:latin typeface="Cambria"/>
                <a:ea typeface="Cambria"/>
              </a:rPr>
              <a:t>Współchorobowość</a:t>
            </a:r>
            <a:endParaRPr lang="pl-PL" sz="1200" b="0" u="none" strike="noStrike">
              <a:solidFill>
                <a:srgbClr val="000000"/>
              </a:solidFill>
              <a:effectLst/>
              <a:uFillTx/>
              <a:latin typeface="Arial"/>
            </a:endParaRPr>
          </a:p>
        </p:txBody>
      </p:sp>
      <p:sp>
        <p:nvSpPr>
          <p:cNvPr id="32" name="Text 13"/>
          <p:cNvSpPr/>
          <p:nvPr/>
        </p:nvSpPr>
        <p:spPr>
          <a:xfrm>
            <a:off x="2277000" y="3730680"/>
            <a:ext cx="133452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000" b="0" u="none" strike="noStrike">
                <a:solidFill>
                  <a:srgbClr val="55607a"/>
                </a:solidFill>
                <a:effectLst/>
                <a:uFillTx/>
                <a:latin typeface="Calibri"/>
                <a:ea typeface="Calibri"/>
              </a:rPr>
              <a:t>depresja, lęk, ChAD, zab. osobowości</a:t>
            </a:r>
            <a:endParaRPr lang="pl-PL" sz="1000" b="0" u="none" strike="noStrike">
              <a:solidFill>
                <a:srgbClr val="000000"/>
              </a:solidFill>
              <a:effectLst/>
              <a:uFillTx/>
              <a:latin typeface="Arial"/>
            </a:endParaRPr>
          </a:p>
        </p:txBody>
      </p:sp>
      <p:sp>
        <p:nvSpPr>
          <p:cNvPr id="33" name="Shape 14"/>
          <p:cNvSpPr/>
          <p:nvPr/>
        </p:nvSpPr>
        <p:spPr>
          <a:xfrm>
            <a:off x="3794760" y="2664000"/>
            <a:ext cx="1590840" cy="1551600"/>
          </a:xfrm>
          <a:prstGeom prst="roundRect">
            <a:avLst>
              <a:gd name="adj" fmla="val 5172"/>
            </a:avLst>
          </a:prstGeom>
          <a:solidFill>
            <a:srgbClr val="f4f6fa"/>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34" name="Shape 15"/>
          <p:cNvSpPr/>
          <p:nvPr/>
        </p:nvSpPr>
        <p:spPr>
          <a:xfrm>
            <a:off x="3959280" y="2795760"/>
            <a:ext cx="383760" cy="383760"/>
          </a:xfrm>
          <a:prstGeom prst="ellipse">
            <a:avLst/>
          </a:prstGeom>
          <a:solidFill>
            <a:srgbClr val="e8743a"/>
          </a:solidFill>
          <a:ln w="12600">
            <a:solidFill>
              <a:srgbClr val="e8743a"/>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35" name="Text 16"/>
          <p:cNvSpPr/>
          <p:nvPr/>
        </p:nvSpPr>
        <p:spPr>
          <a:xfrm>
            <a:off x="3959280" y="2795760"/>
            <a:ext cx="38376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300" b="1" u="none" strike="noStrike">
                <a:solidFill>
                  <a:srgbClr val="ffffff"/>
                </a:solidFill>
                <a:effectLst/>
                <a:uFillTx/>
                <a:latin typeface="Calibri"/>
                <a:ea typeface="Calibri"/>
              </a:rPr>
              <a:t>3</a:t>
            </a:r>
            <a:endParaRPr lang="pl-PL" sz="1300" b="0" u="none" strike="noStrike">
              <a:solidFill>
                <a:srgbClr val="000000"/>
              </a:solidFill>
              <a:effectLst/>
              <a:uFillTx/>
              <a:latin typeface="Arial"/>
            </a:endParaRPr>
          </a:p>
        </p:txBody>
      </p:sp>
      <p:sp>
        <p:nvSpPr>
          <p:cNvPr id="36" name="Text 17"/>
          <p:cNvSpPr/>
          <p:nvPr/>
        </p:nvSpPr>
        <p:spPr>
          <a:xfrm>
            <a:off x="3922920" y="3182040"/>
            <a:ext cx="1334520" cy="603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50" b="1" u="none" strike="noStrike">
                <a:solidFill>
                  <a:srgbClr val="1b2148"/>
                </a:solidFill>
                <a:effectLst/>
                <a:uFillTx/>
                <a:latin typeface="Cambria"/>
                <a:ea typeface="Cambria"/>
              </a:rPr>
              <a:t>Przestępczość</a:t>
            </a:r>
            <a:endParaRPr lang="pl-PL" sz="1250" b="0" u="none" strike="noStrike">
              <a:solidFill>
                <a:srgbClr val="000000"/>
              </a:solidFill>
              <a:effectLst/>
              <a:uFillTx/>
              <a:latin typeface="Arial"/>
            </a:endParaRPr>
          </a:p>
        </p:txBody>
      </p:sp>
      <p:sp>
        <p:nvSpPr>
          <p:cNvPr id="37" name="Text 18"/>
          <p:cNvSpPr/>
          <p:nvPr/>
        </p:nvSpPr>
        <p:spPr>
          <a:xfrm>
            <a:off x="3922920" y="3730680"/>
            <a:ext cx="133452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000" b="0" u="none" strike="noStrike">
                <a:solidFill>
                  <a:srgbClr val="55607a"/>
                </a:solidFill>
                <a:effectLst/>
                <a:uFillTx/>
                <a:latin typeface="Calibri"/>
                <a:ea typeface="Calibri"/>
              </a:rPr>
              <a:t>nadreprezentacja i wpływ leczenia</a:t>
            </a:r>
            <a:endParaRPr lang="pl-PL" sz="1000" b="0" u="none" strike="noStrike">
              <a:solidFill>
                <a:srgbClr val="000000"/>
              </a:solidFill>
              <a:effectLst/>
              <a:uFillTx/>
              <a:latin typeface="Arial"/>
            </a:endParaRPr>
          </a:p>
        </p:txBody>
      </p:sp>
      <p:sp>
        <p:nvSpPr>
          <p:cNvPr id="38" name="Shape 19"/>
          <p:cNvSpPr/>
          <p:nvPr/>
        </p:nvSpPr>
        <p:spPr>
          <a:xfrm>
            <a:off x="5440680" y="2664000"/>
            <a:ext cx="1590840" cy="1551600"/>
          </a:xfrm>
          <a:prstGeom prst="roundRect">
            <a:avLst>
              <a:gd name="adj" fmla="val 5172"/>
            </a:avLst>
          </a:prstGeom>
          <a:solidFill>
            <a:srgbClr val="f4f6fa"/>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39" name="Shape 20"/>
          <p:cNvSpPr/>
          <p:nvPr/>
        </p:nvSpPr>
        <p:spPr>
          <a:xfrm>
            <a:off x="5605200" y="2795760"/>
            <a:ext cx="383760" cy="383760"/>
          </a:xfrm>
          <a:prstGeom prst="ellipse">
            <a:avLst/>
          </a:prstGeom>
          <a:solidFill>
            <a:srgbClr val="e8743a"/>
          </a:solidFill>
          <a:ln w="12600">
            <a:solidFill>
              <a:srgbClr val="e8743a"/>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40" name="Text 21"/>
          <p:cNvSpPr/>
          <p:nvPr/>
        </p:nvSpPr>
        <p:spPr>
          <a:xfrm>
            <a:off x="5605200" y="2795760"/>
            <a:ext cx="38376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300" b="1" u="none" strike="noStrike">
                <a:solidFill>
                  <a:srgbClr val="ffffff"/>
                </a:solidFill>
                <a:effectLst/>
                <a:uFillTx/>
                <a:latin typeface="Calibri"/>
                <a:ea typeface="Calibri"/>
              </a:rPr>
              <a:t>4</a:t>
            </a:r>
            <a:endParaRPr lang="pl-PL" sz="1300" b="0" u="none" strike="noStrike">
              <a:solidFill>
                <a:srgbClr val="000000"/>
              </a:solidFill>
              <a:effectLst/>
              <a:uFillTx/>
              <a:latin typeface="Arial"/>
            </a:endParaRPr>
          </a:p>
        </p:txBody>
      </p:sp>
      <p:sp>
        <p:nvSpPr>
          <p:cNvPr id="41" name="Text 22"/>
          <p:cNvSpPr/>
          <p:nvPr/>
        </p:nvSpPr>
        <p:spPr>
          <a:xfrm>
            <a:off x="5568840" y="3182040"/>
            <a:ext cx="1334520" cy="603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50" b="1" u="none" strike="noStrike">
                <a:solidFill>
                  <a:srgbClr val="1b2148"/>
                </a:solidFill>
                <a:effectLst/>
                <a:uFillTx/>
                <a:latin typeface="Cambria"/>
                <a:ea typeface="Cambria"/>
              </a:rPr>
              <a:t>Edukacja i praca</a:t>
            </a:r>
            <a:endParaRPr lang="pl-PL" sz="1250" b="0" u="none" strike="noStrike">
              <a:solidFill>
                <a:srgbClr val="000000"/>
              </a:solidFill>
              <a:effectLst/>
              <a:uFillTx/>
              <a:latin typeface="Arial"/>
            </a:endParaRPr>
          </a:p>
        </p:txBody>
      </p:sp>
      <p:sp>
        <p:nvSpPr>
          <p:cNvPr id="42" name="Text 23"/>
          <p:cNvSpPr/>
          <p:nvPr/>
        </p:nvSpPr>
        <p:spPr>
          <a:xfrm>
            <a:off x="5568840" y="3730680"/>
            <a:ext cx="133452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000" b="0" u="none" strike="noStrike">
                <a:solidFill>
                  <a:srgbClr val="55607a"/>
                </a:solidFill>
                <a:effectLst/>
                <a:uFillTx/>
                <a:latin typeface="Calibri"/>
                <a:ea typeface="Calibri"/>
              </a:rPr>
              <a:t>osiągnięcia, zatrudnienie, dochody</a:t>
            </a:r>
            <a:endParaRPr lang="pl-PL" sz="1000" b="0" u="none" strike="noStrike">
              <a:solidFill>
                <a:srgbClr val="000000"/>
              </a:solidFill>
              <a:effectLst/>
              <a:uFillTx/>
              <a:latin typeface="Arial"/>
            </a:endParaRPr>
          </a:p>
        </p:txBody>
      </p:sp>
      <p:sp>
        <p:nvSpPr>
          <p:cNvPr id="43" name="Shape 24"/>
          <p:cNvSpPr/>
          <p:nvPr/>
        </p:nvSpPr>
        <p:spPr>
          <a:xfrm>
            <a:off x="7086600" y="2664000"/>
            <a:ext cx="1590840" cy="1551600"/>
          </a:xfrm>
          <a:prstGeom prst="roundRect">
            <a:avLst>
              <a:gd name="adj" fmla="val 5172"/>
            </a:avLst>
          </a:prstGeom>
          <a:solidFill>
            <a:srgbClr val="f4f6fa"/>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44" name="Shape 25"/>
          <p:cNvSpPr/>
          <p:nvPr/>
        </p:nvSpPr>
        <p:spPr>
          <a:xfrm>
            <a:off x="7251120" y="2795760"/>
            <a:ext cx="383760" cy="383760"/>
          </a:xfrm>
          <a:prstGeom prst="ellipse">
            <a:avLst/>
          </a:prstGeom>
          <a:solidFill>
            <a:srgbClr val="e8743a"/>
          </a:solidFill>
          <a:ln w="12600">
            <a:solidFill>
              <a:srgbClr val="e8743a"/>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45" name="Text 26"/>
          <p:cNvSpPr/>
          <p:nvPr/>
        </p:nvSpPr>
        <p:spPr>
          <a:xfrm>
            <a:off x="7251120" y="2795760"/>
            <a:ext cx="38376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300" b="1" u="none" strike="noStrike">
                <a:solidFill>
                  <a:srgbClr val="ffffff"/>
                </a:solidFill>
                <a:effectLst/>
                <a:uFillTx/>
                <a:latin typeface="Calibri"/>
                <a:ea typeface="Calibri"/>
              </a:rPr>
              <a:t>5</a:t>
            </a:r>
            <a:endParaRPr lang="pl-PL" sz="1300" b="0" u="none" strike="noStrike">
              <a:solidFill>
                <a:srgbClr val="000000"/>
              </a:solidFill>
              <a:effectLst/>
              <a:uFillTx/>
              <a:latin typeface="Arial"/>
            </a:endParaRPr>
          </a:p>
        </p:txBody>
      </p:sp>
      <p:sp>
        <p:nvSpPr>
          <p:cNvPr id="46" name="Text 27"/>
          <p:cNvSpPr/>
          <p:nvPr/>
        </p:nvSpPr>
        <p:spPr>
          <a:xfrm>
            <a:off x="7214760" y="3182040"/>
            <a:ext cx="1334520" cy="603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50" b="1" u="none" strike="noStrike">
                <a:solidFill>
                  <a:srgbClr val="1b2148"/>
                </a:solidFill>
                <a:effectLst/>
                <a:uFillTx/>
                <a:latin typeface="Cambria"/>
                <a:ea typeface="Cambria"/>
              </a:rPr>
              <a:t>Rodzina i koszty</a:t>
            </a:r>
            <a:endParaRPr lang="pl-PL" sz="1250" b="0" u="none" strike="noStrike">
              <a:solidFill>
                <a:srgbClr val="000000"/>
              </a:solidFill>
              <a:effectLst/>
              <a:uFillTx/>
              <a:latin typeface="Arial"/>
            </a:endParaRPr>
          </a:p>
        </p:txBody>
      </p:sp>
      <p:sp>
        <p:nvSpPr>
          <p:cNvPr id="47" name="Text 28"/>
          <p:cNvSpPr/>
          <p:nvPr/>
        </p:nvSpPr>
        <p:spPr>
          <a:xfrm>
            <a:off x="7214760" y="3730680"/>
            <a:ext cx="133452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000" b="0" u="none" strike="noStrike">
                <a:solidFill>
                  <a:srgbClr val="55607a"/>
                </a:solidFill>
                <a:effectLst/>
                <a:uFillTx/>
                <a:latin typeface="Calibri"/>
                <a:ea typeface="Calibri"/>
              </a:rPr>
              <a:t>relacje, rodzicielstwo, koszty społeczne</a:t>
            </a:r>
            <a:endParaRPr lang="pl-PL" sz="1000" b="0" u="none" strike="noStrike">
              <a:solidFill>
                <a:srgbClr val="000000"/>
              </a:solidFill>
              <a:effectLst/>
              <a:uFillTx/>
              <a:latin typeface="Arial"/>
            </a:endParaRPr>
          </a:p>
        </p:txBody>
      </p:sp>
      <p:sp>
        <p:nvSpPr>
          <p:cNvPr id="48" name="Text 29"/>
          <p:cNvSpPr/>
          <p:nvPr/>
        </p:nvSpPr>
        <p:spPr>
          <a:xfrm>
            <a:off x="502920" y="4686840"/>
            <a:ext cx="813780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400" b="0" i="1" u="none" strike="noStrike">
                <a:solidFill>
                  <a:srgbClr val="c75a26"/>
                </a:solidFill>
                <a:effectLst/>
                <a:uFillTx/>
                <a:latin typeface="Calibri"/>
                <a:ea typeface="Calibri"/>
              </a:rPr>
              <a:t>A jaką rolę odgrywa leczenie ADHD w ograniczaniu tych ryzyk?</a:t>
            </a:r>
            <a:endParaRPr lang="pl-PL" sz="1400" b="0" i="1" u="none" strike="noStrike">
              <a:solidFill>
                <a:srgbClr val="000000"/>
              </a:solidFill>
              <a:effectLst/>
              <a:uFillTx/>
              <a:latin typeface="Arial"/>
            </a:endParaRPr>
          </a:p>
        </p:txBody>
      </p:sp>
      <p:sp>
        <p:nvSpPr>
          <p:cNvPr id="49" name="Text 30"/>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2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METODOLOGIA</a:t>
            </a:r>
            <a:endParaRPr lang="pl-PL" sz="1100" b="0" u="none" strike="noStrike">
              <a:solidFill>
                <a:srgbClr val="000000"/>
              </a:solidFill>
              <a:effectLst/>
              <a:uFillTx/>
              <a:latin typeface="Arial"/>
            </a:endParaRPr>
          </a:p>
        </p:txBody>
      </p:sp>
      <p:sp>
        <p:nvSpPr>
          <p:cNvPr id="51"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200" b="1" u="none" strike="noStrike">
                <a:solidFill>
                  <a:srgbClr val="1b2148"/>
                </a:solidFill>
                <a:effectLst/>
                <a:uFillTx/>
                <a:latin typeface="Cambria"/>
                <a:ea typeface="Cambria"/>
              </a:rPr>
              <a:t>Charakter i jakość dostępnych dowodów</a:t>
            </a:r>
            <a:endParaRPr lang="pl-PL" sz="2200" b="0" u="none" strike="noStrike">
              <a:solidFill>
                <a:srgbClr val="000000"/>
              </a:solidFill>
              <a:effectLst/>
              <a:uFillTx/>
              <a:latin typeface="Arial"/>
            </a:endParaRPr>
          </a:p>
        </p:txBody>
      </p:sp>
      <p:sp>
        <p:nvSpPr>
          <p:cNvPr id="52" name="Text 2"/>
          <p:cNvSpPr/>
          <p:nvPr/>
        </p:nvSpPr>
        <p:spPr>
          <a:xfrm>
            <a:off x="502920" y="1053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400" b="0" i="1" u="none" strike="noStrike">
                <a:solidFill>
                  <a:srgbClr val="55607a"/>
                </a:solidFill>
                <a:effectLst/>
                <a:uFillTx/>
                <a:latin typeface="Calibri"/>
                <a:ea typeface="Calibri"/>
              </a:rPr>
              <a:t>Związek statystyczny ≠ pewny efekt przyczynowy</a:t>
            </a:r>
            <a:endParaRPr lang="pl-PL" sz="1400" b="0" u="none" strike="noStrike">
              <a:solidFill>
                <a:srgbClr val="000000"/>
              </a:solidFill>
              <a:effectLst/>
              <a:uFillTx/>
              <a:latin typeface="Arial"/>
            </a:endParaRPr>
          </a:p>
        </p:txBody>
      </p:sp>
      <p:sp>
        <p:nvSpPr>
          <p:cNvPr id="53" name="Shape 3"/>
          <p:cNvSpPr/>
          <p:nvPr/>
        </p:nvSpPr>
        <p:spPr>
          <a:xfrm>
            <a:off x="502920" y="1627560"/>
            <a:ext cx="3977280" cy="2152440"/>
          </a:xfrm>
          <a:prstGeom prst="roundRect">
            <a:avLst>
              <a:gd name="adj" fmla="val 3529"/>
            </a:avLst>
          </a:prstGeom>
          <a:solidFill>
            <a:srgbClr val="def2ef"/>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54" name="Text 4"/>
          <p:cNvSpPr/>
          <p:nvPr/>
        </p:nvSpPr>
        <p:spPr>
          <a:xfrm>
            <a:off x="713160" y="1720080"/>
            <a:ext cx="356580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800" b="1" u="none" strike="noStrike">
                <a:solidFill>
                  <a:srgbClr val="146b65"/>
                </a:solidFill>
                <a:effectLst/>
                <a:uFillTx/>
                <a:latin typeface="Cambria"/>
                <a:ea typeface="Cambria"/>
              </a:rPr>
              <a:t>Mocne dowody empiryczne</a:t>
            </a:r>
            <a:endParaRPr lang="pl-PL" sz="1800" b="0" u="none" strike="noStrike">
              <a:solidFill>
                <a:srgbClr val="000000"/>
              </a:solidFill>
              <a:effectLst/>
              <a:uFillTx/>
              <a:latin typeface="Arial"/>
            </a:endParaRPr>
          </a:p>
        </p:txBody>
      </p:sp>
      <p:sp>
        <p:nvSpPr>
          <p:cNvPr id="55" name="Text 5"/>
          <p:cNvSpPr/>
          <p:nvPr/>
        </p:nvSpPr>
        <p:spPr>
          <a:xfrm>
            <a:off x="713160" y="2212920"/>
            <a:ext cx="3565800" cy="169128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8000"/>
              </a:lnSpc>
              <a:spcAft>
                <a:spcPts val="799"/>
              </a:spcAft>
              <a:buClr>
                <a:srgbClr val="1b2148"/>
              </a:buClr>
              <a:buFont typeface="Wingdings" charset="2"/>
              <a:buChar char=""/>
            </a:pPr>
            <a:r>
              <a:rPr lang="pl-PL" sz="1400" b="0" u="none" strike="noStrike">
                <a:solidFill>
                  <a:srgbClr val="1b2148"/>
                </a:solidFill>
                <a:effectLst/>
                <a:uFillTx/>
                <a:latin typeface="Calibri"/>
                <a:ea typeface="Calibri"/>
              </a:rPr>
              <a:t>Skuteczność leków w redukcji podstawowych objawów ADHD; wiele RCT i metaanaliz sieciowych</a:t>
            </a:r>
            <a:endParaRPr lang="pl-PL" sz="1400" b="0" u="none" strike="noStrike">
              <a:solidFill>
                <a:srgbClr val="000000"/>
              </a:solidFill>
              <a:effectLst/>
              <a:uFillTx/>
              <a:latin typeface="Arial"/>
            </a:endParaRPr>
          </a:p>
          <a:p>
            <a:pPr marL="177840" indent="-177840" defTabSz="914400">
              <a:lnSpc>
                <a:spcPct val="108000"/>
              </a:lnSpc>
              <a:spcAft>
                <a:spcPts val="799"/>
              </a:spcAft>
              <a:buClr>
                <a:srgbClr val="1b2148"/>
              </a:buClr>
              <a:buFont typeface="Wingdings" charset="2"/>
              <a:buChar char=""/>
            </a:pPr>
            <a:r>
              <a:rPr lang="pl-PL" sz="1400" b="0" u="none" strike="noStrike">
                <a:solidFill>
                  <a:srgbClr val="1b2148"/>
                </a:solidFill>
                <a:effectLst/>
                <a:uFillTx/>
                <a:latin typeface="Calibri"/>
                <a:ea typeface="Calibri"/>
              </a:rPr>
              <a:t>Krótko- i średnioterminowa poprawa funkcjonowania w warunkach kontrolowanych</a:t>
            </a:r>
            <a:endParaRPr lang="pl-PL" sz="1400" b="0" u="none" strike="noStrike">
              <a:solidFill>
                <a:srgbClr val="000000"/>
              </a:solidFill>
              <a:effectLst/>
              <a:uFillTx/>
              <a:latin typeface="Arial"/>
            </a:endParaRPr>
          </a:p>
        </p:txBody>
      </p:sp>
      <p:sp>
        <p:nvSpPr>
          <p:cNvPr id="56" name="Shape 6"/>
          <p:cNvSpPr/>
          <p:nvPr/>
        </p:nvSpPr>
        <p:spPr>
          <a:xfrm>
            <a:off x="4663440" y="1627560"/>
            <a:ext cx="3977280" cy="2152440"/>
          </a:xfrm>
          <a:prstGeom prst="roundRect">
            <a:avLst>
              <a:gd name="adj" fmla="val 3529"/>
            </a:avLst>
          </a:prstGeom>
          <a:solidFill>
            <a:srgbClr val="fceadd"/>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57" name="Text 7"/>
          <p:cNvSpPr/>
          <p:nvPr/>
        </p:nvSpPr>
        <p:spPr>
          <a:xfrm>
            <a:off x="4873680" y="1720080"/>
            <a:ext cx="356580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800" b="1" u="none" strike="noStrike">
                <a:solidFill>
                  <a:srgbClr val="c75a26"/>
                </a:solidFill>
                <a:effectLst/>
                <a:uFillTx/>
                <a:latin typeface="Cambria"/>
                <a:ea typeface="Cambria"/>
              </a:rPr>
              <a:t>Dowody obserwacyjne</a:t>
            </a:r>
            <a:endParaRPr lang="pl-PL" sz="1800" b="0" u="none" strike="noStrike">
              <a:solidFill>
                <a:srgbClr val="000000"/>
              </a:solidFill>
              <a:effectLst/>
              <a:uFillTx/>
              <a:latin typeface="Arial"/>
            </a:endParaRPr>
          </a:p>
        </p:txBody>
      </p:sp>
      <p:sp>
        <p:nvSpPr>
          <p:cNvPr id="58" name="Text 8"/>
          <p:cNvSpPr/>
          <p:nvPr/>
        </p:nvSpPr>
        <p:spPr>
          <a:xfrm>
            <a:off x="4729680" y="2212920"/>
            <a:ext cx="3766320" cy="169128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8000"/>
              </a:lnSpc>
              <a:spcAft>
                <a:spcPts val="799"/>
              </a:spcAft>
              <a:buClr>
                <a:srgbClr val="1b2148"/>
              </a:buClr>
              <a:buFont typeface="Wingdings" charset="2"/>
              <a:buChar char=""/>
            </a:pPr>
            <a:r>
              <a:rPr lang="pl-PL" sz="1400" b="0" u="none" strike="noStrike">
                <a:solidFill>
                  <a:srgbClr val="1b2148"/>
                </a:solidFill>
                <a:effectLst/>
                <a:uFillTx/>
                <a:latin typeface="Calibri"/>
                <a:ea typeface="Calibri"/>
              </a:rPr>
              <a:t>Uzależnienia, przestępczość, śmiertelność, koszty; głównie badania rejestrowe i kohortowe</a:t>
            </a:r>
            <a:endParaRPr lang="pl-PL" sz="1400" b="0" u="none" strike="noStrike">
              <a:solidFill>
                <a:srgbClr val="000000"/>
              </a:solidFill>
              <a:effectLst/>
              <a:uFillTx/>
              <a:latin typeface="Arial"/>
            </a:endParaRPr>
          </a:p>
          <a:p>
            <a:pPr marL="177840" indent="-177840" defTabSz="914400">
              <a:lnSpc>
                <a:spcPct val="108000"/>
              </a:lnSpc>
              <a:spcAft>
                <a:spcPts val="799"/>
              </a:spcAft>
              <a:buClr>
                <a:srgbClr val="1b2148"/>
              </a:buClr>
              <a:buFont typeface="Wingdings" charset="2"/>
              <a:buChar char=""/>
            </a:pPr>
            <a:r>
              <a:rPr lang="pl-PL" sz="1400" b="0" u="none" strike="noStrike">
                <a:solidFill>
                  <a:srgbClr val="1b2148"/>
                </a:solidFill>
                <a:effectLst/>
                <a:uFillTx/>
                <a:latin typeface="Calibri"/>
                <a:ea typeface="Calibri"/>
              </a:rPr>
              <a:t>Duża liczebność i porównania okresów leczenia/braku leczenia u tych samych osób - ale bez pełnej eliminacji czynników zakłócających</a:t>
            </a:r>
            <a:endParaRPr lang="pl-PL" sz="1400" b="0" u="none" strike="noStrike">
              <a:solidFill>
                <a:srgbClr val="000000"/>
              </a:solidFill>
              <a:effectLst/>
              <a:uFillTx/>
              <a:latin typeface="Arial"/>
            </a:endParaRPr>
          </a:p>
        </p:txBody>
      </p:sp>
      <p:sp>
        <p:nvSpPr>
          <p:cNvPr id="59" name="Shape 9"/>
          <p:cNvSpPr/>
          <p:nvPr/>
        </p:nvSpPr>
        <p:spPr>
          <a:xfrm>
            <a:off x="502920" y="4114800"/>
            <a:ext cx="8137800" cy="712800"/>
          </a:xfrm>
          <a:prstGeom prst="roundRect">
            <a:avLst>
              <a:gd name="adj" fmla="val 11538"/>
            </a:avLst>
          </a:prstGeom>
          <a:solidFill>
            <a:srgbClr val="1b2148"/>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60" name="Text 10"/>
          <p:cNvSpPr/>
          <p:nvPr/>
        </p:nvSpPr>
        <p:spPr>
          <a:xfrm>
            <a:off x="540000" y="4114800"/>
            <a:ext cx="7992720" cy="712800"/>
          </a:xfrm>
          <a:prstGeom prst="rect">
            <a:avLst/>
          </a:prstGeom>
          <a:noFill/>
          <a:ln w="0">
            <a:noFill/>
          </a:ln>
        </p:spPr>
        <p:style>
          <a:lnRef idx="0"/>
          <a:fillRef idx="0"/>
          <a:effectRef idx="0"/>
          <a:fontRef idx="minor"/>
        </p:style>
        <p:txBody>
          <a:bodyPr lIns="0" rIns="0" tIns="0" bIns="0" anchor="ctr" anchorCtr="1">
            <a:noAutofit/>
          </a:bodyPr>
          <a:p>
            <a:pPr algn="ctr" defTabSz="914400">
              <a:lnSpc>
                <a:spcPct val="100000"/>
              </a:lnSpc>
              <a:tabLst>
                <a:tab algn="l" pos="0"/>
              </a:tabLst>
            </a:pPr>
            <a:r>
              <a:rPr lang="pl-PL" sz="1500" b="0" u="none" strike="noStrike">
                <a:solidFill>
                  <a:srgbClr val="ffffff"/>
                </a:solidFill>
                <a:effectLst/>
                <a:uFillTx/>
                <a:latin typeface="Calibri"/>
                <a:ea typeface="Calibri"/>
              </a:rPr>
              <a:t>Współchorobowość (zaburzenia zachowania, depresja, trauma, osobowość antyspołeczna, warunki społeczne) może współtworzyć ryzyko i jednocześnie pośredniczyć w jego związku z ADHD</a:t>
            </a:r>
            <a:endParaRPr lang="pl-PL" sz="1500" b="0" u="none" strike="noStrike">
              <a:solidFill>
                <a:srgbClr val="000000"/>
              </a:solidFill>
              <a:effectLst/>
              <a:uFillTx/>
              <a:latin typeface="Arial"/>
            </a:endParaRPr>
          </a:p>
        </p:txBody>
      </p:sp>
      <p:sp>
        <p:nvSpPr>
          <p:cNvPr id="61" name="Text 11"/>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3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2"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MODEL WYJAŚNIAJĄCY</a:t>
            </a:r>
            <a:endParaRPr lang="pl-PL" sz="1100" b="0" u="none" strike="noStrike">
              <a:solidFill>
                <a:srgbClr val="000000"/>
              </a:solidFill>
              <a:effectLst/>
              <a:uFillTx/>
              <a:latin typeface="Arial"/>
            </a:endParaRPr>
          </a:p>
        </p:txBody>
      </p:sp>
      <p:sp>
        <p:nvSpPr>
          <p:cNvPr id="63"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200" b="1" u="none" strike="noStrike">
                <a:solidFill>
                  <a:srgbClr val="1b2148"/>
                </a:solidFill>
                <a:effectLst/>
                <a:uFillTx/>
                <a:latin typeface="Cambria"/>
                <a:ea typeface="Cambria"/>
              </a:rPr>
              <a:t>ADHD jako czynnik podatności, nie jedyna przyczyna</a:t>
            </a:r>
            <a:endParaRPr lang="pl-PL" sz="2200" b="0" u="none" strike="noStrike">
              <a:solidFill>
                <a:srgbClr val="000000"/>
              </a:solidFill>
              <a:effectLst/>
              <a:uFillTx/>
              <a:latin typeface="Arial"/>
            </a:endParaRPr>
          </a:p>
        </p:txBody>
      </p:sp>
      <p:sp>
        <p:nvSpPr>
          <p:cNvPr id="64" name="Text 2"/>
          <p:cNvSpPr/>
          <p:nvPr/>
        </p:nvSpPr>
        <p:spPr>
          <a:xfrm>
            <a:off x="502920" y="94932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Niekorzystny przebieg życiowy wynika z nakładania się ADHD i moderatorów ryzyka</a:t>
            </a:r>
            <a:endParaRPr lang="pl-PL" sz="1200" b="0" u="none" strike="noStrike">
              <a:solidFill>
                <a:srgbClr val="000000"/>
              </a:solidFill>
              <a:effectLst/>
              <a:uFillTx/>
              <a:latin typeface="Arial"/>
            </a:endParaRPr>
          </a:p>
        </p:txBody>
      </p:sp>
      <p:sp>
        <p:nvSpPr>
          <p:cNvPr id="65" name="Shape 3"/>
          <p:cNvSpPr/>
          <p:nvPr/>
        </p:nvSpPr>
        <p:spPr>
          <a:xfrm flipV="1">
            <a:off x="2520000" y="1773720"/>
            <a:ext cx="1091880" cy="926280"/>
          </a:xfrm>
          <a:prstGeom prst="line">
            <a:avLst/>
          </a:prstGeom>
          <a:ln w="15840">
            <a:solidFill>
              <a:srgbClr val="e2e6f0"/>
            </a:solidFill>
            <a:prstDash val="dash"/>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66" name="Shape 4"/>
          <p:cNvSpPr/>
          <p:nvPr/>
        </p:nvSpPr>
        <p:spPr>
          <a:xfrm>
            <a:off x="5940000" y="1980000"/>
            <a:ext cx="720000" cy="900000"/>
          </a:xfrm>
          <a:prstGeom prst="line">
            <a:avLst/>
          </a:prstGeom>
          <a:ln w="15840">
            <a:solidFill>
              <a:srgbClr val="e2e6f0"/>
            </a:solidFill>
            <a:prstDash val="dash"/>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67" name="Shape 5"/>
          <p:cNvSpPr/>
          <p:nvPr/>
        </p:nvSpPr>
        <p:spPr>
          <a:xfrm flipV="1">
            <a:off x="2520000" y="2520000"/>
            <a:ext cx="900000" cy="180000"/>
          </a:xfrm>
          <a:prstGeom prst="line">
            <a:avLst/>
          </a:prstGeom>
          <a:ln w="15840">
            <a:solidFill>
              <a:srgbClr val="e2e6f0"/>
            </a:solidFill>
            <a:prstDash val="dash"/>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68" name="Shape 6"/>
          <p:cNvSpPr/>
          <p:nvPr/>
        </p:nvSpPr>
        <p:spPr>
          <a:xfrm>
            <a:off x="5980680" y="2520000"/>
            <a:ext cx="679320" cy="360000"/>
          </a:xfrm>
          <a:prstGeom prst="line">
            <a:avLst/>
          </a:prstGeom>
          <a:ln w="15840">
            <a:solidFill>
              <a:srgbClr val="e2e6f0"/>
            </a:solidFill>
            <a:prstDash val="dash"/>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69" name="Shape 7"/>
          <p:cNvSpPr/>
          <p:nvPr/>
        </p:nvSpPr>
        <p:spPr>
          <a:xfrm>
            <a:off x="2520000" y="2700000"/>
            <a:ext cx="900000" cy="360000"/>
          </a:xfrm>
          <a:prstGeom prst="line">
            <a:avLst/>
          </a:prstGeom>
          <a:ln w="15840">
            <a:solidFill>
              <a:srgbClr val="e2e6f0"/>
            </a:solidFill>
            <a:prstDash val="dash"/>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70" name="Shape 8"/>
          <p:cNvSpPr/>
          <p:nvPr/>
        </p:nvSpPr>
        <p:spPr>
          <a:xfrm flipV="1">
            <a:off x="5940000" y="2880000"/>
            <a:ext cx="720000" cy="180000"/>
          </a:xfrm>
          <a:prstGeom prst="line">
            <a:avLst/>
          </a:prstGeom>
          <a:ln w="15840">
            <a:solidFill>
              <a:srgbClr val="e2e6f0"/>
            </a:solidFill>
            <a:prstDash val="dash"/>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71" name="Shape 9"/>
          <p:cNvSpPr/>
          <p:nvPr/>
        </p:nvSpPr>
        <p:spPr>
          <a:xfrm>
            <a:off x="2520000" y="2700000"/>
            <a:ext cx="720000" cy="900000"/>
          </a:xfrm>
          <a:prstGeom prst="line">
            <a:avLst/>
          </a:prstGeom>
          <a:ln w="15840">
            <a:solidFill>
              <a:srgbClr val="e2e6f0"/>
            </a:solidFill>
            <a:prstDash val="dash"/>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72" name="Shape 10"/>
          <p:cNvSpPr/>
          <p:nvPr/>
        </p:nvSpPr>
        <p:spPr>
          <a:xfrm flipV="1">
            <a:off x="6120000" y="2880000"/>
            <a:ext cx="540000" cy="720000"/>
          </a:xfrm>
          <a:prstGeom prst="line">
            <a:avLst/>
          </a:prstGeom>
          <a:ln w="15840">
            <a:solidFill>
              <a:srgbClr val="e2e6f0"/>
            </a:solidFill>
            <a:prstDash val="dash"/>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73" name="Shape 11"/>
          <p:cNvSpPr/>
          <p:nvPr/>
        </p:nvSpPr>
        <p:spPr>
          <a:xfrm>
            <a:off x="911520" y="2253960"/>
            <a:ext cx="1608480" cy="1094040"/>
          </a:xfrm>
          <a:prstGeom prst="roundRect">
            <a:avLst>
              <a:gd name="adj" fmla="val 9000"/>
            </a:avLst>
          </a:prstGeom>
          <a:solidFill>
            <a:srgbClr val="1b2148"/>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74" name="Text 12"/>
          <p:cNvSpPr/>
          <p:nvPr/>
        </p:nvSpPr>
        <p:spPr>
          <a:xfrm>
            <a:off x="900000" y="2331720"/>
            <a:ext cx="1620000" cy="914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600" b="1" u="none" strike="noStrike">
                <a:solidFill>
                  <a:srgbClr val="ffffff"/>
                </a:solidFill>
                <a:effectLst/>
                <a:uFillTx/>
                <a:latin typeface="Cambria"/>
                <a:ea typeface="Cambria"/>
              </a:rPr>
              <a:t>ADHD</a:t>
            </a:r>
            <a:endParaRPr lang="pl-PL" sz="1600" b="0" u="none" strike="noStrike">
              <a:solidFill>
                <a:srgbClr val="000000"/>
              </a:solidFill>
              <a:effectLst/>
              <a:uFillTx/>
              <a:latin typeface="Arial"/>
            </a:endParaRPr>
          </a:p>
          <a:p>
            <a:pPr algn="ctr" defTabSz="914400">
              <a:lnSpc>
                <a:spcPct val="100000"/>
              </a:lnSpc>
              <a:tabLst>
                <a:tab algn="l" pos="0"/>
              </a:tabLst>
            </a:pPr>
            <a:r>
              <a:rPr lang="pl-PL" sz="1600" b="0" u="none" strike="noStrike">
                <a:solidFill>
                  <a:srgbClr val="ffffff"/>
                </a:solidFill>
                <a:effectLst/>
                <a:uFillTx/>
                <a:latin typeface="Cambria"/>
                <a:ea typeface="Cambria"/>
              </a:rPr>
              <a:t>(czynnik podatności)</a:t>
            </a:r>
            <a:endParaRPr lang="pl-PL" sz="1600" b="0" u="none" strike="noStrike">
              <a:solidFill>
                <a:srgbClr val="000000"/>
              </a:solidFill>
              <a:effectLst/>
              <a:uFillTx/>
              <a:latin typeface="Arial"/>
            </a:endParaRPr>
          </a:p>
        </p:txBody>
      </p:sp>
      <p:sp>
        <p:nvSpPr>
          <p:cNvPr id="75" name="Shape 13"/>
          <p:cNvSpPr/>
          <p:nvPr/>
        </p:nvSpPr>
        <p:spPr>
          <a:xfrm>
            <a:off x="3420000" y="1777320"/>
            <a:ext cx="2560680" cy="382680"/>
          </a:xfrm>
          <a:prstGeom prst="roundRect">
            <a:avLst>
              <a:gd name="adj" fmla="val 11538"/>
            </a:avLst>
          </a:prstGeom>
          <a:solidFill>
            <a:srgbClr val="fceadd"/>
          </a:solidFill>
          <a:ln w="12600">
            <a:solidFill>
              <a:srgbClr val="e8743a"/>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76" name="Text 14"/>
          <p:cNvSpPr/>
          <p:nvPr/>
        </p:nvSpPr>
        <p:spPr>
          <a:xfrm>
            <a:off x="3420000" y="1777320"/>
            <a:ext cx="2520000" cy="382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300" b="1" u="none" strike="noStrike">
                <a:solidFill>
                  <a:srgbClr val="c75a26"/>
                </a:solidFill>
                <a:effectLst/>
                <a:uFillTx/>
                <a:latin typeface="Calibri"/>
                <a:ea typeface="Calibri"/>
              </a:rPr>
              <a:t>Zaburzenia zachowania /ASPD</a:t>
            </a:r>
            <a:endParaRPr lang="pl-PL" sz="1300" b="0" u="none" strike="noStrike">
              <a:solidFill>
                <a:srgbClr val="000000"/>
              </a:solidFill>
              <a:effectLst/>
              <a:uFillTx/>
              <a:latin typeface="Arial"/>
            </a:endParaRPr>
          </a:p>
        </p:txBody>
      </p:sp>
      <p:sp>
        <p:nvSpPr>
          <p:cNvPr id="77" name="Shape 15"/>
          <p:cNvSpPr/>
          <p:nvPr/>
        </p:nvSpPr>
        <p:spPr>
          <a:xfrm>
            <a:off x="3420000" y="2331720"/>
            <a:ext cx="2560680" cy="368280"/>
          </a:xfrm>
          <a:prstGeom prst="roundRect">
            <a:avLst>
              <a:gd name="adj" fmla="val 11538"/>
            </a:avLst>
          </a:prstGeom>
          <a:solidFill>
            <a:srgbClr val="fceadd"/>
          </a:solidFill>
          <a:ln w="12600">
            <a:solidFill>
              <a:srgbClr val="e8743a"/>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78" name="Text 16"/>
          <p:cNvSpPr/>
          <p:nvPr/>
        </p:nvSpPr>
        <p:spPr>
          <a:xfrm>
            <a:off x="3420000" y="2331720"/>
            <a:ext cx="2560680" cy="36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300" b="1" u="none" strike="noStrike">
                <a:solidFill>
                  <a:srgbClr val="c75a26"/>
                </a:solidFill>
                <a:effectLst/>
                <a:uFillTx/>
                <a:latin typeface="Calibri"/>
                <a:ea typeface="Calibri"/>
              </a:rPr>
              <a:t>Depresja i zaburzenia lękowe</a:t>
            </a:r>
            <a:endParaRPr lang="pl-PL" sz="1300" b="0" u="none" strike="noStrike">
              <a:solidFill>
                <a:srgbClr val="000000"/>
              </a:solidFill>
              <a:effectLst/>
              <a:uFillTx/>
              <a:latin typeface="Arial"/>
            </a:endParaRPr>
          </a:p>
        </p:txBody>
      </p:sp>
      <p:sp>
        <p:nvSpPr>
          <p:cNvPr id="79" name="Shape 17"/>
          <p:cNvSpPr/>
          <p:nvPr/>
        </p:nvSpPr>
        <p:spPr>
          <a:xfrm>
            <a:off x="3420000" y="2880000"/>
            <a:ext cx="2560680" cy="353880"/>
          </a:xfrm>
          <a:prstGeom prst="roundRect">
            <a:avLst>
              <a:gd name="adj" fmla="val 11538"/>
            </a:avLst>
          </a:prstGeom>
          <a:solidFill>
            <a:srgbClr val="fceadd"/>
          </a:solidFill>
          <a:ln w="12600">
            <a:solidFill>
              <a:srgbClr val="e8743a"/>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80" name="Text 18"/>
          <p:cNvSpPr/>
          <p:nvPr/>
        </p:nvSpPr>
        <p:spPr>
          <a:xfrm>
            <a:off x="3456000" y="2880000"/>
            <a:ext cx="2484000" cy="353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1" u="none" strike="noStrike">
                <a:solidFill>
                  <a:srgbClr val="c75a26"/>
                </a:solidFill>
                <a:effectLst/>
                <a:uFillTx/>
                <a:latin typeface="Calibri"/>
                <a:ea typeface="Calibri"/>
              </a:rPr>
              <a:t>Uzależnienia i trauma</a:t>
            </a:r>
            <a:endParaRPr lang="pl-PL" sz="1400" b="0" u="none" strike="noStrike">
              <a:solidFill>
                <a:srgbClr val="000000"/>
              </a:solidFill>
              <a:effectLst/>
              <a:uFillTx/>
              <a:latin typeface="Arial"/>
            </a:endParaRPr>
          </a:p>
        </p:txBody>
      </p:sp>
      <p:sp>
        <p:nvSpPr>
          <p:cNvPr id="81" name="Shape 19"/>
          <p:cNvSpPr/>
          <p:nvPr/>
        </p:nvSpPr>
        <p:spPr>
          <a:xfrm>
            <a:off x="3240000" y="3394800"/>
            <a:ext cx="2880000" cy="385200"/>
          </a:xfrm>
          <a:prstGeom prst="roundRect">
            <a:avLst>
              <a:gd name="adj" fmla="val 11538"/>
            </a:avLst>
          </a:prstGeom>
          <a:solidFill>
            <a:srgbClr val="fceadd"/>
          </a:solidFill>
          <a:ln w="12600">
            <a:solidFill>
              <a:srgbClr val="e8743a"/>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82" name="Text 20"/>
          <p:cNvSpPr/>
          <p:nvPr/>
        </p:nvSpPr>
        <p:spPr>
          <a:xfrm>
            <a:off x="3348000" y="3394800"/>
            <a:ext cx="2700000" cy="3852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1" u="none" strike="noStrike">
                <a:solidFill>
                  <a:srgbClr val="c75a26"/>
                </a:solidFill>
                <a:effectLst/>
                <a:uFillTx/>
                <a:latin typeface="Calibri"/>
                <a:ea typeface="Calibri"/>
              </a:rPr>
              <a:t>Niekorzystne środowisko społeczne</a:t>
            </a:r>
            <a:endParaRPr lang="pl-PL" sz="1400" b="0" u="none" strike="noStrike">
              <a:solidFill>
                <a:srgbClr val="000000"/>
              </a:solidFill>
              <a:effectLst/>
              <a:uFillTx/>
              <a:latin typeface="Arial"/>
            </a:endParaRPr>
          </a:p>
        </p:txBody>
      </p:sp>
      <p:sp>
        <p:nvSpPr>
          <p:cNvPr id="83" name="Shape 21"/>
          <p:cNvSpPr/>
          <p:nvPr/>
        </p:nvSpPr>
        <p:spPr>
          <a:xfrm>
            <a:off x="6660000" y="2268000"/>
            <a:ext cx="1800000" cy="1080000"/>
          </a:xfrm>
          <a:prstGeom prst="roundRect">
            <a:avLst>
              <a:gd name="adj" fmla="val 9000"/>
            </a:avLst>
          </a:prstGeom>
          <a:solidFill>
            <a:srgbClr val="c23b4b"/>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84" name="Text 22"/>
          <p:cNvSpPr/>
          <p:nvPr/>
        </p:nvSpPr>
        <p:spPr>
          <a:xfrm>
            <a:off x="6660000" y="2331720"/>
            <a:ext cx="1800000" cy="914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600" b="1" u="none" strike="noStrike">
                <a:solidFill>
                  <a:srgbClr val="ffffff"/>
                </a:solidFill>
                <a:effectLst/>
                <a:uFillTx/>
                <a:latin typeface="Cambria"/>
                <a:ea typeface="Cambria"/>
              </a:rPr>
              <a:t>Niekorzystny przebieg</a:t>
            </a:r>
            <a:endParaRPr lang="pl-PL" sz="1600" b="0" u="none" strike="noStrike">
              <a:solidFill>
                <a:srgbClr val="000000"/>
              </a:solidFill>
              <a:effectLst/>
              <a:uFillTx/>
              <a:latin typeface="Arial"/>
            </a:endParaRPr>
          </a:p>
          <a:p>
            <a:pPr algn="ctr" defTabSz="914400">
              <a:lnSpc>
                <a:spcPct val="100000"/>
              </a:lnSpc>
              <a:tabLst>
                <a:tab algn="l" pos="0"/>
              </a:tabLst>
            </a:pPr>
            <a:r>
              <a:rPr lang="pl-PL" sz="1600" b="1" u="none" strike="noStrike">
                <a:solidFill>
                  <a:srgbClr val="ffffff"/>
                </a:solidFill>
                <a:effectLst/>
                <a:uFillTx/>
                <a:latin typeface="Cambria"/>
                <a:ea typeface="Cambria"/>
              </a:rPr>
              <a:t>życiowy</a:t>
            </a:r>
            <a:endParaRPr lang="pl-PL" sz="1600" b="0" u="none" strike="noStrike">
              <a:solidFill>
                <a:srgbClr val="000000"/>
              </a:solidFill>
              <a:effectLst/>
              <a:uFillTx/>
              <a:latin typeface="Arial"/>
            </a:endParaRPr>
          </a:p>
        </p:txBody>
      </p:sp>
      <p:sp>
        <p:nvSpPr>
          <p:cNvPr id="85" name="Shape 23"/>
          <p:cNvSpPr/>
          <p:nvPr/>
        </p:nvSpPr>
        <p:spPr>
          <a:xfrm>
            <a:off x="360000" y="4284000"/>
            <a:ext cx="8460000" cy="648000"/>
          </a:xfrm>
          <a:prstGeom prst="roundRect">
            <a:avLst>
              <a:gd name="adj" fmla="val 18000"/>
            </a:avLst>
          </a:prstGeom>
          <a:solidFill>
            <a:srgbClr val="f4f6fa"/>
          </a:solidFill>
          <a:ln w="1260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86" name="Text 24"/>
          <p:cNvSpPr/>
          <p:nvPr/>
        </p:nvSpPr>
        <p:spPr>
          <a:xfrm>
            <a:off x="468000" y="4320000"/>
            <a:ext cx="8352000" cy="576000"/>
          </a:xfrm>
          <a:prstGeom prst="rect">
            <a:avLst/>
          </a:prstGeom>
          <a:noFill/>
          <a:ln w="0">
            <a:noFill/>
          </a:ln>
        </p:spPr>
        <p:style>
          <a:lnRef idx="0"/>
          <a:fillRef idx="0"/>
          <a:effectRef idx="0"/>
          <a:fontRef idx="minor"/>
        </p:style>
        <p:txBody>
          <a:bodyPr lIns="0" rIns="0" tIns="0" bIns="0" anchor="ctr" anchorCtr="1">
            <a:noAutofit/>
          </a:bodyPr>
          <a:p>
            <a:pPr algn="ctr" defTabSz="914400">
              <a:lnSpc>
                <a:spcPct val="100000"/>
              </a:lnSpc>
              <a:tabLst>
                <a:tab algn="l" pos="0"/>
              </a:tabLst>
            </a:pPr>
            <a:r>
              <a:rPr lang="pl-PL" sz="1600" b="0" i="1" u="none" strike="noStrike">
                <a:solidFill>
                  <a:srgbClr val="000000"/>
                </a:solidFill>
                <a:effectLst/>
                <a:uFillTx/>
                <a:latin typeface="Calibri"/>
                <a:ea typeface="Calibri"/>
              </a:rPr>
              <a:t>Najbardziej ostrożny wniosek: ADHD zwiększa prawdopodobieństwo cięższego przebiegu, </a:t>
            </a:r>
            <a:endParaRPr lang="pl-PL" sz="1600" b="0" u="none" strike="noStrike">
              <a:solidFill>
                <a:srgbClr val="000000"/>
              </a:solidFill>
              <a:effectLst/>
              <a:uFillTx/>
              <a:latin typeface="Arial"/>
            </a:endParaRPr>
          </a:p>
          <a:p>
            <a:pPr algn="ctr" defTabSz="914400">
              <a:lnSpc>
                <a:spcPct val="100000"/>
              </a:lnSpc>
              <a:tabLst>
                <a:tab algn="l" pos="0"/>
              </a:tabLst>
            </a:pPr>
            <a:r>
              <a:rPr lang="pl-PL" sz="1600" b="0" i="1" u="none" strike="noStrike">
                <a:solidFill>
                  <a:srgbClr val="000000"/>
                </a:solidFill>
                <a:effectLst/>
                <a:uFillTx/>
                <a:latin typeface="Calibri"/>
                <a:ea typeface="Calibri"/>
              </a:rPr>
              <a:t>gdyż rokowanie zależy też od współchorobowości i środowiska.</a:t>
            </a:r>
            <a:endParaRPr lang="pl-PL" sz="1600" b="0" u="none" strike="noStrike">
              <a:solidFill>
                <a:srgbClr val="000000"/>
              </a:solidFill>
              <a:effectLst/>
              <a:uFillTx/>
              <a:latin typeface="Arial"/>
            </a:endParaRPr>
          </a:p>
        </p:txBody>
      </p:sp>
      <p:sp>
        <p:nvSpPr>
          <p:cNvPr id="87" name="Text 25"/>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4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8"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UZALEŻNIENIA · DANE</a:t>
            </a:r>
            <a:endParaRPr lang="pl-PL" sz="1100" b="0" u="none" strike="noStrike">
              <a:solidFill>
                <a:srgbClr val="000000"/>
              </a:solidFill>
              <a:effectLst/>
              <a:uFillTx/>
              <a:latin typeface="Arial"/>
            </a:endParaRPr>
          </a:p>
        </p:txBody>
      </p:sp>
      <p:sp>
        <p:nvSpPr>
          <p:cNvPr id="89"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200" b="1" u="none" strike="noStrike">
                <a:solidFill>
                  <a:srgbClr val="1b2148"/>
                </a:solidFill>
                <a:effectLst/>
                <a:uFillTx/>
                <a:latin typeface="Cambria"/>
                <a:ea typeface="Cambria"/>
              </a:rPr>
              <a:t>ADHD silnie zwiększa ryzyko zaburzeń używania substancji</a:t>
            </a:r>
            <a:endParaRPr lang="pl-PL" sz="2200" b="0" u="none" strike="noStrike">
              <a:solidFill>
                <a:srgbClr val="000000"/>
              </a:solidFill>
              <a:effectLst/>
              <a:uFillTx/>
              <a:latin typeface="Arial"/>
            </a:endParaRPr>
          </a:p>
        </p:txBody>
      </p:sp>
      <p:sp>
        <p:nvSpPr>
          <p:cNvPr id="90" name="Text 2"/>
          <p:cNvSpPr/>
          <p:nvPr/>
        </p:nvSpPr>
        <p:spPr>
          <a:xfrm>
            <a:off x="502920" y="981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Względne ryzyko (RR) w prospektywnych badaniach kohortowych — ujęcie syntetyczne</a:t>
            </a:r>
            <a:endParaRPr lang="pl-PL" sz="1200" b="0" u="none" strike="noStrike">
              <a:solidFill>
                <a:srgbClr val="000000"/>
              </a:solidFill>
              <a:effectLst/>
              <a:uFillTx/>
              <a:latin typeface="Arial"/>
            </a:endParaRPr>
          </a:p>
        </p:txBody>
      </p:sp>
      <p:graphicFrame>
        <p:nvGraphicFramePr>
          <p:cNvPr id="91" name="Chart 0"/>
          <p:cNvGraphicFramePr/>
          <p:nvPr/>
        </p:nvGraphicFramePr>
        <p:xfrm>
          <a:off x="411480" y="1572840"/>
          <a:ext cx="8320680" cy="2331360"/>
        </p:xfrm>
        <a:graphic>
          <a:graphicData uri="http://schemas.openxmlformats.org/drawingml/2006/chart">
            <c:chart xmlns:c="http://schemas.openxmlformats.org/drawingml/2006/chart" xmlns:r="http://schemas.openxmlformats.org/officeDocument/2006/relationships" r:id="rId1"/>
          </a:graphicData>
        </a:graphic>
      </p:graphicFrame>
      <p:sp>
        <p:nvSpPr>
          <p:cNvPr id="92" name="Text 3"/>
          <p:cNvSpPr/>
          <p:nvPr/>
        </p:nvSpPr>
        <p:spPr>
          <a:xfrm>
            <a:off x="502920" y="395028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000" b="0" i="1" u="none" strike="noStrike">
                <a:solidFill>
                  <a:srgbClr val="96a0bc"/>
                </a:solidFill>
                <a:effectLst/>
                <a:uFillTx/>
                <a:latin typeface="Calibri"/>
                <a:ea typeface="Calibri"/>
              </a:rPr>
              <a:t>Źródło: opracowanie syntetyczne na podstawie Lee et al. (2011), Clinical Psychology Review; Charach et al. (2011), JAACAP.</a:t>
            </a:r>
            <a:endParaRPr lang="pl-PL" sz="1000" b="0" u="none" strike="noStrike">
              <a:solidFill>
                <a:srgbClr val="000000"/>
              </a:solidFill>
              <a:effectLst/>
              <a:uFillTx/>
              <a:latin typeface="Arial"/>
            </a:endParaRPr>
          </a:p>
        </p:txBody>
      </p:sp>
      <p:sp>
        <p:nvSpPr>
          <p:cNvPr id="93" name="Shape 4"/>
          <p:cNvSpPr/>
          <p:nvPr/>
        </p:nvSpPr>
        <p:spPr>
          <a:xfrm>
            <a:off x="502920" y="4500000"/>
            <a:ext cx="2614680" cy="401040"/>
          </a:xfrm>
          <a:prstGeom prst="roundRect">
            <a:avLst>
              <a:gd name="adj" fmla="val 48387"/>
            </a:avLst>
          </a:prstGeom>
          <a:solidFill>
            <a:srgbClr val="1b2148"/>
          </a:solidFill>
          <a:ln w="1260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94" name="Text 5"/>
          <p:cNvSpPr/>
          <p:nvPr/>
        </p:nvSpPr>
        <p:spPr>
          <a:xfrm>
            <a:off x="612720" y="4500000"/>
            <a:ext cx="2395440" cy="401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1" u="none" strike="noStrike">
                <a:solidFill>
                  <a:srgbClr val="ffffff"/>
                </a:solidFill>
                <a:effectLst/>
                <a:uFillTx/>
                <a:latin typeface="Calibri"/>
                <a:ea typeface="Calibri"/>
              </a:rPr>
              <a:t>wcześniejszy początek używania</a:t>
            </a:r>
            <a:endParaRPr lang="pl-PL" sz="1400" b="0" u="none" strike="noStrike">
              <a:solidFill>
                <a:srgbClr val="000000"/>
              </a:solidFill>
              <a:effectLst/>
              <a:uFillTx/>
              <a:latin typeface="Arial"/>
            </a:endParaRPr>
          </a:p>
        </p:txBody>
      </p:sp>
      <p:sp>
        <p:nvSpPr>
          <p:cNvPr id="95" name="Shape 6"/>
          <p:cNvSpPr/>
          <p:nvPr/>
        </p:nvSpPr>
        <p:spPr>
          <a:xfrm>
            <a:off x="3264480" y="4500000"/>
            <a:ext cx="2614680" cy="401040"/>
          </a:xfrm>
          <a:prstGeom prst="roundRect">
            <a:avLst>
              <a:gd name="adj" fmla="val 48387"/>
            </a:avLst>
          </a:prstGeom>
          <a:solidFill>
            <a:srgbClr val="1b2148"/>
          </a:solidFill>
          <a:ln w="1260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96" name="Text 7"/>
          <p:cNvSpPr/>
          <p:nvPr/>
        </p:nvSpPr>
        <p:spPr>
          <a:xfrm>
            <a:off x="3374280" y="4500000"/>
            <a:ext cx="2395440" cy="401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1" u="none" strike="noStrike">
                <a:solidFill>
                  <a:srgbClr val="ffffff"/>
                </a:solidFill>
                <a:effectLst/>
                <a:uFillTx/>
                <a:latin typeface="Calibri"/>
                <a:ea typeface="Calibri"/>
              </a:rPr>
              <a:t>większa wielosubstancyjność</a:t>
            </a:r>
            <a:endParaRPr lang="pl-PL" sz="1400" b="0" u="none" strike="noStrike">
              <a:solidFill>
                <a:srgbClr val="000000"/>
              </a:solidFill>
              <a:effectLst/>
              <a:uFillTx/>
              <a:latin typeface="Arial"/>
            </a:endParaRPr>
          </a:p>
        </p:txBody>
      </p:sp>
      <p:sp>
        <p:nvSpPr>
          <p:cNvPr id="97" name="Shape 8"/>
          <p:cNvSpPr/>
          <p:nvPr/>
        </p:nvSpPr>
        <p:spPr>
          <a:xfrm>
            <a:off x="6026040" y="4500000"/>
            <a:ext cx="2614680" cy="401040"/>
          </a:xfrm>
          <a:prstGeom prst="roundRect">
            <a:avLst>
              <a:gd name="adj" fmla="val 48387"/>
            </a:avLst>
          </a:prstGeom>
          <a:solidFill>
            <a:srgbClr val="1b2148"/>
          </a:solidFill>
          <a:ln w="1260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98" name="Text 9"/>
          <p:cNvSpPr/>
          <p:nvPr/>
        </p:nvSpPr>
        <p:spPr>
          <a:xfrm>
            <a:off x="6135480" y="4500000"/>
            <a:ext cx="2395440" cy="401040"/>
          </a:xfrm>
          <a:prstGeom prst="rect">
            <a:avLst/>
          </a:prstGeom>
          <a:noFill/>
          <a:ln w="0">
            <a:noFill/>
          </a:ln>
        </p:spPr>
        <p:style>
          <a:lnRef idx="0"/>
          <a:fillRef idx="0"/>
          <a:effectRef idx="0"/>
          <a:fontRef idx="minor"/>
        </p:style>
        <p:txBody>
          <a:bodyPr lIns="0" rIns="0" tIns="0" bIns="0" anchor="ctr">
            <a:noAutofit/>
          </a:bodyPr>
          <a:p>
            <a:pPr algn="ctr" defTabSz="914400">
              <a:lnSpc>
                <a:spcPct val="80000"/>
              </a:lnSpc>
              <a:tabLst>
                <a:tab algn="l" pos="0"/>
              </a:tabLst>
            </a:pPr>
            <a:r>
              <a:rPr lang="pl-PL" sz="1400" b="1" u="none" strike="noStrike">
                <a:solidFill>
                  <a:srgbClr val="ffffff"/>
                </a:solidFill>
                <a:effectLst/>
                <a:uFillTx/>
                <a:latin typeface="Calibri"/>
                <a:ea typeface="Calibri"/>
              </a:rPr>
              <a:t>trudniejsze </a:t>
            </a:r>
            <a:r>
              <a:rPr lang="pl-PL" sz="1400" b="1" u="none" strike="noStrike">
                <a:solidFill>
                  <a:srgbClr val="ffffff"/>
                </a:solidFill>
                <a:effectLst/>
                <a:uFillTx/>
                <a:latin typeface="Calibri"/>
                <a:ea typeface="Calibri"/>
              </a:rPr>
              <a:t>leczenie </a:t>
            </a:r>
            <a:br>
              <a:rPr sz="1400"/>
            </a:br>
            <a:r>
              <a:rPr lang="pl-PL" sz="1400" b="1" u="none" strike="noStrike">
                <a:solidFill>
                  <a:srgbClr val="ffffff"/>
                </a:solidFill>
                <a:effectLst/>
                <a:uFillTx/>
                <a:latin typeface="Calibri"/>
                <a:ea typeface="Calibri"/>
              </a:rPr>
              <a:t>i więcej </a:t>
            </a:r>
            <a:r>
              <a:rPr lang="pl-PL" sz="1400" b="1" u="none" strike="noStrike">
                <a:solidFill>
                  <a:srgbClr val="ffffff"/>
                </a:solidFill>
                <a:effectLst/>
                <a:uFillTx/>
                <a:latin typeface="Calibri"/>
                <a:ea typeface="Calibri"/>
              </a:rPr>
              <a:t>nawrotów</a:t>
            </a:r>
            <a:endParaRPr lang="pl-PL" sz="1400" b="0" u="none" strike="noStrike">
              <a:solidFill>
                <a:srgbClr val="000000"/>
              </a:solidFill>
              <a:effectLst/>
              <a:uFillTx/>
              <a:latin typeface="Arial"/>
              <a:ea typeface="Noto Sans CJK SC"/>
            </a:endParaRPr>
          </a:p>
        </p:txBody>
      </p:sp>
      <p:sp>
        <p:nvSpPr>
          <p:cNvPr id="99" name="Text 10"/>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5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0"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UZALEŻNIENIA · MECHANIZMY</a:t>
            </a:r>
            <a:endParaRPr lang="pl-PL" sz="1100" b="0" u="none" strike="noStrike">
              <a:solidFill>
                <a:srgbClr val="000000"/>
              </a:solidFill>
              <a:effectLst/>
              <a:uFillTx/>
              <a:latin typeface="Arial"/>
            </a:endParaRPr>
          </a:p>
        </p:txBody>
      </p:sp>
      <p:sp>
        <p:nvSpPr>
          <p:cNvPr id="101"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200" b="1" u="none" strike="noStrike">
                <a:solidFill>
                  <a:srgbClr val="1b2148"/>
                </a:solidFill>
                <a:effectLst/>
                <a:uFillTx/>
                <a:latin typeface="Cambria"/>
                <a:ea typeface="Cambria"/>
              </a:rPr>
              <a:t>Sześć dróg prowadzących od ADHD do uzależnienia</a:t>
            </a:r>
            <a:endParaRPr lang="pl-PL" sz="2200" b="0" u="none" strike="noStrike">
              <a:solidFill>
                <a:srgbClr val="000000"/>
              </a:solidFill>
              <a:effectLst/>
              <a:uFillTx/>
              <a:latin typeface="Arial"/>
            </a:endParaRPr>
          </a:p>
        </p:txBody>
      </p:sp>
      <p:sp>
        <p:nvSpPr>
          <p:cNvPr id="102" name="Text 2"/>
          <p:cNvSpPr/>
          <p:nvPr/>
        </p:nvSpPr>
        <p:spPr>
          <a:xfrm>
            <a:off x="502920" y="945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Mechanizmy nie są rozłączne, mogą się więc wzajemnie wzmacniać</a:t>
            </a:r>
            <a:endParaRPr lang="pl-PL" sz="1200" b="0" u="none" strike="noStrike">
              <a:solidFill>
                <a:srgbClr val="000000"/>
              </a:solidFill>
              <a:effectLst/>
              <a:uFillTx/>
              <a:latin typeface="Arial"/>
            </a:endParaRPr>
          </a:p>
        </p:txBody>
      </p:sp>
      <p:graphicFrame>
        <p:nvGraphicFramePr>
          <p:cNvPr id="103" name="Table 0"/>
          <p:cNvGraphicFramePr/>
          <p:nvPr/>
        </p:nvGraphicFramePr>
        <p:xfrm>
          <a:off x="502920" y="1500840"/>
          <a:ext cx="8137800" cy="2685960"/>
        </p:xfrm>
        <a:graphic>
          <a:graphicData uri="http://schemas.openxmlformats.org/drawingml/2006/table">
            <a:tbl>
              <a:tblPr/>
              <a:tblGrid>
                <a:gridCol w="2743200"/>
                <a:gridCol w="5394960"/>
              </a:tblGrid>
              <a:tr h="383760">
                <a:tc>
                  <a:txBody>
                    <a:bodyPr tIns="36360" bIns="36360" anchor="ctr">
                      <a:noAutofit/>
                    </a:bodyPr>
                    <a:p>
                      <a:pPr defTabSz="914400">
                        <a:lnSpc>
                          <a:spcPct val="100000"/>
                        </a:lnSpc>
                        <a:tabLst>
                          <a:tab algn="l" pos="0"/>
                        </a:tabLst>
                      </a:pPr>
                      <a:r>
                        <a:rPr lang="pl-PL" sz="1600" b="1" u="none" strike="noStrike">
                          <a:solidFill>
                            <a:srgbClr val="ffffff"/>
                          </a:solidFill>
                          <a:effectLst/>
                          <a:uFillTx/>
                          <a:latin typeface="Calibri"/>
                          <a:ea typeface="Calibri"/>
                        </a:rPr>
                        <a:t>Mechanizm</a:t>
                      </a:r>
                      <a:endParaRPr lang="pl-PL" sz="1600" b="0" u="none" strike="noStrike">
                        <a:solidFill>
                          <a:srgbClr val="ffffff"/>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1b2148"/>
                    </a:solidFill>
                  </a:tcPr>
                </a:tc>
                <a:tc>
                  <a:txBody>
                    <a:bodyPr tIns="36360" bIns="36360" anchor="ctr">
                      <a:noAutofit/>
                    </a:bodyPr>
                    <a:p>
                      <a:pPr defTabSz="914400">
                        <a:lnSpc>
                          <a:spcPct val="100000"/>
                        </a:lnSpc>
                        <a:tabLst>
                          <a:tab algn="l" pos="0"/>
                        </a:tabLst>
                      </a:pPr>
                      <a:r>
                        <a:rPr lang="en-US" sz="1600" b="1" u="none" strike="noStrike">
                          <a:solidFill>
                            <a:srgbClr val="ffffff"/>
                          </a:solidFill>
                          <a:effectLst/>
                          <a:uFillTx/>
                          <a:latin typeface="Calibri"/>
                          <a:ea typeface="Calibri"/>
                        </a:rPr>
                        <a:t>Możliwa konsekwencja</a:t>
                      </a:r>
                      <a:endParaRPr lang="pl-PL" sz="1600" b="0" u="none" strike="noStrike">
                        <a:solidFill>
                          <a:srgbClr val="ffffff"/>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1b2148"/>
                    </a:solidFill>
                  </a:tcPr>
                </a:tc>
              </a:tr>
              <a:tr h="383760">
                <a:tc>
                  <a:txBody>
                    <a:bodyPr tIns="36360" bIns="36360" anchor="ctr">
                      <a:noAutofit/>
                    </a:bodyPr>
                    <a:p>
                      <a:pPr defTabSz="914400">
                        <a:lnSpc>
                          <a:spcPct val="100000"/>
                        </a:lnSpc>
                        <a:tabLst>
                          <a:tab algn="l" pos="0"/>
                        </a:tabLst>
                      </a:pPr>
                      <a:r>
                        <a:rPr lang="en-US" sz="1400" b="1" u="none" strike="noStrike">
                          <a:solidFill>
                            <a:srgbClr val="1b2148"/>
                          </a:solidFill>
                          <a:effectLst/>
                          <a:uFillTx/>
                          <a:latin typeface="Calibri"/>
                          <a:ea typeface="Calibri"/>
                        </a:rPr>
                        <a:t>Impulsywność</a:t>
                      </a:r>
                      <a:endParaRPr lang="pl-PL" sz="14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c>
                  <a:txBody>
                    <a:bodyPr tIns="36360" bIns="36360" anchor="ctr">
                      <a:noAutofit/>
                    </a:bodyPr>
                    <a:p>
                      <a:pPr defTabSz="914400">
                        <a:lnSpc>
                          <a:spcPct val="100000"/>
                        </a:lnSpc>
                        <a:tabLst>
                          <a:tab algn="l" pos="0"/>
                        </a:tabLst>
                      </a:pPr>
                      <a:r>
                        <a:rPr lang="en-US" sz="1200" b="0" u="none" strike="noStrike">
                          <a:solidFill>
                            <a:srgbClr val="000000"/>
                          </a:solidFill>
                          <a:effectLst/>
                          <a:uFillTx/>
                          <a:latin typeface="Calibri"/>
                          <a:ea typeface="Calibri"/>
                        </a:rPr>
                        <a:t>Szybsze rozpoczęcie używania i większe ryzyko nawrotu pod wpływem bodźca</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r>
              <a:tr h="383760">
                <a:tc>
                  <a:txBody>
                    <a:bodyPr tIns="36360" bIns="36360" anchor="ctr">
                      <a:noAutofit/>
                    </a:bodyPr>
                    <a:p>
                      <a:pPr defTabSz="914400">
                        <a:lnSpc>
                          <a:spcPct val="100000"/>
                        </a:lnSpc>
                        <a:tabLst>
                          <a:tab algn="l" pos="0"/>
                        </a:tabLst>
                      </a:pPr>
                      <a:r>
                        <a:rPr lang="en-US" sz="1400" b="1" u="none" strike="noStrike">
                          <a:solidFill>
                            <a:srgbClr val="1b2148"/>
                          </a:solidFill>
                          <a:effectLst/>
                          <a:uFillTx/>
                          <a:latin typeface="Calibri"/>
                          <a:ea typeface="Calibri"/>
                        </a:rPr>
                        <a:t>Preferencja natychmiastowej nagrody</a:t>
                      </a:r>
                      <a:endParaRPr lang="pl-PL" sz="14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c>
                  <a:txBody>
                    <a:bodyPr tIns="36360" bIns="36360" anchor="ctr">
                      <a:noAutofit/>
                    </a:bodyPr>
                    <a:p>
                      <a:pPr defTabSz="914400">
                        <a:lnSpc>
                          <a:spcPct val="100000"/>
                        </a:lnSpc>
                        <a:tabLst>
                          <a:tab algn="l" pos="0"/>
                        </a:tabLst>
                      </a:pPr>
                      <a:r>
                        <a:rPr lang="en-US" sz="1200" b="0" u="none" strike="noStrike">
                          <a:solidFill>
                            <a:srgbClr val="000000"/>
                          </a:solidFill>
                          <a:effectLst/>
                          <a:uFillTx/>
                          <a:latin typeface="Calibri"/>
                          <a:ea typeface="Calibri"/>
                        </a:rPr>
                        <a:t>Przewaga krótkotrwałej ulgi nad odległymi korzyściami abstynencji</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r>
              <a:tr h="383760">
                <a:tc>
                  <a:txBody>
                    <a:bodyPr tIns="36360" bIns="36360" anchor="ctr">
                      <a:noAutofit/>
                    </a:bodyPr>
                    <a:p>
                      <a:pPr defTabSz="914400">
                        <a:lnSpc>
                          <a:spcPct val="100000"/>
                        </a:lnSpc>
                        <a:tabLst>
                          <a:tab algn="l" pos="0"/>
                        </a:tabLst>
                      </a:pPr>
                      <a:r>
                        <a:rPr lang="en-US" sz="1400" b="1" u="none" strike="noStrike">
                          <a:solidFill>
                            <a:srgbClr val="1b2148"/>
                          </a:solidFill>
                          <a:effectLst/>
                          <a:uFillTx/>
                          <a:latin typeface="Calibri"/>
                          <a:ea typeface="Calibri"/>
                        </a:rPr>
                        <a:t>Poszukiwanie stymulacji</a:t>
                      </a:r>
                      <a:endParaRPr lang="pl-PL" sz="14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c>
                  <a:txBody>
                    <a:bodyPr tIns="36360" bIns="36360" anchor="ctr">
                      <a:noAutofit/>
                    </a:bodyPr>
                    <a:p>
                      <a:pPr defTabSz="914400">
                        <a:lnSpc>
                          <a:spcPct val="100000"/>
                        </a:lnSpc>
                        <a:tabLst>
                          <a:tab algn="l" pos="0"/>
                        </a:tabLst>
                      </a:pPr>
                      <a:r>
                        <a:rPr lang="en-US" sz="1200" b="0" u="none" strike="noStrike">
                          <a:solidFill>
                            <a:srgbClr val="000000"/>
                          </a:solidFill>
                          <a:effectLst/>
                          <a:uFillTx/>
                          <a:latin typeface="Calibri"/>
                          <a:ea typeface="Calibri"/>
                        </a:rPr>
                        <a:t>Wybieranie silnie wzmacniających zachowań i substancji</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r>
              <a:tr h="383760">
                <a:tc>
                  <a:txBody>
                    <a:bodyPr tIns="36360" bIns="36360" anchor="ctr">
                      <a:noAutofit/>
                    </a:bodyPr>
                    <a:p>
                      <a:pPr defTabSz="914400">
                        <a:lnSpc>
                          <a:spcPct val="100000"/>
                        </a:lnSpc>
                        <a:tabLst>
                          <a:tab algn="l" pos="0"/>
                        </a:tabLst>
                      </a:pPr>
                      <a:r>
                        <a:rPr lang="en-US" sz="1400" b="1" u="none" strike="noStrike">
                          <a:solidFill>
                            <a:srgbClr val="1b2148"/>
                          </a:solidFill>
                          <a:effectLst/>
                          <a:uFillTx/>
                          <a:latin typeface="Calibri"/>
                          <a:ea typeface="Calibri"/>
                        </a:rPr>
                        <a:t>Dysregulacja emocji</a:t>
                      </a:r>
                      <a:endParaRPr lang="pl-PL" sz="14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c>
                  <a:txBody>
                    <a:bodyPr tIns="36360" bIns="36360" anchor="ctr">
                      <a:noAutofit/>
                    </a:bodyPr>
                    <a:p>
                      <a:pPr defTabSz="914400">
                        <a:lnSpc>
                          <a:spcPct val="100000"/>
                        </a:lnSpc>
                        <a:tabLst>
                          <a:tab algn="l" pos="0"/>
                        </a:tabLst>
                      </a:pPr>
                      <a:r>
                        <a:rPr lang="en-US" sz="1200" b="0" u="none" strike="noStrike">
                          <a:solidFill>
                            <a:srgbClr val="000000"/>
                          </a:solidFill>
                          <a:effectLst/>
                          <a:uFillTx/>
                          <a:latin typeface="Calibri"/>
                          <a:ea typeface="Calibri"/>
                        </a:rPr>
                        <a:t>Używanie substancji jako sposobu redukcji napięcia i dysforii</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r>
              <a:tr h="383760">
                <a:tc>
                  <a:txBody>
                    <a:bodyPr tIns="36360" bIns="36360" anchor="ctr">
                      <a:noAutofit/>
                    </a:bodyPr>
                    <a:p>
                      <a:pPr defTabSz="914400">
                        <a:lnSpc>
                          <a:spcPct val="100000"/>
                        </a:lnSpc>
                        <a:tabLst>
                          <a:tab algn="l" pos="0"/>
                        </a:tabLst>
                      </a:pPr>
                      <a:r>
                        <a:rPr lang="en-US" sz="1400" b="1" u="none" strike="noStrike">
                          <a:solidFill>
                            <a:srgbClr val="1b2148"/>
                          </a:solidFill>
                          <a:effectLst/>
                          <a:uFillTx/>
                          <a:latin typeface="Calibri"/>
                          <a:ea typeface="Calibri"/>
                        </a:rPr>
                        <a:t>Dysfunkcje wykonawcze</a:t>
                      </a:r>
                      <a:endParaRPr lang="pl-PL" sz="14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c>
                  <a:txBody>
                    <a:bodyPr tIns="36360" bIns="36360" anchor="ctr">
                      <a:noAutofit/>
                    </a:bodyPr>
                    <a:p>
                      <a:pPr defTabSz="914400">
                        <a:lnSpc>
                          <a:spcPct val="100000"/>
                        </a:lnSpc>
                        <a:tabLst>
                          <a:tab algn="l" pos="0"/>
                        </a:tabLst>
                      </a:pPr>
                      <a:r>
                        <a:rPr lang="en-US" sz="1200" b="0" u="none" strike="noStrike">
                          <a:solidFill>
                            <a:srgbClr val="000000"/>
                          </a:solidFill>
                          <a:effectLst/>
                          <a:uFillTx/>
                          <a:latin typeface="Calibri"/>
                          <a:ea typeface="Calibri"/>
                        </a:rPr>
                        <a:t>Trudności z planem leczenia, terminami i zapobieganiem nawrotom</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r>
              <a:tr h="383760">
                <a:tc>
                  <a:txBody>
                    <a:bodyPr tIns="36360" bIns="36360" anchor="ctr">
                      <a:noAutofit/>
                    </a:bodyPr>
                    <a:p>
                      <a:pPr defTabSz="914400">
                        <a:lnSpc>
                          <a:spcPct val="100000"/>
                        </a:lnSpc>
                        <a:tabLst>
                          <a:tab algn="l" pos="0"/>
                        </a:tabLst>
                      </a:pPr>
                      <a:r>
                        <a:rPr lang="en-US" sz="1400" b="1" u="none" strike="noStrike">
                          <a:solidFill>
                            <a:srgbClr val="1b2148"/>
                          </a:solidFill>
                          <a:effectLst/>
                          <a:uFillTx/>
                          <a:latin typeface="Calibri"/>
                          <a:ea typeface="Calibri"/>
                        </a:rPr>
                        <a:t>Współchorobowość</a:t>
                      </a:r>
                      <a:endParaRPr lang="pl-PL" sz="14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c>
                  <a:txBody>
                    <a:bodyPr tIns="36360" bIns="36360" anchor="ctr">
                      <a:noAutofit/>
                    </a:bodyPr>
                    <a:p>
                      <a:pPr defTabSz="914400">
                        <a:lnSpc>
                          <a:spcPct val="100000"/>
                        </a:lnSpc>
                        <a:tabLst>
                          <a:tab algn="l" pos="0"/>
                        </a:tabLst>
                      </a:pPr>
                      <a:r>
                        <a:rPr lang="en-US" sz="1200" b="0" u="none" strike="noStrike">
                          <a:solidFill>
                            <a:srgbClr val="000000"/>
                          </a:solidFill>
                          <a:effectLst/>
                          <a:uFillTx/>
                          <a:latin typeface="Calibri"/>
                          <a:ea typeface="Calibri"/>
                        </a:rPr>
                        <a:t>Kumulacja ryzyka wynikająca z depresji, zaburzeń zachowania i traumy</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r>
            </a:tbl>
          </a:graphicData>
        </a:graphic>
      </p:graphicFrame>
      <p:sp>
        <p:nvSpPr>
          <p:cNvPr id="104" name="Shape 3"/>
          <p:cNvSpPr/>
          <p:nvPr/>
        </p:nvSpPr>
        <p:spPr>
          <a:xfrm>
            <a:off x="502200" y="4428000"/>
            <a:ext cx="8137800" cy="432000"/>
          </a:xfrm>
          <a:prstGeom prst="roundRect">
            <a:avLst>
              <a:gd name="adj" fmla="val 10588"/>
            </a:avLst>
          </a:prstGeom>
          <a:solidFill>
            <a:srgbClr val="fceadd"/>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105" name="Text 4"/>
          <p:cNvSpPr/>
          <p:nvPr/>
        </p:nvSpPr>
        <p:spPr>
          <a:xfrm>
            <a:off x="540000" y="4428000"/>
            <a:ext cx="7920000" cy="432000"/>
          </a:xfrm>
          <a:prstGeom prst="rect">
            <a:avLst/>
          </a:prstGeom>
          <a:noFill/>
          <a:ln w="0">
            <a:noFill/>
          </a:ln>
        </p:spPr>
        <p:style>
          <a:lnRef idx="0"/>
          <a:fillRef idx="0"/>
          <a:effectRef idx="0"/>
          <a:fontRef idx="minor"/>
        </p:style>
        <p:txBody>
          <a:bodyPr lIns="0" rIns="0" tIns="0" bIns="0" anchor="ctr" anchorCtr="1">
            <a:noAutofit/>
          </a:bodyPr>
          <a:p>
            <a:pPr algn="ctr" defTabSz="914400">
              <a:lnSpc>
                <a:spcPct val="100000"/>
              </a:lnSpc>
              <a:tabLst>
                <a:tab algn="l" pos="0"/>
              </a:tabLst>
            </a:pPr>
            <a:r>
              <a:rPr lang="pl-PL" sz="1100" b="1" u="none" strike="noStrike">
                <a:solidFill>
                  <a:srgbClr val="c75a26"/>
                </a:solidFill>
                <a:effectLst/>
                <a:uFillTx/>
                <a:latin typeface="Calibri"/>
                <a:ea typeface="Calibri"/>
              </a:rPr>
              <a:t>Hipoteza samoleczenia:  </a:t>
            </a:r>
            <a:r>
              <a:rPr lang="pl-PL" sz="1100" b="0" u="none" strike="noStrike">
                <a:solidFill>
                  <a:srgbClr val="1b2148"/>
                </a:solidFill>
                <a:effectLst/>
                <a:uFillTx/>
                <a:latin typeface="Calibri"/>
                <a:ea typeface="Calibri"/>
              </a:rPr>
              <a:t>krótkotrwała subiektywna ulga (napięcie, bezsenność, dysforia, chaos poznawczy) nie oznacza, </a:t>
            </a:r>
            <a:br>
              <a:rPr sz="1100"/>
            </a:br>
            <a:r>
              <a:rPr lang="pl-PL" sz="1100" b="0" u="none" strike="noStrike">
                <a:solidFill>
                  <a:srgbClr val="1b2148"/>
                </a:solidFill>
                <a:effectLst/>
                <a:uFillTx/>
                <a:latin typeface="Calibri"/>
                <a:ea typeface="Calibri"/>
              </a:rPr>
              <a:t>że substancja „leczy” ADHD — bywa okupiona nasileniem problemów poznawczych, emocjonalnych i społecznych w dłuższej perspektywie.</a:t>
            </a:r>
            <a:endParaRPr lang="pl-PL" sz="1100" b="0" u="none" strike="noStrike">
              <a:solidFill>
                <a:srgbClr val="000000"/>
              </a:solidFill>
              <a:effectLst/>
              <a:uFillTx/>
              <a:latin typeface="Arial"/>
            </a:endParaRPr>
          </a:p>
        </p:txBody>
      </p:sp>
      <p:sp>
        <p:nvSpPr>
          <p:cNvPr id="106" name="Text 5"/>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6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7"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UZALEŻNIENIA · PRZEBIEG</a:t>
            </a:r>
            <a:endParaRPr lang="pl-PL" sz="1100" b="0" u="none" strike="noStrike">
              <a:solidFill>
                <a:srgbClr val="000000"/>
              </a:solidFill>
              <a:effectLst/>
              <a:uFillTx/>
              <a:latin typeface="Arial"/>
            </a:endParaRPr>
          </a:p>
        </p:txBody>
      </p:sp>
      <p:sp>
        <p:nvSpPr>
          <p:cNvPr id="108"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500" b="1" u="none" strike="noStrike">
                <a:solidFill>
                  <a:srgbClr val="1b2148"/>
                </a:solidFill>
                <a:effectLst/>
                <a:uFillTx/>
                <a:latin typeface="Cambria"/>
                <a:ea typeface="Cambria"/>
              </a:rPr>
              <a:t>ADHD utrudnia leczenie już rozwiniętego uzależnienia</a:t>
            </a:r>
            <a:endParaRPr lang="pl-PL" sz="2500" b="0" u="none" strike="noStrike">
              <a:solidFill>
                <a:srgbClr val="000000"/>
              </a:solidFill>
              <a:effectLst/>
              <a:uFillTx/>
              <a:latin typeface="Arial"/>
            </a:endParaRPr>
          </a:p>
        </p:txBody>
      </p:sp>
      <p:sp>
        <p:nvSpPr>
          <p:cNvPr id="109" name="Text 2"/>
          <p:cNvSpPr/>
          <p:nvPr/>
        </p:nvSpPr>
        <p:spPr>
          <a:xfrm>
            <a:off x="502920" y="1053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Złożoność przebiegu, nie pewność każdego nawrotu</a:t>
            </a:r>
            <a:endParaRPr lang="pl-PL" sz="1200" b="0" u="none" strike="noStrike">
              <a:solidFill>
                <a:srgbClr val="000000"/>
              </a:solidFill>
              <a:effectLst/>
              <a:uFillTx/>
              <a:latin typeface="Arial"/>
            </a:endParaRPr>
          </a:p>
        </p:txBody>
      </p:sp>
      <p:sp>
        <p:nvSpPr>
          <p:cNvPr id="110" name="Shape 3"/>
          <p:cNvSpPr/>
          <p:nvPr/>
        </p:nvSpPr>
        <p:spPr>
          <a:xfrm>
            <a:off x="502920" y="1627560"/>
            <a:ext cx="4177080" cy="2512440"/>
          </a:xfrm>
          <a:prstGeom prst="roundRect">
            <a:avLst>
              <a:gd name="adj" fmla="val 3051"/>
            </a:avLst>
          </a:prstGeom>
          <a:solidFill>
            <a:srgbClr val="fbe5e8"/>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111" name="Text 4"/>
          <p:cNvSpPr/>
          <p:nvPr/>
        </p:nvSpPr>
        <p:spPr>
          <a:xfrm>
            <a:off x="713160" y="1684080"/>
            <a:ext cx="356580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600" b="1" u="none" strike="noStrike">
                <a:solidFill>
                  <a:srgbClr val="a12e3c"/>
                </a:solidFill>
                <a:effectLst/>
                <a:uFillTx/>
                <a:latin typeface="Cambria"/>
                <a:ea typeface="Cambria"/>
              </a:rPr>
              <a:t>Bariery terapeutyczne</a:t>
            </a:r>
            <a:endParaRPr lang="pl-PL" sz="1600" b="0" u="none" strike="noStrike">
              <a:solidFill>
                <a:srgbClr val="000000"/>
              </a:solidFill>
              <a:effectLst/>
              <a:uFillTx/>
              <a:latin typeface="Arial"/>
            </a:endParaRPr>
          </a:p>
        </p:txBody>
      </p:sp>
      <p:sp>
        <p:nvSpPr>
          <p:cNvPr id="112" name="Text 5"/>
          <p:cNvSpPr/>
          <p:nvPr/>
        </p:nvSpPr>
        <p:spPr>
          <a:xfrm>
            <a:off x="612000" y="2212920"/>
            <a:ext cx="3832200" cy="201132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8000"/>
              </a:lnSpc>
              <a:spcAft>
                <a:spcPts val="601"/>
              </a:spcAft>
              <a:buClr>
                <a:srgbClr val="1b2148"/>
              </a:buClr>
              <a:buFont typeface="Wingdings" charset="2"/>
              <a:buChar char=""/>
            </a:pPr>
            <a:r>
              <a:rPr lang="pl-PL" sz="1400" b="0" u="none" strike="noStrike">
                <a:solidFill>
                  <a:srgbClr val="1b2148"/>
                </a:solidFill>
                <a:effectLst/>
                <a:uFillTx/>
                <a:latin typeface="Calibri"/>
                <a:ea typeface="Calibri"/>
              </a:rPr>
              <a:t>Nieregularne uczęszczanie na terapię</a:t>
            </a:r>
            <a:endParaRPr lang="pl-PL" sz="1400" b="0" u="none" strike="noStrike">
              <a:solidFill>
                <a:srgbClr val="000000"/>
              </a:solidFill>
              <a:effectLst/>
              <a:uFillTx/>
              <a:latin typeface="Arial"/>
            </a:endParaRPr>
          </a:p>
          <a:p>
            <a:pPr marL="177840" indent="-177840" defTabSz="914400">
              <a:lnSpc>
                <a:spcPct val="108000"/>
              </a:lnSpc>
              <a:spcAft>
                <a:spcPts val="601"/>
              </a:spcAft>
              <a:buClr>
                <a:srgbClr val="1b2148"/>
              </a:buClr>
              <a:buFont typeface="Wingdings" charset="2"/>
              <a:buChar char=""/>
            </a:pPr>
            <a:r>
              <a:rPr lang="pl-PL" sz="1400" b="0" u="none" strike="noStrike">
                <a:solidFill>
                  <a:srgbClr val="1b2148"/>
                </a:solidFill>
                <a:effectLst/>
                <a:uFillTx/>
                <a:latin typeface="Calibri"/>
                <a:ea typeface="Calibri"/>
              </a:rPr>
              <a:t>Zapominanie o wizytach</a:t>
            </a:r>
            <a:endParaRPr lang="pl-PL" sz="1400" b="0" u="none" strike="noStrike">
              <a:solidFill>
                <a:srgbClr val="000000"/>
              </a:solidFill>
              <a:effectLst/>
              <a:uFillTx/>
              <a:latin typeface="Arial"/>
            </a:endParaRPr>
          </a:p>
          <a:p>
            <a:pPr marL="177840" indent="-177840" defTabSz="914400">
              <a:lnSpc>
                <a:spcPct val="108000"/>
              </a:lnSpc>
              <a:spcAft>
                <a:spcPts val="601"/>
              </a:spcAft>
              <a:buClr>
                <a:srgbClr val="1b2148"/>
              </a:buClr>
              <a:buFont typeface="Wingdings" charset="2"/>
              <a:buChar char=""/>
            </a:pPr>
            <a:r>
              <a:rPr lang="pl-PL" sz="1400" b="0" u="none" strike="noStrike">
                <a:solidFill>
                  <a:srgbClr val="1b2148"/>
                </a:solidFill>
                <a:effectLst/>
                <a:uFillTx/>
                <a:latin typeface="Calibri"/>
                <a:ea typeface="Calibri"/>
              </a:rPr>
              <a:t>Słaba realizacja zadań terapeutycznych</a:t>
            </a:r>
            <a:endParaRPr lang="pl-PL" sz="1400" b="0" u="none" strike="noStrike">
              <a:solidFill>
                <a:srgbClr val="000000"/>
              </a:solidFill>
              <a:effectLst/>
              <a:uFillTx/>
              <a:latin typeface="Arial"/>
            </a:endParaRPr>
          </a:p>
          <a:p>
            <a:pPr marL="177840" indent="-177840" defTabSz="914400">
              <a:lnSpc>
                <a:spcPct val="108000"/>
              </a:lnSpc>
              <a:spcAft>
                <a:spcPts val="601"/>
              </a:spcAft>
              <a:buClr>
                <a:srgbClr val="1b2148"/>
              </a:buClr>
              <a:buFont typeface="Wingdings" charset="2"/>
              <a:buChar char=""/>
            </a:pPr>
            <a:r>
              <a:rPr lang="pl-PL" sz="1400" b="0" u="none" strike="noStrike">
                <a:solidFill>
                  <a:srgbClr val="1b2148"/>
                </a:solidFill>
                <a:effectLst/>
                <a:uFillTx/>
                <a:latin typeface="Calibri"/>
                <a:ea typeface="Calibri"/>
              </a:rPr>
              <a:t>Impulsywne nawroty</a:t>
            </a:r>
            <a:endParaRPr lang="pl-PL" sz="1400" b="0" u="none" strike="noStrike">
              <a:solidFill>
                <a:srgbClr val="000000"/>
              </a:solidFill>
              <a:effectLst/>
              <a:uFillTx/>
              <a:latin typeface="Arial"/>
            </a:endParaRPr>
          </a:p>
          <a:p>
            <a:pPr marL="177840" indent="-177840" defTabSz="914400">
              <a:lnSpc>
                <a:spcPct val="108000"/>
              </a:lnSpc>
              <a:spcAft>
                <a:spcPts val="601"/>
              </a:spcAft>
              <a:buClr>
                <a:srgbClr val="1b2148"/>
              </a:buClr>
              <a:buFont typeface="Wingdings" charset="2"/>
              <a:buChar char=""/>
            </a:pPr>
            <a:r>
              <a:rPr lang="pl-PL" sz="1400" b="0" u="none" strike="noStrike">
                <a:solidFill>
                  <a:srgbClr val="1b2148"/>
                </a:solidFill>
                <a:effectLst/>
                <a:uFillTx/>
                <a:latin typeface="Calibri"/>
                <a:ea typeface="Calibri"/>
              </a:rPr>
              <a:t>Trudności w planowaniu sytuacji wysokiego ryzyka</a:t>
            </a:r>
            <a:endParaRPr lang="pl-PL" sz="1400" b="0" u="none" strike="noStrike">
              <a:solidFill>
                <a:srgbClr val="000000"/>
              </a:solidFill>
              <a:effectLst/>
              <a:uFillTx/>
              <a:latin typeface="Arial"/>
            </a:endParaRPr>
          </a:p>
          <a:p>
            <a:pPr marL="177840" indent="-177840" defTabSz="914400">
              <a:lnSpc>
                <a:spcPct val="108000"/>
              </a:lnSpc>
              <a:spcAft>
                <a:spcPts val="601"/>
              </a:spcAft>
              <a:buClr>
                <a:srgbClr val="1b2148"/>
              </a:buClr>
              <a:buFont typeface="Wingdings" charset="2"/>
              <a:buChar char=""/>
            </a:pPr>
            <a:r>
              <a:rPr lang="pl-PL" sz="1400" b="0" u="none" strike="noStrike">
                <a:solidFill>
                  <a:srgbClr val="1b2148"/>
                </a:solidFill>
                <a:effectLst/>
                <a:uFillTx/>
                <a:latin typeface="Calibri"/>
                <a:ea typeface="Calibri"/>
              </a:rPr>
              <a:t>Gorsze przestrzeganie farmakoterapii</a:t>
            </a:r>
            <a:endParaRPr lang="pl-PL" sz="1400" b="0" u="none" strike="noStrike">
              <a:solidFill>
                <a:srgbClr val="000000"/>
              </a:solidFill>
              <a:effectLst/>
              <a:uFillTx/>
              <a:latin typeface="Arial"/>
            </a:endParaRPr>
          </a:p>
        </p:txBody>
      </p:sp>
      <p:sp>
        <p:nvSpPr>
          <p:cNvPr id="113" name="Shape 6"/>
          <p:cNvSpPr/>
          <p:nvPr/>
        </p:nvSpPr>
        <p:spPr>
          <a:xfrm>
            <a:off x="4860000" y="1627560"/>
            <a:ext cx="3780720" cy="2512440"/>
          </a:xfrm>
          <a:prstGeom prst="roundRect">
            <a:avLst>
              <a:gd name="adj" fmla="val 3051"/>
            </a:avLst>
          </a:prstGeom>
          <a:solidFill>
            <a:srgbClr val="f4f6fa"/>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114" name="Text 7"/>
          <p:cNvSpPr/>
          <p:nvPr/>
        </p:nvSpPr>
        <p:spPr>
          <a:xfrm>
            <a:off x="5040000" y="1684080"/>
            <a:ext cx="33994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600" b="1" u="none" strike="noStrike">
                <a:solidFill>
                  <a:srgbClr val="1b2148"/>
                </a:solidFill>
                <a:effectLst/>
                <a:uFillTx/>
                <a:latin typeface="Cambria"/>
                <a:ea typeface="Cambria"/>
              </a:rPr>
              <a:t>Profil kliniczny ADHD + SUD</a:t>
            </a:r>
            <a:endParaRPr lang="pl-PL" sz="1600" b="0" u="none" strike="noStrike">
              <a:solidFill>
                <a:srgbClr val="000000"/>
              </a:solidFill>
              <a:effectLst/>
              <a:uFillTx/>
              <a:latin typeface="Arial"/>
            </a:endParaRPr>
          </a:p>
        </p:txBody>
      </p:sp>
      <p:sp>
        <p:nvSpPr>
          <p:cNvPr id="115" name="Text 8"/>
          <p:cNvSpPr/>
          <p:nvPr/>
        </p:nvSpPr>
        <p:spPr>
          <a:xfrm>
            <a:off x="5040000" y="2212920"/>
            <a:ext cx="3399480" cy="201132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8000"/>
              </a:lnSpc>
              <a:spcAft>
                <a:spcPts val="1001"/>
              </a:spcAft>
              <a:buClr>
                <a:srgbClr val="1b2148"/>
              </a:buClr>
              <a:buFont typeface="Wingdings" charset="2"/>
              <a:buChar char=""/>
            </a:pPr>
            <a:r>
              <a:rPr lang="pl-PL" sz="1400" b="0" u="none" strike="noStrike">
                <a:solidFill>
                  <a:srgbClr val="1b2148"/>
                </a:solidFill>
                <a:effectLst/>
                <a:uFillTx/>
                <a:latin typeface="Calibri"/>
                <a:ea typeface="Calibri"/>
              </a:rPr>
              <a:t>Wcześniejszy początek używania</a:t>
            </a:r>
            <a:endParaRPr lang="pl-PL" sz="1400" b="0" u="none" strike="noStrike">
              <a:solidFill>
                <a:srgbClr val="000000"/>
              </a:solidFill>
              <a:effectLst/>
              <a:uFillTx/>
              <a:latin typeface="Arial"/>
            </a:endParaRPr>
          </a:p>
          <a:p>
            <a:pPr marL="177840" indent="-177840" defTabSz="914400">
              <a:lnSpc>
                <a:spcPct val="108000"/>
              </a:lnSpc>
              <a:spcAft>
                <a:spcPts val="1001"/>
              </a:spcAft>
              <a:buClr>
                <a:srgbClr val="1b2148"/>
              </a:buClr>
              <a:buFont typeface="Wingdings" charset="2"/>
              <a:buChar char=""/>
            </a:pPr>
            <a:r>
              <a:rPr lang="pl-PL" sz="1400" b="0" u="none" strike="noStrike">
                <a:solidFill>
                  <a:srgbClr val="1b2148"/>
                </a:solidFill>
                <a:effectLst/>
                <a:uFillTx/>
                <a:latin typeface="Calibri"/>
                <a:ea typeface="Calibri"/>
              </a:rPr>
              <a:t>Większa liczba używanych substancji</a:t>
            </a:r>
            <a:endParaRPr lang="pl-PL" sz="1400" b="0" u="none" strike="noStrike">
              <a:solidFill>
                <a:srgbClr val="000000"/>
              </a:solidFill>
              <a:effectLst/>
              <a:uFillTx/>
              <a:latin typeface="Arial"/>
            </a:endParaRPr>
          </a:p>
          <a:p>
            <a:pPr marL="177840" indent="-177840" defTabSz="914400">
              <a:lnSpc>
                <a:spcPct val="108000"/>
              </a:lnSpc>
              <a:spcAft>
                <a:spcPts val="1001"/>
              </a:spcAft>
              <a:buClr>
                <a:srgbClr val="1b2148"/>
              </a:buClr>
              <a:buFont typeface="Wingdings" charset="2"/>
              <a:buChar char=""/>
            </a:pPr>
            <a:r>
              <a:rPr lang="pl-PL" sz="1400" b="0" u="none" strike="noStrike">
                <a:solidFill>
                  <a:srgbClr val="1b2148"/>
                </a:solidFill>
                <a:effectLst/>
                <a:uFillTx/>
                <a:latin typeface="Calibri"/>
                <a:ea typeface="Calibri"/>
              </a:rPr>
              <a:t>Więcej problemów psychiatrycznych</a:t>
            </a:r>
            <a:endParaRPr lang="pl-PL" sz="1400" b="0" u="none" strike="noStrike">
              <a:solidFill>
                <a:srgbClr val="000000"/>
              </a:solidFill>
              <a:effectLst/>
              <a:uFillTx/>
              <a:latin typeface="Arial"/>
            </a:endParaRPr>
          </a:p>
          <a:p>
            <a:pPr marL="177840" indent="-177840" defTabSz="914400">
              <a:lnSpc>
                <a:spcPct val="108000"/>
              </a:lnSpc>
              <a:spcAft>
                <a:spcPts val="1001"/>
              </a:spcAft>
              <a:buClr>
                <a:srgbClr val="1b2148"/>
              </a:buClr>
              <a:buFont typeface="Wingdings" charset="2"/>
              <a:buChar char=""/>
            </a:pPr>
            <a:r>
              <a:rPr lang="pl-PL" sz="1400" b="0" u="none" strike="noStrike">
                <a:solidFill>
                  <a:srgbClr val="1b2148"/>
                </a:solidFill>
                <a:effectLst/>
                <a:uFillTx/>
                <a:latin typeface="Calibri"/>
                <a:ea typeface="Calibri"/>
              </a:rPr>
              <a:t>Więcej problemów społecznych i prawnych</a:t>
            </a:r>
            <a:endParaRPr lang="pl-PL" sz="1400" b="0" u="none" strike="noStrike">
              <a:solidFill>
                <a:srgbClr val="000000"/>
              </a:solidFill>
              <a:effectLst/>
              <a:uFillTx/>
              <a:latin typeface="Arial"/>
            </a:endParaRPr>
          </a:p>
        </p:txBody>
      </p:sp>
      <p:sp>
        <p:nvSpPr>
          <p:cNvPr id="116" name="Text 11"/>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7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7"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UZALEŻNIENIA · LECZENIE</a:t>
            </a:r>
            <a:endParaRPr lang="pl-PL" sz="1100" b="0" u="none" strike="noStrike">
              <a:solidFill>
                <a:srgbClr val="000000"/>
              </a:solidFill>
              <a:effectLst/>
              <a:uFillTx/>
              <a:latin typeface="Arial"/>
            </a:endParaRPr>
          </a:p>
        </p:txBody>
      </p:sp>
      <p:sp>
        <p:nvSpPr>
          <p:cNvPr id="118"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200" b="1" u="none" strike="noStrike">
                <a:solidFill>
                  <a:srgbClr val="1b2148"/>
                </a:solidFill>
                <a:effectLst/>
                <a:uFillTx/>
                <a:latin typeface="Cambria"/>
                <a:ea typeface="Cambria"/>
              </a:rPr>
              <a:t>Czy farmakoterapia ADHD zwiększa ryzyko uzależnienia?</a:t>
            </a:r>
            <a:endParaRPr lang="pl-PL" sz="2200" b="0" u="none" strike="noStrike">
              <a:solidFill>
                <a:srgbClr val="000000"/>
              </a:solidFill>
              <a:effectLst/>
              <a:uFillTx/>
              <a:latin typeface="Arial"/>
            </a:endParaRPr>
          </a:p>
        </p:txBody>
      </p:sp>
      <p:sp>
        <p:nvSpPr>
          <p:cNvPr id="119" name="Text 2"/>
          <p:cNvSpPr/>
          <p:nvPr/>
        </p:nvSpPr>
        <p:spPr>
          <a:xfrm>
            <a:off x="502920" y="981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Dostępne dane nie potwierdzają wzrostu ryzyka przy prawidłowym leczeniu</a:t>
            </a:r>
            <a:endParaRPr lang="pl-PL" sz="1200" b="0" u="none" strike="noStrike">
              <a:solidFill>
                <a:srgbClr val="000000"/>
              </a:solidFill>
              <a:effectLst/>
              <a:uFillTx/>
              <a:latin typeface="Arial"/>
            </a:endParaRPr>
          </a:p>
        </p:txBody>
      </p:sp>
      <p:sp>
        <p:nvSpPr>
          <p:cNvPr id="120" name="Shape 3"/>
          <p:cNvSpPr/>
          <p:nvPr/>
        </p:nvSpPr>
        <p:spPr>
          <a:xfrm>
            <a:off x="502920" y="1627560"/>
            <a:ext cx="3977280" cy="1782720"/>
          </a:xfrm>
          <a:prstGeom prst="roundRect">
            <a:avLst>
              <a:gd name="adj" fmla="val 4615"/>
            </a:avLst>
          </a:prstGeom>
          <a:solidFill>
            <a:srgbClr val="def2ef"/>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121" name="Text 4"/>
          <p:cNvSpPr/>
          <p:nvPr/>
        </p:nvSpPr>
        <p:spPr>
          <a:xfrm>
            <a:off x="713160" y="1783080"/>
            <a:ext cx="356580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600" b="1" u="none" strike="noStrike">
                <a:solidFill>
                  <a:srgbClr val="146b65"/>
                </a:solidFill>
                <a:effectLst/>
                <a:uFillTx/>
                <a:latin typeface="Cambria"/>
                <a:ea typeface="Cambria"/>
              </a:rPr>
              <a:t>✓  Brak dowodów wzrostu ryzyka</a:t>
            </a:r>
            <a:endParaRPr lang="pl-PL" sz="1600" b="0" u="none" strike="noStrike">
              <a:solidFill>
                <a:srgbClr val="000000"/>
              </a:solidFill>
              <a:effectLst/>
              <a:uFillTx/>
              <a:latin typeface="Arial"/>
            </a:endParaRPr>
          </a:p>
        </p:txBody>
      </p:sp>
      <p:sp>
        <p:nvSpPr>
          <p:cNvPr id="122" name="Text 5"/>
          <p:cNvSpPr/>
          <p:nvPr/>
        </p:nvSpPr>
        <p:spPr>
          <a:xfrm>
            <a:off x="648000" y="2212920"/>
            <a:ext cx="3738960" cy="1142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400" b="0" u="none" strike="noStrike">
                <a:solidFill>
                  <a:srgbClr val="1b2148"/>
                </a:solidFill>
                <a:effectLst/>
                <a:uFillTx/>
                <a:latin typeface="Calibri"/>
                <a:ea typeface="Calibri"/>
              </a:rPr>
              <a:t>W badaniach populacyjnych leczenie stymulantami nie wiązało się ze wzrostem ryzyka SUD; część analiz wskazuje na niższą częstość zdarzeń związanych </a:t>
            </a:r>
            <a:br>
              <a:rPr sz="1400"/>
            </a:br>
            <a:r>
              <a:rPr lang="pl-PL" sz="1400" b="0" u="none" strike="noStrike">
                <a:solidFill>
                  <a:srgbClr val="1b2148"/>
                </a:solidFill>
                <a:effectLst/>
                <a:uFillTx/>
                <a:latin typeface="Calibri"/>
                <a:ea typeface="Calibri"/>
              </a:rPr>
              <a:t>z używaniem w okresach leczenia.</a:t>
            </a:r>
            <a:endParaRPr lang="pl-PL" sz="1400" b="0" u="none" strike="noStrike">
              <a:solidFill>
                <a:srgbClr val="000000"/>
              </a:solidFill>
              <a:effectLst/>
              <a:uFillTx/>
              <a:latin typeface="Arial"/>
            </a:endParaRPr>
          </a:p>
        </p:txBody>
      </p:sp>
      <p:sp>
        <p:nvSpPr>
          <p:cNvPr id="123" name="Shape 6"/>
          <p:cNvSpPr/>
          <p:nvPr/>
        </p:nvSpPr>
        <p:spPr>
          <a:xfrm>
            <a:off x="4662720" y="1620000"/>
            <a:ext cx="3977280" cy="1782720"/>
          </a:xfrm>
          <a:prstGeom prst="roundRect">
            <a:avLst>
              <a:gd name="adj" fmla="val 4615"/>
            </a:avLst>
          </a:prstGeom>
          <a:solidFill>
            <a:srgbClr val="fceadd"/>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124" name="Text 7"/>
          <p:cNvSpPr/>
          <p:nvPr/>
        </p:nvSpPr>
        <p:spPr>
          <a:xfrm>
            <a:off x="4873680" y="1783080"/>
            <a:ext cx="356580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800" b="1" u="none" strike="noStrike">
                <a:solidFill>
                  <a:srgbClr val="c75a26"/>
                </a:solidFill>
                <a:effectLst/>
                <a:uFillTx/>
                <a:latin typeface="Cambria"/>
                <a:ea typeface="Cambria"/>
              </a:rPr>
              <a:t>Kluczowe jest rozróżnienie</a:t>
            </a:r>
            <a:endParaRPr lang="pl-PL" sz="1800" b="0" u="none" strike="noStrike">
              <a:solidFill>
                <a:srgbClr val="000000"/>
              </a:solidFill>
              <a:effectLst/>
              <a:uFillTx/>
              <a:latin typeface="Arial"/>
            </a:endParaRPr>
          </a:p>
        </p:txBody>
      </p:sp>
      <p:sp>
        <p:nvSpPr>
          <p:cNvPr id="125" name="Text 8"/>
          <p:cNvSpPr/>
          <p:nvPr/>
        </p:nvSpPr>
        <p:spPr>
          <a:xfrm>
            <a:off x="4788000" y="2212920"/>
            <a:ext cx="3759480" cy="1142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400" b="0" u="none" strike="noStrike">
                <a:solidFill>
                  <a:srgbClr val="1b2148"/>
                </a:solidFill>
                <a:effectLst/>
                <a:uFillTx/>
                <a:latin typeface="Calibri"/>
                <a:ea typeface="Calibri"/>
              </a:rPr>
              <a:t>Kontrolowane przyjmowanie leku ≠ pozamedyczne stosowanie, przekazywanie leków innym osobom czy zmiana drogi podania.</a:t>
            </a:r>
            <a:endParaRPr lang="pl-PL" sz="1400" b="0" u="none" strike="noStrike">
              <a:solidFill>
                <a:srgbClr val="000000"/>
              </a:solidFill>
              <a:effectLst/>
              <a:uFillTx/>
              <a:latin typeface="Arial"/>
            </a:endParaRPr>
          </a:p>
        </p:txBody>
      </p:sp>
      <p:sp>
        <p:nvSpPr>
          <p:cNvPr id="126" name="Text 9"/>
          <p:cNvSpPr/>
          <p:nvPr/>
        </p:nvSpPr>
        <p:spPr>
          <a:xfrm>
            <a:off x="502920" y="3764520"/>
            <a:ext cx="813780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50" b="1" u="none" strike="noStrike">
                <a:solidFill>
                  <a:srgbClr val="1b2148"/>
                </a:solidFill>
                <a:effectLst/>
                <a:uFillTx/>
                <a:latin typeface="Cambria"/>
                <a:ea typeface="Cambria"/>
              </a:rPr>
              <a:t>Strategie u pacjentów wysokiego ryzyka nadużywania</a:t>
            </a:r>
            <a:endParaRPr lang="pl-PL" sz="1250" b="0" u="none" strike="noStrike">
              <a:solidFill>
                <a:srgbClr val="000000"/>
              </a:solidFill>
              <a:effectLst/>
              <a:uFillTx/>
              <a:latin typeface="Arial"/>
            </a:endParaRPr>
          </a:p>
        </p:txBody>
      </p:sp>
      <p:sp>
        <p:nvSpPr>
          <p:cNvPr id="127" name="Shape 10"/>
          <p:cNvSpPr/>
          <p:nvPr/>
        </p:nvSpPr>
        <p:spPr>
          <a:xfrm>
            <a:off x="502920" y="4075920"/>
            <a:ext cx="1938240" cy="568080"/>
          </a:xfrm>
          <a:prstGeom prst="roundRect">
            <a:avLst>
              <a:gd name="adj" fmla="val 10588"/>
            </a:avLst>
          </a:prstGeom>
          <a:solidFill>
            <a:srgbClr val="f4f6fa"/>
          </a:solidFill>
          <a:ln w="1260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128" name="Text 11"/>
          <p:cNvSpPr/>
          <p:nvPr/>
        </p:nvSpPr>
        <p:spPr>
          <a:xfrm>
            <a:off x="594360" y="4075920"/>
            <a:ext cx="1755360" cy="5680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0" u="none" strike="noStrike">
                <a:solidFill>
                  <a:srgbClr val="1b2148"/>
                </a:solidFill>
                <a:effectLst/>
                <a:uFillTx/>
                <a:latin typeface="Calibri"/>
                <a:ea typeface="Calibri"/>
              </a:rPr>
              <a:t>Preparaty długo działające</a:t>
            </a:r>
            <a:endParaRPr lang="pl-PL" sz="1400" b="0" u="none" strike="noStrike">
              <a:solidFill>
                <a:srgbClr val="000000"/>
              </a:solidFill>
              <a:effectLst/>
              <a:uFillTx/>
              <a:latin typeface="Arial"/>
            </a:endParaRPr>
          </a:p>
        </p:txBody>
      </p:sp>
      <p:sp>
        <p:nvSpPr>
          <p:cNvPr id="129" name="Shape 12"/>
          <p:cNvSpPr/>
          <p:nvPr/>
        </p:nvSpPr>
        <p:spPr>
          <a:xfrm>
            <a:off x="2532960" y="4075920"/>
            <a:ext cx="1938240" cy="568080"/>
          </a:xfrm>
          <a:prstGeom prst="roundRect">
            <a:avLst>
              <a:gd name="adj" fmla="val 10588"/>
            </a:avLst>
          </a:prstGeom>
          <a:solidFill>
            <a:srgbClr val="f4f6fa"/>
          </a:solidFill>
          <a:ln w="1260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130" name="Text 13"/>
          <p:cNvSpPr/>
          <p:nvPr/>
        </p:nvSpPr>
        <p:spPr>
          <a:xfrm>
            <a:off x="2624400" y="4075920"/>
            <a:ext cx="1755360" cy="5680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0" u="none" strike="noStrike">
                <a:solidFill>
                  <a:srgbClr val="1b2148"/>
                </a:solidFill>
                <a:effectLst/>
                <a:uFillTx/>
                <a:latin typeface="Calibri"/>
                <a:ea typeface="Calibri"/>
              </a:rPr>
              <a:t>Leki niestymulujące</a:t>
            </a:r>
            <a:endParaRPr lang="pl-PL" sz="1400" b="0" u="none" strike="noStrike">
              <a:solidFill>
                <a:srgbClr val="000000"/>
              </a:solidFill>
              <a:effectLst/>
              <a:uFillTx/>
              <a:latin typeface="Arial"/>
            </a:endParaRPr>
          </a:p>
        </p:txBody>
      </p:sp>
      <p:sp>
        <p:nvSpPr>
          <p:cNvPr id="131" name="Shape 14"/>
          <p:cNvSpPr/>
          <p:nvPr/>
        </p:nvSpPr>
        <p:spPr>
          <a:xfrm>
            <a:off x="4563000" y="4075920"/>
            <a:ext cx="1938240" cy="568080"/>
          </a:xfrm>
          <a:prstGeom prst="roundRect">
            <a:avLst>
              <a:gd name="adj" fmla="val 10588"/>
            </a:avLst>
          </a:prstGeom>
          <a:solidFill>
            <a:srgbClr val="f4f6fa"/>
          </a:solidFill>
          <a:ln w="1260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132" name="Text 15"/>
          <p:cNvSpPr/>
          <p:nvPr/>
        </p:nvSpPr>
        <p:spPr>
          <a:xfrm>
            <a:off x="4654440" y="4075920"/>
            <a:ext cx="1755360" cy="5680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0" u="none" strike="noStrike">
                <a:solidFill>
                  <a:srgbClr val="1b2148"/>
                </a:solidFill>
                <a:effectLst/>
                <a:uFillTx/>
                <a:latin typeface="Calibri"/>
                <a:ea typeface="Calibri"/>
              </a:rPr>
              <a:t>Ograniczona liczba wydawanych dawek</a:t>
            </a:r>
            <a:endParaRPr lang="pl-PL" sz="1400" b="0" u="none" strike="noStrike">
              <a:solidFill>
                <a:srgbClr val="000000"/>
              </a:solidFill>
              <a:effectLst/>
              <a:uFillTx/>
              <a:latin typeface="Arial"/>
            </a:endParaRPr>
          </a:p>
        </p:txBody>
      </p:sp>
      <p:sp>
        <p:nvSpPr>
          <p:cNvPr id="133" name="Shape 16"/>
          <p:cNvSpPr/>
          <p:nvPr/>
        </p:nvSpPr>
        <p:spPr>
          <a:xfrm>
            <a:off x="6592680" y="4075920"/>
            <a:ext cx="1938240" cy="568080"/>
          </a:xfrm>
          <a:prstGeom prst="roundRect">
            <a:avLst>
              <a:gd name="adj" fmla="val 10588"/>
            </a:avLst>
          </a:prstGeom>
          <a:solidFill>
            <a:srgbClr val="f4f6fa"/>
          </a:solidFill>
          <a:ln w="1260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134" name="Text 17"/>
          <p:cNvSpPr/>
          <p:nvPr/>
        </p:nvSpPr>
        <p:spPr>
          <a:xfrm>
            <a:off x="6684120" y="4075920"/>
            <a:ext cx="1755360" cy="5680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0" u="none" strike="noStrike">
                <a:solidFill>
                  <a:srgbClr val="1b2148"/>
                </a:solidFill>
                <a:effectLst/>
                <a:uFillTx/>
                <a:latin typeface="Calibri"/>
                <a:ea typeface="Calibri"/>
              </a:rPr>
              <a:t>Monitorowanie </a:t>
            </a:r>
            <a:br>
              <a:rPr sz="1400"/>
            </a:br>
            <a:r>
              <a:rPr lang="pl-PL" sz="1400" b="0" u="none" strike="noStrike">
                <a:solidFill>
                  <a:srgbClr val="1b2148"/>
                </a:solidFill>
                <a:effectLst/>
                <a:uFillTx/>
                <a:latin typeface="Calibri"/>
                <a:ea typeface="Calibri"/>
              </a:rPr>
              <a:t>i nadzór</a:t>
            </a:r>
            <a:endParaRPr lang="pl-PL" sz="1400" b="0" u="none" strike="noStrike">
              <a:solidFill>
                <a:srgbClr val="000000"/>
              </a:solidFill>
              <a:effectLst/>
              <a:uFillTx/>
              <a:latin typeface="Arial"/>
            </a:endParaRPr>
          </a:p>
        </p:txBody>
      </p:sp>
      <p:sp>
        <p:nvSpPr>
          <p:cNvPr id="135" name="Text 18"/>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8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6"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UZALEŻNIENIA · MODEL LECZENIA</a:t>
            </a:r>
            <a:endParaRPr lang="pl-PL" sz="1100" b="0" u="none" strike="noStrike">
              <a:solidFill>
                <a:srgbClr val="000000"/>
              </a:solidFill>
              <a:effectLst/>
              <a:uFillTx/>
              <a:latin typeface="Arial"/>
            </a:endParaRPr>
          </a:p>
        </p:txBody>
      </p:sp>
      <p:sp>
        <p:nvSpPr>
          <p:cNvPr id="137"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200" b="1" u="none" strike="noStrike">
                <a:solidFill>
                  <a:srgbClr val="1b2148"/>
                </a:solidFill>
                <a:effectLst/>
                <a:uFillTx/>
                <a:latin typeface="Cambria"/>
                <a:ea typeface="Cambria"/>
              </a:rPr>
              <a:t>Leczenie współwystępujących ADHD i SUD: model równoległy</a:t>
            </a:r>
            <a:endParaRPr lang="pl-PL" sz="2200" b="0" u="none" strike="noStrike">
              <a:solidFill>
                <a:srgbClr val="000000"/>
              </a:solidFill>
              <a:effectLst/>
              <a:uFillTx/>
              <a:latin typeface="Arial"/>
            </a:endParaRPr>
          </a:p>
        </p:txBody>
      </p:sp>
      <p:sp>
        <p:nvSpPr>
          <p:cNvPr id="138" name="Text 2"/>
          <p:cNvSpPr/>
          <p:nvPr/>
        </p:nvSpPr>
        <p:spPr>
          <a:xfrm>
            <a:off x="502920" y="1017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Farmakoterapia ADHD poprawia objawy, ale rzadko wystarcza jako leczenie samego SUD</a:t>
            </a:r>
            <a:endParaRPr lang="pl-PL" sz="1200" b="0" u="none" strike="noStrike">
              <a:solidFill>
                <a:srgbClr val="000000"/>
              </a:solidFill>
              <a:effectLst/>
              <a:uFillTx/>
              <a:latin typeface="Arial"/>
            </a:endParaRPr>
          </a:p>
        </p:txBody>
      </p:sp>
      <p:sp>
        <p:nvSpPr>
          <p:cNvPr id="139" name="Shape 3"/>
          <p:cNvSpPr/>
          <p:nvPr/>
        </p:nvSpPr>
        <p:spPr>
          <a:xfrm>
            <a:off x="502920" y="1874520"/>
            <a:ext cx="1535760" cy="1416960"/>
          </a:xfrm>
          <a:prstGeom prst="roundRect">
            <a:avLst>
              <a:gd name="adj" fmla="val 5806"/>
            </a:avLst>
          </a:prstGeom>
          <a:solidFill>
            <a:srgbClr val="1b2148"/>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140" name="Text 4"/>
          <p:cNvSpPr/>
          <p:nvPr/>
        </p:nvSpPr>
        <p:spPr>
          <a:xfrm>
            <a:off x="594360" y="1874520"/>
            <a:ext cx="1352880" cy="1416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1" u="none" strike="noStrike">
                <a:solidFill>
                  <a:srgbClr val="ffffff"/>
                </a:solidFill>
                <a:effectLst/>
                <a:uFillTx/>
                <a:latin typeface="Calibri"/>
                <a:ea typeface="Calibri"/>
              </a:rPr>
              <a:t>Farmakoterapia ADHD</a:t>
            </a:r>
            <a:endParaRPr lang="pl-PL" sz="1400" b="0" u="none" strike="noStrike">
              <a:solidFill>
                <a:srgbClr val="000000"/>
              </a:solidFill>
              <a:effectLst/>
              <a:uFillTx/>
              <a:latin typeface="Arial"/>
            </a:endParaRPr>
          </a:p>
          <a:p>
            <a:pPr algn="ctr" defTabSz="914400">
              <a:lnSpc>
                <a:spcPct val="100000"/>
              </a:lnSpc>
              <a:tabLst>
                <a:tab algn="l" pos="0"/>
              </a:tabLst>
            </a:pPr>
            <a:r>
              <a:rPr lang="pl-PL" sz="1400" b="1" u="none" strike="noStrike">
                <a:solidFill>
                  <a:srgbClr val="ffffff"/>
                </a:solidFill>
                <a:effectLst/>
                <a:uFillTx/>
                <a:latin typeface="Calibri"/>
                <a:ea typeface="Calibri"/>
              </a:rPr>
              <a:t>dobrana do profilu ryzyka</a:t>
            </a:r>
            <a:endParaRPr lang="pl-PL" sz="1400" b="0" u="none" strike="noStrike">
              <a:solidFill>
                <a:srgbClr val="000000"/>
              </a:solidFill>
              <a:effectLst/>
              <a:uFillTx/>
              <a:latin typeface="Arial"/>
            </a:endParaRPr>
          </a:p>
        </p:txBody>
      </p:sp>
      <p:sp>
        <p:nvSpPr>
          <p:cNvPr id="141" name="Text 5"/>
          <p:cNvSpPr/>
          <p:nvPr/>
        </p:nvSpPr>
        <p:spPr>
          <a:xfrm>
            <a:off x="2039040" y="1874520"/>
            <a:ext cx="63720" cy="1416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1" u="none" strike="noStrike">
                <a:solidFill>
                  <a:srgbClr val="e8743a"/>
                </a:solidFill>
                <a:effectLst/>
                <a:uFillTx/>
                <a:latin typeface="Calibri"/>
              </a:rPr>
              <a:t>+</a:t>
            </a:r>
            <a:endParaRPr lang="pl-PL" sz="1400" b="0" u="none" strike="noStrike">
              <a:solidFill>
                <a:srgbClr val="000000"/>
              </a:solidFill>
              <a:effectLst/>
              <a:uFillTx/>
              <a:latin typeface="Arial"/>
            </a:endParaRPr>
          </a:p>
        </p:txBody>
      </p:sp>
      <p:sp>
        <p:nvSpPr>
          <p:cNvPr id="142" name="Shape 6"/>
          <p:cNvSpPr/>
          <p:nvPr/>
        </p:nvSpPr>
        <p:spPr>
          <a:xfrm>
            <a:off x="2175120" y="1874520"/>
            <a:ext cx="1424880" cy="1416960"/>
          </a:xfrm>
          <a:prstGeom prst="roundRect">
            <a:avLst>
              <a:gd name="adj" fmla="val 5806"/>
            </a:avLst>
          </a:prstGeom>
          <a:solidFill>
            <a:srgbClr val="f4f6fa"/>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143" name="Text 7"/>
          <p:cNvSpPr/>
          <p:nvPr/>
        </p:nvSpPr>
        <p:spPr>
          <a:xfrm>
            <a:off x="2230560" y="1874520"/>
            <a:ext cx="1369440" cy="1416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1" u="none" strike="noStrike">
                <a:solidFill>
                  <a:srgbClr val="1b2148"/>
                </a:solidFill>
                <a:effectLst/>
                <a:uFillTx/>
                <a:latin typeface="Calibri"/>
                <a:ea typeface="Calibri"/>
              </a:rPr>
              <a:t>Terapia poznawczo-</a:t>
            </a:r>
            <a:endParaRPr lang="pl-PL" sz="1400" b="0" u="none" strike="noStrike">
              <a:solidFill>
                <a:srgbClr val="000000"/>
              </a:solidFill>
              <a:effectLst/>
              <a:uFillTx/>
              <a:latin typeface="Arial"/>
            </a:endParaRPr>
          </a:p>
          <a:p>
            <a:pPr algn="ctr" defTabSz="914400">
              <a:lnSpc>
                <a:spcPct val="100000"/>
              </a:lnSpc>
              <a:tabLst>
                <a:tab algn="l" pos="0"/>
              </a:tabLst>
            </a:pPr>
            <a:r>
              <a:rPr lang="pl-PL" sz="1400" b="1" u="none" strike="noStrike">
                <a:solidFill>
                  <a:srgbClr val="1b2148"/>
                </a:solidFill>
                <a:effectLst/>
                <a:uFillTx/>
                <a:latin typeface="Calibri"/>
                <a:ea typeface="Calibri"/>
              </a:rPr>
              <a:t>-behawioralna (CBT)</a:t>
            </a:r>
            <a:endParaRPr lang="pl-PL" sz="1400" b="0" u="none" strike="noStrike">
              <a:solidFill>
                <a:srgbClr val="000000"/>
              </a:solidFill>
              <a:effectLst/>
              <a:uFillTx/>
              <a:latin typeface="Arial"/>
            </a:endParaRPr>
          </a:p>
        </p:txBody>
      </p:sp>
      <p:sp>
        <p:nvSpPr>
          <p:cNvPr id="144" name="Text 8"/>
          <p:cNvSpPr/>
          <p:nvPr/>
        </p:nvSpPr>
        <p:spPr>
          <a:xfrm>
            <a:off x="3639240" y="1874520"/>
            <a:ext cx="63720" cy="1416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1" u="none" strike="noStrike">
                <a:solidFill>
                  <a:srgbClr val="e8743a"/>
                </a:solidFill>
                <a:effectLst/>
                <a:uFillTx/>
                <a:latin typeface="Calibri"/>
              </a:rPr>
              <a:t>+</a:t>
            </a:r>
            <a:endParaRPr lang="pl-PL" sz="1400" b="0" u="none" strike="noStrike">
              <a:solidFill>
                <a:srgbClr val="000000"/>
              </a:solidFill>
              <a:effectLst/>
              <a:uFillTx/>
              <a:latin typeface="Arial"/>
            </a:endParaRPr>
          </a:p>
        </p:txBody>
      </p:sp>
      <p:sp>
        <p:nvSpPr>
          <p:cNvPr id="145" name="Shape 9"/>
          <p:cNvSpPr/>
          <p:nvPr/>
        </p:nvSpPr>
        <p:spPr>
          <a:xfrm>
            <a:off x="3739320" y="1874520"/>
            <a:ext cx="1444680" cy="1416960"/>
          </a:xfrm>
          <a:prstGeom prst="roundRect">
            <a:avLst>
              <a:gd name="adj" fmla="val 5806"/>
            </a:avLst>
          </a:prstGeom>
          <a:solidFill>
            <a:srgbClr val="f4f6fa"/>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146" name="Text 10"/>
          <p:cNvSpPr/>
          <p:nvPr/>
        </p:nvSpPr>
        <p:spPr>
          <a:xfrm>
            <a:off x="3830760" y="1874520"/>
            <a:ext cx="1245240" cy="1416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1" u="none" strike="noStrike">
                <a:solidFill>
                  <a:srgbClr val="1b2148"/>
                </a:solidFill>
                <a:effectLst/>
                <a:uFillTx/>
                <a:latin typeface="Calibri"/>
                <a:ea typeface="Calibri"/>
              </a:rPr>
              <a:t>Monitorowanie</a:t>
            </a:r>
            <a:endParaRPr lang="pl-PL" sz="1400" b="0" u="none" strike="noStrike">
              <a:solidFill>
                <a:srgbClr val="000000"/>
              </a:solidFill>
              <a:effectLst/>
              <a:uFillTx/>
              <a:latin typeface="Arial"/>
            </a:endParaRPr>
          </a:p>
          <a:p>
            <a:pPr algn="ctr" defTabSz="914400">
              <a:lnSpc>
                <a:spcPct val="100000"/>
              </a:lnSpc>
              <a:tabLst>
                <a:tab algn="l" pos="0"/>
              </a:tabLst>
            </a:pPr>
            <a:r>
              <a:rPr lang="pl-PL" sz="1400" b="1" u="none" strike="noStrike">
                <a:solidFill>
                  <a:srgbClr val="1b2148"/>
                </a:solidFill>
                <a:effectLst/>
                <a:uFillTx/>
                <a:latin typeface="Calibri"/>
                <a:ea typeface="Calibri"/>
              </a:rPr>
              <a:t>używania substancji</a:t>
            </a:r>
            <a:endParaRPr lang="pl-PL" sz="1400" b="0" u="none" strike="noStrike">
              <a:solidFill>
                <a:srgbClr val="000000"/>
              </a:solidFill>
              <a:effectLst/>
              <a:uFillTx/>
              <a:latin typeface="Arial"/>
            </a:endParaRPr>
          </a:p>
        </p:txBody>
      </p:sp>
      <p:sp>
        <p:nvSpPr>
          <p:cNvPr id="147" name="Text 11"/>
          <p:cNvSpPr/>
          <p:nvPr/>
        </p:nvSpPr>
        <p:spPr>
          <a:xfrm>
            <a:off x="5239440" y="1874520"/>
            <a:ext cx="63720" cy="1416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1" u="none" strike="noStrike">
                <a:solidFill>
                  <a:srgbClr val="e8743a"/>
                </a:solidFill>
                <a:effectLst/>
                <a:uFillTx/>
                <a:latin typeface="Calibri"/>
              </a:rPr>
              <a:t>+</a:t>
            </a:r>
            <a:endParaRPr lang="pl-PL" sz="1400" b="0" u="none" strike="noStrike">
              <a:solidFill>
                <a:srgbClr val="000000"/>
              </a:solidFill>
              <a:effectLst/>
              <a:uFillTx/>
              <a:latin typeface="Arial"/>
            </a:endParaRPr>
          </a:p>
        </p:txBody>
      </p:sp>
      <p:sp>
        <p:nvSpPr>
          <p:cNvPr id="148" name="Shape 12"/>
          <p:cNvSpPr/>
          <p:nvPr/>
        </p:nvSpPr>
        <p:spPr>
          <a:xfrm>
            <a:off x="5400000" y="1874520"/>
            <a:ext cx="1367280" cy="1416960"/>
          </a:xfrm>
          <a:prstGeom prst="roundRect">
            <a:avLst>
              <a:gd name="adj" fmla="val 5806"/>
            </a:avLst>
          </a:prstGeom>
          <a:solidFill>
            <a:srgbClr val="f4f6fa"/>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149" name="Text 13"/>
          <p:cNvSpPr/>
          <p:nvPr/>
        </p:nvSpPr>
        <p:spPr>
          <a:xfrm>
            <a:off x="5508000" y="1874520"/>
            <a:ext cx="1167840" cy="1416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1" u="none" strike="noStrike">
                <a:solidFill>
                  <a:srgbClr val="1b2148"/>
                </a:solidFill>
                <a:effectLst/>
                <a:uFillTx/>
                <a:latin typeface="Calibri"/>
                <a:ea typeface="Calibri"/>
              </a:rPr>
              <a:t>Psychoedukacja</a:t>
            </a:r>
            <a:endParaRPr lang="pl-PL" sz="1400" b="0" u="none" strike="noStrike">
              <a:solidFill>
                <a:srgbClr val="000000"/>
              </a:solidFill>
              <a:effectLst/>
              <a:uFillTx/>
              <a:latin typeface="Arial"/>
            </a:endParaRPr>
          </a:p>
          <a:p>
            <a:pPr algn="ctr" defTabSz="914400">
              <a:lnSpc>
                <a:spcPct val="100000"/>
              </a:lnSpc>
              <a:tabLst>
                <a:tab algn="l" pos="0"/>
              </a:tabLst>
            </a:pPr>
            <a:r>
              <a:rPr lang="pl-PL" sz="1400" b="1" u="none" strike="noStrike">
                <a:solidFill>
                  <a:srgbClr val="1b2148"/>
                </a:solidFill>
                <a:effectLst/>
                <a:uFillTx/>
                <a:latin typeface="Calibri"/>
                <a:ea typeface="Calibri"/>
              </a:rPr>
              <a:t>i organizacja terminów</a:t>
            </a:r>
            <a:endParaRPr lang="pl-PL" sz="1400" b="0" u="none" strike="noStrike">
              <a:solidFill>
                <a:srgbClr val="000000"/>
              </a:solidFill>
              <a:effectLst/>
              <a:uFillTx/>
              <a:latin typeface="Arial"/>
            </a:endParaRPr>
          </a:p>
        </p:txBody>
      </p:sp>
      <p:sp>
        <p:nvSpPr>
          <p:cNvPr id="150" name="Text 14"/>
          <p:cNvSpPr/>
          <p:nvPr/>
        </p:nvSpPr>
        <p:spPr>
          <a:xfrm>
            <a:off x="6839640" y="1874520"/>
            <a:ext cx="63720" cy="1416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1" u="none" strike="noStrike">
                <a:solidFill>
                  <a:srgbClr val="e8743a"/>
                </a:solidFill>
                <a:effectLst/>
                <a:uFillTx/>
                <a:latin typeface="Calibri"/>
              </a:rPr>
              <a:t>+</a:t>
            </a:r>
            <a:endParaRPr lang="pl-PL" sz="1400" b="0" u="none" strike="noStrike">
              <a:solidFill>
                <a:srgbClr val="000000"/>
              </a:solidFill>
              <a:effectLst/>
              <a:uFillTx/>
              <a:latin typeface="Arial"/>
            </a:endParaRPr>
          </a:p>
        </p:txBody>
      </p:sp>
      <p:sp>
        <p:nvSpPr>
          <p:cNvPr id="151" name="Shape 15"/>
          <p:cNvSpPr/>
          <p:nvPr/>
        </p:nvSpPr>
        <p:spPr>
          <a:xfrm>
            <a:off x="7020000" y="1874520"/>
            <a:ext cx="1419480" cy="1416960"/>
          </a:xfrm>
          <a:prstGeom prst="roundRect">
            <a:avLst>
              <a:gd name="adj" fmla="val 5806"/>
            </a:avLst>
          </a:prstGeom>
          <a:solidFill>
            <a:srgbClr val="f4f6fa"/>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152" name="Text 16"/>
          <p:cNvSpPr/>
          <p:nvPr/>
        </p:nvSpPr>
        <p:spPr>
          <a:xfrm>
            <a:off x="7200000" y="1874520"/>
            <a:ext cx="1148040" cy="1416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1" u="none" strike="noStrike">
                <a:solidFill>
                  <a:srgbClr val="1b2148"/>
                </a:solidFill>
                <a:effectLst/>
                <a:uFillTx/>
                <a:latin typeface="Calibri"/>
                <a:ea typeface="Calibri"/>
              </a:rPr>
              <a:t>Leczenie depresji,</a:t>
            </a:r>
            <a:endParaRPr lang="pl-PL" sz="1400" b="0" u="none" strike="noStrike">
              <a:solidFill>
                <a:srgbClr val="000000"/>
              </a:solidFill>
              <a:effectLst/>
              <a:uFillTx/>
              <a:latin typeface="Arial"/>
            </a:endParaRPr>
          </a:p>
          <a:p>
            <a:pPr algn="ctr" defTabSz="914400">
              <a:lnSpc>
                <a:spcPct val="100000"/>
              </a:lnSpc>
              <a:tabLst>
                <a:tab algn="l" pos="0"/>
              </a:tabLst>
            </a:pPr>
            <a:r>
              <a:rPr lang="pl-PL" sz="1400" b="1" u="none" strike="noStrike">
                <a:solidFill>
                  <a:srgbClr val="1b2148"/>
                </a:solidFill>
                <a:effectLst/>
                <a:uFillTx/>
                <a:latin typeface="Calibri"/>
                <a:ea typeface="Calibri"/>
              </a:rPr>
              <a:t>lęku i zaburzeń snu</a:t>
            </a:r>
            <a:endParaRPr lang="pl-PL" sz="1400" b="0" u="none" strike="noStrike">
              <a:solidFill>
                <a:srgbClr val="000000"/>
              </a:solidFill>
              <a:effectLst/>
              <a:uFillTx/>
              <a:latin typeface="Arial"/>
            </a:endParaRPr>
          </a:p>
        </p:txBody>
      </p:sp>
      <p:sp>
        <p:nvSpPr>
          <p:cNvPr id="153" name="Shape 17"/>
          <p:cNvSpPr/>
          <p:nvPr/>
        </p:nvSpPr>
        <p:spPr>
          <a:xfrm>
            <a:off x="502920" y="3611880"/>
            <a:ext cx="8137800" cy="1051200"/>
          </a:xfrm>
          <a:prstGeom prst="roundRect">
            <a:avLst>
              <a:gd name="adj" fmla="val 7826"/>
            </a:avLst>
          </a:prstGeom>
          <a:solidFill>
            <a:srgbClr val="fceadd"/>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154" name="Text 18"/>
          <p:cNvSpPr/>
          <p:nvPr/>
        </p:nvSpPr>
        <p:spPr>
          <a:xfrm>
            <a:off x="777240" y="3611880"/>
            <a:ext cx="7589160" cy="10512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600" b="0" i="1" u="none" strike="noStrike">
                <a:solidFill>
                  <a:srgbClr val="c75a26"/>
                </a:solidFill>
                <a:effectLst/>
                <a:uFillTx/>
                <a:latin typeface="Calibri"/>
                <a:ea typeface="Calibri"/>
              </a:rPr>
              <a:t>W </a:t>
            </a:r>
            <a:r>
              <a:rPr lang="pl-PL" sz="1600" b="0" i="1" u="none" strike="noStrike">
                <a:solidFill>
                  <a:srgbClr val="c75a26"/>
                </a:solidFill>
                <a:effectLst/>
                <a:uFillTx/>
                <a:latin typeface="Calibri"/>
                <a:ea typeface="Calibri"/>
              </a:rPr>
              <a:t>now</a:t>
            </a:r>
            <a:r>
              <a:rPr lang="pl-PL" sz="1600" b="0" i="1" u="none" strike="noStrike">
                <a:solidFill>
                  <a:srgbClr val="c75a26"/>
                </a:solidFill>
                <a:effectLst/>
                <a:uFillTx/>
                <a:latin typeface="Calibri"/>
                <a:ea typeface="Calibri"/>
              </a:rPr>
              <a:t>szyc</a:t>
            </a:r>
            <a:r>
              <a:rPr lang="pl-PL" sz="1600" b="0" i="1" u="none" strike="noStrike">
                <a:solidFill>
                  <a:srgbClr val="c75a26"/>
                </a:solidFill>
                <a:effectLst/>
                <a:uFillTx/>
                <a:latin typeface="Calibri"/>
                <a:ea typeface="Calibri"/>
              </a:rPr>
              <a:t>h </a:t>
            </a:r>
            <a:r>
              <a:rPr lang="pl-PL" sz="1600" b="0" i="1" u="none" strike="noStrike">
                <a:solidFill>
                  <a:srgbClr val="c75a26"/>
                </a:solidFill>
                <a:effectLst/>
                <a:uFillTx/>
                <a:latin typeface="Calibri"/>
                <a:ea typeface="Calibri"/>
              </a:rPr>
              <a:t>duży</a:t>
            </a:r>
            <a:r>
              <a:rPr lang="pl-PL" sz="1600" b="0" i="1" u="none" strike="noStrike">
                <a:solidFill>
                  <a:srgbClr val="c75a26"/>
                </a:solidFill>
                <a:effectLst/>
                <a:uFillTx/>
                <a:latin typeface="Calibri"/>
                <a:ea typeface="Calibri"/>
              </a:rPr>
              <a:t>ch </a:t>
            </a:r>
            <a:r>
              <a:rPr lang="pl-PL" sz="1600" b="0" i="1" u="none" strike="noStrike">
                <a:solidFill>
                  <a:srgbClr val="c75a26"/>
                </a:solidFill>
                <a:effectLst/>
                <a:uFillTx/>
                <a:latin typeface="Calibri"/>
                <a:ea typeface="Calibri"/>
              </a:rPr>
              <a:t>anal</a:t>
            </a:r>
            <a:r>
              <a:rPr lang="pl-PL" sz="1600" b="0" i="1" u="none" strike="noStrike">
                <a:solidFill>
                  <a:srgbClr val="c75a26"/>
                </a:solidFill>
                <a:effectLst/>
                <a:uFillTx/>
                <a:latin typeface="Calibri"/>
                <a:ea typeface="Calibri"/>
              </a:rPr>
              <a:t>izac</a:t>
            </a:r>
            <a:r>
              <a:rPr lang="pl-PL" sz="1600" b="0" i="1" u="none" strike="noStrike">
                <a:solidFill>
                  <a:srgbClr val="c75a26"/>
                </a:solidFill>
                <a:effectLst/>
                <a:uFillTx/>
                <a:latin typeface="Calibri"/>
                <a:ea typeface="Calibri"/>
              </a:rPr>
              <a:t>h </a:t>
            </a:r>
            <a:r>
              <a:rPr lang="pl-PL" sz="1600" b="0" i="1" u="none" strike="noStrike">
                <a:solidFill>
                  <a:srgbClr val="c75a26"/>
                </a:solidFill>
                <a:effectLst/>
                <a:uFillTx/>
                <a:latin typeface="Calibri"/>
                <a:ea typeface="Calibri"/>
              </a:rPr>
              <a:t>reje</a:t>
            </a:r>
            <a:r>
              <a:rPr lang="pl-PL" sz="1600" b="0" i="1" u="none" strike="noStrike">
                <a:solidFill>
                  <a:srgbClr val="c75a26"/>
                </a:solidFill>
                <a:effectLst/>
                <a:uFillTx/>
                <a:latin typeface="Calibri"/>
                <a:ea typeface="Calibri"/>
              </a:rPr>
              <a:t>stro</a:t>
            </a:r>
            <a:r>
              <a:rPr lang="pl-PL" sz="1600" b="0" i="1" u="none" strike="noStrike">
                <a:solidFill>
                  <a:srgbClr val="c75a26"/>
                </a:solidFill>
                <a:effectLst/>
                <a:uFillTx/>
                <a:latin typeface="Calibri"/>
                <a:ea typeface="Calibri"/>
              </a:rPr>
              <a:t>wyc</a:t>
            </a:r>
            <a:r>
              <a:rPr lang="pl-PL" sz="1600" b="0" i="1" u="none" strike="noStrike">
                <a:solidFill>
                  <a:srgbClr val="c75a26"/>
                </a:solidFill>
                <a:effectLst/>
                <a:uFillTx/>
                <a:latin typeface="Calibri"/>
                <a:ea typeface="Calibri"/>
              </a:rPr>
              <a:t>h </a:t>
            </a:r>
            <a:r>
              <a:rPr lang="pl-PL" sz="1600" b="0" i="1" u="none" strike="noStrike">
                <a:solidFill>
                  <a:srgbClr val="c75a26"/>
                </a:solidFill>
                <a:effectLst/>
                <a:uFillTx/>
                <a:latin typeface="Calibri"/>
                <a:ea typeface="Calibri"/>
              </a:rPr>
              <a:t>rozp</a:t>
            </a:r>
            <a:r>
              <a:rPr lang="pl-PL" sz="1600" b="0" i="1" u="none" strike="noStrike">
                <a:solidFill>
                  <a:srgbClr val="c75a26"/>
                </a:solidFill>
                <a:effectLst/>
                <a:uFillTx/>
                <a:latin typeface="Calibri"/>
                <a:ea typeface="Calibri"/>
              </a:rPr>
              <a:t>oczę</a:t>
            </a:r>
            <a:r>
              <a:rPr lang="pl-PL" sz="1600" b="0" i="1" u="none" strike="noStrike">
                <a:solidFill>
                  <a:srgbClr val="c75a26"/>
                </a:solidFill>
                <a:effectLst/>
                <a:uFillTx/>
                <a:latin typeface="Calibri"/>
                <a:ea typeface="Calibri"/>
              </a:rPr>
              <a:t>cie </a:t>
            </a:r>
            <a:r>
              <a:rPr lang="pl-PL" sz="1600" b="0" i="1" u="none" strike="noStrike">
                <a:solidFill>
                  <a:srgbClr val="c75a26"/>
                </a:solidFill>
                <a:effectLst/>
                <a:uFillTx/>
                <a:latin typeface="Calibri"/>
                <a:ea typeface="Calibri"/>
              </a:rPr>
              <a:t>lecz</a:t>
            </a:r>
            <a:r>
              <a:rPr lang="pl-PL" sz="1600" b="0" i="1" u="none" strike="noStrike">
                <a:solidFill>
                  <a:srgbClr val="c75a26"/>
                </a:solidFill>
                <a:effectLst/>
                <a:uFillTx/>
                <a:latin typeface="Calibri"/>
                <a:ea typeface="Calibri"/>
              </a:rPr>
              <a:t>enia </a:t>
            </a:r>
            <a:r>
              <a:rPr lang="pl-PL" sz="1600" b="0" i="1" u="none" strike="noStrike">
                <a:solidFill>
                  <a:srgbClr val="c75a26"/>
                </a:solidFill>
                <a:effectLst/>
                <a:uFillTx/>
                <a:latin typeface="Calibri"/>
                <a:ea typeface="Calibri"/>
              </a:rPr>
              <a:t>ADH</a:t>
            </a:r>
            <a:r>
              <a:rPr lang="pl-PL" sz="1600" b="0" i="1" u="none" strike="noStrike">
                <a:solidFill>
                  <a:srgbClr val="c75a26"/>
                </a:solidFill>
                <a:effectLst/>
                <a:uFillTx/>
                <a:latin typeface="Calibri"/>
                <a:ea typeface="Calibri"/>
              </a:rPr>
              <a:t>D </a:t>
            </a:r>
            <a:r>
              <a:rPr lang="pl-PL" sz="1600" b="0" i="1" u="none" strike="noStrike">
                <a:solidFill>
                  <a:srgbClr val="c75a26"/>
                </a:solidFill>
                <a:effectLst/>
                <a:uFillTx/>
                <a:latin typeface="Calibri"/>
                <a:ea typeface="Calibri"/>
              </a:rPr>
              <a:t>wiąz</a:t>
            </a:r>
            <a:r>
              <a:rPr lang="pl-PL" sz="1600" b="0" i="1" u="none" strike="noStrike">
                <a:solidFill>
                  <a:srgbClr val="c75a26"/>
                </a:solidFill>
                <a:effectLst/>
                <a:uFillTx/>
                <a:latin typeface="Calibri"/>
                <a:ea typeface="Calibri"/>
              </a:rPr>
              <a:t>ało </a:t>
            </a:r>
            <a:r>
              <a:rPr lang="pl-PL" sz="1600" b="0" i="1" u="none" strike="noStrike">
                <a:solidFill>
                  <a:srgbClr val="c75a26"/>
                </a:solidFill>
                <a:effectLst/>
                <a:uFillTx/>
                <a:latin typeface="Calibri"/>
                <a:ea typeface="Calibri"/>
              </a:rPr>
              <a:t>się z </a:t>
            </a:r>
            <a:r>
              <a:rPr lang="pl-PL" sz="1600" b="0" i="1" u="none" strike="noStrike">
                <a:solidFill>
                  <a:srgbClr val="c75a26"/>
                </a:solidFill>
                <a:effectLst/>
                <a:uFillTx/>
                <a:latin typeface="Calibri"/>
                <a:ea typeface="Calibri"/>
              </a:rPr>
              <a:t>niżs</a:t>
            </a:r>
            <a:r>
              <a:rPr lang="pl-PL" sz="1600" b="0" i="1" u="none" strike="noStrike">
                <a:solidFill>
                  <a:srgbClr val="c75a26"/>
                </a:solidFill>
                <a:effectLst/>
                <a:uFillTx/>
                <a:latin typeface="Calibri"/>
                <a:ea typeface="Calibri"/>
              </a:rPr>
              <a:t>zą </a:t>
            </a:r>
            <a:r>
              <a:rPr lang="pl-PL" sz="1600" b="0" i="1" u="none" strike="noStrike">
                <a:solidFill>
                  <a:srgbClr val="c75a26"/>
                </a:solidFill>
                <a:effectLst/>
                <a:uFillTx/>
                <a:latin typeface="Calibri"/>
                <a:ea typeface="Calibri"/>
              </a:rPr>
              <a:t>częs</a:t>
            </a:r>
            <a:r>
              <a:rPr lang="pl-PL" sz="1600" b="0" i="1" u="none" strike="noStrike">
                <a:solidFill>
                  <a:srgbClr val="c75a26"/>
                </a:solidFill>
                <a:effectLst/>
                <a:uFillTx/>
                <a:latin typeface="Calibri"/>
                <a:ea typeface="Calibri"/>
              </a:rPr>
              <a:t>tości</a:t>
            </a:r>
            <a:r>
              <a:rPr lang="pl-PL" sz="1600" b="0" i="1" u="none" strike="noStrike">
                <a:solidFill>
                  <a:srgbClr val="c75a26"/>
                </a:solidFill>
                <a:effectLst/>
                <a:uFillTx/>
                <a:latin typeface="Calibri"/>
                <a:ea typeface="Calibri"/>
              </a:rPr>
              <a:t>ą </a:t>
            </a:r>
            <a:r>
              <a:rPr lang="pl-PL" sz="1600" b="0" i="1" u="none" strike="noStrike">
                <a:solidFill>
                  <a:srgbClr val="c75a26"/>
                </a:solidFill>
                <a:effectLst/>
                <a:uFillTx/>
                <a:latin typeface="Calibri"/>
                <a:ea typeface="Calibri"/>
              </a:rPr>
              <a:t>pier</a:t>
            </a:r>
            <a:r>
              <a:rPr lang="pl-PL" sz="1600" b="0" i="1" u="none" strike="noStrike">
                <a:solidFill>
                  <a:srgbClr val="c75a26"/>
                </a:solidFill>
                <a:effectLst/>
                <a:uFillTx/>
                <a:latin typeface="Calibri"/>
                <a:ea typeface="Calibri"/>
              </a:rPr>
              <a:t>wsz</a:t>
            </a:r>
            <a:r>
              <a:rPr lang="pl-PL" sz="1600" b="0" i="1" u="none" strike="noStrike">
                <a:solidFill>
                  <a:srgbClr val="c75a26"/>
                </a:solidFill>
                <a:effectLst/>
                <a:uFillTx/>
                <a:latin typeface="Calibri"/>
                <a:ea typeface="Calibri"/>
              </a:rPr>
              <a:t>ego </a:t>
            </a:r>
            <a:r>
              <a:rPr lang="pl-PL" sz="1600" b="0" i="1" u="none" strike="noStrike">
                <a:solidFill>
                  <a:srgbClr val="c75a26"/>
                </a:solidFill>
                <a:effectLst/>
                <a:uFillTx/>
                <a:latin typeface="Calibri"/>
                <a:ea typeface="Calibri"/>
              </a:rPr>
              <a:t>epiz</a:t>
            </a:r>
            <a:r>
              <a:rPr lang="pl-PL" sz="1600" b="0" i="1" u="none" strike="noStrike">
                <a:solidFill>
                  <a:srgbClr val="c75a26"/>
                </a:solidFill>
                <a:effectLst/>
                <a:uFillTx/>
                <a:latin typeface="Calibri"/>
                <a:ea typeface="Calibri"/>
              </a:rPr>
              <a:t>odu </a:t>
            </a:r>
            <a:r>
              <a:rPr lang="pl-PL" sz="1600" b="0" i="1" u="none" strike="noStrike">
                <a:solidFill>
                  <a:srgbClr val="c75a26"/>
                </a:solidFill>
                <a:effectLst/>
                <a:uFillTx/>
                <a:latin typeface="Calibri"/>
                <a:ea typeface="Calibri"/>
              </a:rPr>
              <a:t>nad</a:t>
            </a:r>
            <a:r>
              <a:rPr lang="pl-PL" sz="1600" b="0" i="1" u="none" strike="noStrike">
                <a:solidFill>
                  <a:srgbClr val="c75a26"/>
                </a:solidFill>
                <a:effectLst/>
                <a:uFillTx/>
                <a:latin typeface="Calibri"/>
                <a:ea typeface="Calibri"/>
              </a:rPr>
              <a:t>uży</a:t>
            </a:r>
            <a:r>
              <a:rPr lang="pl-PL" sz="1600" b="0" i="1" u="none" strike="noStrike">
                <a:solidFill>
                  <a:srgbClr val="c75a26"/>
                </a:solidFill>
                <a:effectLst/>
                <a:uFillTx/>
                <a:latin typeface="Calibri"/>
                <a:ea typeface="Calibri"/>
              </a:rPr>
              <a:t>wan</a:t>
            </a:r>
            <a:r>
              <a:rPr lang="pl-PL" sz="1600" b="0" i="1" u="none" strike="noStrike">
                <a:solidFill>
                  <a:srgbClr val="c75a26"/>
                </a:solidFill>
                <a:effectLst/>
                <a:uFillTx/>
                <a:latin typeface="Calibri"/>
                <a:ea typeface="Calibri"/>
              </a:rPr>
              <a:t>ia </a:t>
            </a:r>
            <a:r>
              <a:rPr lang="pl-PL" sz="1600" b="0" i="1" u="none" strike="noStrike">
                <a:solidFill>
                  <a:srgbClr val="c75a26"/>
                </a:solidFill>
                <a:effectLst/>
                <a:uFillTx/>
                <a:latin typeface="Calibri"/>
                <a:ea typeface="Calibri"/>
              </a:rPr>
              <a:t>subs</a:t>
            </a:r>
            <a:r>
              <a:rPr lang="pl-PL" sz="1600" b="0" i="1" u="none" strike="noStrike">
                <a:solidFill>
                  <a:srgbClr val="c75a26"/>
                </a:solidFill>
                <a:effectLst/>
                <a:uFillTx/>
                <a:latin typeface="Calibri"/>
                <a:ea typeface="Calibri"/>
              </a:rPr>
              <a:t>tanc</a:t>
            </a:r>
            <a:r>
              <a:rPr lang="pl-PL" sz="1600" b="0" i="1" u="none" strike="noStrike">
                <a:solidFill>
                  <a:srgbClr val="c75a26"/>
                </a:solidFill>
                <a:effectLst/>
                <a:uFillTx/>
                <a:latin typeface="Calibri"/>
                <a:ea typeface="Calibri"/>
              </a:rPr>
              <a:t>ji. </a:t>
            </a:r>
            <a:r>
              <a:rPr lang="pl-PL" sz="1600" b="0" i="1" u="none" strike="noStrike">
                <a:solidFill>
                  <a:srgbClr val="c75a26"/>
                </a:solidFill>
                <a:effectLst/>
                <a:uFillTx/>
                <a:latin typeface="Calibri"/>
                <a:ea typeface="Calibri"/>
              </a:rPr>
              <a:t>Jedn</a:t>
            </a:r>
            <a:r>
              <a:rPr lang="pl-PL" sz="1600" b="0" i="1" u="none" strike="noStrike">
                <a:solidFill>
                  <a:srgbClr val="c75a26"/>
                </a:solidFill>
                <a:effectLst/>
                <a:uFillTx/>
                <a:latin typeface="Calibri"/>
                <a:ea typeface="Calibri"/>
              </a:rPr>
              <a:t>ak </a:t>
            </a:r>
            <a:r>
              <a:rPr lang="pl-PL" sz="1600" b="0" i="1" u="none" strike="noStrike">
                <a:solidFill>
                  <a:srgbClr val="c75a26"/>
                </a:solidFill>
                <a:effectLst/>
                <a:uFillTx/>
                <a:latin typeface="Calibri"/>
                <a:ea typeface="Calibri"/>
              </a:rPr>
              <a:t>obs</a:t>
            </a:r>
            <a:r>
              <a:rPr lang="pl-PL" sz="1600" b="0" i="1" u="none" strike="noStrike">
                <a:solidFill>
                  <a:srgbClr val="c75a26"/>
                </a:solidFill>
                <a:effectLst/>
                <a:uFillTx/>
                <a:latin typeface="Calibri"/>
                <a:ea typeface="Calibri"/>
              </a:rPr>
              <a:t>erw</a:t>
            </a:r>
            <a:r>
              <a:rPr lang="pl-PL" sz="1600" b="0" i="1" u="none" strike="noStrike">
                <a:solidFill>
                  <a:srgbClr val="c75a26"/>
                </a:solidFill>
                <a:effectLst/>
                <a:uFillTx/>
                <a:latin typeface="Calibri"/>
                <a:ea typeface="Calibri"/>
              </a:rPr>
              <a:t>acyj</a:t>
            </a:r>
            <a:r>
              <a:rPr lang="pl-PL" sz="1600" b="0" i="1" u="none" strike="noStrike">
                <a:solidFill>
                  <a:srgbClr val="c75a26"/>
                </a:solidFill>
                <a:effectLst/>
                <a:uFillTx/>
                <a:latin typeface="Calibri"/>
                <a:ea typeface="Calibri"/>
              </a:rPr>
              <a:t>ny </a:t>
            </a:r>
            <a:r>
              <a:rPr lang="pl-PL" sz="1600" b="0" i="1" u="none" strike="noStrike">
                <a:solidFill>
                  <a:srgbClr val="c75a26"/>
                </a:solidFill>
                <a:effectLst/>
                <a:uFillTx/>
                <a:latin typeface="Calibri"/>
                <a:ea typeface="Calibri"/>
              </a:rPr>
              <a:t>char</a:t>
            </a:r>
            <a:r>
              <a:rPr lang="pl-PL" sz="1600" b="0" i="1" u="none" strike="noStrike">
                <a:solidFill>
                  <a:srgbClr val="c75a26"/>
                </a:solidFill>
                <a:effectLst/>
                <a:uFillTx/>
                <a:latin typeface="Calibri"/>
                <a:ea typeface="Calibri"/>
              </a:rPr>
              <a:t>akte</a:t>
            </a:r>
            <a:r>
              <a:rPr lang="pl-PL" sz="1600" b="0" i="1" u="none" strike="noStrike">
                <a:solidFill>
                  <a:srgbClr val="c75a26"/>
                </a:solidFill>
                <a:effectLst/>
                <a:uFillTx/>
                <a:latin typeface="Calibri"/>
                <a:ea typeface="Calibri"/>
              </a:rPr>
              <a:t>r </a:t>
            </a:r>
            <a:r>
              <a:rPr lang="pl-PL" sz="1600" b="0" i="1" u="none" strike="noStrike">
                <a:solidFill>
                  <a:srgbClr val="c75a26"/>
                </a:solidFill>
                <a:effectLst/>
                <a:uFillTx/>
                <a:latin typeface="Calibri"/>
                <a:ea typeface="Calibri"/>
              </a:rPr>
              <a:t>tych </a:t>
            </a:r>
            <a:r>
              <a:rPr lang="pl-PL" sz="1600" b="0" i="1" u="none" strike="noStrike">
                <a:solidFill>
                  <a:srgbClr val="c75a26"/>
                </a:solidFill>
                <a:effectLst/>
                <a:uFillTx/>
                <a:latin typeface="Calibri"/>
                <a:ea typeface="Calibri"/>
              </a:rPr>
              <a:t>wyn</a:t>
            </a:r>
            <a:r>
              <a:rPr lang="pl-PL" sz="1600" b="0" i="1" u="none" strike="noStrike">
                <a:solidFill>
                  <a:srgbClr val="c75a26"/>
                </a:solidFill>
                <a:effectLst/>
                <a:uFillTx/>
                <a:latin typeface="Calibri"/>
                <a:ea typeface="Calibri"/>
              </a:rPr>
              <a:t>ików </a:t>
            </a:r>
            <a:r>
              <a:rPr lang="pl-PL" sz="1600" b="0" i="1" u="none" strike="noStrike">
                <a:solidFill>
                  <a:srgbClr val="c75a26"/>
                </a:solidFill>
                <a:effectLst/>
                <a:uFillTx/>
                <a:latin typeface="Calibri"/>
                <a:ea typeface="Calibri"/>
              </a:rPr>
              <a:t>wy</a:t>
            </a:r>
            <a:r>
              <a:rPr lang="pl-PL" sz="1600" b="0" i="1" u="none" strike="noStrike">
                <a:solidFill>
                  <a:srgbClr val="c75a26"/>
                </a:solidFill>
                <a:effectLst/>
                <a:uFillTx/>
                <a:latin typeface="Calibri"/>
                <a:ea typeface="Calibri"/>
              </a:rPr>
              <a:t>mag</a:t>
            </a:r>
            <a:r>
              <a:rPr lang="pl-PL" sz="1600" b="0" i="1" u="none" strike="noStrike">
                <a:solidFill>
                  <a:srgbClr val="c75a26"/>
                </a:solidFill>
                <a:effectLst/>
                <a:uFillTx/>
                <a:latin typeface="Calibri"/>
                <a:ea typeface="Calibri"/>
              </a:rPr>
              <a:t>a </a:t>
            </a:r>
            <a:r>
              <a:rPr lang="pl-PL" sz="1600" b="0" i="1" u="none" strike="noStrike">
                <a:solidFill>
                  <a:srgbClr val="c75a26"/>
                </a:solidFill>
                <a:effectLst/>
                <a:uFillTx/>
                <a:latin typeface="Calibri"/>
                <a:ea typeface="Calibri"/>
              </a:rPr>
              <a:t>ostr</a:t>
            </a:r>
            <a:r>
              <a:rPr lang="pl-PL" sz="1600" b="0" i="1" u="none" strike="noStrike">
                <a:solidFill>
                  <a:srgbClr val="c75a26"/>
                </a:solidFill>
                <a:effectLst/>
                <a:uFillTx/>
                <a:latin typeface="Calibri"/>
                <a:ea typeface="Calibri"/>
              </a:rPr>
              <a:t>ożn</a:t>
            </a:r>
            <a:r>
              <a:rPr lang="pl-PL" sz="1600" b="0" i="1" u="none" strike="noStrike">
                <a:solidFill>
                  <a:srgbClr val="c75a26"/>
                </a:solidFill>
                <a:effectLst/>
                <a:uFillTx/>
                <a:latin typeface="Calibri"/>
                <a:ea typeface="Calibri"/>
              </a:rPr>
              <a:t>ości </a:t>
            </a:r>
            <a:r>
              <a:rPr lang="pl-PL" sz="1600" b="0" i="1" u="none" strike="noStrike">
                <a:solidFill>
                  <a:srgbClr val="c75a26"/>
                </a:solidFill>
                <a:effectLst/>
                <a:uFillTx/>
                <a:latin typeface="Calibri"/>
                <a:ea typeface="Calibri"/>
              </a:rPr>
              <a:t>inte</a:t>
            </a:r>
            <a:r>
              <a:rPr lang="pl-PL" sz="1600" b="0" i="1" u="none" strike="noStrike">
                <a:solidFill>
                  <a:srgbClr val="c75a26"/>
                </a:solidFill>
                <a:effectLst/>
                <a:uFillTx/>
                <a:latin typeface="Calibri"/>
                <a:ea typeface="Calibri"/>
              </a:rPr>
              <a:t>rpre</a:t>
            </a:r>
            <a:r>
              <a:rPr lang="pl-PL" sz="1600" b="0" i="1" u="none" strike="noStrike">
                <a:solidFill>
                  <a:srgbClr val="c75a26"/>
                </a:solidFill>
                <a:effectLst/>
                <a:uFillTx/>
                <a:latin typeface="Calibri"/>
                <a:ea typeface="Calibri"/>
              </a:rPr>
              <a:t>tacy</a:t>
            </a:r>
            <a:r>
              <a:rPr lang="pl-PL" sz="1600" b="0" i="1" u="none" strike="noStrike">
                <a:solidFill>
                  <a:srgbClr val="c75a26"/>
                </a:solidFill>
                <a:effectLst/>
                <a:uFillTx/>
                <a:latin typeface="Calibri"/>
                <a:ea typeface="Calibri"/>
              </a:rPr>
              <a:t>jnej.</a:t>
            </a:r>
            <a:endParaRPr lang="pl-PL" sz="1600" b="0" u="none" strike="noStrike">
              <a:solidFill>
                <a:srgbClr val="000000"/>
              </a:solidFill>
              <a:effectLst/>
              <a:uFillTx/>
              <a:latin typeface="Arial"/>
            </a:endParaRPr>
          </a:p>
        </p:txBody>
      </p:sp>
      <p:sp>
        <p:nvSpPr>
          <p:cNvPr id="155" name="Text 19"/>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9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6"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WSPÓŁCHOROBOWOŚĆ</a:t>
            </a:r>
            <a:endParaRPr lang="pl-PL" sz="1100" b="0" u="none" strike="noStrike">
              <a:solidFill>
                <a:srgbClr val="000000"/>
              </a:solidFill>
              <a:effectLst/>
              <a:uFillTx/>
              <a:latin typeface="Arial"/>
            </a:endParaRPr>
          </a:p>
        </p:txBody>
      </p:sp>
      <p:sp>
        <p:nvSpPr>
          <p:cNvPr id="157"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200" b="1" u="none" strike="noStrike">
                <a:solidFill>
                  <a:srgbClr val="1b2148"/>
                </a:solidFill>
                <a:effectLst/>
                <a:uFillTx/>
                <a:latin typeface="Cambria"/>
                <a:ea typeface="Cambria"/>
              </a:rPr>
              <a:t>Współchorobowość psychiatryczna jest regułą, nie wyjątkiem</a:t>
            </a:r>
            <a:endParaRPr lang="pl-PL" sz="2200" b="0" u="none" strike="noStrike">
              <a:solidFill>
                <a:srgbClr val="000000"/>
              </a:solidFill>
              <a:effectLst/>
              <a:uFillTx/>
              <a:latin typeface="Arial"/>
            </a:endParaRPr>
          </a:p>
        </p:txBody>
      </p:sp>
      <p:sp>
        <p:nvSpPr>
          <p:cNvPr id="158" name="Text 2"/>
          <p:cNvSpPr/>
          <p:nvPr/>
        </p:nvSpPr>
        <p:spPr>
          <a:xfrm>
            <a:off x="502920" y="1017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Systematyczny przegląd: wyższa częstość zaburzeń nastroju, lękowych, ChAD, SUD i osobowości w ADHD</a:t>
            </a:r>
            <a:endParaRPr lang="pl-PL" sz="1200" b="0" u="none" strike="noStrike">
              <a:solidFill>
                <a:srgbClr val="000000"/>
              </a:solidFill>
              <a:effectLst/>
              <a:uFillTx/>
              <a:latin typeface="Arial"/>
            </a:endParaRPr>
          </a:p>
        </p:txBody>
      </p:sp>
      <p:graphicFrame>
        <p:nvGraphicFramePr>
          <p:cNvPr id="159" name="Table 0"/>
          <p:cNvGraphicFramePr/>
          <p:nvPr/>
        </p:nvGraphicFramePr>
        <p:xfrm>
          <a:off x="445680" y="1470600"/>
          <a:ext cx="8137800" cy="2685960"/>
        </p:xfrm>
        <a:graphic>
          <a:graphicData uri="http://schemas.openxmlformats.org/drawingml/2006/table">
            <a:tbl>
              <a:tblPr/>
              <a:tblGrid>
                <a:gridCol w="2331720"/>
                <a:gridCol w="5806440"/>
              </a:tblGrid>
              <a:tr h="383760">
                <a:tc>
                  <a:txBody>
                    <a:bodyPr tIns="36360" bIns="36360" anchor="ctr">
                      <a:noAutofit/>
                    </a:bodyPr>
                    <a:p>
                      <a:pPr defTabSz="914400">
                        <a:lnSpc>
                          <a:spcPct val="100000"/>
                        </a:lnSpc>
                        <a:tabLst>
                          <a:tab algn="l" pos="0"/>
                        </a:tabLst>
                      </a:pPr>
                      <a:r>
                        <a:rPr lang="pl-PL" sz="1300" b="1" u="none" strike="noStrike">
                          <a:solidFill>
                            <a:srgbClr val="ffffff"/>
                          </a:solidFill>
                          <a:effectLst/>
                          <a:uFillTx/>
                          <a:latin typeface="Calibri"/>
                          <a:ea typeface="Calibri"/>
                        </a:rPr>
                        <a:t>Obszar</a:t>
                      </a:r>
                      <a:endParaRPr lang="pl-PL" sz="1300" b="0" u="none" strike="noStrike">
                        <a:solidFill>
                          <a:srgbClr val="ffffff"/>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1b2148"/>
                    </a:solidFill>
                  </a:tcPr>
                </a:tc>
                <a:tc>
                  <a:txBody>
                    <a:bodyPr tIns="36360" bIns="36360" anchor="ctr">
                      <a:noAutofit/>
                    </a:bodyPr>
                    <a:p>
                      <a:pPr defTabSz="914400">
                        <a:lnSpc>
                          <a:spcPct val="100000"/>
                        </a:lnSpc>
                        <a:tabLst>
                          <a:tab algn="l" pos="0"/>
                        </a:tabLst>
                      </a:pPr>
                      <a:r>
                        <a:rPr lang="pl-PL" sz="1300" b="1" u="none" strike="noStrike">
                          <a:solidFill>
                            <a:srgbClr val="ffffff"/>
                          </a:solidFill>
                          <a:effectLst/>
                          <a:uFillTx/>
                          <a:latin typeface="Calibri"/>
                          <a:ea typeface="Calibri"/>
                        </a:rPr>
                        <a:t>Znaczenie kliniczne</a:t>
                      </a:r>
                      <a:endParaRPr lang="pl-PL" sz="1300" b="0" u="none" strike="noStrike">
                        <a:solidFill>
                          <a:srgbClr val="ffffff"/>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1b2148"/>
                    </a:solidFill>
                  </a:tcPr>
                </a:tc>
              </a:tr>
              <a:tr h="383760">
                <a:tc>
                  <a:txBody>
                    <a:bodyPr tIns="36360" bIns="36360" anchor="ctr">
                      <a:noAutofit/>
                    </a:bodyPr>
                    <a:p>
                      <a:pPr defTabSz="914400">
                        <a:lnSpc>
                          <a:spcPct val="100000"/>
                        </a:lnSpc>
                        <a:tabLst>
                          <a:tab algn="l" pos="0"/>
                        </a:tabLst>
                      </a:pPr>
                      <a:r>
                        <a:rPr lang="pl-PL" sz="1300" b="1" u="none" strike="noStrike">
                          <a:solidFill>
                            <a:srgbClr val="1b2148"/>
                          </a:solidFill>
                          <a:effectLst/>
                          <a:uFillTx/>
                          <a:latin typeface="Calibri"/>
                          <a:ea typeface="Calibri"/>
                        </a:rPr>
                        <a:t>Depresja</a:t>
                      </a:r>
                      <a:endParaRPr lang="pl-PL" sz="13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c>
                  <a:txBody>
                    <a:bodyPr tIns="36360" bIns="36360" anchor="ctr">
                      <a:noAutofit/>
                    </a:bodyPr>
                    <a:p>
                      <a:pPr defTabSz="914400">
                        <a:lnSpc>
                          <a:spcPct val="100000"/>
                        </a:lnSpc>
                        <a:tabLst>
                          <a:tab algn="l" pos="0"/>
                        </a:tabLst>
                      </a:pPr>
                      <a:r>
                        <a:rPr lang="pl-PL" sz="1300" b="0" u="none" strike="noStrike">
                          <a:solidFill>
                            <a:srgbClr val="55607a"/>
                          </a:solidFill>
                          <a:effectLst/>
                          <a:uFillTx/>
                          <a:latin typeface="Calibri"/>
                          <a:ea typeface="Calibri"/>
                        </a:rPr>
                        <a:t>Zwiększa niesprawność, ryzyko uzależnień, bezrobocia i zachowań samobójczych</a:t>
                      </a:r>
                      <a:endParaRPr lang="pl-PL" sz="13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r>
              <a:tr h="383760">
                <a:tc>
                  <a:txBody>
                    <a:bodyPr tIns="36360" bIns="36360" anchor="ctr">
                      <a:noAutofit/>
                    </a:bodyPr>
                    <a:p>
                      <a:pPr defTabSz="914400">
                        <a:lnSpc>
                          <a:spcPct val="100000"/>
                        </a:lnSpc>
                        <a:tabLst>
                          <a:tab algn="l" pos="0"/>
                        </a:tabLst>
                      </a:pPr>
                      <a:r>
                        <a:rPr lang="pl-PL" sz="1300" b="1" u="none" strike="noStrike">
                          <a:solidFill>
                            <a:srgbClr val="1b2148"/>
                          </a:solidFill>
                          <a:effectLst/>
                          <a:uFillTx/>
                          <a:latin typeface="Calibri"/>
                          <a:ea typeface="Calibri"/>
                        </a:rPr>
                        <a:t>Zaburzenia lękowe</a:t>
                      </a:r>
                      <a:endParaRPr lang="pl-PL" sz="13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c>
                  <a:txBody>
                    <a:bodyPr tIns="36360" bIns="36360" anchor="ctr">
                      <a:noAutofit/>
                    </a:bodyPr>
                    <a:p>
                      <a:pPr defTabSz="914400">
                        <a:lnSpc>
                          <a:spcPct val="100000"/>
                        </a:lnSpc>
                        <a:tabLst>
                          <a:tab algn="l" pos="0"/>
                        </a:tabLst>
                      </a:pPr>
                      <a:r>
                        <a:rPr lang="pl-PL" sz="1300" b="0" u="none" strike="noStrike">
                          <a:solidFill>
                            <a:srgbClr val="55607a"/>
                          </a:solidFill>
                          <a:effectLst/>
                          <a:uFillTx/>
                          <a:latin typeface="Calibri"/>
                          <a:ea typeface="Calibri"/>
                        </a:rPr>
                        <a:t>Mogą maskować ADHD i dodatkowo pogarszać uwagę oraz unikanie zadań</a:t>
                      </a:r>
                      <a:endParaRPr lang="pl-PL" sz="13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r>
              <a:tr h="383760">
                <a:tc>
                  <a:txBody>
                    <a:bodyPr tIns="36360" bIns="36360" anchor="ctr">
                      <a:noAutofit/>
                    </a:bodyPr>
                    <a:p>
                      <a:pPr defTabSz="914400">
                        <a:lnSpc>
                          <a:spcPct val="100000"/>
                        </a:lnSpc>
                        <a:tabLst>
                          <a:tab algn="l" pos="0"/>
                        </a:tabLst>
                      </a:pPr>
                      <a:r>
                        <a:rPr lang="pl-PL" sz="1300" b="1" u="none" strike="noStrike">
                          <a:solidFill>
                            <a:srgbClr val="1b2148"/>
                          </a:solidFill>
                          <a:effectLst/>
                          <a:uFillTx/>
                          <a:latin typeface="Calibri"/>
                          <a:ea typeface="Calibri"/>
                        </a:rPr>
                        <a:t>Zaburzenie dwubiegunowe</a:t>
                      </a:r>
                      <a:endParaRPr lang="pl-PL" sz="13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c>
                  <a:txBody>
                    <a:bodyPr tIns="36360" bIns="36360" anchor="ctr">
                      <a:noAutofit/>
                    </a:bodyPr>
                    <a:p>
                      <a:pPr defTabSz="914400">
                        <a:lnSpc>
                          <a:spcPct val="100000"/>
                        </a:lnSpc>
                        <a:tabLst>
                          <a:tab algn="l" pos="0"/>
                        </a:tabLst>
                      </a:pPr>
                      <a:r>
                        <a:rPr lang="pl-PL" sz="1300" b="0" u="none" strike="noStrike">
                          <a:solidFill>
                            <a:srgbClr val="55607a"/>
                          </a:solidFill>
                          <a:effectLst/>
                          <a:uFillTx/>
                          <a:latin typeface="Calibri"/>
                          <a:ea typeface="Calibri"/>
                        </a:rPr>
                        <a:t>Wymaga różnicowania przewlekłych objawów ADHD od epizodów manii/hipomanii</a:t>
                      </a:r>
                      <a:endParaRPr lang="pl-PL" sz="13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r>
              <a:tr h="383760">
                <a:tc>
                  <a:txBody>
                    <a:bodyPr tIns="36360" bIns="36360" anchor="ctr">
                      <a:noAutofit/>
                    </a:bodyPr>
                    <a:p>
                      <a:pPr defTabSz="914400">
                        <a:lnSpc>
                          <a:spcPct val="100000"/>
                        </a:lnSpc>
                        <a:tabLst>
                          <a:tab algn="l" pos="0"/>
                        </a:tabLst>
                      </a:pPr>
                      <a:r>
                        <a:rPr lang="pl-PL" sz="1300" b="1" u="none" strike="noStrike">
                          <a:solidFill>
                            <a:srgbClr val="1b2148"/>
                          </a:solidFill>
                          <a:effectLst/>
                          <a:uFillTx/>
                          <a:latin typeface="Calibri"/>
                          <a:ea typeface="Calibri"/>
                        </a:rPr>
                        <a:t>Zaburzenia zachowania</a:t>
                      </a:r>
                      <a:endParaRPr lang="pl-PL" sz="13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c>
                  <a:txBody>
                    <a:bodyPr tIns="36360" bIns="36360" anchor="ctr">
                      <a:noAutofit/>
                    </a:bodyPr>
                    <a:p>
                      <a:pPr defTabSz="914400">
                        <a:lnSpc>
                          <a:spcPct val="100000"/>
                        </a:lnSpc>
                        <a:tabLst>
                          <a:tab algn="l" pos="0"/>
                        </a:tabLst>
                      </a:pPr>
                      <a:r>
                        <a:rPr lang="pl-PL" sz="1300" b="0" u="none" strike="noStrike">
                          <a:solidFill>
                            <a:srgbClr val="55607a"/>
                          </a:solidFill>
                          <a:effectLst/>
                          <a:uFillTx/>
                          <a:latin typeface="Calibri"/>
                          <a:ea typeface="Calibri"/>
                        </a:rPr>
                        <a:t>Silnie wzmacniają związek z uzależnieniami, agresją i przestępczością</a:t>
                      </a:r>
                      <a:endParaRPr lang="pl-PL" sz="13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r>
              <a:tr h="383760">
                <a:tc>
                  <a:txBody>
                    <a:bodyPr tIns="36360" bIns="36360" anchor="ctr">
                      <a:noAutofit/>
                    </a:bodyPr>
                    <a:p>
                      <a:pPr defTabSz="914400">
                        <a:lnSpc>
                          <a:spcPct val="100000"/>
                        </a:lnSpc>
                        <a:tabLst>
                          <a:tab algn="l" pos="0"/>
                        </a:tabLst>
                      </a:pPr>
                      <a:r>
                        <a:rPr lang="pl-PL" sz="1300" b="1" u="none" strike="noStrike">
                          <a:solidFill>
                            <a:srgbClr val="1b2148"/>
                          </a:solidFill>
                          <a:effectLst/>
                          <a:uFillTx/>
                          <a:latin typeface="Calibri"/>
                          <a:ea typeface="Calibri"/>
                        </a:rPr>
                        <a:t>Zaburzenia osobowości</a:t>
                      </a:r>
                      <a:endParaRPr lang="pl-PL" sz="13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c>
                  <a:txBody>
                    <a:bodyPr tIns="36360" bIns="36360" anchor="ctr">
                      <a:noAutofit/>
                    </a:bodyPr>
                    <a:p>
                      <a:pPr defTabSz="914400">
                        <a:lnSpc>
                          <a:spcPct val="100000"/>
                        </a:lnSpc>
                        <a:tabLst>
                          <a:tab algn="l" pos="0"/>
                        </a:tabLst>
                      </a:pPr>
                      <a:r>
                        <a:rPr lang="pl-PL" sz="1300" b="0" u="none" strike="noStrike">
                          <a:solidFill>
                            <a:srgbClr val="55607a"/>
                          </a:solidFill>
                          <a:effectLst/>
                          <a:uFillTx/>
                          <a:latin typeface="Calibri"/>
                          <a:ea typeface="Calibri"/>
                        </a:rPr>
                        <a:t>Zwiększają ryzyko niestabilności relacji, samouszkodzeń i problemów prawnych</a:t>
                      </a:r>
                      <a:endParaRPr lang="pl-PL" sz="13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r>
              <a:tr h="383760">
                <a:tc>
                  <a:txBody>
                    <a:bodyPr tIns="36360" bIns="36360" anchor="ctr">
                      <a:noAutofit/>
                    </a:bodyPr>
                    <a:p>
                      <a:pPr defTabSz="914400">
                        <a:lnSpc>
                          <a:spcPct val="100000"/>
                        </a:lnSpc>
                        <a:tabLst>
                          <a:tab algn="l" pos="0"/>
                        </a:tabLst>
                      </a:pPr>
                      <a:r>
                        <a:rPr lang="pl-PL" sz="1300" b="1" u="none" strike="noStrike">
                          <a:solidFill>
                            <a:srgbClr val="1b2148"/>
                          </a:solidFill>
                          <a:effectLst/>
                          <a:uFillTx/>
                          <a:latin typeface="Calibri"/>
                          <a:ea typeface="Calibri"/>
                        </a:rPr>
                        <a:t>Zaburzenia snu</a:t>
                      </a:r>
                      <a:endParaRPr lang="pl-PL" sz="13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c>
                  <a:txBody>
                    <a:bodyPr tIns="36360" bIns="36360" anchor="ctr">
                      <a:noAutofit/>
                    </a:bodyPr>
                    <a:p>
                      <a:pPr defTabSz="914400">
                        <a:lnSpc>
                          <a:spcPct val="100000"/>
                        </a:lnSpc>
                        <a:tabLst>
                          <a:tab algn="l" pos="0"/>
                        </a:tabLst>
                      </a:pPr>
                      <a:r>
                        <a:rPr lang="pl-PL" sz="1300" b="0" u="none" strike="noStrike">
                          <a:solidFill>
                            <a:srgbClr val="55607a"/>
                          </a:solidFill>
                          <a:effectLst/>
                          <a:uFillTx/>
                          <a:latin typeface="Calibri"/>
                          <a:ea typeface="Calibri"/>
                        </a:rPr>
                        <a:t>Nasilają nieuwagę, drażliwość i problemy z regulacją emocji</a:t>
                      </a:r>
                      <a:endParaRPr lang="pl-PL" sz="13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r>
            </a:tbl>
          </a:graphicData>
        </a:graphic>
      </p:graphicFrame>
      <p:sp>
        <p:nvSpPr>
          <p:cNvPr id="160" name="Text 3"/>
          <p:cNvSpPr/>
          <p:nvPr/>
        </p:nvSpPr>
        <p:spPr>
          <a:xfrm>
            <a:off x="502920" y="4150800"/>
            <a:ext cx="8137800" cy="219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850" b="0" i="1" u="none" strike="noStrike">
                <a:solidFill>
                  <a:srgbClr val="96a0bc"/>
                </a:solidFill>
                <a:effectLst/>
                <a:uFillTx/>
                <a:latin typeface="Calibri"/>
                <a:ea typeface="Calibri"/>
              </a:rPr>
              <a:t>Źródło: Choi et al. (2022), PLOS ONE — systematyczny przegląd populacji ADHD vs. bez ADHD.</a:t>
            </a:r>
            <a:endParaRPr lang="pl-PL" sz="850" b="0" u="none" strike="noStrike">
              <a:solidFill>
                <a:srgbClr val="000000"/>
              </a:solidFill>
              <a:effectLst/>
              <a:uFillTx/>
              <a:latin typeface="Arial"/>
            </a:endParaRPr>
          </a:p>
        </p:txBody>
      </p:sp>
      <p:sp>
        <p:nvSpPr>
          <p:cNvPr id="161" name="Text 4"/>
          <p:cNvSpPr/>
          <p:nvPr/>
        </p:nvSpPr>
        <p:spPr>
          <a:xfrm>
            <a:off x="502920" y="4533120"/>
            <a:ext cx="813780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Wielkości związków różnią się zależnie od populacji i kryteriów diagnostycznych — tabela przedstawia kierunek i klinicznę wagę zależności, nie uniwersalne ryzyko dla pojedynczej osoby.</a:t>
            </a:r>
            <a:endParaRPr lang="pl-PL" sz="1200" b="0" u="none" strike="noStrike">
              <a:solidFill>
                <a:srgbClr val="000000"/>
              </a:solidFill>
              <a:effectLst/>
              <a:uFillTx/>
              <a:latin typeface="Arial"/>
            </a:endParaRPr>
          </a:p>
        </p:txBody>
      </p:sp>
      <p:sp>
        <p:nvSpPr>
          <p:cNvPr id="162" name="Text 5"/>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10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3"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WSPÓŁCHOROBOWOŚĆ · NASTRÓJ I LĘK</a:t>
            </a:r>
            <a:endParaRPr lang="pl-PL" sz="1100" b="0" u="none" strike="noStrike">
              <a:solidFill>
                <a:srgbClr val="000000"/>
              </a:solidFill>
              <a:effectLst/>
              <a:uFillTx/>
              <a:latin typeface="Arial"/>
            </a:endParaRPr>
          </a:p>
        </p:txBody>
      </p:sp>
      <p:sp>
        <p:nvSpPr>
          <p:cNvPr id="164"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200" b="1" u="none" strike="noStrike">
                <a:solidFill>
                  <a:srgbClr val="1b2148"/>
                </a:solidFill>
                <a:effectLst/>
                <a:uFillTx/>
                <a:latin typeface="Cambria"/>
                <a:ea typeface="Cambria"/>
              </a:rPr>
              <a:t>Depresja, lęk i ChAD</a:t>
            </a:r>
            <a:endParaRPr lang="pl-PL" sz="2200" b="0" u="none" strike="noStrike">
              <a:solidFill>
                <a:srgbClr val="000000"/>
              </a:solidFill>
              <a:effectLst/>
              <a:uFillTx/>
              <a:latin typeface="Arial"/>
            </a:endParaRPr>
          </a:p>
        </p:txBody>
      </p:sp>
      <p:sp>
        <p:nvSpPr>
          <p:cNvPr id="165" name="Text 2"/>
          <p:cNvSpPr/>
          <p:nvPr/>
        </p:nvSpPr>
        <p:spPr>
          <a:xfrm>
            <a:off x="502920" y="1053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Nakładanie objawowe wymaga uwagi na przebieg czasowy</a:t>
            </a:r>
            <a:endParaRPr lang="pl-PL" sz="1200" b="0" u="none" strike="noStrike">
              <a:solidFill>
                <a:srgbClr val="000000"/>
              </a:solidFill>
              <a:effectLst/>
              <a:uFillTx/>
              <a:latin typeface="Arial"/>
            </a:endParaRPr>
          </a:p>
        </p:txBody>
      </p:sp>
      <p:sp>
        <p:nvSpPr>
          <p:cNvPr id="166" name="Shape 3"/>
          <p:cNvSpPr/>
          <p:nvPr/>
        </p:nvSpPr>
        <p:spPr>
          <a:xfrm>
            <a:off x="502920" y="1627560"/>
            <a:ext cx="2614680" cy="2742840"/>
          </a:xfrm>
          <a:prstGeom prst="roundRect">
            <a:avLst>
              <a:gd name="adj" fmla="val 3147"/>
            </a:avLst>
          </a:prstGeom>
          <a:solidFill>
            <a:srgbClr val="fbe5e8"/>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167" name="Text 4"/>
          <p:cNvSpPr/>
          <p:nvPr/>
        </p:nvSpPr>
        <p:spPr>
          <a:xfrm>
            <a:off x="667440" y="1810440"/>
            <a:ext cx="2285640" cy="349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600" b="1" u="none" strike="noStrike">
                <a:solidFill>
                  <a:srgbClr val="c23b4b"/>
                </a:solidFill>
                <a:effectLst/>
                <a:uFillTx/>
                <a:latin typeface="Cambria"/>
                <a:ea typeface="Cambria"/>
              </a:rPr>
              <a:t>Depresja</a:t>
            </a:r>
            <a:endParaRPr lang="pl-PL" sz="1600" b="0" u="none" strike="noStrike">
              <a:solidFill>
                <a:srgbClr val="000000"/>
              </a:solidFill>
              <a:effectLst/>
              <a:uFillTx/>
              <a:latin typeface="Arial"/>
            </a:endParaRPr>
          </a:p>
        </p:txBody>
      </p:sp>
      <p:sp>
        <p:nvSpPr>
          <p:cNvPr id="168" name="Text 5"/>
          <p:cNvSpPr/>
          <p:nvPr/>
        </p:nvSpPr>
        <p:spPr>
          <a:xfrm>
            <a:off x="667440" y="2340000"/>
            <a:ext cx="2285640" cy="189324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8000"/>
              </a:lnSpc>
              <a:spcAft>
                <a:spcPts val="799"/>
              </a:spcAft>
              <a:buClr>
                <a:srgbClr val="1b2148"/>
              </a:buClr>
              <a:buFont typeface="Wingdings" charset="2"/>
              <a:buChar char=""/>
            </a:pPr>
            <a:r>
              <a:rPr lang="pl-PL" sz="1400" b="0" u="none" strike="noStrike">
                <a:solidFill>
                  <a:srgbClr val="1b2148"/>
                </a:solidFill>
                <a:effectLst/>
                <a:uFillTx/>
                <a:latin typeface="Calibri"/>
                <a:ea typeface="Calibri"/>
              </a:rPr>
              <a:t>Może rozwijać się wtórnie </a:t>
            </a:r>
            <a:br>
              <a:rPr sz="1400"/>
            </a:br>
            <a:r>
              <a:rPr lang="pl-PL" sz="1400" b="0" u="none" strike="noStrike">
                <a:solidFill>
                  <a:srgbClr val="1b2148"/>
                </a:solidFill>
                <a:effectLst/>
                <a:uFillTx/>
                <a:latin typeface="Calibri"/>
                <a:ea typeface="Calibri"/>
              </a:rPr>
              <a:t>do niepowodzeń, krytyki, odrzucenia i utraty pracy</a:t>
            </a:r>
            <a:endParaRPr lang="pl-PL" sz="1400" b="0" u="none" strike="noStrike">
              <a:solidFill>
                <a:srgbClr val="000000"/>
              </a:solidFill>
              <a:effectLst/>
              <a:uFillTx/>
              <a:latin typeface="Arial"/>
            </a:endParaRPr>
          </a:p>
          <a:p>
            <a:pPr marL="177840" indent="-177840" defTabSz="914400">
              <a:lnSpc>
                <a:spcPct val="108000"/>
              </a:lnSpc>
              <a:spcAft>
                <a:spcPts val="799"/>
              </a:spcAft>
              <a:buClr>
                <a:srgbClr val="1b2148"/>
              </a:buClr>
              <a:buFont typeface="Wingdings" charset="2"/>
              <a:buChar char=""/>
            </a:pPr>
            <a:r>
              <a:rPr lang="pl-PL" sz="1400" b="0" u="none" strike="noStrike">
                <a:solidFill>
                  <a:srgbClr val="1b2148"/>
                </a:solidFill>
                <a:effectLst/>
                <a:uFillTx/>
                <a:latin typeface="Calibri"/>
                <a:ea typeface="Calibri"/>
              </a:rPr>
              <a:t>Współwystępowanie z ADHD wiąże się z cięższym upośledzeniem i wyższym ryzykiem samobójczym</a:t>
            </a:r>
            <a:endParaRPr lang="pl-PL" sz="1400" b="0" u="none" strike="noStrike">
              <a:solidFill>
                <a:srgbClr val="000000"/>
              </a:solidFill>
              <a:effectLst/>
              <a:uFillTx/>
              <a:latin typeface="Arial"/>
            </a:endParaRPr>
          </a:p>
        </p:txBody>
      </p:sp>
      <p:sp>
        <p:nvSpPr>
          <p:cNvPr id="169" name="Shape 6"/>
          <p:cNvSpPr/>
          <p:nvPr/>
        </p:nvSpPr>
        <p:spPr>
          <a:xfrm>
            <a:off x="3264480" y="1627560"/>
            <a:ext cx="2614680" cy="2742840"/>
          </a:xfrm>
          <a:prstGeom prst="roundRect">
            <a:avLst>
              <a:gd name="adj" fmla="val 3147"/>
            </a:avLst>
          </a:prstGeom>
          <a:solidFill>
            <a:srgbClr val="fceadd"/>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170" name="Text 7"/>
          <p:cNvSpPr/>
          <p:nvPr/>
        </p:nvSpPr>
        <p:spPr>
          <a:xfrm>
            <a:off x="3429000" y="1810440"/>
            <a:ext cx="2285640" cy="349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600" b="1" u="none" strike="noStrike">
                <a:solidFill>
                  <a:srgbClr val="c75a26"/>
                </a:solidFill>
                <a:effectLst/>
                <a:uFillTx/>
                <a:latin typeface="Cambria"/>
                <a:ea typeface="Cambria"/>
              </a:rPr>
              <a:t>Zaburzenia lękowe</a:t>
            </a:r>
            <a:endParaRPr lang="pl-PL" sz="1600" b="0" u="none" strike="noStrike">
              <a:solidFill>
                <a:srgbClr val="000000"/>
              </a:solidFill>
              <a:effectLst/>
              <a:uFillTx/>
              <a:latin typeface="Arial"/>
            </a:endParaRPr>
          </a:p>
        </p:txBody>
      </p:sp>
      <p:sp>
        <p:nvSpPr>
          <p:cNvPr id="171" name="Text 8"/>
          <p:cNvSpPr/>
          <p:nvPr/>
        </p:nvSpPr>
        <p:spPr>
          <a:xfrm>
            <a:off x="3357000" y="2340000"/>
            <a:ext cx="2331000" cy="189324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8000"/>
              </a:lnSpc>
              <a:spcAft>
                <a:spcPts val="799"/>
              </a:spcAft>
              <a:buClr>
                <a:srgbClr val="1b2148"/>
              </a:buClr>
              <a:buFont typeface="Wingdings" charset="2"/>
              <a:buChar char=""/>
            </a:pPr>
            <a:r>
              <a:rPr lang="pl-PL" sz="1400" b="0" u="none" strike="noStrike">
                <a:solidFill>
                  <a:srgbClr val="1b2148"/>
                </a:solidFill>
                <a:effectLst/>
                <a:uFillTx/>
                <a:latin typeface="Calibri"/>
                <a:ea typeface="Calibri"/>
              </a:rPr>
              <a:t>Może wynikać z chronicznego braku kontroli nad terminami i obowiązkami</a:t>
            </a:r>
            <a:endParaRPr lang="pl-PL" sz="1400" b="0" u="none" strike="noStrike">
              <a:solidFill>
                <a:srgbClr val="000000"/>
              </a:solidFill>
              <a:effectLst/>
              <a:uFillTx/>
              <a:latin typeface="Arial"/>
            </a:endParaRPr>
          </a:p>
          <a:p>
            <a:pPr marL="177840" indent="-177840" defTabSz="914400">
              <a:lnSpc>
                <a:spcPct val="108000"/>
              </a:lnSpc>
              <a:spcAft>
                <a:spcPts val="799"/>
              </a:spcAft>
              <a:buClr>
                <a:srgbClr val="1b2148"/>
              </a:buClr>
              <a:buFont typeface="Wingdings" charset="2"/>
              <a:buChar char=""/>
            </a:pPr>
            <a:r>
              <a:rPr lang="pl-PL" sz="1400" b="0" u="none" strike="noStrike">
                <a:solidFill>
                  <a:srgbClr val="1b2148"/>
                </a:solidFill>
                <a:effectLst/>
                <a:uFillTx/>
                <a:latin typeface="Calibri"/>
                <a:ea typeface="Calibri"/>
              </a:rPr>
              <a:t>Zarówno lęk, jak i depresja mogą pogarszać uwagę, a to komplikuje diagnostykę</a:t>
            </a:r>
            <a:endParaRPr lang="pl-PL" sz="1400" b="0" u="none" strike="noStrike">
              <a:solidFill>
                <a:srgbClr val="000000"/>
              </a:solidFill>
              <a:effectLst/>
              <a:uFillTx/>
              <a:latin typeface="Arial"/>
            </a:endParaRPr>
          </a:p>
        </p:txBody>
      </p:sp>
      <p:sp>
        <p:nvSpPr>
          <p:cNvPr id="172" name="Shape 9"/>
          <p:cNvSpPr/>
          <p:nvPr/>
        </p:nvSpPr>
        <p:spPr>
          <a:xfrm>
            <a:off x="6026040" y="1627560"/>
            <a:ext cx="2614680" cy="2742840"/>
          </a:xfrm>
          <a:prstGeom prst="roundRect">
            <a:avLst>
              <a:gd name="adj" fmla="val 3147"/>
            </a:avLst>
          </a:prstGeom>
          <a:solidFill>
            <a:srgbClr val="f4f6fa"/>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173" name="Text 10"/>
          <p:cNvSpPr/>
          <p:nvPr/>
        </p:nvSpPr>
        <p:spPr>
          <a:xfrm>
            <a:off x="6190560" y="1702440"/>
            <a:ext cx="228564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600" b="1" u="none" strike="noStrike">
                <a:solidFill>
                  <a:srgbClr val="1b2148"/>
                </a:solidFill>
                <a:effectLst/>
                <a:uFillTx/>
                <a:latin typeface="Cambria"/>
                <a:ea typeface="Cambria"/>
              </a:rPr>
              <a:t>Choroba afektywna dwubiegunowa</a:t>
            </a:r>
            <a:endParaRPr lang="pl-PL" sz="1600" b="0" u="none" strike="noStrike">
              <a:solidFill>
                <a:srgbClr val="000000"/>
              </a:solidFill>
              <a:effectLst/>
              <a:uFillTx/>
              <a:latin typeface="Arial"/>
            </a:endParaRPr>
          </a:p>
        </p:txBody>
      </p:sp>
      <p:sp>
        <p:nvSpPr>
          <p:cNvPr id="174" name="Text 11"/>
          <p:cNvSpPr/>
          <p:nvPr/>
        </p:nvSpPr>
        <p:spPr>
          <a:xfrm>
            <a:off x="6082560" y="2450520"/>
            <a:ext cx="2521440" cy="178272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8000"/>
              </a:lnSpc>
              <a:spcAft>
                <a:spcPts val="799"/>
              </a:spcAft>
              <a:buClr>
                <a:srgbClr val="1b2148"/>
              </a:buClr>
              <a:buFont typeface="Wingdings" charset="2"/>
              <a:buChar char=""/>
            </a:pPr>
            <a:r>
              <a:rPr lang="pl-PL" sz="1400" b="0" u="none" strike="noStrike">
                <a:solidFill>
                  <a:srgbClr val="1b2148"/>
                </a:solidFill>
                <a:effectLst/>
                <a:uFillTx/>
                <a:latin typeface="Calibri"/>
                <a:ea typeface="Calibri"/>
              </a:rPr>
              <a:t>Nakładanie objawowe: impulsywność, rozpraszalność, szybka mowa</a:t>
            </a:r>
            <a:endParaRPr lang="pl-PL" sz="1400" b="0" u="none" strike="noStrike">
              <a:solidFill>
                <a:srgbClr val="000000"/>
              </a:solidFill>
              <a:effectLst/>
              <a:uFillTx/>
              <a:latin typeface="Arial"/>
            </a:endParaRPr>
          </a:p>
          <a:p>
            <a:pPr marL="177840" indent="-177840" defTabSz="914400">
              <a:lnSpc>
                <a:spcPct val="108000"/>
              </a:lnSpc>
              <a:spcAft>
                <a:spcPts val="799"/>
              </a:spcAft>
              <a:buClr>
                <a:srgbClr val="1b2148"/>
              </a:buClr>
              <a:buFont typeface="Wingdings" charset="2"/>
              <a:buChar char=""/>
            </a:pPr>
            <a:r>
              <a:rPr lang="pl-PL" sz="1400" b="0" u="none" strike="noStrike">
                <a:solidFill>
                  <a:srgbClr val="1b2148"/>
                </a:solidFill>
                <a:effectLst/>
                <a:uFillTx/>
                <a:latin typeface="Calibri"/>
                <a:ea typeface="Calibri"/>
              </a:rPr>
              <a:t>Kluczowy jest przebieg czasowy - ADHD przewlekłe, mania/ hipomania epizodyczna</a:t>
            </a:r>
            <a:endParaRPr lang="pl-PL" sz="1400" b="0" u="none" strike="noStrike">
              <a:solidFill>
                <a:srgbClr val="000000"/>
              </a:solidFill>
              <a:effectLst/>
              <a:uFillTx/>
              <a:latin typeface="Arial"/>
            </a:endParaRPr>
          </a:p>
        </p:txBody>
      </p:sp>
      <p:sp>
        <p:nvSpPr>
          <p:cNvPr id="175" name="Text 12"/>
          <p:cNvSpPr/>
          <p:nvPr/>
        </p:nvSpPr>
        <p:spPr>
          <a:xfrm>
            <a:off x="502920" y="4454280"/>
            <a:ext cx="83170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Błędne rozpoznanie ChAD u osoby z przewlekłym ADHD (lub odwrotnie) może prowadzić do niewłaściwego leczenia farmakologicznego.</a:t>
            </a:r>
            <a:endParaRPr lang="pl-PL" sz="1200" b="0" u="none" strike="noStrike">
              <a:solidFill>
                <a:srgbClr val="000000"/>
              </a:solidFill>
              <a:effectLst/>
              <a:uFillTx/>
              <a:latin typeface="Arial"/>
            </a:endParaRPr>
          </a:p>
        </p:txBody>
      </p:sp>
      <p:sp>
        <p:nvSpPr>
          <p:cNvPr id="176" name="Text 13"/>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11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7"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WSPÓŁCHOROBOWOŚĆ · OSOBOWOŚĆ</a:t>
            </a:r>
            <a:endParaRPr lang="pl-PL" sz="1100" b="0" u="none" strike="noStrike">
              <a:solidFill>
                <a:srgbClr val="000000"/>
              </a:solidFill>
              <a:effectLst/>
              <a:uFillTx/>
              <a:latin typeface="Arial"/>
            </a:endParaRPr>
          </a:p>
        </p:txBody>
      </p:sp>
      <p:sp>
        <p:nvSpPr>
          <p:cNvPr id="178"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200" b="1" u="none" strike="noStrike">
                <a:solidFill>
                  <a:srgbClr val="1b2148"/>
                </a:solidFill>
                <a:effectLst/>
                <a:uFillTx/>
                <a:latin typeface="Cambria"/>
                <a:ea typeface="Cambria"/>
              </a:rPr>
              <a:t>Zaburzenia zachowania i osobowości jako moderatory ryzyka</a:t>
            </a:r>
            <a:endParaRPr lang="pl-PL" sz="2200" b="0" u="none" strike="noStrike">
              <a:solidFill>
                <a:srgbClr val="000000"/>
              </a:solidFill>
              <a:effectLst/>
              <a:uFillTx/>
              <a:latin typeface="Arial"/>
            </a:endParaRPr>
          </a:p>
        </p:txBody>
      </p:sp>
      <p:sp>
        <p:nvSpPr>
          <p:cNvPr id="179" name="Text 2"/>
          <p:cNvSpPr/>
          <p:nvPr/>
        </p:nvSpPr>
        <p:spPr>
          <a:xfrm>
            <a:off x="502920" y="981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Największe ryzyko przestępczości i uzależnień dotyczy konkretnej konfiguracji cech</a:t>
            </a:r>
            <a:endParaRPr lang="pl-PL" sz="1200" b="0" u="none" strike="noStrike">
              <a:solidFill>
                <a:srgbClr val="000000"/>
              </a:solidFill>
              <a:effectLst/>
              <a:uFillTx/>
              <a:latin typeface="Arial"/>
            </a:endParaRPr>
          </a:p>
        </p:txBody>
      </p:sp>
      <p:sp>
        <p:nvSpPr>
          <p:cNvPr id="180" name="Shape 3"/>
          <p:cNvSpPr/>
          <p:nvPr/>
        </p:nvSpPr>
        <p:spPr>
          <a:xfrm>
            <a:off x="502920" y="1627560"/>
            <a:ext cx="3977280" cy="2697120"/>
          </a:xfrm>
          <a:prstGeom prst="roundRect">
            <a:avLst>
              <a:gd name="adj" fmla="val 3051"/>
            </a:avLst>
          </a:prstGeom>
          <a:solidFill>
            <a:srgbClr val="fbe5e8"/>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181" name="Text 4"/>
          <p:cNvSpPr/>
          <p:nvPr/>
        </p:nvSpPr>
        <p:spPr>
          <a:xfrm>
            <a:off x="713160" y="1792080"/>
            <a:ext cx="3565800" cy="502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800" b="1" u="none" strike="noStrike">
                <a:solidFill>
                  <a:srgbClr val="a12e3c"/>
                </a:solidFill>
                <a:effectLst/>
                <a:uFillTx/>
                <a:latin typeface="Cambria"/>
                <a:ea typeface="Cambria"/>
              </a:rPr>
              <a:t>Zaburzenia zachowania → ASPD</a:t>
            </a:r>
            <a:endParaRPr lang="pl-PL" sz="1800" b="0" u="none" strike="noStrike">
              <a:solidFill>
                <a:srgbClr val="000000"/>
              </a:solidFill>
              <a:effectLst/>
              <a:uFillTx/>
              <a:latin typeface="Arial"/>
            </a:endParaRPr>
          </a:p>
        </p:txBody>
      </p:sp>
      <p:sp>
        <p:nvSpPr>
          <p:cNvPr id="182" name="Text 5"/>
          <p:cNvSpPr/>
          <p:nvPr/>
        </p:nvSpPr>
        <p:spPr>
          <a:xfrm>
            <a:off x="713160" y="2340720"/>
            <a:ext cx="3565800" cy="191988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8000"/>
              </a:lnSpc>
              <a:spcAft>
                <a:spcPts val="799"/>
              </a:spcAft>
              <a:buClr>
                <a:srgbClr val="1b2148"/>
              </a:buClr>
              <a:buFont typeface="Wingdings" charset="2"/>
              <a:buChar char=""/>
            </a:pPr>
            <a:r>
              <a:rPr lang="pl-PL" sz="1400" b="1" u="none" strike="noStrike">
                <a:solidFill>
                  <a:srgbClr val="1b2148"/>
                </a:solidFill>
                <a:effectLst/>
                <a:uFillTx/>
                <a:latin typeface="Calibri"/>
                <a:ea typeface="Calibri"/>
              </a:rPr>
              <a:t>Najważniejszy moderator</a:t>
            </a:r>
            <a:r>
              <a:rPr lang="pl-PL" sz="1400" b="0" u="none" strike="noStrike">
                <a:solidFill>
                  <a:srgbClr val="1b2148"/>
                </a:solidFill>
                <a:effectLst/>
                <a:uFillTx/>
                <a:latin typeface="Calibri"/>
                <a:ea typeface="Calibri"/>
              </a:rPr>
              <a:t> związku ADHD </a:t>
            </a:r>
            <a:br>
              <a:rPr sz="1400"/>
            </a:br>
            <a:r>
              <a:rPr lang="pl-PL" sz="1400" b="0" u="none" strike="noStrike">
                <a:solidFill>
                  <a:srgbClr val="1b2148"/>
                </a:solidFill>
                <a:effectLst/>
                <a:uFillTx/>
                <a:latin typeface="Calibri"/>
                <a:ea typeface="Calibri"/>
              </a:rPr>
              <a:t>z przestępczością i uzależnieniami</a:t>
            </a:r>
            <a:endParaRPr lang="pl-PL" sz="1400" b="0" u="none" strike="noStrike">
              <a:solidFill>
                <a:srgbClr val="000000"/>
              </a:solidFill>
              <a:effectLst/>
              <a:uFillTx/>
              <a:latin typeface="Arial"/>
            </a:endParaRPr>
          </a:p>
          <a:p>
            <a:pPr marL="177840" indent="-177840" defTabSz="914400">
              <a:lnSpc>
                <a:spcPct val="108000"/>
              </a:lnSpc>
              <a:spcAft>
                <a:spcPts val="799"/>
              </a:spcAft>
              <a:buClr>
                <a:srgbClr val="1b2148"/>
              </a:buClr>
              <a:buFont typeface="Wingdings" charset="2"/>
              <a:buChar char=""/>
            </a:pPr>
            <a:r>
              <a:rPr lang="pl-PL" sz="1400" b="1" u="none" strike="noStrike">
                <a:solidFill>
                  <a:srgbClr val="1b2148"/>
                </a:solidFill>
                <a:effectLst/>
                <a:uFillTx/>
                <a:latin typeface="Calibri"/>
                <a:ea typeface="Calibri"/>
              </a:rPr>
              <a:t>Największe ryzyko</a:t>
            </a:r>
            <a:r>
              <a:rPr lang="pl-PL" sz="1400" b="0" u="none" strike="noStrike">
                <a:solidFill>
                  <a:srgbClr val="1b2148"/>
                </a:solidFill>
                <a:effectLst/>
                <a:uFillTx/>
                <a:latin typeface="Calibri"/>
                <a:ea typeface="Calibri"/>
              </a:rPr>
              <a:t>: wczesna agresja, uporczywe naruszanie norm</a:t>
            </a:r>
            <a:endParaRPr lang="pl-PL" sz="1400" b="0" u="none" strike="noStrike">
              <a:solidFill>
                <a:srgbClr val="000000"/>
              </a:solidFill>
              <a:effectLst/>
              <a:uFillTx/>
              <a:latin typeface="Arial"/>
            </a:endParaRPr>
          </a:p>
          <a:p>
            <a:pPr marL="177840" indent="-177840" defTabSz="914400">
              <a:lnSpc>
                <a:spcPct val="108000"/>
              </a:lnSpc>
              <a:spcAft>
                <a:spcPts val="799"/>
              </a:spcAft>
              <a:buClr>
                <a:srgbClr val="1b2148"/>
              </a:buClr>
              <a:buFont typeface="Wingdings" charset="2"/>
              <a:buChar char=""/>
            </a:pPr>
            <a:r>
              <a:rPr lang="pl-PL" sz="1400" b="1" u="none" strike="noStrike">
                <a:solidFill>
                  <a:srgbClr val="1b2148"/>
                </a:solidFill>
                <a:effectLst/>
                <a:uFillTx/>
                <a:latin typeface="Calibri"/>
                <a:ea typeface="Calibri"/>
              </a:rPr>
              <a:t>Późniejsze cechy antyspołeczne</a:t>
            </a:r>
            <a:r>
              <a:rPr lang="pl-PL" sz="1400" b="0" u="none" strike="noStrike">
                <a:solidFill>
                  <a:srgbClr val="1b2148"/>
                </a:solidFill>
                <a:effectLst/>
                <a:uFillTx/>
                <a:latin typeface="Calibri"/>
                <a:ea typeface="Calibri"/>
              </a:rPr>
              <a:t> najsilniej nasilają ryzyko </a:t>
            </a:r>
            <a:endParaRPr lang="pl-PL" sz="1400" b="0" u="none" strike="noStrike">
              <a:solidFill>
                <a:srgbClr val="000000"/>
              </a:solidFill>
              <a:effectLst/>
              <a:uFillTx/>
              <a:latin typeface="Arial"/>
            </a:endParaRPr>
          </a:p>
        </p:txBody>
      </p:sp>
      <p:sp>
        <p:nvSpPr>
          <p:cNvPr id="183" name="Shape 6"/>
          <p:cNvSpPr/>
          <p:nvPr/>
        </p:nvSpPr>
        <p:spPr>
          <a:xfrm>
            <a:off x="4663440" y="1627560"/>
            <a:ext cx="3977280" cy="2697120"/>
          </a:xfrm>
          <a:prstGeom prst="roundRect">
            <a:avLst>
              <a:gd name="adj" fmla="val 3051"/>
            </a:avLst>
          </a:prstGeom>
          <a:solidFill>
            <a:srgbClr val="f4f6fa"/>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184" name="Text 7"/>
          <p:cNvSpPr/>
          <p:nvPr/>
        </p:nvSpPr>
        <p:spPr>
          <a:xfrm>
            <a:off x="4873680" y="1792080"/>
            <a:ext cx="3565800" cy="502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800" b="1" u="none" strike="noStrike">
                <a:solidFill>
                  <a:srgbClr val="1b2148"/>
                </a:solidFill>
                <a:effectLst/>
                <a:uFillTx/>
                <a:latin typeface="Cambria"/>
                <a:ea typeface="Cambria"/>
              </a:rPr>
              <a:t>ADHD, a osobowość borderline</a:t>
            </a:r>
            <a:endParaRPr lang="pl-PL" sz="1800" b="0" u="none" strike="noStrike">
              <a:solidFill>
                <a:srgbClr val="000000"/>
              </a:solidFill>
              <a:effectLst/>
              <a:uFillTx/>
              <a:latin typeface="Arial"/>
            </a:endParaRPr>
          </a:p>
        </p:txBody>
      </p:sp>
      <p:sp>
        <p:nvSpPr>
          <p:cNvPr id="185" name="Text 8"/>
          <p:cNvSpPr/>
          <p:nvPr/>
        </p:nvSpPr>
        <p:spPr>
          <a:xfrm>
            <a:off x="4873680" y="2340720"/>
            <a:ext cx="3565800" cy="191988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8000"/>
              </a:lnSpc>
              <a:spcAft>
                <a:spcPts val="799"/>
              </a:spcAft>
              <a:buClr>
                <a:srgbClr val="1b2148"/>
              </a:buClr>
              <a:buFont typeface="Wingdings" charset="2"/>
              <a:buChar char=""/>
            </a:pPr>
            <a:r>
              <a:rPr lang="pl-PL" sz="1400" b="1" u="none" strike="noStrike">
                <a:solidFill>
                  <a:srgbClr val="1b2148"/>
                </a:solidFill>
                <a:effectLst/>
                <a:uFillTx/>
                <a:latin typeface="Calibri"/>
                <a:ea typeface="Calibri"/>
              </a:rPr>
              <a:t>Wspólny mianownik</a:t>
            </a:r>
            <a:r>
              <a:rPr lang="pl-PL" sz="1400" b="0" u="none" strike="noStrike">
                <a:solidFill>
                  <a:srgbClr val="1b2148"/>
                </a:solidFill>
                <a:effectLst/>
                <a:uFillTx/>
                <a:latin typeface="Calibri"/>
                <a:ea typeface="Calibri"/>
              </a:rPr>
              <a:t>: impulsywność </a:t>
            </a:r>
            <a:br>
              <a:rPr sz="1400"/>
            </a:br>
            <a:r>
              <a:rPr lang="pl-PL" sz="1400" b="0" u="none" strike="noStrike">
                <a:solidFill>
                  <a:srgbClr val="1b2148"/>
                </a:solidFill>
                <a:effectLst/>
                <a:uFillTx/>
                <a:latin typeface="Calibri"/>
                <a:ea typeface="Calibri"/>
              </a:rPr>
              <a:t>i dysregulacja emocjonalna</a:t>
            </a:r>
            <a:endParaRPr lang="pl-PL" sz="1400" b="0" u="none" strike="noStrike">
              <a:solidFill>
                <a:srgbClr val="000000"/>
              </a:solidFill>
              <a:effectLst/>
              <a:uFillTx/>
              <a:latin typeface="Arial"/>
            </a:endParaRPr>
          </a:p>
          <a:p>
            <a:pPr marL="177840" indent="-177840" defTabSz="914400">
              <a:lnSpc>
                <a:spcPct val="108000"/>
              </a:lnSpc>
              <a:spcAft>
                <a:spcPts val="799"/>
              </a:spcAft>
              <a:buClr>
                <a:srgbClr val="1b2148"/>
              </a:buClr>
              <a:buFont typeface="Wingdings" charset="2"/>
              <a:buChar char=""/>
            </a:pPr>
            <a:r>
              <a:rPr lang="pl-PL" sz="1400" b="1" u="none" strike="noStrike">
                <a:solidFill>
                  <a:srgbClr val="1b2148"/>
                </a:solidFill>
                <a:effectLst/>
                <a:uFillTx/>
                <a:latin typeface="Calibri"/>
                <a:ea typeface="Calibri"/>
              </a:rPr>
              <a:t>BPD dodaje</a:t>
            </a:r>
            <a:r>
              <a:rPr lang="pl-PL" sz="1400" b="0" u="none" strike="noStrike">
                <a:solidFill>
                  <a:srgbClr val="1b2148"/>
                </a:solidFill>
                <a:effectLst/>
                <a:uFillTx/>
                <a:latin typeface="Calibri"/>
                <a:ea typeface="Calibri"/>
              </a:rPr>
              <a:t>: utrwaloną niestabilność </a:t>
            </a:r>
            <a:br>
              <a:rPr sz="1400"/>
            </a:br>
            <a:r>
              <a:rPr lang="pl-PL" sz="1400" b="0" u="none" strike="noStrike">
                <a:solidFill>
                  <a:srgbClr val="1b2148"/>
                </a:solidFill>
                <a:effectLst/>
                <a:uFillTx/>
                <a:latin typeface="Calibri"/>
                <a:ea typeface="Calibri"/>
              </a:rPr>
              <a:t>relacji i obrazu siebie</a:t>
            </a:r>
            <a:endParaRPr lang="pl-PL" sz="1400" b="0" u="none" strike="noStrike">
              <a:solidFill>
                <a:srgbClr val="000000"/>
              </a:solidFill>
              <a:effectLst/>
              <a:uFillTx/>
              <a:latin typeface="Arial"/>
            </a:endParaRPr>
          </a:p>
          <a:p>
            <a:pPr marL="177840" indent="-177840" defTabSz="914400">
              <a:lnSpc>
                <a:spcPct val="108000"/>
              </a:lnSpc>
              <a:spcAft>
                <a:spcPts val="799"/>
              </a:spcAft>
              <a:buClr>
                <a:srgbClr val="1b2148"/>
              </a:buClr>
              <a:buFont typeface="Wingdings" charset="2"/>
              <a:buChar char=""/>
            </a:pPr>
            <a:r>
              <a:rPr lang="pl-PL" sz="1400" b="1" u="none" strike="noStrike">
                <a:solidFill>
                  <a:srgbClr val="1b2148"/>
                </a:solidFill>
                <a:effectLst/>
                <a:uFillTx/>
                <a:latin typeface="Calibri"/>
                <a:ea typeface="Calibri"/>
              </a:rPr>
              <a:t>BPD dodaje</a:t>
            </a:r>
            <a:r>
              <a:rPr lang="pl-PL" sz="1400" b="0" u="none" strike="noStrike">
                <a:solidFill>
                  <a:srgbClr val="1b2148"/>
                </a:solidFill>
                <a:effectLst/>
                <a:uFillTx/>
                <a:latin typeface="Calibri"/>
                <a:ea typeface="Calibri"/>
              </a:rPr>
              <a:t>: silną wrażliwość na odrzucenie</a:t>
            </a:r>
            <a:endParaRPr lang="pl-PL" sz="1400" b="0" u="none" strike="noStrike">
              <a:solidFill>
                <a:srgbClr val="000000"/>
              </a:solidFill>
              <a:effectLst/>
              <a:uFillTx/>
              <a:latin typeface="Arial"/>
            </a:endParaRPr>
          </a:p>
        </p:txBody>
      </p:sp>
      <p:sp>
        <p:nvSpPr>
          <p:cNvPr id="186" name="Text 9"/>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12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7"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WSPÓŁCHOROBOWOŚĆ · RYZYKO ŻYCIA</a:t>
            </a:r>
            <a:endParaRPr lang="pl-PL" sz="1100" b="0" u="none" strike="noStrike">
              <a:solidFill>
                <a:srgbClr val="000000"/>
              </a:solidFill>
              <a:effectLst/>
              <a:uFillTx/>
              <a:latin typeface="Arial"/>
            </a:endParaRPr>
          </a:p>
        </p:txBody>
      </p:sp>
      <p:sp>
        <p:nvSpPr>
          <p:cNvPr id="188" name="Text 1"/>
          <p:cNvSpPr/>
          <p:nvPr/>
        </p:nvSpPr>
        <p:spPr>
          <a:xfrm>
            <a:off x="502920" y="621720"/>
            <a:ext cx="831708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000" b="1" u="none" strike="noStrike">
                <a:solidFill>
                  <a:srgbClr val="1b2148"/>
                </a:solidFill>
                <a:effectLst/>
                <a:uFillTx/>
                <a:latin typeface="Cambria"/>
                <a:ea typeface="Cambria"/>
              </a:rPr>
              <a:t>Podwyższone ryzyko zachowań samobójczych i przedwczesnej śmierci</a:t>
            </a:r>
            <a:endParaRPr lang="pl-PL" sz="2000" b="0" u="none" strike="noStrike">
              <a:solidFill>
                <a:srgbClr val="000000"/>
              </a:solidFill>
              <a:effectLst/>
              <a:uFillTx/>
              <a:latin typeface="Arial"/>
            </a:endParaRPr>
          </a:p>
        </p:txBody>
      </p:sp>
      <p:sp>
        <p:nvSpPr>
          <p:cNvPr id="189" name="Text 2"/>
          <p:cNvSpPr/>
          <p:nvPr/>
        </p:nvSpPr>
        <p:spPr>
          <a:xfrm>
            <a:off x="502920" y="945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Ryzyko jest w dużej mierze wyjaśniane przez czynniki współwystępujące</a:t>
            </a:r>
            <a:endParaRPr lang="pl-PL" sz="1200" b="0" u="none" strike="noStrike">
              <a:solidFill>
                <a:srgbClr val="000000"/>
              </a:solidFill>
              <a:effectLst/>
              <a:uFillTx/>
              <a:latin typeface="Arial"/>
            </a:endParaRPr>
          </a:p>
        </p:txBody>
      </p:sp>
      <p:sp>
        <p:nvSpPr>
          <p:cNvPr id="190" name="Shape 3"/>
          <p:cNvSpPr/>
          <p:nvPr/>
        </p:nvSpPr>
        <p:spPr>
          <a:xfrm>
            <a:off x="502920" y="1645920"/>
            <a:ext cx="4537080" cy="2285640"/>
          </a:xfrm>
          <a:prstGeom prst="roundRect">
            <a:avLst>
              <a:gd name="adj" fmla="val 3600"/>
            </a:avLst>
          </a:prstGeom>
          <a:solidFill>
            <a:srgbClr val="f4f6fa"/>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191" name="Text 4"/>
          <p:cNvSpPr/>
          <p:nvPr/>
        </p:nvSpPr>
        <p:spPr>
          <a:xfrm>
            <a:off x="713160" y="1666440"/>
            <a:ext cx="45716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2000" b="1" u="none" strike="noStrike">
                <a:solidFill>
                  <a:srgbClr val="1b2148"/>
                </a:solidFill>
                <a:effectLst/>
                <a:uFillTx/>
                <a:latin typeface="Cambria"/>
                <a:ea typeface="Cambria"/>
              </a:rPr>
              <a:t>Co podwyższa ryzyko?</a:t>
            </a:r>
            <a:endParaRPr lang="pl-PL" sz="2000" b="0" u="none" strike="noStrike">
              <a:solidFill>
                <a:srgbClr val="000000"/>
              </a:solidFill>
              <a:effectLst/>
              <a:uFillTx/>
              <a:latin typeface="Arial"/>
            </a:endParaRPr>
          </a:p>
        </p:txBody>
      </p:sp>
      <p:sp>
        <p:nvSpPr>
          <p:cNvPr id="192" name="Text 5"/>
          <p:cNvSpPr/>
          <p:nvPr/>
        </p:nvSpPr>
        <p:spPr>
          <a:xfrm>
            <a:off x="713160" y="2212920"/>
            <a:ext cx="4146840" cy="164556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8000"/>
              </a:lnSpc>
              <a:spcAft>
                <a:spcPts val="799"/>
              </a:spcAft>
              <a:buClr>
                <a:srgbClr val="1b2148"/>
              </a:buClr>
              <a:buFont typeface="Wingdings" charset="2"/>
              <a:buChar char=""/>
            </a:pPr>
            <a:r>
              <a:rPr lang="pl-PL" sz="1500" b="0" u="none" strike="noStrike">
                <a:solidFill>
                  <a:srgbClr val="1b2148"/>
                </a:solidFill>
                <a:effectLst/>
                <a:uFillTx/>
                <a:latin typeface="Calibri"/>
                <a:ea typeface="Calibri"/>
              </a:rPr>
              <a:t>Myśli i próby samobójcze, zatrucia, wypadki</a:t>
            </a:r>
            <a:endParaRPr lang="pl-PL" sz="1500" b="0" u="none" strike="noStrike">
              <a:solidFill>
                <a:srgbClr val="000000"/>
              </a:solidFill>
              <a:effectLst/>
              <a:uFillTx/>
              <a:latin typeface="Arial"/>
            </a:endParaRPr>
          </a:p>
          <a:p>
            <a:pPr marL="177840" indent="-177840" defTabSz="914400">
              <a:lnSpc>
                <a:spcPct val="108000"/>
              </a:lnSpc>
              <a:spcAft>
                <a:spcPts val="799"/>
              </a:spcAft>
              <a:buClr>
                <a:srgbClr val="1b2148"/>
              </a:buClr>
              <a:buFont typeface="Wingdings" charset="2"/>
              <a:buChar char=""/>
            </a:pPr>
            <a:r>
              <a:rPr lang="pl-PL" sz="1500" b="0" u="none" strike="noStrike">
                <a:solidFill>
                  <a:srgbClr val="1b2148"/>
                </a:solidFill>
                <a:effectLst/>
                <a:uFillTx/>
                <a:latin typeface="Calibri"/>
                <a:ea typeface="Calibri"/>
              </a:rPr>
              <a:t>Przedwczesna śmierć z przyczyn nienaturalnych</a:t>
            </a:r>
            <a:endParaRPr lang="pl-PL" sz="1500" b="0" u="none" strike="noStrike">
              <a:solidFill>
                <a:srgbClr val="000000"/>
              </a:solidFill>
              <a:effectLst/>
              <a:uFillTx/>
              <a:latin typeface="Arial"/>
            </a:endParaRPr>
          </a:p>
          <a:p>
            <a:pPr marL="177840" indent="-177840" defTabSz="914400">
              <a:lnSpc>
                <a:spcPct val="108000"/>
              </a:lnSpc>
              <a:spcAft>
                <a:spcPts val="799"/>
              </a:spcAft>
              <a:buClr>
                <a:srgbClr val="1b2148"/>
              </a:buClr>
              <a:buFont typeface="Wingdings" charset="2"/>
              <a:buChar char=""/>
            </a:pPr>
            <a:r>
              <a:rPr lang="pl-PL" sz="1500" b="0" u="none" strike="noStrike">
                <a:solidFill>
                  <a:srgbClr val="1b2148"/>
                </a:solidFill>
                <a:effectLst/>
                <a:uFillTx/>
                <a:latin typeface="Calibri"/>
                <a:ea typeface="Calibri"/>
              </a:rPr>
              <a:t>Znaczną część ryzyka wyjaśniają: depresja, SUD, impulsywność, konflikty i problemy ekonomiczne</a:t>
            </a:r>
            <a:endParaRPr lang="pl-PL" sz="1500" b="0" u="none" strike="noStrike">
              <a:solidFill>
                <a:srgbClr val="000000"/>
              </a:solidFill>
              <a:effectLst/>
              <a:uFillTx/>
              <a:latin typeface="Arial"/>
            </a:endParaRPr>
          </a:p>
        </p:txBody>
      </p:sp>
      <p:sp>
        <p:nvSpPr>
          <p:cNvPr id="193" name="Shape 6"/>
          <p:cNvSpPr/>
          <p:nvPr/>
        </p:nvSpPr>
        <p:spPr>
          <a:xfrm>
            <a:off x="5284800" y="1645920"/>
            <a:ext cx="3355920" cy="2285640"/>
          </a:xfrm>
          <a:prstGeom prst="roundRect">
            <a:avLst>
              <a:gd name="adj" fmla="val 3600"/>
            </a:avLst>
          </a:prstGeom>
          <a:solidFill>
            <a:srgbClr val="1f8a82"/>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194" name="Text 7"/>
          <p:cNvSpPr/>
          <p:nvPr/>
        </p:nvSpPr>
        <p:spPr>
          <a:xfrm>
            <a:off x="5400000" y="1702440"/>
            <a:ext cx="30578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2000" b="1" u="none" strike="noStrike">
                <a:solidFill>
                  <a:srgbClr val="ffffff"/>
                </a:solidFill>
                <a:effectLst/>
                <a:uFillTx/>
                <a:latin typeface="Cambria"/>
                <a:ea typeface="Cambria"/>
              </a:rPr>
              <a:t>Leczenie ADHD</a:t>
            </a:r>
            <a:endParaRPr lang="pl-PL" sz="2000" b="0" u="none" strike="noStrike">
              <a:solidFill>
                <a:srgbClr val="000000"/>
              </a:solidFill>
              <a:effectLst/>
              <a:uFillTx/>
              <a:latin typeface="Arial"/>
            </a:endParaRPr>
          </a:p>
        </p:txBody>
      </p:sp>
      <p:sp>
        <p:nvSpPr>
          <p:cNvPr id="195" name="Text 8"/>
          <p:cNvSpPr/>
          <p:nvPr/>
        </p:nvSpPr>
        <p:spPr>
          <a:xfrm>
            <a:off x="5436000" y="2157840"/>
            <a:ext cx="3060000" cy="16912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lang="pl-PL" sz="1500" b="0" u="none" strike="noStrike">
                <a:solidFill>
                  <a:srgbClr val="eaf6f4"/>
                </a:solidFill>
                <a:effectLst/>
                <a:uFillTx/>
                <a:latin typeface="Calibri"/>
                <a:ea typeface="Calibri"/>
              </a:rPr>
              <a:t>może obniżać częstość zdarzeń samobójczych i zgonów z przyczyn nienaturalnych. Jest to wynik biologicznie i psychologicznie wiarygodny (lepsza kontrola impulsów), oparty na badaniach rejestrowych</a:t>
            </a:r>
            <a:endParaRPr lang="pl-PL" sz="1500" b="0" u="none" strike="noStrike">
              <a:solidFill>
                <a:srgbClr val="000000"/>
              </a:solidFill>
              <a:effectLst/>
              <a:uFillTx/>
              <a:latin typeface="Arial"/>
            </a:endParaRPr>
          </a:p>
        </p:txBody>
      </p:sp>
      <p:sp>
        <p:nvSpPr>
          <p:cNvPr id="196" name="Shape 9"/>
          <p:cNvSpPr/>
          <p:nvPr/>
        </p:nvSpPr>
        <p:spPr>
          <a:xfrm>
            <a:off x="502920" y="4114800"/>
            <a:ext cx="8137800" cy="685440"/>
          </a:xfrm>
          <a:prstGeom prst="roundRect">
            <a:avLst>
              <a:gd name="adj" fmla="val 12000"/>
            </a:avLst>
          </a:prstGeom>
          <a:solidFill>
            <a:srgbClr val="fceadd"/>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197" name="Text 10"/>
          <p:cNvSpPr/>
          <p:nvPr/>
        </p:nvSpPr>
        <p:spPr>
          <a:xfrm>
            <a:off x="777240" y="4114800"/>
            <a:ext cx="7589160" cy="685440"/>
          </a:xfrm>
          <a:prstGeom prst="rect">
            <a:avLst/>
          </a:prstGeom>
          <a:noFill/>
          <a:ln w="0">
            <a:noFill/>
          </a:ln>
        </p:spPr>
        <p:style>
          <a:lnRef idx="0"/>
          <a:fillRef idx="0"/>
          <a:effectRef idx="0"/>
          <a:fontRef idx="minor"/>
        </p:style>
        <p:txBody>
          <a:bodyPr lIns="0" rIns="0" tIns="0" bIns="0" anchor="ctr" anchorCtr="1">
            <a:noAutofit/>
          </a:bodyPr>
          <a:p>
            <a:pPr algn="ctr" defTabSz="914400">
              <a:lnSpc>
                <a:spcPct val="100000"/>
              </a:lnSpc>
              <a:tabLst>
                <a:tab algn="l" pos="0"/>
              </a:tabLst>
            </a:pPr>
            <a:r>
              <a:rPr lang="pl-PL" sz="1600" b="0" u="none" strike="noStrike">
                <a:solidFill>
                  <a:srgbClr val="c75a26"/>
                </a:solidFill>
                <a:effectLst/>
                <a:uFillTx/>
                <a:latin typeface="Calibri"/>
                <a:ea typeface="Calibri"/>
              </a:rPr>
              <a:t>Powyższe dane mają charakter epidemiologiczny i nie zastępują bezpośredniej, indywidualnej oceny ryzyka samobójczego u konkretnego pacjenta.</a:t>
            </a:r>
            <a:endParaRPr lang="pl-PL" sz="1600" b="0" u="none" strike="noStrike">
              <a:solidFill>
                <a:srgbClr val="000000"/>
              </a:solidFill>
              <a:effectLst/>
              <a:uFillTx/>
              <a:latin typeface="Arial"/>
            </a:endParaRPr>
          </a:p>
        </p:txBody>
      </p:sp>
      <p:sp>
        <p:nvSpPr>
          <p:cNvPr id="198" name="Text 11"/>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13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9"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PRZESTĘPCZOŚĆ</a:t>
            </a:r>
            <a:endParaRPr lang="pl-PL" sz="1100" b="0" u="none" strike="noStrike">
              <a:solidFill>
                <a:srgbClr val="000000"/>
              </a:solidFill>
              <a:effectLst/>
              <a:uFillTx/>
              <a:latin typeface="Arial"/>
            </a:endParaRPr>
          </a:p>
        </p:txBody>
      </p:sp>
      <p:sp>
        <p:nvSpPr>
          <p:cNvPr id="200"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200" b="1" u="none" strike="noStrike">
                <a:solidFill>
                  <a:srgbClr val="1b2148"/>
                </a:solidFill>
                <a:effectLst/>
                <a:uFillTx/>
                <a:latin typeface="Cambria"/>
                <a:ea typeface="Cambria"/>
              </a:rPr>
              <a:t>Nadreprezentacja ADHD w populacjach penitencjarnych</a:t>
            </a:r>
            <a:endParaRPr lang="pl-PL" sz="2200" b="0" u="none" strike="noStrike">
              <a:solidFill>
                <a:srgbClr val="000000"/>
              </a:solidFill>
              <a:effectLst/>
              <a:uFillTx/>
              <a:latin typeface="Arial"/>
            </a:endParaRPr>
          </a:p>
        </p:txBody>
      </p:sp>
      <p:sp>
        <p:nvSpPr>
          <p:cNvPr id="201" name="Text 2"/>
          <p:cNvSpPr/>
          <p:nvPr/>
        </p:nvSpPr>
        <p:spPr>
          <a:xfrm>
            <a:off x="502920" y="1017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Nadreprezentacja nie jest równoznaczna z przestępczością</a:t>
            </a:r>
            <a:endParaRPr lang="pl-PL" sz="1200" b="0" u="none" strike="noStrike">
              <a:solidFill>
                <a:srgbClr val="000000"/>
              </a:solidFill>
              <a:effectLst/>
              <a:uFillTx/>
              <a:latin typeface="Arial"/>
            </a:endParaRPr>
          </a:p>
        </p:txBody>
      </p:sp>
      <p:sp>
        <p:nvSpPr>
          <p:cNvPr id="202" name="Text 3"/>
          <p:cNvSpPr/>
          <p:nvPr/>
        </p:nvSpPr>
        <p:spPr>
          <a:xfrm>
            <a:off x="502920" y="1537920"/>
            <a:ext cx="813780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600" b="0" u="none" strike="noStrike">
                <a:solidFill>
                  <a:srgbClr val="000000"/>
                </a:solidFill>
                <a:effectLst/>
                <a:uFillTx/>
                <a:latin typeface="Calibri"/>
                <a:ea typeface="Calibri"/>
              </a:rPr>
              <a:t>ADHD jest znacznie częstsze w populacjach więziennych niż w populacji ogólnej. Szacunki różnią się zależnie od wieku, kraju i metody diagnostycznej, a badania oparte wyłącznie na kwestionariuszach przesiewowych zwykle wskazują wyższą częstość niż pełne badania kliniczne.</a:t>
            </a:r>
            <a:endParaRPr lang="pl-PL" sz="1600" b="0" u="none" strike="noStrike">
              <a:solidFill>
                <a:srgbClr val="000000"/>
              </a:solidFill>
              <a:effectLst/>
              <a:uFillTx/>
              <a:latin typeface="Arial"/>
            </a:endParaRPr>
          </a:p>
        </p:txBody>
      </p:sp>
      <p:sp>
        <p:nvSpPr>
          <p:cNvPr id="203" name="Text 4"/>
          <p:cNvSpPr/>
          <p:nvPr/>
        </p:nvSpPr>
        <p:spPr>
          <a:xfrm>
            <a:off x="502920" y="2697480"/>
            <a:ext cx="813780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400" b="1" u="none" strike="noStrike">
                <a:solidFill>
                  <a:srgbClr val="1b2148"/>
                </a:solidFill>
                <a:effectLst/>
                <a:uFillTx/>
                <a:latin typeface="Cambria"/>
                <a:ea typeface="Cambria"/>
              </a:rPr>
              <a:t>Co naprawdę decyduje o ryzyku?</a:t>
            </a:r>
            <a:endParaRPr lang="pl-PL" sz="1400" b="1" u="none" strike="noStrike">
              <a:solidFill>
                <a:srgbClr val="000000"/>
              </a:solidFill>
              <a:effectLst/>
              <a:uFillTx/>
              <a:latin typeface="Arial"/>
            </a:endParaRPr>
          </a:p>
        </p:txBody>
      </p:sp>
      <p:sp>
        <p:nvSpPr>
          <p:cNvPr id="204" name="Shape 5"/>
          <p:cNvSpPr/>
          <p:nvPr/>
        </p:nvSpPr>
        <p:spPr>
          <a:xfrm>
            <a:off x="538920" y="3035880"/>
            <a:ext cx="1657080" cy="924120"/>
          </a:xfrm>
          <a:prstGeom prst="roundRect">
            <a:avLst>
              <a:gd name="adj" fmla="val 6667"/>
            </a:avLst>
          </a:prstGeom>
          <a:solidFill>
            <a:srgbClr val="f4f6fa"/>
          </a:solidFill>
          <a:ln w="1260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05" name="Text 6"/>
          <p:cNvSpPr/>
          <p:nvPr/>
        </p:nvSpPr>
        <p:spPr>
          <a:xfrm>
            <a:off x="610920" y="3035880"/>
            <a:ext cx="1534680" cy="924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1" u="none" strike="noStrike">
                <a:solidFill>
                  <a:srgbClr val="1b2148"/>
                </a:solidFill>
                <a:effectLst/>
                <a:uFillTx/>
                <a:latin typeface="Calibri"/>
                <a:ea typeface="Calibri"/>
              </a:rPr>
              <a:t>Współwystępujące zaburzenia zachowania</a:t>
            </a:r>
            <a:endParaRPr lang="pl-PL" sz="1400" b="1" u="none" strike="noStrike">
              <a:solidFill>
                <a:srgbClr val="000000"/>
              </a:solidFill>
              <a:effectLst/>
              <a:uFillTx/>
              <a:latin typeface="Arial"/>
            </a:endParaRPr>
          </a:p>
        </p:txBody>
      </p:sp>
      <p:sp>
        <p:nvSpPr>
          <p:cNvPr id="206" name="Shape 7"/>
          <p:cNvSpPr/>
          <p:nvPr/>
        </p:nvSpPr>
        <p:spPr>
          <a:xfrm>
            <a:off x="2315160" y="3035880"/>
            <a:ext cx="1554120" cy="924120"/>
          </a:xfrm>
          <a:prstGeom prst="roundRect">
            <a:avLst>
              <a:gd name="adj" fmla="val 6667"/>
            </a:avLst>
          </a:prstGeom>
          <a:solidFill>
            <a:srgbClr val="f4f6fa"/>
          </a:solidFill>
          <a:ln w="1260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07" name="Text 8"/>
          <p:cNvSpPr/>
          <p:nvPr/>
        </p:nvSpPr>
        <p:spPr>
          <a:xfrm>
            <a:off x="2406600" y="3035880"/>
            <a:ext cx="1371240" cy="924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1" u="none" strike="noStrike">
                <a:solidFill>
                  <a:srgbClr val="1b2148"/>
                </a:solidFill>
                <a:effectLst/>
                <a:uFillTx/>
                <a:latin typeface="Calibri"/>
                <a:ea typeface="Calibri"/>
              </a:rPr>
              <a:t>Zaburzenia używania substancji (SUD)</a:t>
            </a:r>
            <a:endParaRPr lang="pl-PL" sz="1400" b="0" u="none" strike="noStrike">
              <a:solidFill>
                <a:srgbClr val="000000"/>
              </a:solidFill>
              <a:effectLst/>
              <a:uFillTx/>
              <a:latin typeface="Arial"/>
            </a:endParaRPr>
          </a:p>
        </p:txBody>
      </p:sp>
      <p:sp>
        <p:nvSpPr>
          <p:cNvPr id="208" name="Shape 9"/>
          <p:cNvSpPr/>
          <p:nvPr/>
        </p:nvSpPr>
        <p:spPr>
          <a:xfrm>
            <a:off x="3966840" y="3035880"/>
            <a:ext cx="1462680" cy="924120"/>
          </a:xfrm>
          <a:prstGeom prst="roundRect">
            <a:avLst>
              <a:gd name="adj" fmla="val 6667"/>
            </a:avLst>
          </a:prstGeom>
          <a:solidFill>
            <a:srgbClr val="f4f6fa"/>
          </a:solidFill>
          <a:ln w="1260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09" name="Text 10"/>
          <p:cNvSpPr/>
          <p:nvPr/>
        </p:nvSpPr>
        <p:spPr>
          <a:xfrm>
            <a:off x="4038840" y="3035880"/>
            <a:ext cx="1371240" cy="924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1" u="none" strike="noStrike">
                <a:solidFill>
                  <a:srgbClr val="1b2148"/>
                </a:solidFill>
                <a:effectLst/>
                <a:uFillTx/>
                <a:latin typeface="Calibri"/>
                <a:ea typeface="Calibri"/>
              </a:rPr>
              <a:t>Ubóstwo </a:t>
            </a:r>
            <a:br>
              <a:rPr sz="1400"/>
            </a:br>
            <a:r>
              <a:rPr lang="pl-PL" sz="1400" b="1" u="none" strike="noStrike">
                <a:solidFill>
                  <a:srgbClr val="1b2148"/>
                </a:solidFill>
                <a:effectLst/>
                <a:uFillTx/>
                <a:latin typeface="Calibri"/>
                <a:ea typeface="Calibri"/>
              </a:rPr>
              <a:t>i bezrobocie</a:t>
            </a:r>
            <a:endParaRPr lang="pl-PL" sz="1400" b="0" u="none" strike="noStrike">
              <a:solidFill>
                <a:srgbClr val="000000"/>
              </a:solidFill>
              <a:effectLst/>
              <a:uFillTx/>
              <a:latin typeface="Arial"/>
            </a:endParaRPr>
          </a:p>
        </p:txBody>
      </p:sp>
      <p:sp>
        <p:nvSpPr>
          <p:cNvPr id="210" name="Shape 11"/>
          <p:cNvSpPr/>
          <p:nvPr/>
        </p:nvSpPr>
        <p:spPr>
          <a:xfrm>
            <a:off x="5507640" y="3035880"/>
            <a:ext cx="1462680" cy="924120"/>
          </a:xfrm>
          <a:prstGeom prst="roundRect">
            <a:avLst>
              <a:gd name="adj" fmla="val 6667"/>
            </a:avLst>
          </a:prstGeom>
          <a:solidFill>
            <a:srgbClr val="f4f6fa"/>
          </a:solidFill>
          <a:ln w="1260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11" name="Text 12"/>
          <p:cNvSpPr/>
          <p:nvPr/>
        </p:nvSpPr>
        <p:spPr>
          <a:xfrm>
            <a:off x="5599080" y="3035880"/>
            <a:ext cx="1276920" cy="924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1" u="none" strike="noStrike">
                <a:solidFill>
                  <a:srgbClr val="1b2148"/>
                </a:solidFill>
                <a:effectLst/>
                <a:uFillTx/>
                <a:latin typeface="Calibri"/>
                <a:ea typeface="Calibri"/>
              </a:rPr>
              <a:t>Niepowodzenia szkolne</a:t>
            </a:r>
            <a:endParaRPr lang="pl-PL" sz="1400" b="0" u="none" strike="noStrike">
              <a:solidFill>
                <a:srgbClr val="000000"/>
              </a:solidFill>
              <a:effectLst/>
              <a:uFillTx/>
              <a:latin typeface="Arial"/>
            </a:endParaRPr>
          </a:p>
        </p:txBody>
      </p:sp>
      <p:sp>
        <p:nvSpPr>
          <p:cNvPr id="212" name="Shape 13"/>
          <p:cNvSpPr/>
          <p:nvPr/>
        </p:nvSpPr>
        <p:spPr>
          <a:xfrm>
            <a:off x="7048440" y="3035880"/>
            <a:ext cx="1554120" cy="924120"/>
          </a:xfrm>
          <a:prstGeom prst="roundRect">
            <a:avLst>
              <a:gd name="adj" fmla="val 6667"/>
            </a:avLst>
          </a:prstGeom>
          <a:solidFill>
            <a:srgbClr val="f4f6fa"/>
          </a:solidFill>
          <a:ln w="1260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13" name="Text 14"/>
          <p:cNvSpPr/>
          <p:nvPr/>
        </p:nvSpPr>
        <p:spPr>
          <a:xfrm>
            <a:off x="7139880" y="3035880"/>
            <a:ext cx="1371240" cy="924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400" b="1" u="none" strike="noStrike">
                <a:solidFill>
                  <a:srgbClr val="1b2148"/>
                </a:solidFill>
                <a:effectLst/>
                <a:uFillTx/>
                <a:latin typeface="Calibri"/>
                <a:ea typeface="Calibri"/>
              </a:rPr>
              <a:t>Ekspozycja na środowiska wysokiego ryzyka</a:t>
            </a:r>
            <a:endParaRPr lang="pl-PL" sz="1400" b="0" u="none" strike="noStrike">
              <a:solidFill>
                <a:srgbClr val="000000"/>
              </a:solidFill>
              <a:effectLst/>
              <a:uFillTx/>
              <a:latin typeface="Arial"/>
            </a:endParaRPr>
          </a:p>
        </p:txBody>
      </p:sp>
      <p:sp>
        <p:nvSpPr>
          <p:cNvPr id="214" name="Shape 15"/>
          <p:cNvSpPr/>
          <p:nvPr/>
        </p:nvSpPr>
        <p:spPr>
          <a:xfrm>
            <a:off x="502920" y="4182840"/>
            <a:ext cx="8137800" cy="411120"/>
          </a:xfrm>
          <a:prstGeom prst="roundRect">
            <a:avLst>
              <a:gd name="adj" fmla="val 20000"/>
            </a:avLst>
          </a:prstGeom>
          <a:solidFill>
            <a:srgbClr val="1b2148"/>
          </a:solidFill>
          <a:ln w="1260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215" name="Text 16"/>
          <p:cNvSpPr/>
          <p:nvPr/>
        </p:nvSpPr>
        <p:spPr>
          <a:xfrm>
            <a:off x="731520" y="4182840"/>
            <a:ext cx="7680600" cy="411120"/>
          </a:xfrm>
          <a:prstGeom prst="rect">
            <a:avLst/>
          </a:prstGeom>
          <a:noFill/>
          <a:ln w="0">
            <a:noFill/>
          </a:ln>
        </p:spPr>
        <p:style>
          <a:lnRef idx="0"/>
          <a:fillRef idx="0"/>
          <a:effectRef idx="0"/>
          <a:fontRef idx="minor"/>
        </p:style>
        <p:txBody>
          <a:bodyPr lIns="0" rIns="0" tIns="0" bIns="0" anchor="ctr" anchorCtr="1">
            <a:noAutofit/>
          </a:bodyPr>
          <a:p>
            <a:pPr algn="ctr" defTabSz="914400">
              <a:lnSpc>
                <a:spcPct val="100000"/>
              </a:lnSpc>
              <a:tabLst>
                <a:tab algn="l" pos="0"/>
              </a:tabLst>
            </a:pPr>
            <a:r>
              <a:rPr lang="pl-PL" sz="1600" b="0" u="none" strike="noStrike">
                <a:solidFill>
                  <a:srgbClr val="ffffff"/>
                </a:solidFill>
                <a:effectLst/>
                <a:uFillTx/>
                <a:latin typeface="Calibri"/>
                <a:ea typeface="Calibri"/>
              </a:rPr>
              <a:t>ADHD samo w sobie nie tłumaczy przestępczości, ale wyjaśnia ją kumulacja czynników ryzyka</a:t>
            </a:r>
            <a:endParaRPr lang="pl-PL" sz="1600" b="0" u="none" strike="noStrike">
              <a:solidFill>
                <a:srgbClr val="000000"/>
              </a:solidFill>
              <a:effectLst/>
              <a:uFillTx/>
              <a:latin typeface="Arial"/>
            </a:endParaRPr>
          </a:p>
        </p:txBody>
      </p:sp>
      <p:sp>
        <p:nvSpPr>
          <p:cNvPr id="216" name="Text 17"/>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14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7"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PRZESTĘPCZOŚĆ · EFEKT LECZENIA</a:t>
            </a:r>
            <a:endParaRPr lang="pl-PL" sz="1100" b="0" u="none" strike="noStrike">
              <a:solidFill>
                <a:srgbClr val="000000"/>
              </a:solidFill>
              <a:effectLst/>
              <a:uFillTx/>
              <a:latin typeface="Arial"/>
            </a:endParaRPr>
          </a:p>
        </p:txBody>
      </p:sp>
      <p:sp>
        <p:nvSpPr>
          <p:cNvPr id="218"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200" b="1" u="none" strike="noStrike">
                <a:solidFill>
                  <a:srgbClr val="1b2148"/>
                </a:solidFill>
                <a:effectLst/>
                <a:uFillTx/>
                <a:latin typeface="Cambria"/>
                <a:ea typeface="Cambria"/>
              </a:rPr>
              <a:t>Farmakoterapia ADHD, a ryzyko skazania</a:t>
            </a:r>
            <a:endParaRPr lang="pl-PL" sz="2200" b="0" u="none" strike="noStrike">
              <a:solidFill>
                <a:srgbClr val="000000"/>
              </a:solidFill>
              <a:effectLst/>
              <a:uFillTx/>
              <a:latin typeface="Arial"/>
            </a:endParaRPr>
          </a:p>
        </p:txBody>
      </p:sp>
      <p:sp>
        <p:nvSpPr>
          <p:cNvPr id="219" name="Text 2"/>
          <p:cNvSpPr/>
          <p:nvPr/>
        </p:nvSpPr>
        <p:spPr>
          <a:xfrm>
            <a:off x="502920" y="981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Badanie rejestrowe (Szwecja): analiza wewnątrzosobnicza: te same osoby w okresach leczenia i bez leczenia</a:t>
            </a:r>
            <a:endParaRPr lang="pl-PL" sz="1200" b="0" u="none" strike="noStrike">
              <a:solidFill>
                <a:srgbClr val="000000"/>
              </a:solidFill>
              <a:effectLst/>
              <a:uFillTx/>
              <a:latin typeface="Arial"/>
            </a:endParaRPr>
          </a:p>
        </p:txBody>
      </p:sp>
      <p:sp>
        <p:nvSpPr>
          <p:cNvPr id="220" name="Shape 3"/>
          <p:cNvSpPr/>
          <p:nvPr/>
        </p:nvSpPr>
        <p:spPr>
          <a:xfrm>
            <a:off x="1812240" y="1675080"/>
            <a:ext cx="3940200" cy="1371240"/>
          </a:xfrm>
          <a:prstGeom prst="rect">
            <a:avLst/>
          </a:prstGeom>
          <a:solidFill>
            <a:srgbClr val="f4f6fa"/>
          </a:solidFill>
          <a:ln w="936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21" name="Shape 4"/>
          <p:cNvSpPr/>
          <p:nvPr/>
        </p:nvSpPr>
        <p:spPr>
          <a:xfrm>
            <a:off x="5752080" y="1692000"/>
            <a:ext cx="360" cy="1371600"/>
          </a:xfrm>
          <a:prstGeom prst="line">
            <a:avLst/>
          </a:prstGeom>
          <a:ln w="15840">
            <a:solidFill>
              <a:srgbClr val="96a0bc"/>
            </a:solidFill>
            <a:prstDash val="dash"/>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222" name="Text 5"/>
          <p:cNvSpPr/>
          <p:nvPr/>
        </p:nvSpPr>
        <p:spPr>
          <a:xfrm>
            <a:off x="502920" y="1711800"/>
            <a:ext cx="1288800" cy="6123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2000" b="1" u="none" strike="noStrike">
                <a:solidFill>
                  <a:srgbClr val="1b2148"/>
                </a:solidFill>
                <a:effectLst/>
                <a:uFillTx/>
                <a:latin typeface="Calibri"/>
                <a:ea typeface="Calibri"/>
              </a:rPr>
              <a:t>Mężczyźni</a:t>
            </a:r>
            <a:endParaRPr lang="pl-PL" sz="2000" b="0" u="none" strike="noStrike">
              <a:solidFill>
                <a:srgbClr val="000000"/>
              </a:solidFill>
              <a:effectLst/>
              <a:uFillTx/>
              <a:latin typeface="Arial"/>
            </a:endParaRPr>
          </a:p>
        </p:txBody>
      </p:sp>
      <p:sp>
        <p:nvSpPr>
          <p:cNvPr id="223" name="Shape 6"/>
          <p:cNvSpPr/>
          <p:nvPr/>
        </p:nvSpPr>
        <p:spPr>
          <a:xfrm>
            <a:off x="3669840" y="2017800"/>
            <a:ext cx="807840" cy="360"/>
          </a:xfrm>
          <a:prstGeom prst="line">
            <a:avLst/>
          </a:prstGeom>
          <a:ln w="28440">
            <a:solidFill>
              <a:srgbClr val="1b2148"/>
            </a:solidFill>
            <a:round/>
          </a:ln>
        </p:spPr>
        <p:style>
          <a:lnRef idx="0"/>
          <a:fillRef idx="0"/>
          <a:effectRef idx="0"/>
          <a:fontRef idx="minor"/>
        </p:style>
        <p:txBody>
          <a:bodyPr lIns="90000" rIns="90000" tIns="-44640" bIns="-44640" anchor="t" anchorCtr="1">
            <a:noAutofit/>
          </a:bodyPr>
          <a:p>
            <a:endParaRPr lang="pl-PL" sz="1800" b="0" u="none" strike="noStrike">
              <a:solidFill>
                <a:srgbClr val="000000"/>
              </a:solidFill>
              <a:effectLst/>
              <a:uFillTx/>
              <a:latin typeface="Arial"/>
            </a:endParaRPr>
          </a:p>
        </p:txBody>
      </p:sp>
      <p:sp>
        <p:nvSpPr>
          <p:cNvPr id="224" name="Shape 7"/>
          <p:cNvSpPr/>
          <p:nvPr/>
        </p:nvSpPr>
        <p:spPr>
          <a:xfrm>
            <a:off x="3669840" y="1953720"/>
            <a:ext cx="360" cy="128160"/>
          </a:xfrm>
          <a:prstGeom prst="line">
            <a:avLst/>
          </a:prstGeom>
          <a:ln w="19080">
            <a:solidFill>
              <a:srgbClr val="1b2148"/>
            </a:solidFill>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225" name="Shape 8"/>
          <p:cNvSpPr/>
          <p:nvPr/>
        </p:nvSpPr>
        <p:spPr>
          <a:xfrm>
            <a:off x="4477680" y="1953720"/>
            <a:ext cx="360" cy="128160"/>
          </a:xfrm>
          <a:prstGeom prst="line">
            <a:avLst/>
          </a:prstGeom>
          <a:ln w="19080">
            <a:solidFill>
              <a:srgbClr val="1b2148"/>
            </a:solidFill>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226" name="Shape 9"/>
          <p:cNvSpPr/>
          <p:nvPr/>
        </p:nvSpPr>
        <p:spPr>
          <a:xfrm>
            <a:off x="4005360" y="1949400"/>
            <a:ext cx="136800" cy="136800"/>
          </a:xfrm>
          <a:prstGeom prst="ellipse">
            <a:avLst/>
          </a:prstGeom>
          <a:solidFill>
            <a:srgbClr val="1b2148"/>
          </a:solidFill>
          <a:ln w="15840">
            <a:solidFill>
              <a:srgbClr val="ffffff"/>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227" name="Text 10"/>
          <p:cNvSpPr/>
          <p:nvPr/>
        </p:nvSpPr>
        <p:spPr>
          <a:xfrm>
            <a:off x="5940000" y="1711800"/>
            <a:ext cx="3060000" cy="6123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400" b="0" u="none" strike="noStrike">
                <a:solidFill>
                  <a:srgbClr val="55607a"/>
                </a:solidFill>
                <a:effectLst/>
                <a:uFillTx/>
                <a:latin typeface="Calibri"/>
                <a:ea typeface="Calibri"/>
              </a:rPr>
              <a:t>HR 0,68 [0,63–0,73]  →  </a:t>
            </a:r>
            <a:r>
              <a:rPr lang="pl-PL" sz="1400" b="1" u="none" strike="noStrike">
                <a:solidFill>
                  <a:srgbClr val="55607a"/>
                </a:solidFill>
                <a:effectLst/>
                <a:uFillTx/>
                <a:latin typeface="Calibri"/>
                <a:ea typeface="Calibri"/>
              </a:rPr>
              <a:t>32%</a:t>
            </a:r>
            <a:r>
              <a:rPr lang="pl-PL" sz="1400" b="0" u="none" strike="noStrike">
                <a:solidFill>
                  <a:srgbClr val="55607a"/>
                </a:solidFill>
                <a:effectLst/>
                <a:uFillTx/>
                <a:latin typeface="Calibri"/>
                <a:ea typeface="Calibri"/>
              </a:rPr>
              <a:t> </a:t>
            </a:r>
            <a:r>
              <a:rPr lang="pl-PL" sz="1400" b="1" u="none" strike="noStrike">
                <a:solidFill>
                  <a:srgbClr val="55607a"/>
                </a:solidFill>
                <a:effectLst/>
                <a:uFillTx/>
                <a:latin typeface="Calibri"/>
                <a:ea typeface="Calibri"/>
              </a:rPr>
              <a:t>niższe ryzyko</a:t>
            </a:r>
            <a:endParaRPr lang="pl-PL" sz="1400" b="0" u="none" strike="noStrike">
              <a:solidFill>
                <a:srgbClr val="000000"/>
              </a:solidFill>
              <a:effectLst/>
              <a:uFillTx/>
              <a:latin typeface="Arial"/>
            </a:endParaRPr>
          </a:p>
        </p:txBody>
      </p:sp>
      <p:sp>
        <p:nvSpPr>
          <p:cNvPr id="228" name="Text 11"/>
          <p:cNvSpPr/>
          <p:nvPr/>
        </p:nvSpPr>
        <p:spPr>
          <a:xfrm>
            <a:off x="502920" y="2397600"/>
            <a:ext cx="1288800" cy="6123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800" b="1" u="none" strike="noStrike">
                <a:solidFill>
                  <a:srgbClr val="1b2148"/>
                </a:solidFill>
                <a:effectLst/>
                <a:uFillTx/>
                <a:latin typeface="Calibri"/>
                <a:ea typeface="Calibri"/>
              </a:rPr>
              <a:t>Kobiety</a:t>
            </a:r>
            <a:endParaRPr lang="pl-PL" sz="1800" b="0" u="none" strike="noStrike">
              <a:solidFill>
                <a:srgbClr val="000000"/>
              </a:solidFill>
              <a:effectLst/>
              <a:uFillTx/>
              <a:latin typeface="Arial"/>
            </a:endParaRPr>
          </a:p>
        </p:txBody>
      </p:sp>
      <p:sp>
        <p:nvSpPr>
          <p:cNvPr id="229" name="Shape 12"/>
          <p:cNvSpPr/>
          <p:nvPr/>
        </p:nvSpPr>
        <p:spPr>
          <a:xfrm>
            <a:off x="2619720" y="2703600"/>
            <a:ext cx="1615680" cy="360"/>
          </a:xfrm>
          <a:prstGeom prst="line">
            <a:avLst/>
          </a:prstGeom>
          <a:ln w="28440">
            <a:solidFill>
              <a:srgbClr val="e8743a"/>
            </a:solidFill>
            <a:round/>
          </a:ln>
        </p:spPr>
        <p:style>
          <a:lnRef idx="0"/>
          <a:fillRef idx="0"/>
          <a:effectRef idx="0"/>
          <a:fontRef idx="minor"/>
        </p:style>
        <p:txBody>
          <a:bodyPr lIns="90000" rIns="90000" tIns="-44640" bIns="-44640" anchor="t" anchorCtr="1">
            <a:noAutofit/>
          </a:bodyPr>
          <a:p>
            <a:endParaRPr lang="pl-PL" sz="1800" b="0" u="none" strike="noStrike">
              <a:solidFill>
                <a:srgbClr val="000000"/>
              </a:solidFill>
              <a:effectLst/>
              <a:uFillTx/>
              <a:latin typeface="Arial"/>
            </a:endParaRPr>
          </a:p>
        </p:txBody>
      </p:sp>
      <p:sp>
        <p:nvSpPr>
          <p:cNvPr id="230" name="Shape 13"/>
          <p:cNvSpPr/>
          <p:nvPr/>
        </p:nvSpPr>
        <p:spPr>
          <a:xfrm>
            <a:off x="2619720" y="2639520"/>
            <a:ext cx="360" cy="128160"/>
          </a:xfrm>
          <a:prstGeom prst="line">
            <a:avLst/>
          </a:prstGeom>
          <a:ln w="19080">
            <a:solidFill>
              <a:srgbClr val="e8743a"/>
            </a:solidFill>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231" name="Shape 14"/>
          <p:cNvSpPr/>
          <p:nvPr/>
        </p:nvSpPr>
        <p:spPr>
          <a:xfrm>
            <a:off x="4235400" y="2639520"/>
            <a:ext cx="360" cy="128160"/>
          </a:xfrm>
          <a:prstGeom prst="line">
            <a:avLst/>
          </a:prstGeom>
          <a:ln w="19080">
            <a:solidFill>
              <a:srgbClr val="e8743a"/>
            </a:solidFill>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232" name="Shape 15"/>
          <p:cNvSpPr/>
          <p:nvPr/>
        </p:nvSpPr>
        <p:spPr>
          <a:xfrm>
            <a:off x="3278160" y="2635200"/>
            <a:ext cx="136800" cy="136800"/>
          </a:xfrm>
          <a:prstGeom prst="ellipse">
            <a:avLst/>
          </a:prstGeom>
          <a:solidFill>
            <a:srgbClr val="e8743a"/>
          </a:solidFill>
          <a:ln w="15840">
            <a:solidFill>
              <a:srgbClr val="ffffff"/>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233" name="Text 16"/>
          <p:cNvSpPr/>
          <p:nvPr/>
        </p:nvSpPr>
        <p:spPr>
          <a:xfrm>
            <a:off x="5940000" y="2397600"/>
            <a:ext cx="3060000" cy="6123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400" b="0" u="none" strike="noStrike">
                <a:solidFill>
                  <a:srgbClr val="55607a"/>
                </a:solidFill>
                <a:effectLst/>
                <a:uFillTx/>
                <a:latin typeface="Calibri"/>
                <a:ea typeface="Calibri"/>
              </a:rPr>
              <a:t>HR 0,59 [0,50–0,70]  →  </a:t>
            </a:r>
            <a:r>
              <a:rPr lang="pl-PL" sz="1400" b="1" u="none" strike="noStrike">
                <a:solidFill>
                  <a:srgbClr val="55607a"/>
                </a:solidFill>
                <a:effectLst/>
                <a:uFillTx/>
                <a:latin typeface="Calibri"/>
                <a:ea typeface="Calibri"/>
              </a:rPr>
              <a:t>41%</a:t>
            </a:r>
            <a:r>
              <a:rPr lang="pl-PL" sz="1400" b="0" u="none" strike="noStrike">
                <a:solidFill>
                  <a:srgbClr val="55607a"/>
                </a:solidFill>
                <a:effectLst/>
                <a:uFillTx/>
                <a:latin typeface="Calibri"/>
                <a:ea typeface="Calibri"/>
              </a:rPr>
              <a:t> </a:t>
            </a:r>
            <a:r>
              <a:rPr lang="pl-PL" sz="1400" b="1" u="none" strike="noStrike">
                <a:solidFill>
                  <a:srgbClr val="55607a"/>
                </a:solidFill>
                <a:effectLst/>
                <a:uFillTx/>
                <a:latin typeface="Calibri"/>
                <a:ea typeface="Calibri"/>
              </a:rPr>
              <a:t>niższe ryzyko</a:t>
            </a:r>
            <a:endParaRPr lang="pl-PL" sz="1400" b="0" u="none" strike="noStrike">
              <a:solidFill>
                <a:srgbClr val="000000"/>
              </a:solidFill>
              <a:effectLst/>
              <a:uFillTx/>
              <a:latin typeface="Arial"/>
            </a:endParaRPr>
          </a:p>
        </p:txBody>
      </p:sp>
      <p:sp>
        <p:nvSpPr>
          <p:cNvPr id="234" name="Text 17"/>
          <p:cNvSpPr/>
          <p:nvPr/>
        </p:nvSpPr>
        <p:spPr>
          <a:xfrm>
            <a:off x="1681920" y="3074040"/>
            <a:ext cx="548280" cy="182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400" b="0" u="none" strike="noStrike">
                <a:solidFill>
                  <a:srgbClr val="000000"/>
                </a:solidFill>
                <a:effectLst/>
                <a:uFillTx/>
                <a:latin typeface="Calibri"/>
                <a:ea typeface="Calibri"/>
              </a:rPr>
              <a:t>0.4</a:t>
            </a:r>
            <a:endParaRPr lang="pl-PL" sz="1400" b="0" u="none" strike="noStrike">
              <a:solidFill>
                <a:srgbClr val="000000"/>
              </a:solidFill>
              <a:effectLst/>
              <a:uFillTx/>
              <a:latin typeface="Arial"/>
            </a:endParaRPr>
          </a:p>
        </p:txBody>
      </p:sp>
      <p:sp>
        <p:nvSpPr>
          <p:cNvPr id="235" name="Text 18"/>
          <p:cNvSpPr/>
          <p:nvPr/>
        </p:nvSpPr>
        <p:spPr>
          <a:xfrm>
            <a:off x="5112000" y="3090960"/>
            <a:ext cx="1279800" cy="1825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100" b="0" u="none" strike="noStrike">
                <a:solidFill>
                  <a:srgbClr val="000000"/>
                </a:solidFill>
                <a:effectLst/>
                <a:uFillTx/>
                <a:latin typeface="Calibri"/>
                <a:ea typeface="Calibri"/>
              </a:rPr>
              <a:t>brak efektu (1)</a:t>
            </a:r>
            <a:endParaRPr lang="pl-PL" sz="1100" b="0" u="none" strike="noStrike">
              <a:solidFill>
                <a:srgbClr val="000000"/>
              </a:solidFill>
              <a:effectLst/>
              <a:uFillTx/>
              <a:latin typeface="Arial"/>
            </a:endParaRPr>
          </a:p>
        </p:txBody>
      </p:sp>
      <p:sp>
        <p:nvSpPr>
          <p:cNvPr id="236" name="Text 19"/>
          <p:cNvSpPr/>
          <p:nvPr/>
        </p:nvSpPr>
        <p:spPr>
          <a:xfrm>
            <a:off x="5167800" y="2880000"/>
            <a:ext cx="54828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1050" b="0" u="none" strike="noStrike">
                <a:solidFill>
                  <a:srgbClr val="96a0bc"/>
                </a:solidFill>
                <a:effectLst/>
                <a:uFillTx/>
                <a:latin typeface="Calibri"/>
                <a:ea typeface="Calibri"/>
              </a:rPr>
              <a:t>1</a:t>
            </a:r>
            <a:endParaRPr lang="pl-PL" sz="1050" b="0" u="none" strike="noStrike">
              <a:solidFill>
                <a:srgbClr val="000000"/>
              </a:solidFill>
              <a:effectLst/>
              <a:uFillTx/>
              <a:latin typeface="Arial"/>
            </a:endParaRPr>
          </a:p>
        </p:txBody>
      </p:sp>
      <p:sp>
        <p:nvSpPr>
          <p:cNvPr id="237" name="Shape 20"/>
          <p:cNvSpPr/>
          <p:nvPr/>
        </p:nvSpPr>
        <p:spPr>
          <a:xfrm>
            <a:off x="540000" y="3708360"/>
            <a:ext cx="3637080" cy="971640"/>
          </a:xfrm>
          <a:prstGeom prst="roundRect">
            <a:avLst>
              <a:gd name="adj" fmla="val 7826"/>
            </a:avLst>
          </a:prstGeom>
          <a:solidFill>
            <a:srgbClr val="f4f6fa"/>
          </a:solidFill>
          <a:ln w="1260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38" name="Text 21"/>
          <p:cNvSpPr/>
          <p:nvPr/>
        </p:nvSpPr>
        <p:spPr>
          <a:xfrm>
            <a:off x="722880" y="3708360"/>
            <a:ext cx="3454200" cy="971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600" b="1" u="none" strike="noStrike">
                <a:solidFill>
                  <a:srgbClr val="1b2148"/>
                </a:solidFill>
                <a:effectLst/>
                <a:uFillTx/>
                <a:latin typeface="Calibri"/>
                <a:ea typeface="Calibri"/>
              </a:rPr>
              <a:t>N = 25 656 </a:t>
            </a:r>
            <a:r>
              <a:rPr lang="pl-PL" sz="1600" b="0" u="none" strike="noStrike">
                <a:solidFill>
                  <a:srgbClr val="55607a"/>
                </a:solidFill>
                <a:effectLst/>
                <a:uFillTx/>
                <a:latin typeface="Calibri"/>
                <a:ea typeface="Calibri"/>
              </a:rPr>
              <a:t>osób z ADHD</a:t>
            </a:r>
            <a:endParaRPr lang="pl-PL" sz="1600" b="0" u="none" strike="noStrike">
              <a:solidFill>
                <a:srgbClr val="000000"/>
              </a:solidFill>
              <a:effectLst/>
              <a:uFillTx/>
              <a:latin typeface="Arial"/>
            </a:endParaRPr>
          </a:p>
          <a:p>
            <a:pPr defTabSz="914400">
              <a:lnSpc>
                <a:spcPct val="100000"/>
              </a:lnSpc>
              <a:tabLst>
                <a:tab algn="l" pos="0"/>
              </a:tabLst>
            </a:pPr>
            <a:r>
              <a:rPr lang="pl-PL" sz="1600" b="0" u="none" strike="noStrike">
                <a:solidFill>
                  <a:srgbClr val="55607a"/>
                </a:solidFill>
                <a:effectLst/>
                <a:uFillTx/>
                <a:latin typeface="Calibri"/>
                <a:ea typeface="Calibri"/>
              </a:rPr>
              <a:t>porównanie tych samych osób </a:t>
            </a:r>
            <a:br>
              <a:rPr sz="1600"/>
            </a:br>
            <a:r>
              <a:rPr lang="pl-PL" sz="1600" b="0" u="none" strike="noStrike">
                <a:solidFill>
                  <a:srgbClr val="55607a"/>
                </a:solidFill>
                <a:effectLst/>
                <a:uFillTx/>
                <a:latin typeface="Calibri"/>
                <a:ea typeface="Calibri"/>
              </a:rPr>
              <a:t>w okresach leczenia i bez leczenia</a:t>
            </a:r>
            <a:endParaRPr lang="pl-PL" sz="1600" b="0" u="none" strike="noStrike">
              <a:solidFill>
                <a:srgbClr val="000000"/>
              </a:solidFill>
              <a:effectLst/>
              <a:uFillTx/>
              <a:latin typeface="Arial"/>
            </a:endParaRPr>
          </a:p>
        </p:txBody>
      </p:sp>
      <p:sp>
        <p:nvSpPr>
          <p:cNvPr id="239" name="Shape 22"/>
          <p:cNvSpPr/>
          <p:nvPr/>
        </p:nvSpPr>
        <p:spPr>
          <a:xfrm>
            <a:off x="4357080" y="3708360"/>
            <a:ext cx="4426920" cy="971640"/>
          </a:xfrm>
          <a:prstGeom prst="roundRect">
            <a:avLst>
              <a:gd name="adj" fmla="val 7826"/>
            </a:avLst>
          </a:prstGeom>
          <a:solidFill>
            <a:srgbClr val="f4f6fa"/>
          </a:solidFill>
          <a:ln w="1260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40" name="Text 23"/>
          <p:cNvSpPr/>
          <p:nvPr/>
        </p:nvSpPr>
        <p:spPr>
          <a:xfrm>
            <a:off x="4537080" y="3708360"/>
            <a:ext cx="4176000" cy="971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600" b="0" u="none" strike="noStrike">
                <a:solidFill>
                  <a:srgbClr val="55607a"/>
                </a:solidFill>
                <a:effectLst/>
                <a:uFillTx/>
                <a:latin typeface="Calibri"/>
                <a:ea typeface="Calibri"/>
              </a:rPr>
              <a:t>Konstrukcja wewnątrz-osobnicza ogranicza wpływ stałych cech jednostki, ale nie eliminuje wszystkich zmiennych zależnych od czasu</a:t>
            </a:r>
            <a:endParaRPr lang="pl-PL" sz="1600" b="0" u="none" strike="noStrike">
              <a:solidFill>
                <a:srgbClr val="000000"/>
              </a:solidFill>
              <a:effectLst/>
              <a:uFillTx/>
              <a:latin typeface="Arial"/>
            </a:endParaRPr>
          </a:p>
        </p:txBody>
      </p:sp>
      <p:sp>
        <p:nvSpPr>
          <p:cNvPr id="241" name="Text 24"/>
          <p:cNvSpPr/>
          <p:nvPr/>
        </p:nvSpPr>
        <p:spPr>
          <a:xfrm>
            <a:off x="502920" y="4645080"/>
            <a:ext cx="813780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900" b="0" i="1" u="none" strike="noStrike">
                <a:solidFill>
                  <a:srgbClr val="96a0bc"/>
                </a:solidFill>
                <a:effectLst/>
                <a:uFillTx/>
                <a:latin typeface="Calibri"/>
                <a:ea typeface="Calibri"/>
              </a:rPr>
              <a:t>Źródło: Lichtenstein, P., et al. (2012). Medication for attention deficit–hyperactivity disorder and criminality. The New England Journal of Medicine, 367(21), 2006–2014</a:t>
            </a:r>
            <a:endParaRPr lang="pl-PL" sz="900" b="0" u="none" strike="noStrike">
              <a:solidFill>
                <a:srgbClr val="000000"/>
              </a:solidFill>
              <a:effectLst/>
              <a:uFillTx/>
              <a:latin typeface="Arial"/>
            </a:endParaRPr>
          </a:p>
        </p:txBody>
      </p:sp>
      <p:sp>
        <p:nvSpPr>
          <p:cNvPr id="242" name="Text 25"/>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15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3"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EDUKACJA</a:t>
            </a:r>
            <a:endParaRPr lang="pl-PL" sz="1100" b="0" u="none" strike="noStrike">
              <a:solidFill>
                <a:srgbClr val="000000"/>
              </a:solidFill>
              <a:effectLst/>
              <a:uFillTx/>
              <a:latin typeface="Arial"/>
            </a:endParaRPr>
          </a:p>
        </p:txBody>
      </p:sp>
      <p:sp>
        <p:nvSpPr>
          <p:cNvPr id="244"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200" b="1" u="none" strike="noStrike">
                <a:solidFill>
                  <a:srgbClr val="1b2148"/>
                </a:solidFill>
                <a:effectLst/>
                <a:uFillTx/>
                <a:latin typeface="Cambria"/>
                <a:ea typeface="Cambria"/>
              </a:rPr>
              <a:t>Edukacja: </a:t>
            </a:r>
            <a:r>
              <a:rPr lang="pl-PL" sz="2200" b="0" u="none" strike="noStrike">
                <a:solidFill>
                  <a:srgbClr val="1b2148"/>
                </a:solidFill>
                <a:effectLst/>
                <a:uFillTx/>
                <a:latin typeface="Cambria"/>
                <a:ea typeface="Cambria"/>
              </a:rPr>
              <a:t>rozbieżność między potencjałem a realizacją</a:t>
            </a:r>
            <a:endParaRPr lang="pl-PL" sz="2200" b="0" u="none" strike="noStrike">
              <a:solidFill>
                <a:srgbClr val="000000"/>
              </a:solidFill>
              <a:effectLst/>
              <a:uFillTx/>
              <a:latin typeface="Arial"/>
            </a:endParaRPr>
          </a:p>
        </p:txBody>
      </p:sp>
      <p:sp>
        <p:nvSpPr>
          <p:cNvPr id="245" name="Text 2"/>
          <p:cNvSpPr/>
          <p:nvPr/>
        </p:nvSpPr>
        <p:spPr>
          <a:xfrm>
            <a:off x="502920" y="1017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Trudności nie wynikają przede wszystkim z niższej inteligencji</a:t>
            </a:r>
            <a:endParaRPr lang="pl-PL" sz="1200" b="0" u="none" strike="noStrike">
              <a:solidFill>
                <a:srgbClr val="000000"/>
              </a:solidFill>
              <a:effectLst/>
              <a:uFillTx/>
              <a:latin typeface="Arial"/>
            </a:endParaRPr>
          </a:p>
        </p:txBody>
      </p:sp>
      <p:sp>
        <p:nvSpPr>
          <p:cNvPr id="246" name="Shape 3"/>
          <p:cNvSpPr/>
          <p:nvPr/>
        </p:nvSpPr>
        <p:spPr>
          <a:xfrm>
            <a:off x="502920" y="1645920"/>
            <a:ext cx="3977280" cy="2285640"/>
          </a:xfrm>
          <a:prstGeom prst="roundRect">
            <a:avLst>
              <a:gd name="adj" fmla="val 3600"/>
            </a:avLst>
          </a:prstGeom>
          <a:solidFill>
            <a:srgbClr val="fbe5e8"/>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47" name="Text 4"/>
          <p:cNvSpPr/>
          <p:nvPr/>
        </p:nvSpPr>
        <p:spPr>
          <a:xfrm>
            <a:off x="713160" y="1702440"/>
            <a:ext cx="3565800" cy="347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800" b="1" u="none" strike="noStrike">
                <a:solidFill>
                  <a:srgbClr val="a12e3c"/>
                </a:solidFill>
                <a:effectLst/>
                <a:uFillTx/>
                <a:latin typeface="Cambria"/>
                <a:ea typeface="Cambria"/>
              </a:rPr>
              <a:t>Obserwowane konsekwencje</a:t>
            </a:r>
            <a:endParaRPr lang="pl-PL" sz="1800" b="0" u="none" strike="noStrike">
              <a:solidFill>
                <a:srgbClr val="000000"/>
              </a:solidFill>
              <a:effectLst/>
              <a:uFillTx/>
              <a:latin typeface="Arial"/>
            </a:endParaRPr>
          </a:p>
        </p:txBody>
      </p:sp>
      <p:sp>
        <p:nvSpPr>
          <p:cNvPr id="248" name="Text 5"/>
          <p:cNvSpPr/>
          <p:nvPr/>
        </p:nvSpPr>
        <p:spPr>
          <a:xfrm>
            <a:off x="605160" y="2212920"/>
            <a:ext cx="3767040" cy="164556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8000"/>
              </a:lnSpc>
              <a:spcAft>
                <a:spcPts val="700"/>
              </a:spcAft>
              <a:buClr>
                <a:srgbClr val="1b2148"/>
              </a:buClr>
              <a:buFont typeface="Wingdings" charset="2"/>
              <a:buChar char=""/>
            </a:pPr>
            <a:r>
              <a:rPr lang="pl-PL" sz="1400" b="0" u="none" strike="noStrike">
                <a:solidFill>
                  <a:srgbClr val="1b2148"/>
                </a:solidFill>
                <a:effectLst/>
                <a:uFillTx/>
                <a:latin typeface="Calibri"/>
                <a:ea typeface="Calibri"/>
              </a:rPr>
              <a:t>Niższe oceny i większa absencja</a:t>
            </a:r>
            <a:endParaRPr lang="pl-PL" sz="1400" b="0" u="none" strike="noStrike">
              <a:solidFill>
                <a:srgbClr val="000000"/>
              </a:solidFill>
              <a:effectLst/>
              <a:uFillTx/>
              <a:latin typeface="Arial"/>
            </a:endParaRPr>
          </a:p>
          <a:p>
            <a:pPr marL="177840" indent="-177840" defTabSz="914400">
              <a:lnSpc>
                <a:spcPct val="108000"/>
              </a:lnSpc>
              <a:spcAft>
                <a:spcPts val="700"/>
              </a:spcAft>
              <a:buClr>
                <a:srgbClr val="1b2148"/>
              </a:buClr>
              <a:buFont typeface="Wingdings" charset="2"/>
              <a:buChar char=""/>
            </a:pPr>
            <a:r>
              <a:rPr lang="pl-PL" sz="1400" b="0" u="none" strike="noStrike">
                <a:solidFill>
                  <a:srgbClr val="1b2148"/>
                </a:solidFill>
                <a:effectLst/>
                <a:uFillTx/>
                <a:latin typeface="Calibri"/>
                <a:ea typeface="Calibri"/>
              </a:rPr>
              <a:t>Częstsze powtarzanie klasy</a:t>
            </a:r>
            <a:endParaRPr lang="pl-PL" sz="1400" b="0" u="none" strike="noStrike">
              <a:solidFill>
                <a:srgbClr val="000000"/>
              </a:solidFill>
              <a:effectLst/>
              <a:uFillTx/>
              <a:latin typeface="Arial"/>
            </a:endParaRPr>
          </a:p>
          <a:p>
            <a:pPr marL="177840" indent="-177840" defTabSz="914400">
              <a:lnSpc>
                <a:spcPct val="108000"/>
              </a:lnSpc>
              <a:spcAft>
                <a:spcPts val="700"/>
              </a:spcAft>
              <a:buClr>
                <a:srgbClr val="1b2148"/>
              </a:buClr>
              <a:buFont typeface="Wingdings" charset="2"/>
              <a:buChar char=""/>
            </a:pPr>
            <a:r>
              <a:rPr lang="pl-PL" sz="1400" b="0" u="none" strike="noStrike">
                <a:solidFill>
                  <a:srgbClr val="1b2148"/>
                </a:solidFill>
                <a:effectLst/>
                <a:uFillTx/>
                <a:latin typeface="Calibri"/>
                <a:ea typeface="Calibri"/>
              </a:rPr>
              <a:t>Większe wykorzystanie wsparcia specjalistycznego</a:t>
            </a:r>
            <a:endParaRPr lang="pl-PL" sz="1400" b="0" u="none" strike="noStrike">
              <a:solidFill>
                <a:srgbClr val="000000"/>
              </a:solidFill>
              <a:effectLst/>
              <a:uFillTx/>
              <a:latin typeface="Arial"/>
            </a:endParaRPr>
          </a:p>
          <a:p>
            <a:pPr marL="177840" indent="-177840" defTabSz="914400">
              <a:lnSpc>
                <a:spcPct val="108000"/>
              </a:lnSpc>
              <a:spcAft>
                <a:spcPts val="700"/>
              </a:spcAft>
              <a:buClr>
                <a:srgbClr val="1b2148"/>
              </a:buClr>
              <a:buFont typeface="Wingdings" charset="2"/>
              <a:buChar char=""/>
            </a:pPr>
            <a:r>
              <a:rPr lang="pl-PL" sz="1400" b="0" u="none" strike="noStrike">
                <a:solidFill>
                  <a:srgbClr val="1b2148"/>
                </a:solidFill>
                <a:effectLst/>
                <a:uFillTx/>
                <a:latin typeface="Calibri"/>
                <a:ea typeface="Calibri"/>
              </a:rPr>
              <a:t>Wyższe ryzyko przerwania edukacji</a:t>
            </a:r>
            <a:endParaRPr lang="pl-PL" sz="1400" b="0" u="none" strike="noStrike">
              <a:solidFill>
                <a:srgbClr val="000000"/>
              </a:solidFill>
              <a:effectLst/>
              <a:uFillTx/>
              <a:latin typeface="Arial"/>
            </a:endParaRPr>
          </a:p>
        </p:txBody>
      </p:sp>
      <p:sp>
        <p:nvSpPr>
          <p:cNvPr id="249" name="Shape 6"/>
          <p:cNvSpPr/>
          <p:nvPr/>
        </p:nvSpPr>
        <p:spPr>
          <a:xfrm>
            <a:off x="4663440" y="1645920"/>
            <a:ext cx="3977280" cy="2285640"/>
          </a:xfrm>
          <a:prstGeom prst="roundRect">
            <a:avLst>
              <a:gd name="adj" fmla="val 3600"/>
            </a:avLst>
          </a:prstGeom>
          <a:solidFill>
            <a:srgbClr val="def2ef"/>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50" name="Text 7"/>
          <p:cNvSpPr/>
          <p:nvPr/>
        </p:nvSpPr>
        <p:spPr>
          <a:xfrm>
            <a:off x="4873680" y="1702440"/>
            <a:ext cx="3565800" cy="347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800" b="1" u="none" strike="noStrike">
                <a:solidFill>
                  <a:srgbClr val="146b65"/>
                </a:solidFill>
                <a:effectLst/>
                <a:uFillTx/>
                <a:latin typeface="Cambria"/>
                <a:ea typeface="Cambria"/>
              </a:rPr>
              <a:t>Co naprawdę pomaga</a:t>
            </a:r>
            <a:endParaRPr lang="pl-PL" sz="1800" b="0" u="none" strike="noStrike">
              <a:solidFill>
                <a:srgbClr val="000000"/>
              </a:solidFill>
              <a:effectLst/>
              <a:uFillTx/>
              <a:latin typeface="Arial"/>
            </a:endParaRPr>
          </a:p>
        </p:txBody>
      </p:sp>
      <p:sp>
        <p:nvSpPr>
          <p:cNvPr id="251" name="Text 8"/>
          <p:cNvSpPr/>
          <p:nvPr/>
        </p:nvSpPr>
        <p:spPr>
          <a:xfrm>
            <a:off x="4729680" y="2212920"/>
            <a:ext cx="3766320" cy="164556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8000"/>
              </a:lnSpc>
              <a:spcAft>
                <a:spcPts val="700"/>
              </a:spcAft>
              <a:buClr>
                <a:srgbClr val="1b2148"/>
              </a:buClr>
              <a:buFont typeface="Wingdings" charset="2"/>
              <a:buChar char=""/>
            </a:pPr>
            <a:r>
              <a:rPr lang="pl-PL" sz="1400" b="0" u="none" strike="noStrike">
                <a:solidFill>
                  <a:srgbClr val="1b2148"/>
                </a:solidFill>
                <a:effectLst/>
                <a:uFillTx/>
                <a:latin typeface="Calibri"/>
                <a:ea typeface="Calibri"/>
              </a:rPr>
              <a:t>Farmakoterapia poprawia uwagę i hamowanie reakcji</a:t>
            </a:r>
            <a:endParaRPr lang="pl-PL" sz="1400" b="0" u="none" strike="noStrike">
              <a:solidFill>
                <a:srgbClr val="000000"/>
              </a:solidFill>
              <a:effectLst/>
              <a:uFillTx/>
              <a:latin typeface="Arial"/>
            </a:endParaRPr>
          </a:p>
          <a:p>
            <a:pPr marL="177840" indent="-177840" defTabSz="914400">
              <a:lnSpc>
                <a:spcPct val="108000"/>
              </a:lnSpc>
              <a:spcAft>
                <a:spcPts val="700"/>
              </a:spcAft>
              <a:buClr>
                <a:srgbClr val="1b2148"/>
              </a:buClr>
              <a:buFont typeface="Wingdings" charset="2"/>
              <a:buChar char=""/>
            </a:pPr>
            <a:r>
              <a:rPr lang="pl-PL" sz="1400" b="0" u="none" strike="noStrike">
                <a:solidFill>
                  <a:srgbClr val="1b2148"/>
                </a:solidFill>
                <a:effectLst/>
                <a:uFillTx/>
                <a:latin typeface="Calibri"/>
                <a:ea typeface="Calibri"/>
              </a:rPr>
              <a:t>...lecz wpływ na wyniki edukacyjne jest mniejszy niż na same objawy</a:t>
            </a:r>
            <a:endParaRPr lang="pl-PL" sz="1400" b="0" u="none" strike="noStrike">
              <a:solidFill>
                <a:srgbClr val="000000"/>
              </a:solidFill>
              <a:effectLst/>
              <a:uFillTx/>
              <a:latin typeface="Arial"/>
            </a:endParaRPr>
          </a:p>
          <a:p>
            <a:pPr marL="177840" indent="-177840" defTabSz="914400">
              <a:lnSpc>
                <a:spcPct val="108000"/>
              </a:lnSpc>
              <a:spcAft>
                <a:spcPts val="700"/>
              </a:spcAft>
              <a:buClr>
                <a:srgbClr val="1b2148"/>
              </a:buClr>
              <a:buFont typeface="Wingdings" charset="2"/>
              <a:buChar char=""/>
            </a:pPr>
            <a:r>
              <a:rPr lang="pl-PL" sz="1400" b="0" u="none" strike="noStrike">
                <a:solidFill>
                  <a:srgbClr val="1b2148"/>
                </a:solidFill>
                <a:effectLst/>
                <a:uFillTx/>
                <a:latin typeface="Calibri"/>
                <a:ea typeface="Calibri"/>
              </a:rPr>
              <a:t>Najlepsze efekty: leczenie + trening organizacji + zewnętrzne terminy + dostosowania edukacyjne</a:t>
            </a:r>
            <a:endParaRPr lang="pl-PL" sz="1400" b="0" u="none" strike="noStrike">
              <a:solidFill>
                <a:srgbClr val="000000"/>
              </a:solidFill>
              <a:effectLst/>
              <a:uFillTx/>
              <a:latin typeface="Arial"/>
            </a:endParaRPr>
          </a:p>
        </p:txBody>
      </p:sp>
      <p:sp>
        <p:nvSpPr>
          <p:cNvPr id="252" name="Shape 9"/>
          <p:cNvSpPr/>
          <p:nvPr/>
        </p:nvSpPr>
        <p:spPr>
          <a:xfrm>
            <a:off x="502920" y="4114800"/>
            <a:ext cx="8137800" cy="745200"/>
          </a:xfrm>
          <a:prstGeom prst="roundRect">
            <a:avLst>
              <a:gd name="adj" fmla="val 14516"/>
            </a:avLst>
          </a:prstGeom>
          <a:solidFill>
            <a:srgbClr val="1b2148"/>
          </a:solidFill>
          <a:ln w="1260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253" name="Text 10"/>
          <p:cNvSpPr/>
          <p:nvPr/>
        </p:nvSpPr>
        <p:spPr>
          <a:xfrm>
            <a:off x="731520" y="4114800"/>
            <a:ext cx="7680600" cy="745200"/>
          </a:xfrm>
          <a:prstGeom prst="rect">
            <a:avLst/>
          </a:prstGeom>
          <a:noFill/>
          <a:ln w="0">
            <a:noFill/>
          </a:ln>
        </p:spPr>
        <p:style>
          <a:lnRef idx="0"/>
          <a:fillRef idx="0"/>
          <a:effectRef idx="0"/>
          <a:fontRef idx="minor"/>
        </p:style>
        <p:txBody>
          <a:bodyPr lIns="0" rIns="0" tIns="0" bIns="0" anchor="ctr" anchorCtr="1">
            <a:noAutofit/>
          </a:bodyPr>
          <a:p>
            <a:pPr algn="ctr" defTabSz="914400">
              <a:lnSpc>
                <a:spcPct val="100000"/>
              </a:lnSpc>
              <a:tabLst>
                <a:tab algn="l" pos="0"/>
              </a:tabLst>
            </a:pPr>
            <a:r>
              <a:rPr lang="pl-PL" sz="1800" b="0" i="1" u="none" strike="noStrike">
                <a:solidFill>
                  <a:srgbClr val="ffffff"/>
                </a:solidFill>
                <a:effectLst/>
                <a:uFillTx/>
                <a:latin typeface="Calibri"/>
                <a:ea typeface="Calibri"/>
              </a:rPr>
              <a:t>Kluczowa jest rozbieżność między potencjałem, a zdolnością </a:t>
            </a:r>
            <a:br>
              <a:rPr sz="1800"/>
            </a:br>
            <a:r>
              <a:rPr lang="pl-PL" sz="1800" b="0" i="1" u="none" strike="noStrike">
                <a:solidFill>
                  <a:srgbClr val="ffffff"/>
                </a:solidFill>
                <a:effectLst/>
                <a:uFillTx/>
                <a:latin typeface="Calibri"/>
                <a:ea typeface="Calibri"/>
              </a:rPr>
              <a:t>do systematycznej realizacji długotrwałych, wieloetapowych zadań.</a:t>
            </a:r>
            <a:endParaRPr lang="pl-PL" sz="1800" b="0" u="none" strike="noStrike">
              <a:solidFill>
                <a:srgbClr val="000000"/>
              </a:solidFill>
              <a:effectLst/>
              <a:uFillTx/>
              <a:latin typeface="Arial"/>
            </a:endParaRPr>
          </a:p>
        </p:txBody>
      </p:sp>
      <p:sp>
        <p:nvSpPr>
          <p:cNvPr id="254" name="Text 11"/>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16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5"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PRACA I DOCHODY</a:t>
            </a:r>
            <a:endParaRPr lang="pl-PL" sz="1100" b="0" u="none" strike="noStrike">
              <a:solidFill>
                <a:srgbClr val="000000"/>
              </a:solidFill>
              <a:effectLst/>
              <a:uFillTx/>
              <a:latin typeface="Arial"/>
            </a:endParaRPr>
          </a:p>
        </p:txBody>
      </p:sp>
      <p:sp>
        <p:nvSpPr>
          <p:cNvPr id="256"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200" b="1" u="none" strike="noStrike">
                <a:solidFill>
                  <a:srgbClr val="1b2148"/>
                </a:solidFill>
                <a:effectLst/>
                <a:uFillTx/>
                <a:latin typeface="Cambria"/>
                <a:ea typeface="Cambria"/>
              </a:rPr>
              <a:t>Praca: </a:t>
            </a:r>
            <a:r>
              <a:rPr lang="pl-PL" sz="2200" b="0" u="none" strike="noStrike">
                <a:solidFill>
                  <a:srgbClr val="1b2148"/>
                </a:solidFill>
                <a:effectLst/>
                <a:uFillTx/>
                <a:latin typeface="Cambria"/>
                <a:ea typeface="Cambria"/>
              </a:rPr>
              <a:t>bezrobocie, rotacja i prezenteizm</a:t>
            </a:r>
            <a:endParaRPr lang="pl-PL" sz="2200" b="0" u="none" strike="noStrike">
              <a:solidFill>
                <a:srgbClr val="000000"/>
              </a:solidFill>
              <a:effectLst/>
              <a:uFillTx/>
              <a:latin typeface="Arial"/>
            </a:endParaRPr>
          </a:p>
        </p:txBody>
      </p:sp>
      <p:sp>
        <p:nvSpPr>
          <p:cNvPr id="257" name="Text 2"/>
          <p:cNvSpPr/>
          <p:nvPr/>
        </p:nvSpPr>
        <p:spPr>
          <a:xfrm>
            <a:off x="502920" y="1017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Prezenteizm — formalna obecność przy obniżonej wydajności</a:t>
            </a:r>
            <a:endParaRPr lang="pl-PL" sz="1200" b="0" u="none" strike="noStrike">
              <a:solidFill>
                <a:srgbClr val="000000"/>
              </a:solidFill>
              <a:effectLst/>
              <a:uFillTx/>
              <a:latin typeface="Arial"/>
            </a:endParaRPr>
          </a:p>
        </p:txBody>
      </p:sp>
      <p:sp>
        <p:nvSpPr>
          <p:cNvPr id="258" name="Shape 3"/>
          <p:cNvSpPr/>
          <p:nvPr/>
        </p:nvSpPr>
        <p:spPr>
          <a:xfrm>
            <a:off x="522720" y="1620000"/>
            <a:ext cx="3617280" cy="2651400"/>
          </a:xfrm>
          <a:prstGeom prst="roundRect">
            <a:avLst>
              <a:gd name="adj" fmla="val 3103"/>
            </a:avLst>
          </a:prstGeom>
          <a:solidFill>
            <a:srgbClr val="f4f6fa"/>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59" name="Text 4"/>
          <p:cNvSpPr/>
          <p:nvPr/>
        </p:nvSpPr>
        <p:spPr>
          <a:xfrm>
            <a:off x="641160" y="1702440"/>
            <a:ext cx="3426840" cy="347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800" b="1" u="none" strike="noStrike">
                <a:solidFill>
                  <a:srgbClr val="1b2148"/>
                </a:solidFill>
                <a:effectLst/>
                <a:uFillTx/>
                <a:latin typeface="Cambria"/>
                <a:ea typeface="Cambria"/>
              </a:rPr>
              <a:t>Typowe trudności w dorosłości</a:t>
            </a:r>
            <a:endParaRPr lang="pl-PL" sz="1800" b="0" u="none" strike="noStrike">
              <a:solidFill>
                <a:srgbClr val="000000"/>
              </a:solidFill>
              <a:effectLst/>
              <a:uFillTx/>
              <a:latin typeface="Arial"/>
            </a:endParaRPr>
          </a:p>
        </p:txBody>
      </p:sp>
      <p:sp>
        <p:nvSpPr>
          <p:cNvPr id="260" name="Text 5"/>
          <p:cNvSpPr/>
          <p:nvPr/>
        </p:nvSpPr>
        <p:spPr>
          <a:xfrm>
            <a:off x="684000" y="2212920"/>
            <a:ext cx="3240000" cy="201132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8000"/>
              </a:lnSpc>
              <a:spcAft>
                <a:spcPts val="700"/>
              </a:spcAft>
              <a:buClr>
                <a:srgbClr val="1b2148"/>
              </a:buClr>
              <a:buFont typeface="Wingdings" charset="2"/>
              <a:buChar char=""/>
            </a:pPr>
            <a:r>
              <a:rPr lang="pl-PL" sz="1600" b="0" u="none" strike="noStrike">
                <a:solidFill>
                  <a:srgbClr val="1b2148"/>
                </a:solidFill>
                <a:effectLst/>
                <a:uFillTx/>
                <a:latin typeface="Calibri"/>
                <a:ea typeface="Calibri"/>
              </a:rPr>
              <a:t>Zwiększone ryzyko bezrobocia</a:t>
            </a:r>
            <a:endParaRPr lang="pl-PL" sz="1600" b="0" u="none" strike="noStrike">
              <a:solidFill>
                <a:srgbClr val="000000"/>
              </a:solidFill>
              <a:effectLst/>
              <a:uFillTx/>
              <a:latin typeface="Arial"/>
            </a:endParaRPr>
          </a:p>
          <a:p>
            <a:pPr marL="177840" indent="-177840" defTabSz="914400">
              <a:lnSpc>
                <a:spcPct val="108000"/>
              </a:lnSpc>
              <a:spcAft>
                <a:spcPts val="700"/>
              </a:spcAft>
              <a:buClr>
                <a:srgbClr val="1b2148"/>
              </a:buClr>
              <a:buFont typeface="Wingdings" charset="2"/>
              <a:buChar char=""/>
            </a:pPr>
            <a:r>
              <a:rPr lang="pl-PL" sz="1600" b="0" u="none" strike="noStrike">
                <a:solidFill>
                  <a:srgbClr val="1b2148"/>
                </a:solidFill>
                <a:effectLst/>
                <a:uFillTx/>
                <a:latin typeface="Calibri"/>
                <a:ea typeface="Calibri"/>
              </a:rPr>
              <a:t>Częste zmiany pracy, spóźnienia</a:t>
            </a:r>
            <a:endParaRPr lang="pl-PL" sz="1600" b="0" u="none" strike="noStrike">
              <a:solidFill>
                <a:srgbClr val="000000"/>
              </a:solidFill>
              <a:effectLst/>
              <a:uFillTx/>
              <a:latin typeface="Arial"/>
            </a:endParaRPr>
          </a:p>
          <a:p>
            <a:pPr marL="177840" indent="-177840" defTabSz="914400">
              <a:lnSpc>
                <a:spcPct val="108000"/>
              </a:lnSpc>
              <a:spcAft>
                <a:spcPts val="700"/>
              </a:spcAft>
              <a:buClr>
                <a:srgbClr val="1b2148"/>
              </a:buClr>
              <a:buFont typeface="Wingdings" charset="2"/>
              <a:buChar char=""/>
            </a:pPr>
            <a:r>
              <a:rPr lang="pl-PL" sz="1600" b="0" u="none" strike="noStrike">
                <a:solidFill>
                  <a:srgbClr val="1b2148"/>
                </a:solidFill>
                <a:effectLst/>
                <a:uFillTx/>
                <a:latin typeface="Calibri"/>
                <a:ea typeface="Calibri"/>
              </a:rPr>
              <a:t>Prezenteizm: przełączanie zadań, odwlekanie, naprawianie błędów</a:t>
            </a:r>
            <a:endParaRPr lang="pl-PL" sz="1600" b="0" u="none" strike="noStrike">
              <a:solidFill>
                <a:srgbClr val="000000"/>
              </a:solidFill>
              <a:effectLst/>
              <a:uFillTx/>
              <a:latin typeface="Arial"/>
            </a:endParaRPr>
          </a:p>
          <a:p>
            <a:pPr marL="177840" indent="-177840" defTabSz="914400">
              <a:lnSpc>
                <a:spcPct val="108000"/>
              </a:lnSpc>
              <a:spcAft>
                <a:spcPts val="700"/>
              </a:spcAft>
              <a:buClr>
                <a:srgbClr val="1b2148"/>
              </a:buClr>
              <a:buFont typeface="Wingdings" charset="2"/>
              <a:buChar char=""/>
            </a:pPr>
            <a:r>
              <a:rPr lang="pl-PL" sz="1600" b="0" u="none" strike="noStrike">
                <a:solidFill>
                  <a:srgbClr val="1b2148"/>
                </a:solidFill>
                <a:effectLst/>
                <a:uFillTx/>
                <a:latin typeface="Calibri"/>
                <a:ea typeface="Calibri"/>
              </a:rPr>
              <a:t>Konflikty i praca poniżej kwalifikacji</a:t>
            </a:r>
            <a:endParaRPr lang="pl-PL" sz="1600" b="0" u="none" strike="noStrike">
              <a:solidFill>
                <a:srgbClr val="000000"/>
              </a:solidFill>
              <a:effectLst/>
              <a:uFillTx/>
              <a:latin typeface="Arial"/>
            </a:endParaRPr>
          </a:p>
        </p:txBody>
      </p:sp>
      <p:sp>
        <p:nvSpPr>
          <p:cNvPr id="261" name="Shape 6"/>
          <p:cNvSpPr/>
          <p:nvPr/>
        </p:nvSpPr>
        <p:spPr>
          <a:xfrm>
            <a:off x="4320000" y="1645920"/>
            <a:ext cx="4320720" cy="2651400"/>
          </a:xfrm>
          <a:prstGeom prst="roundRect">
            <a:avLst>
              <a:gd name="adj" fmla="val 3103"/>
            </a:avLst>
          </a:prstGeom>
          <a:solidFill>
            <a:srgbClr val="def2ef"/>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62" name="Text 7"/>
          <p:cNvSpPr/>
          <p:nvPr/>
        </p:nvSpPr>
        <p:spPr>
          <a:xfrm>
            <a:off x="4392000" y="1630440"/>
            <a:ext cx="4212000" cy="502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800" b="1" u="none" strike="noStrike">
                <a:solidFill>
                  <a:srgbClr val="146b65"/>
                </a:solidFill>
                <a:effectLst/>
                <a:uFillTx/>
                <a:latin typeface="Cambria"/>
                <a:ea typeface="Cambria"/>
              </a:rPr>
              <a:t>ADHD nie wyklucza wysokich osiągnięć</a:t>
            </a:r>
            <a:endParaRPr lang="pl-PL" sz="1800" b="0" u="none" strike="noStrike">
              <a:solidFill>
                <a:srgbClr val="000000"/>
              </a:solidFill>
              <a:effectLst/>
              <a:uFillTx/>
              <a:latin typeface="Arial"/>
            </a:endParaRPr>
          </a:p>
        </p:txBody>
      </p:sp>
      <p:sp>
        <p:nvSpPr>
          <p:cNvPr id="263" name="Text 8"/>
          <p:cNvSpPr/>
          <p:nvPr/>
        </p:nvSpPr>
        <p:spPr>
          <a:xfrm>
            <a:off x="4500000" y="2395800"/>
            <a:ext cx="3939480" cy="137124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8000"/>
              </a:lnSpc>
              <a:spcAft>
                <a:spcPts val="901"/>
              </a:spcAft>
              <a:buClr>
                <a:srgbClr val="1b2148"/>
              </a:buClr>
              <a:buFont typeface="Wingdings" charset="2"/>
              <a:buChar char=""/>
            </a:pPr>
            <a:r>
              <a:rPr lang="pl-PL" sz="1600" b="0" u="none" strike="noStrike">
                <a:solidFill>
                  <a:srgbClr val="1b2148"/>
                </a:solidFill>
                <a:effectLst/>
                <a:uFillTx/>
                <a:latin typeface="Calibri"/>
                <a:ea typeface="Calibri"/>
              </a:rPr>
              <a:t>Środowiska dynamiczne i autonomiczne</a:t>
            </a:r>
            <a:endParaRPr lang="pl-PL" sz="1600" b="0" u="none" strike="noStrike">
              <a:solidFill>
                <a:srgbClr val="000000"/>
              </a:solidFill>
              <a:effectLst/>
              <a:uFillTx/>
              <a:latin typeface="Arial"/>
            </a:endParaRPr>
          </a:p>
          <a:p>
            <a:pPr marL="177840" indent="-177840" defTabSz="914400">
              <a:lnSpc>
                <a:spcPct val="108000"/>
              </a:lnSpc>
              <a:spcAft>
                <a:spcPts val="901"/>
              </a:spcAft>
              <a:buClr>
                <a:srgbClr val="1b2148"/>
              </a:buClr>
              <a:buFont typeface="Wingdings" charset="2"/>
              <a:buChar char=""/>
            </a:pPr>
            <a:r>
              <a:rPr lang="pl-PL" sz="1600" b="0" u="none" strike="noStrike">
                <a:solidFill>
                  <a:srgbClr val="1b2148"/>
                </a:solidFill>
                <a:effectLst/>
                <a:uFillTx/>
                <a:latin typeface="Calibri"/>
                <a:ea typeface="Calibri"/>
              </a:rPr>
              <a:t>Szybkie informacje zwrotne</a:t>
            </a:r>
            <a:endParaRPr lang="pl-PL" sz="1600" b="0" u="none" strike="noStrike">
              <a:solidFill>
                <a:srgbClr val="000000"/>
              </a:solidFill>
              <a:effectLst/>
              <a:uFillTx/>
              <a:latin typeface="Arial"/>
            </a:endParaRPr>
          </a:p>
          <a:p>
            <a:pPr marL="177840" indent="-177840" defTabSz="914400">
              <a:lnSpc>
                <a:spcPct val="108000"/>
              </a:lnSpc>
              <a:spcAft>
                <a:spcPts val="901"/>
              </a:spcAft>
              <a:buClr>
                <a:srgbClr val="1b2148"/>
              </a:buClr>
              <a:buFont typeface="Wingdings" charset="2"/>
              <a:buChar char=""/>
            </a:pPr>
            <a:r>
              <a:rPr lang="pl-PL" sz="1600" b="0" u="none" strike="noStrike">
                <a:solidFill>
                  <a:srgbClr val="1b2148"/>
                </a:solidFill>
                <a:effectLst/>
                <a:uFillTx/>
                <a:latin typeface="Calibri"/>
                <a:ea typeface="Calibri"/>
              </a:rPr>
              <a:t>Praca zgodna z silnymi zainteresowaniami</a:t>
            </a:r>
            <a:endParaRPr lang="pl-PL" sz="1600" b="0" u="none" strike="noStrike">
              <a:solidFill>
                <a:srgbClr val="000000"/>
              </a:solidFill>
              <a:effectLst/>
              <a:uFillTx/>
              <a:latin typeface="Arial"/>
            </a:endParaRPr>
          </a:p>
        </p:txBody>
      </p:sp>
      <p:sp>
        <p:nvSpPr>
          <p:cNvPr id="264" name="Text 9"/>
          <p:cNvSpPr/>
          <p:nvPr/>
        </p:nvSpPr>
        <p:spPr>
          <a:xfrm>
            <a:off x="4464000" y="3703320"/>
            <a:ext cx="411948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300" b="0" i="1" u="none" strike="noStrike">
                <a:solidFill>
                  <a:srgbClr val="146b65"/>
                </a:solidFill>
                <a:effectLst/>
                <a:uFillTx/>
                <a:latin typeface="Calibri"/>
                <a:ea typeface="Calibri"/>
              </a:rPr>
              <a:t>Ryzyko rośnie w pracy monotonnej, słabo ustrukturyzowanej, wymagającej wielomiesięcznego samodzielnego planowania</a:t>
            </a:r>
            <a:endParaRPr lang="pl-PL" sz="1300" b="0" u="none" strike="noStrike">
              <a:solidFill>
                <a:srgbClr val="000000"/>
              </a:solidFill>
              <a:effectLst/>
              <a:uFillTx/>
              <a:latin typeface="Arial"/>
            </a:endParaRPr>
          </a:p>
        </p:txBody>
      </p:sp>
      <p:sp>
        <p:nvSpPr>
          <p:cNvPr id="265" name="Text 10"/>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17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66"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BEZPIECZEŃSTWO</a:t>
            </a:r>
            <a:endParaRPr lang="pl-PL" sz="1100" b="0" u="none" strike="noStrike">
              <a:solidFill>
                <a:srgbClr val="000000"/>
              </a:solidFill>
              <a:effectLst/>
              <a:uFillTx/>
              <a:latin typeface="Arial"/>
            </a:endParaRPr>
          </a:p>
        </p:txBody>
      </p:sp>
      <p:sp>
        <p:nvSpPr>
          <p:cNvPr id="267"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200" b="1" u="none" strike="noStrike">
                <a:solidFill>
                  <a:srgbClr val="1b2148"/>
                </a:solidFill>
                <a:effectLst/>
                <a:uFillTx/>
                <a:latin typeface="Cambria"/>
                <a:ea typeface="Cambria"/>
              </a:rPr>
              <a:t>Zwiększone ryzyko wypadków i zachowań ryzykownych</a:t>
            </a:r>
            <a:endParaRPr lang="pl-PL" sz="2200" b="0" u="none" strike="noStrike">
              <a:solidFill>
                <a:srgbClr val="000000"/>
              </a:solidFill>
              <a:effectLst/>
              <a:uFillTx/>
              <a:latin typeface="Arial"/>
            </a:endParaRPr>
          </a:p>
        </p:txBody>
      </p:sp>
      <p:sp>
        <p:nvSpPr>
          <p:cNvPr id="268" name="Text 2"/>
          <p:cNvSpPr/>
          <p:nvPr/>
        </p:nvSpPr>
        <p:spPr>
          <a:xfrm>
            <a:off x="502920" y="1089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Mechanizm: rozproszenie uwagi, impulsywność i poszukiwanie stymulacji</a:t>
            </a:r>
            <a:endParaRPr lang="pl-PL" sz="1200" b="0" u="none" strike="noStrike">
              <a:solidFill>
                <a:srgbClr val="000000"/>
              </a:solidFill>
              <a:effectLst/>
              <a:uFillTx/>
              <a:latin typeface="Arial"/>
            </a:endParaRPr>
          </a:p>
        </p:txBody>
      </p:sp>
      <p:sp>
        <p:nvSpPr>
          <p:cNvPr id="269" name="Shape 3"/>
          <p:cNvSpPr/>
          <p:nvPr/>
        </p:nvSpPr>
        <p:spPr>
          <a:xfrm>
            <a:off x="502920" y="1691640"/>
            <a:ext cx="1865160" cy="1142640"/>
          </a:xfrm>
          <a:prstGeom prst="roundRect">
            <a:avLst>
              <a:gd name="adj" fmla="val 7200"/>
            </a:avLst>
          </a:prstGeom>
          <a:solidFill>
            <a:srgbClr val="fbe5e8"/>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70" name="Text 4"/>
          <p:cNvSpPr/>
          <p:nvPr/>
        </p:nvSpPr>
        <p:spPr>
          <a:xfrm>
            <a:off x="612720" y="1691640"/>
            <a:ext cx="1645560" cy="11426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600" b="1" u="none" strike="noStrike">
                <a:solidFill>
                  <a:srgbClr val="a12e3c"/>
                </a:solidFill>
                <a:effectLst/>
                <a:uFillTx/>
                <a:latin typeface="Calibri"/>
                <a:ea typeface="Calibri"/>
              </a:rPr>
              <a:t>Wypadki komunikacyjne</a:t>
            </a:r>
            <a:endParaRPr lang="pl-PL" sz="1600" b="0" u="none" strike="noStrike">
              <a:solidFill>
                <a:srgbClr val="000000"/>
              </a:solidFill>
              <a:effectLst/>
              <a:uFillTx/>
              <a:latin typeface="Arial"/>
            </a:endParaRPr>
          </a:p>
        </p:txBody>
      </p:sp>
      <p:sp>
        <p:nvSpPr>
          <p:cNvPr id="271" name="Shape 5"/>
          <p:cNvSpPr/>
          <p:nvPr/>
        </p:nvSpPr>
        <p:spPr>
          <a:xfrm>
            <a:off x="2487240" y="1691640"/>
            <a:ext cx="1865160" cy="1142640"/>
          </a:xfrm>
          <a:prstGeom prst="roundRect">
            <a:avLst>
              <a:gd name="adj" fmla="val 7200"/>
            </a:avLst>
          </a:prstGeom>
          <a:solidFill>
            <a:srgbClr val="fbe5e8"/>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72" name="Text 6"/>
          <p:cNvSpPr/>
          <p:nvPr/>
        </p:nvSpPr>
        <p:spPr>
          <a:xfrm>
            <a:off x="2597040" y="1691640"/>
            <a:ext cx="1645560" cy="11426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600" b="1" u="none" strike="noStrike">
                <a:solidFill>
                  <a:srgbClr val="a12e3c"/>
                </a:solidFill>
                <a:effectLst/>
                <a:uFillTx/>
                <a:latin typeface="Calibri"/>
                <a:ea typeface="Calibri"/>
              </a:rPr>
              <a:t>Urazy i zatrucia</a:t>
            </a:r>
            <a:endParaRPr lang="pl-PL" sz="1600" b="0" u="none" strike="noStrike">
              <a:solidFill>
                <a:srgbClr val="000000"/>
              </a:solidFill>
              <a:effectLst/>
              <a:uFillTx/>
              <a:latin typeface="Arial"/>
            </a:endParaRPr>
          </a:p>
        </p:txBody>
      </p:sp>
      <p:sp>
        <p:nvSpPr>
          <p:cNvPr id="273" name="Shape 7"/>
          <p:cNvSpPr/>
          <p:nvPr/>
        </p:nvSpPr>
        <p:spPr>
          <a:xfrm>
            <a:off x="4471560" y="1691640"/>
            <a:ext cx="1865160" cy="1142640"/>
          </a:xfrm>
          <a:prstGeom prst="roundRect">
            <a:avLst>
              <a:gd name="adj" fmla="val 7200"/>
            </a:avLst>
          </a:prstGeom>
          <a:solidFill>
            <a:srgbClr val="fbe5e8"/>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74" name="Text 8"/>
          <p:cNvSpPr/>
          <p:nvPr/>
        </p:nvSpPr>
        <p:spPr>
          <a:xfrm>
            <a:off x="4581000" y="1691640"/>
            <a:ext cx="1645560" cy="11426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600" b="1" u="none" strike="noStrike">
                <a:solidFill>
                  <a:srgbClr val="a12e3c"/>
                </a:solidFill>
                <a:effectLst/>
                <a:uFillTx/>
                <a:latin typeface="Calibri"/>
                <a:ea typeface="Calibri"/>
              </a:rPr>
              <a:t>Ryzykowne zachowania seksualne</a:t>
            </a:r>
            <a:endParaRPr lang="pl-PL" sz="1600" b="0" u="none" strike="noStrike">
              <a:solidFill>
                <a:srgbClr val="000000"/>
              </a:solidFill>
              <a:effectLst/>
              <a:uFillTx/>
              <a:latin typeface="Arial"/>
            </a:endParaRPr>
          </a:p>
        </p:txBody>
      </p:sp>
      <p:sp>
        <p:nvSpPr>
          <p:cNvPr id="275" name="Shape 9"/>
          <p:cNvSpPr/>
          <p:nvPr/>
        </p:nvSpPr>
        <p:spPr>
          <a:xfrm>
            <a:off x="6455520" y="1691640"/>
            <a:ext cx="1865160" cy="1142640"/>
          </a:xfrm>
          <a:prstGeom prst="roundRect">
            <a:avLst>
              <a:gd name="adj" fmla="val 7200"/>
            </a:avLst>
          </a:prstGeom>
          <a:solidFill>
            <a:srgbClr val="fbe5e8"/>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76" name="Text 10"/>
          <p:cNvSpPr/>
          <p:nvPr/>
        </p:nvSpPr>
        <p:spPr>
          <a:xfrm>
            <a:off x="6565320" y="1691640"/>
            <a:ext cx="1645560" cy="11426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600" b="1" u="none" strike="noStrike">
                <a:solidFill>
                  <a:srgbClr val="a12e3c"/>
                </a:solidFill>
                <a:effectLst/>
                <a:uFillTx/>
                <a:latin typeface="Calibri"/>
                <a:ea typeface="Calibri"/>
              </a:rPr>
              <a:t>Nieprzestrzeganie zaleceń medycznych</a:t>
            </a:r>
            <a:endParaRPr lang="pl-PL" sz="1600" b="0" u="none" strike="noStrike">
              <a:solidFill>
                <a:srgbClr val="000000"/>
              </a:solidFill>
              <a:effectLst/>
              <a:uFillTx/>
              <a:latin typeface="Arial"/>
            </a:endParaRPr>
          </a:p>
        </p:txBody>
      </p:sp>
      <p:sp>
        <p:nvSpPr>
          <p:cNvPr id="277" name="Shape 11"/>
          <p:cNvSpPr/>
          <p:nvPr/>
        </p:nvSpPr>
        <p:spPr>
          <a:xfrm>
            <a:off x="502920" y="3063240"/>
            <a:ext cx="8137800" cy="959760"/>
          </a:xfrm>
          <a:prstGeom prst="roundRect">
            <a:avLst>
              <a:gd name="adj" fmla="val 8571"/>
            </a:avLst>
          </a:prstGeom>
          <a:solidFill>
            <a:srgbClr val="f4f6fa"/>
          </a:solidFill>
          <a:ln w="1260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78" name="Text 12"/>
          <p:cNvSpPr/>
          <p:nvPr/>
        </p:nvSpPr>
        <p:spPr>
          <a:xfrm>
            <a:off x="777240" y="3063240"/>
            <a:ext cx="7589160" cy="959760"/>
          </a:xfrm>
          <a:prstGeom prst="rect">
            <a:avLst/>
          </a:prstGeom>
          <a:noFill/>
          <a:ln w="0">
            <a:noFill/>
          </a:ln>
        </p:spPr>
        <p:style>
          <a:lnRef idx="0"/>
          <a:fillRef idx="0"/>
          <a:effectRef idx="0"/>
          <a:fontRef idx="minor"/>
        </p:style>
        <p:txBody>
          <a:bodyPr lIns="0" rIns="0" tIns="0" bIns="0" anchor="ctr" anchorCtr="1">
            <a:noAutofit/>
          </a:bodyPr>
          <a:p>
            <a:pPr algn="ctr" defTabSz="914400">
              <a:lnSpc>
                <a:spcPct val="100000"/>
              </a:lnSpc>
              <a:tabLst>
                <a:tab algn="l" pos="0"/>
              </a:tabLst>
            </a:pPr>
            <a:r>
              <a:rPr lang="pl-PL" sz="1600" b="0" u="none" strike="noStrike">
                <a:solidFill>
                  <a:srgbClr val="1b2148"/>
                </a:solidFill>
                <a:effectLst/>
                <a:uFillTx/>
                <a:latin typeface="Calibri"/>
                <a:ea typeface="Calibri"/>
              </a:rPr>
              <a:t>Mechanizm obejmuje rozproszenie uwagi, impulsywność, poszukiwanie stymulacji </a:t>
            </a:r>
            <a:br>
              <a:rPr sz="1600"/>
            </a:br>
            <a:r>
              <a:rPr lang="pl-PL" sz="1600" b="0" u="none" strike="noStrike">
                <a:solidFill>
                  <a:srgbClr val="1b2148"/>
                </a:solidFill>
                <a:effectLst/>
                <a:uFillTx/>
                <a:latin typeface="Calibri"/>
                <a:ea typeface="Calibri"/>
              </a:rPr>
              <a:t>i trudności w utrzymaniu rutyn bezpieczeństwa.</a:t>
            </a:r>
            <a:endParaRPr lang="pl-PL" sz="1600" b="0" u="none" strike="noStrike">
              <a:solidFill>
                <a:srgbClr val="000000"/>
              </a:solidFill>
              <a:effectLst/>
              <a:uFillTx/>
              <a:latin typeface="Arial"/>
            </a:endParaRPr>
          </a:p>
        </p:txBody>
      </p:sp>
      <p:sp>
        <p:nvSpPr>
          <p:cNvPr id="279" name="Shape 13"/>
          <p:cNvSpPr/>
          <p:nvPr/>
        </p:nvSpPr>
        <p:spPr>
          <a:xfrm>
            <a:off x="502920" y="4160520"/>
            <a:ext cx="8137800" cy="639720"/>
          </a:xfrm>
          <a:prstGeom prst="roundRect">
            <a:avLst>
              <a:gd name="adj" fmla="val 12857"/>
            </a:avLst>
          </a:prstGeom>
          <a:solidFill>
            <a:srgbClr val="def2ef"/>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80" name="Text 14"/>
          <p:cNvSpPr/>
          <p:nvPr/>
        </p:nvSpPr>
        <p:spPr>
          <a:xfrm>
            <a:off x="777240" y="4160520"/>
            <a:ext cx="7589160" cy="63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400" b="0" i="1" u="none" strike="noStrike">
                <a:solidFill>
                  <a:srgbClr val="146b65"/>
                </a:solidFill>
                <a:effectLst/>
                <a:uFillTx/>
                <a:latin typeface="Calibri"/>
                <a:ea typeface="Calibri"/>
              </a:rPr>
              <a:t>Badania rejestrowe: w okresach leczenia ryzyko części zdarzeń transportowych jest niższe, choć nie dla wszystkich typów urazów wyniki są jednoznaczne.</a:t>
            </a:r>
            <a:endParaRPr lang="pl-PL" sz="1400" b="0" u="none" strike="noStrike">
              <a:solidFill>
                <a:srgbClr val="000000"/>
              </a:solidFill>
              <a:effectLst/>
              <a:uFillTx/>
              <a:latin typeface="Arial"/>
            </a:endParaRPr>
          </a:p>
        </p:txBody>
      </p:sp>
      <p:sp>
        <p:nvSpPr>
          <p:cNvPr id="281" name="Text 15"/>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18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2"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RODZINA I RELACJE</a:t>
            </a:r>
            <a:endParaRPr lang="pl-PL" sz="1100" b="0" u="none" strike="noStrike">
              <a:solidFill>
                <a:srgbClr val="000000"/>
              </a:solidFill>
              <a:effectLst/>
              <a:uFillTx/>
              <a:latin typeface="Arial"/>
            </a:endParaRPr>
          </a:p>
        </p:txBody>
      </p:sp>
      <p:sp>
        <p:nvSpPr>
          <p:cNvPr id="283"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500" b="1" u="none" strike="noStrike">
                <a:solidFill>
                  <a:srgbClr val="1b2148"/>
                </a:solidFill>
                <a:effectLst/>
                <a:uFillTx/>
                <a:latin typeface="Cambria"/>
                <a:ea typeface="Cambria"/>
              </a:rPr>
              <a:t>Sprzężenie zwrotne konfliktu w relacji partnerskiej</a:t>
            </a:r>
            <a:endParaRPr lang="pl-PL" sz="2500" b="0" u="none" strike="noStrike">
              <a:solidFill>
                <a:srgbClr val="000000"/>
              </a:solidFill>
              <a:effectLst/>
              <a:uFillTx/>
              <a:latin typeface="Arial"/>
            </a:endParaRPr>
          </a:p>
        </p:txBody>
      </p:sp>
      <p:sp>
        <p:nvSpPr>
          <p:cNvPr id="284" name="Text 2"/>
          <p:cNvSpPr/>
          <p:nvPr/>
        </p:nvSpPr>
        <p:spPr>
          <a:xfrm>
            <a:off x="502920" y="1053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Objaw ADHD bywa odczytywany jako obojętność albo brak szacunku</a:t>
            </a:r>
            <a:endParaRPr lang="pl-PL" sz="1200" b="0" u="none" strike="noStrike">
              <a:solidFill>
                <a:srgbClr val="000000"/>
              </a:solidFill>
              <a:effectLst/>
              <a:uFillTx/>
              <a:latin typeface="Arial"/>
            </a:endParaRPr>
          </a:p>
        </p:txBody>
      </p:sp>
      <p:sp>
        <p:nvSpPr>
          <p:cNvPr id="285" name="Shape 3"/>
          <p:cNvSpPr/>
          <p:nvPr/>
        </p:nvSpPr>
        <p:spPr>
          <a:xfrm>
            <a:off x="640080" y="1828800"/>
            <a:ext cx="1691280" cy="959760"/>
          </a:xfrm>
          <a:prstGeom prst="roundRect">
            <a:avLst>
              <a:gd name="adj" fmla="val 8571"/>
            </a:avLst>
          </a:prstGeom>
          <a:solidFill>
            <a:srgbClr val="fceadd"/>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86" name="Text 4"/>
          <p:cNvSpPr/>
          <p:nvPr/>
        </p:nvSpPr>
        <p:spPr>
          <a:xfrm>
            <a:off x="640080" y="1828800"/>
            <a:ext cx="1691280" cy="959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600" b="1" u="none" strike="noStrike">
                <a:solidFill>
                  <a:srgbClr val="1b2148"/>
                </a:solidFill>
                <a:effectLst/>
                <a:uFillTx/>
                <a:latin typeface="Calibri"/>
                <a:ea typeface="Calibri"/>
              </a:rPr>
              <a:t>Niewykonane</a:t>
            </a:r>
            <a:endParaRPr lang="pl-PL" sz="1600" b="0" u="none" strike="noStrike">
              <a:solidFill>
                <a:srgbClr val="000000"/>
              </a:solidFill>
              <a:effectLst/>
              <a:uFillTx/>
              <a:latin typeface="Arial"/>
            </a:endParaRPr>
          </a:p>
          <a:p>
            <a:pPr algn="ctr" defTabSz="914400">
              <a:lnSpc>
                <a:spcPct val="100000"/>
              </a:lnSpc>
              <a:tabLst>
                <a:tab algn="l" pos="0"/>
              </a:tabLst>
            </a:pPr>
            <a:r>
              <a:rPr lang="pl-PL" sz="1600" b="1" u="none" strike="noStrike">
                <a:solidFill>
                  <a:srgbClr val="1b2148"/>
                </a:solidFill>
                <a:effectLst/>
                <a:uFillTx/>
                <a:latin typeface="Calibri"/>
                <a:ea typeface="Calibri"/>
              </a:rPr>
              <a:t>zobowiązanie</a:t>
            </a:r>
            <a:endParaRPr lang="pl-PL" sz="1600" b="0" u="none" strike="noStrike">
              <a:solidFill>
                <a:srgbClr val="000000"/>
              </a:solidFill>
              <a:effectLst/>
              <a:uFillTx/>
              <a:latin typeface="Arial"/>
            </a:endParaRPr>
          </a:p>
        </p:txBody>
      </p:sp>
      <p:sp>
        <p:nvSpPr>
          <p:cNvPr id="287" name="Text 5"/>
          <p:cNvSpPr/>
          <p:nvPr/>
        </p:nvSpPr>
        <p:spPr>
          <a:xfrm>
            <a:off x="2331720" y="1828800"/>
            <a:ext cx="411120" cy="959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800" b="1" u="none" strike="noStrike">
                <a:solidFill>
                  <a:srgbClr val="e8743a"/>
                </a:solidFill>
                <a:effectLst/>
                <a:uFillTx/>
                <a:latin typeface="Calibri"/>
              </a:rPr>
              <a:t>→</a:t>
            </a:r>
            <a:endParaRPr lang="pl-PL" sz="1800" b="0" u="none" strike="noStrike">
              <a:solidFill>
                <a:srgbClr val="000000"/>
              </a:solidFill>
              <a:effectLst/>
              <a:uFillTx/>
              <a:latin typeface="Arial"/>
            </a:endParaRPr>
          </a:p>
        </p:txBody>
      </p:sp>
      <p:sp>
        <p:nvSpPr>
          <p:cNvPr id="288" name="Shape 6"/>
          <p:cNvSpPr/>
          <p:nvPr/>
        </p:nvSpPr>
        <p:spPr>
          <a:xfrm>
            <a:off x="2743200" y="1828800"/>
            <a:ext cx="1691280" cy="959760"/>
          </a:xfrm>
          <a:prstGeom prst="roundRect">
            <a:avLst>
              <a:gd name="adj" fmla="val 8571"/>
            </a:avLst>
          </a:prstGeom>
          <a:solidFill>
            <a:srgbClr val="f4f6fa"/>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89" name="Text 7"/>
          <p:cNvSpPr/>
          <p:nvPr/>
        </p:nvSpPr>
        <p:spPr>
          <a:xfrm>
            <a:off x="2743200" y="1828800"/>
            <a:ext cx="1691280" cy="959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600" b="1" u="none" strike="noStrike">
                <a:solidFill>
                  <a:srgbClr val="1b2148"/>
                </a:solidFill>
                <a:effectLst/>
                <a:uFillTx/>
                <a:latin typeface="Calibri"/>
                <a:ea typeface="Calibri"/>
              </a:rPr>
              <a:t>Krytyka</a:t>
            </a:r>
            <a:endParaRPr lang="pl-PL" sz="1600" b="0" u="none" strike="noStrike">
              <a:solidFill>
                <a:srgbClr val="000000"/>
              </a:solidFill>
              <a:effectLst/>
              <a:uFillTx/>
              <a:latin typeface="Arial"/>
            </a:endParaRPr>
          </a:p>
          <a:p>
            <a:pPr algn="ctr" defTabSz="914400">
              <a:lnSpc>
                <a:spcPct val="100000"/>
              </a:lnSpc>
              <a:tabLst>
                <a:tab algn="l" pos="0"/>
              </a:tabLst>
            </a:pPr>
            <a:r>
              <a:rPr lang="pl-PL" sz="1600" b="1" u="none" strike="noStrike">
                <a:solidFill>
                  <a:srgbClr val="1b2148"/>
                </a:solidFill>
                <a:effectLst/>
                <a:uFillTx/>
                <a:latin typeface="Calibri"/>
                <a:ea typeface="Calibri"/>
              </a:rPr>
              <a:t>lub kontrola</a:t>
            </a:r>
            <a:endParaRPr lang="pl-PL" sz="1600" b="0" u="none" strike="noStrike">
              <a:solidFill>
                <a:srgbClr val="000000"/>
              </a:solidFill>
              <a:effectLst/>
              <a:uFillTx/>
              <a:latin typeface="Arial"/>
            </a:endParaRPr>
          </a:p>
        </p:txBody>
      </p:sp>
      <p:sp>
        <p:nvSpPr>
          <p:cNvPr id="290" name="Text 8"/>
          <p:cNvSpPr/>
          <p:nvPr/>
        </p:nvSpPr>
        <p:spPr>
          <a:xfrm>
            <a:off x="4434840" y="1828800"/>
            <a:ext cx="411120" cy="959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800" b="1" u="none" strike="noStrike">
                <a:solidFill>
                  <a:srgbClr val="e8743a"/>
                </a:solidFill>
                <a:effectLst/>
                <a:uFillTx/>
                <a:latin typeface="Calibri"/>
              </a:rPr>
              <a:t>→</a:t>
            </a:r>
            <a:endParaRPr lang="pl-PL" sz="1800" b="0" u="none" strike="noStrike">
              <a:solidFill>
                <a:srgbClr val="000000"/>
              </a:solidFill>
              <a:effectLst/>
              <a:uFillTx/>
              <a:latin typeface="Arial"/>
            </a:endParaRPr>
          </a:p>
        </p:txBody>
      </p:sp>
      <p:sp>
        <p:nvSpPr>
          <p:cNvPr id="291" name="Shape 9"/>
          <p:cNvSpPr/>
          <p:nvPr/>
        </p:nvSpPr>
        <p:spPr>
          <a:xfrm>
            <a:off x="4846320" y="1828800"/>
            <a:ext cx="1691280" cy="959760"/>
          </a:xfrm>
          <a:prstGeom prst="roundRect">
            <a:avLst>
              <a:gd name="adj" fmla="val 8571"/>
            </a:avLst>
          </a:prstGeom>
          <a:solidFill>
            <a:srgbClr val="fceadd"/>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92" name="Text 10"/>
          <p:cNvSpPr/>
          <p:nvPr/>
        </p:nvSpPr>
        <p:spPr>
          <a:xfrm>
            <a:off x="4846320" y="1828800"/>
            <a:ext cx="1691280" cy="959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600" b="1" u="none" strike="noStrike">
                <a:solidFill>
                  <a:srgbClr val="1b2148"/>
                </a:solidFill>
                <a:effectLst/>
                <a:uFillTx/>
                <a:latin typeface="Calibri"/>
                <a:ea typeface="Calibri"/>
              </a:rPr>
              <a:t>Obrona</a:t>
            </a:r>
            <a:endParaRPr lang="pl-PL" sz="1600" b="0" u="none" strike="noStrike">
              <a:solidFill>
                <a:srgbClr val="000000"/>
              </a:solidFill>
              <a:effectLst/>
              <a:uFillTx/>
              <a:latin typeface="Arial"/>
            </a:endParaRPr>
          </a:p>
          <a:p>
            <a:pPr algn="ctr" defTabSz="914400">
              <a:lnSpc>
                <a:spcPct val="100000"/>
              </a:lnSpc>
              <a:tabLst>
                <a:tab algn="l" pos="0"/>
              </a:tabLst>
            </a:pPr>
            <a:r>
              <a:rPr lang="pl-PL" sz="1600" b="1" u="none" strike="noStrike">
                <a:solidFill>
                  <a:srgbClr val="1b2148"/>
                </a:solidFill>
                <a:effectLst/>
                <a:uFillTx/>
                <a:latin typeface="Calibri"/>
                <a:ea typeface="Calibri"/>
              </a:rPr>
              <a:t>lub wycofanie</a:t>
            </a:r>
            <a:endParaRPr lang="pl-PL" sz="1600" b="0" u="none" strike="noStrike">
              <a:solidFill>
                <a:srgbClr val="000000"/>
              </a:solidFill>
              <a:effectLst/>
              <a:uFillTx/>
              <a:latin typeface="Arial"/>
            </a:endParaRPr>
          </a:p>
        </p:txBody>
      </p:sp>
      <p:sp>
        <p:nvSpPr>
          <p:cNvPr id="293" name="Text 11"/>
          <p:cNvSpPr/>
          <p:nvPr/>
        </p:nvSpPr>
        <p:spPr>
          <a:xfrm>
            <a:off x="6537960" y="1828800"/>
            <a:ext cx="411120" cy="959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800" b="1" u="none" strike="noStrike">
                <a:solidFill>
                  <a:srgbClr val="e8743a"/>
                </a:solidFill>
                <a:effectLst/>
                <a:uFillTx/>
                <a:latin typeface="Calibri"/>
              </a:rPr>
              <a:t>→</a:t>
            </a:r>
            <a:endParaRPr lang="pl-PL" sz="1800" b="0" u="none" strike="noStrike">
              <a:solidFill>
                <a:srgbClr val="000000"/>
              </a:solidFill>
              <a:effectLst/>
              <a:uFillTx/>
              <a:latin typeface="Arial"/>
            </a:endParaRPr>
          </a:p>
        </p:txBody>
      </p:sp>
      <p:sp>
        <p:nvSpPr>
          <p:cNvPr id="294" name="Shape 12"/>
          <p:cNvSpPr/>
          <p:nvPr/>
        </p:nvSpPr>
        <p:spPr>
          <a:xfrm>
            <a:off x="6949440" y="1828800"/>
            <a:ext cx="1691280" cy="959760"/>
          </a:xfrm>
          <a:prstGeom prst="roundRect">
            <a:avLst>
              <a:gd name="adj" fmla="val 8571"/>
            </a:avLst>
          </a:prstGeom>
          <a:solidFill>
            <a:srgbClr val="f4f6fa"/>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295" name="Text 13"/>
          <p:cNvSpPr/>
          <p:nvPr/>
        </p:nvSpPr>
        <p:spPr>
          <a:xfrm>
            <a:off x="6949440" y="1828800"/>
            <a:ext cx="1691280" cy="959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600" b="1" u="none" strike="noStrike">
                <a:solidFill>
                  <a:srgbClr val="1b2148"/>
                </a:solidFill>
                <a:effectLst/>
                <a:uFillTx/>
                <a:latin typeface="Calibri"/>
                <a:ea typeface="Calibri"/>
              </a:rPr>
              <a:t>Pogorszenie</a:t>
            </a:r>
            <a:endParaRPr lang="pl-PL" sz="1600" b="0" u="none" strike="noStrike">
              <a:solidFill>
                <a:srgbClr val="000000"/>
              </a:solidFill>
              <a:effectLst/>
              <a:uFillTx/>
              <a:latin typeface="Arial"/>
            </a:endParaRPr>
          </a:p>
          <a:p>
            <a:pPr algn="ctr" defTabSz="914400">
              <a:lnSpc>
                <a:spcPct val="100000"/>
              </a:lnSpc>
              <a:tabLst>
                <a:tab algn="l" pos="0"/>
              </a:tabLst>
            </a:pPr>
            <a:r>
              <a:rPr lang="pl-PL" sz="1600" b="1" u="none" strike="noStrike">
                <a:solidFill>
                  <a:srgbClr val="1b2148"/>
                </a:solidFill>
                <a:effectLst/>
                <a:uFillTx/>
                <a:latin typeface="Calibri"/>
                <a:ea typeface="Calibri"/>
              </a:rPr>
              <a:t>samoregulacji</a:t>
            </a:r>
            <a:endParaRPr lang="pl-PL" sz="1600" b="0" u="none" strike="noStrike">
              <a:solidFill>
                <a:srgbClr val="000000"/>
              </a:solidFill>
              <a:effectLst/>
              <a:uFillTx/>
              <a:latin typeface="Arial"/>
            </a:endParaRPr>
          </a:p>
        </p:txBody>
      </p:sp>
      <p:sp>
        <p:nvSpPr>
          <p:cNvPr id="296" name="Shape 14"/>
          <p:cNvSpPr/>
          <p:nvPr/>
        </p:nvSpPr>
        <p:spPr>
          <a:xfrm>
            <a:off x="7795080" y="2788920"/>
            <a:ext cx="360" cy="320040"/>
          </a:xfrm>
          <a:prstGeom prst="line">
            <a:avLst/>
          </a:prstGeom>
          <a:ln w="19080">
            <a:solidFill>
              <a:srgbClr val="e8743a"/>
            </a:solidFill>
            <a:prstDash val="dash"/>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297" name="Shape 15"/>
          <p:cNvSpPr/>
          <p:nvPr/>
        </p:nvSpPr>
        <p:spPr>
          <a:xfrm>
            <a:off x="1485720" y="3108960"/>
            <a:ext cx="6309360" cy="360"/>
          </a:xfrm>
          <a:prstGeom prst="line">
            <a:avLst/>
          </a:prstGeom>
          <a:ln w="19080">
            <a:solidFill>
              <a:srgbClr val="e8743a"/>
            </a:solidFill>
            <a:prstDash val="dash"/>
            <a:round/>
          </a:ln>
        </p:spPr>
        <p:style>
          <a:lnRef idx="0"/>
          <a:fillRef idx="0"/>
          <a:effectRef idx="0"/>
          <a:fontRef idx="minor"/>
        </p:style>
        <p:txBody>
          <a:bodyPr lIns="90000" rIns="90000" tIns="-44640" bIns="-44640" anchor="t" anchorCtr="1">
            <a:noAutofit/>
          </a:bodyPr>
          <a:p>
            <a:endParaRPr lang="pl-PL" sz="1800" b="0" u="none" strike="noStrike">
              <a:solidFill>
                <a:srgbClr val="000000"/>
              </a:solidFill>
              <a:effectLst/>
              <a:uFillTx/>
              <a:latin typeface="Arial"/>
            </a:endParaRPr>
          </a:p>
        </p:txBody>
      </p:sp>
      <p:sp>
        <p:nvSpPr>
          <p:cNvPr id="298" name="Shape 16"/>
          <p:cNvSpPr/>
          <p:nvPr/>
        </p:nvSpPr>
        <p:spPr>
          <a:xfrm>
            <a:off x="1485720" y="2788920"/>
            <a:ext cx="360" cy="320040"/>
          </a:xfrm>
          <a:prstGeom prst="line">
            <a:avLst/>
          </a:prstGeom>
          <a:ln w="19080">
            <a:solidFill>
              <a:srgbClr val="e8743a"/>
            </a:solidFill>
            <a:prstDash val="dash"/>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299" name="Text 17"/>
          <p:cNvSpPr/>
          <p:nvPr/>
        </p:nvSpPr>
        <p:spPr>
          <a:xfrm>
            <a:off x="3200400" y="3136320"/>
            <a:ext cx="2285640" cy="2282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600" b="0" i="1" u="none" strike="noStrike">
                <a:solidFill>
                  <a:srgbClr val="c75a26"/>
                </a:solidFill>
                <a:effectLst/>
                <a:uFillTx/>
                <a:latin typeface="Calibri"/>
                <a:ea typeface="Calibri"/>
              </a:rPr>
              <a:t>cykl się zamyka i nasila</a:t>
            </a:r>
            <a:endParaRPr lang="pl-PL" sz="1600" b="0" u="none" strike="noStrike">
              <a:solidFill>
                <a:srgbClr val="000000"/>
              </a:solidFill>
              <a:effectLst/>
              <a:uFillTx/>
              <a:latin typeface="Arial"/>
            </a:endParaRPr>
          </a:p>
        </p:txBody>
      </p:sp>
      <p:sp>
        <p:nvSpPr>
          <p:cNvPr id="300" name="Shape 18"/>
          <p:cNvSpPr/>
          <p:nvPr/>
        </p:nvSpPr>
        <p:spPr>
          <a:xfrm>
            <a:off x="502920" y="3520440"/>
            <a:ext cx="3977280" cy="1234080"/>
          </a:xfrm>
          <a:prstGeom prst="roundRect">
            <a:avLst>
              <a:gd name="adj" fmla="val 6667"/>
            </a:avLst>
          </a:prstGeom>
          <a:solidFill>
            <a:srgbClr val="f4f6fa"/>
          </a:solidFill>
          <a:ln w="1260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301" name="Text 19"/>
          <p:cNvSpPr/>
          <p:nvPr/>
        </p:nvSpPr>
        <p:spPr>
          <a:xfrm>
            <a:off x="713160" y="3520440"/>
            <a:ext cx="3565800" cy="1234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400" b="0" u="none" strike="noStrike">
                <a:solidFill>
                  <a:srgbClr val="1b2148"/>
                </a:solidFill>
                <a:effectLst/>
                <a:uFillTx/>
                <a:latin typeface="Calibri"/>
                <a:ea typeface="Calibri"/>
              </a:rPr>
              <a:t>Niższa przeciętna satysfakcja relacyjna i więcej konfliktów, ale dane o rozwodach są niejednorodne. Brak jednego uniwersalnego współczynnika ryzyka rozpadu związku.</a:t>
            </a:r>
            <a:endParaRPr lang="pl-PL" sz="1400" b="0" u="none" strike="noStrike">
              <a:solidFill>
                <a:srgbClr val="000000"/>
              </a:solidFill>
              <a:effectLst/>
              <a:uFillTx/>
              <a:latin typeface="Arial"/>
            </a:endParaRPr>
          </a:p>
        </p:txBody>
      </p:sp>
      <p:sp>
        <p:nvSpPr>
          <p:cNvPr id="302" name="Shape 20"/>
          <p:cNvSpPr/>
          <p:nvPr/>
        </p:nvSpPr>
        <p:spPr>
          <a:xfrm>
            <a:off x="4663440" y="3520440"/>
            <a:ext cx="3977280" cy="1234080"/>
          </a:xfrm>
          <a:prstGeom prst="roundRect">
            <a:avLst>
              <a:gd name="adj" fmla="val 6667"/>
            </a:avLst>
          </a:prstGeom>
          <a:solidFill>
            <a:srgbClr val="f4f6fa"/>
          </a:solidFill>
          <a:ln w="1260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303" name="Text 21"/>
          <p:cNvSpPr/>
          <p:nvPr/>
        </p:nvSpPr>
        <p:spPr>
          <a:xfrm>
            <a:off x="4873680" y="3520440"/>
            <a:ext cx="3565800" cy="12340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400" b="1" u="none" strike="noStrike">
                <a:solidFill>
                  <a:srgbClr val="1b2148"/>
                </a:solidFill>
                <a:effectLst/>
                <a:uFillTx/>
                <a:latin typeface="Calibri"/>
                <a:ea typeface="Calibri"/>
              </a:rPr>
              <a:t>Obciążenie mentalne</a:t>
            </a:r>
            <a:r>
              <a:rPr lang="pl-PL" sz="1400" b="0" u="none" strike="noStrike">
                <a:solidFill>
                  <a:srgbClr val="1b2148"/>
                </a:solidFill>
                <a:effectLst/>
                <a:uFillTx/>
                <a:latin typeface="Calibri"/>
                <a:ea typeface="Calibri"/>
              </a:rPr>
              <a:t>: partner bez ADHD często przejmuje planowanie, przypominanie i finanse, a relacja może zacząć przypominać układ rodzic–dziecko.</a:t>
            </a:r>
            <a:endParaRPr lang="pl-PL" sz="1400" b="0" u="none" strike="noStrike">
              <a:solidFill>
                <a:srgbClr val="000000"/>
              </a:solidFill>
              <a:effectLst/>
              <a:uFillTx/>
              <a:latin typeface="Arial"/>
            </a:endParaRPr>
          </a:p>
        </p:txBody>
      </p:sp>
      <p:sp>
        <p:nvSpPr>
          <p:cNvPr id="304" name="Text 22"/>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19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5"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RODZINA · POKOLENIA I BUDŻET</a:t>
            </a:r>
            <a:endParaRPr lang="pl-PL" sz="1100" b="0" u="none" strike="noStrike">
              <a:solidFill>
                <a:srgbClr val="000000"/>
              </a:solidFill>
              <a:effectLst/>
              <a:uFillTx/>
              <a:latin typeface="Arial"/>
            </a:endParaRPr>
          </a:p>
        </p:txBody>
      </p:sp>
      <p:sp>
        <p:nvSpPr>
          <p:cNvPr id="306"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200" b="1" u="none" strike="noStrike">
                <a:solidFill>
                  <a:srgbClr val="1b2148"/>
                </a:solidFill>
                <a:effectLst/>
                <a:uFillTx/>
                <a:latin typeface="Cambria"/>
                <a:ea typeface="Cambria"/>
              </a:rPr>
              <a:t>ADHD w rodzinie: </a:t>
            </a:r>
            <a:r>
              <a:rPr lang="pl-PL" sz="2200" b="0" u="none" strike="noStrike">
                <a:solidFill>
                  <a:srgbClr val="1b2148"/>
                </a:solidFill>
                <a:effectLst/>
                <a:uFillTx/>
                <a:latin typeface="Cambria"/>
                <a:ea typeface="Cambria"/>
              </a:rPr>
              <a:t>rodzic, dziecko i budżet domowy</a:t>
            </a:r>
            <a:endParaRPr lang="pl-PL" sz="2200" b="0" u="none" strike="noStrike">
              <a:solidFill>
                <a:srgbClr val="000000"/>
              </a:solidFill>
              <a:effectLst/>
              <a:uFillTx/>
              <a:latin typeface="Arial"/>
            </a:endParaRPr>
          </a:p>
        </p:txBody>
      </p:sp>
      <p:sp>
        <p:nvSpPr>
          <p:cNvPr id="307" name="Text 2"/>
          <p:cNvSpPr/>
          <p:nvPr/>
        </p:nvSpPr>
        <p:spPr>
          <a:xfrm>
            <a:off x="502920" y="1053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Efekty wielu drobnych trudności kumulują się w codziennym funkcjonowaniu</a:t>
            </a:r>
            <a:endParaRPr lang="pl-PL" sz="1200" b="0" u="none" strike="noStrike">
              <a:solidFill>
                <a:srgbClr val="000000"/>
              </a:solidFill>
              <a:effectLst/>
              <a:uFillTx/>
              <a:latin typeface="Arial"/>
            </a:endParaRPr>
          </a:p>
        </p:txBody>
      </p:sp>
      <p:sp>
        <p:nvSpPr>
          <p:cNvPr id="308" name="Shape 3"/>
          <p:cNvSpPr/>
          <p:nvPr/>
        </p:nvSpPr>
        <p:spPr>
          <a:xfrm>
            <a:off x="360000" y="1627560"/>
            <a:ext cx="2757600" cy="2880000"/>
          </a:xfrm>
          <a:prstGeom prst="roundRect">
            <a:avLst>
              <a:gd name="adj" fmla="val 3147"/>
            </a:avLst>
          </a:prstGeom>
          <a:solidFill>
            <a:srgbClr val="f4f6fa"/>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309" name="Text 4"/>
          <p:cNvSpPr/>
          <p:nvPr/>
        </p:nvSpPr>
        <p:spPr>
          <a:xfrm>
            <a:off x="649080" y="1684080"/>
            <a:ext cx="232236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2000" b="1" u="none" strike="noStrike">
                <a:solidFill>
                  <a:srgbClr val="1b2148"/>
                </a:solidFill>
                <a:effectLst/>
                <a:uFillTx/>
                <a:latin typeface="Cambria"/>
                <a:ea typeface="Cambria"/>
              </a:rPr>
              <a:t>ADHD u rodzica</a:t>
            </a:r>
            <a:endParaRPr lang="pl-PL" sz="2000" b="0" u="none" strike="noStrike">
              <a:solidFill>
                <a:srgbClr val="000000"/>
              </a:solidFill>
              <a:effectLst/>
              <a:uFillTx/>
              <a:latin typeface="Arial"/>
            </a:endParaRPr>
          </a:p>
        </p:txBody>
      </p:sp>
      <p:sp>
        <p:nvSpPr>
          <p:cNvPr id="310" name="Text 5"/>
          <p:cNvSpPr/>
          <p:nvPr/>
        </p:nvSpPr>
        <p:spPr>
          <a:xfrm>
            <a:off x="468000" y="2304360"/>
            <a:ext cx="2484000" cy="210276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8000"/>
              </a:lnSpc>
              <a:spcAft>
                <a:spcPts val="799"/>
              </a:spcAft>
              <a:buClr>
                <a:srgbClr val="1b2148"/>
              </a:buClr>
              <a:buFont typeface="Wingdings" charset="2"/>
              <a:buChar char=""/>
            </a:pPr>
            <a:r>
              <a:rPr lang="pl-PL" sz="1400" b="0" u="none" strike="noStrike">
                <a:solidFill>
                  <a:srgbClr val="1b2148"/>
                </a:solidFill>
                <a:effectLst/>
                <a:uFillTx/>
                <a:latin typeface="Calibri"/>
                <a:ea typeface="Calibri"/>
              </a:rPr>
              <a:t>Park et al. (2017), 32 badania: wyższe nasilenie rodzicielstwa surowego i niekonsekwentnego</a:t>
            </a:r>
            <a:endParaRPr lang="pl-PL" sz="1400" b="0" u="none" strike="noStrike">
              <a:solidFill>
                <a:srgbClr val="000000"/>
              </a:solidFill>
              <a:effectLst/>
              <a:uFillTx/>
              <a:latin typeface="Arial"/>
            </a:endParaRPr>
          </a:p>
          <a:p>
            <a:pPr marL="177840" indent="-177840" defTabSz="914400">
              <a:lnSpc>
                <a:spcPct val="108000"/>
              </a:lnSpc>
              <a:spcAft>
                <a:spcPts val="799"/>
              </a:spcAft>
              <a:buClr>
                <a:srgbClr val="1b2148"/>
              </a:buClr>
              <a:buFont typeface="Wingdings" charset="2"/>
              <a:buChar char=""/>
            </a:pPr>
            <a:r>
              <a:rPr lang="pl-PL" sz="1400" b="0" u="none" strike="noStrike">
                <a:solidFill>
                  <a:srgbClr val="1b2148"/>
                </a:solidFill>
                <a:effectLst/>
                <a:uFillTx/>
                <a:latin typeface="Calibri"/>
                <a:ea typeface="Calibri"/>
              </a:rPr>
              <a:t>Efekty małe, lecz kumulujące </a:t>
            </a:r>
            <a:br>
              <a:rPr sz="1400"/>
            </a:br>
            <a:r>
              <a:rPr lang="pl-PL" sz="1400" b="0" u="none" strike="noStrike">
                <a:solidFill>
                  <a:srgbClr val="1b2148"/>
                </a:solidFill>
                <a:effectLst/>
                <a:uFillTx/>
                <a:latin typeface="Calibri"/>
                <a:ea typeface="Calibri"/>
              </a:rPr>
              <a:t>się w codziennych rutynach</a:t>
            </a:r>
            <a:endParaRPr lang="pl-PL" sz="1400" b="0" u="none" strike="noStrike">
              <a:solidFill>
                <a:srgbClr val="000000"/>
              </a:solidFill>
              <a:effectLst/>
              <a:uFillTx/>
              <a:latin typeface="Arial"/>
            </a:endParaRPr>
          </a:p>
          <a:p>
            <a:pPr marL="177840" indent="-177840" defTabSz="914400">
              <a:lnSpc>
                <a:spcPct val="108000"/>
              </a:lnSpc>
              <a:spcAft>
                <a:spcPts val="799"/>
              </a:spcAft>
              <a:buClr>
                <a:srgbClr val="1b2148"/>
              </a:buClr>
              <a:buFont typeface="Wingdings" charset="2"/>
              <a:buChar char=""/>
            </a:pPr>
            <a:r>
              <a:rPr lang="pl-PL" sz="1400" b="0" u="none" strike="noStrike">
                <a:solidFill>
                  <a:srgbClr val="1b2148"/>
                </a:solidFill>
                <a:effectLst/>
                <a:uFillTx/>
                <a:latin typeface="Calibri"/>
                <a:ea typeface="Calibri"/>
              </a:rPr>
              <a:t>Znaczenie mają stałe rutyny </a:t>
            </a:r>
            <a:br>
              <a:rPr sz="1400"/>
            </a:br>
            <a:r>
              <a:rPr lang="pl-PL" sz="1400" b="0" u="none" strike="noStrike">
                <a:solidFill>
                  <a:srgbClr val="1b2148"/>
                </a:solidFill>
                <a:effectLst/>
                <a:uFillTx/>
                <a:latin typeface="Calibri"/>
                <a:ea typeface="Calibri"/>
              </a:rPr>
              <a:t>i wsparcie drugiego opiekuna</a:t>
            </a:r>
            <a:endParaRPr lang="pl-PL" sz="1400" b="0" u="none" strike="noStrike">
              <a:solidFill>
                <a:srgbClr val="000000"/>
              </a:solidFill>
              <a:effectLst/>
              <a:uFillTx/>
              <a:latin typeface="Arial"/>
            </a:endParaRPr>
          </a:p>
        </p:txBody>
      </p:sp>
      <p:sp>
        <p:nvSpPr>
          <p:cNvPr id="311" name="Shape 6"/>
          <p:cNvSpPr/>
          <p:nvPr/>
        </p:nvSpPr>
        <p:spPr>
          <a:xfrm>
            <a:off x="3264480" y="1627560"/>
            <a:ext cx="2614680" cy="2880000"/>
          </a:xfrm>
          <a:prstGeom prst="roundRect">
            <a:avLst>
              <a:gd name="adj" fmla="val 3147"/>
            </a:avLst>
          </a:prstGeom>
          <a:solidFill>
            <a:srgbClr val="fceadd"/>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312" name="Text 7"/>
          <p:cNvSpPr/>
          <p:nvPr/>
        </p:nvSpPr>
        <p:spPr>
          <a:xfrm>
            <a:off x="3410640" y="1684080"/>
            <a:ext cx="232236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2000" b="1" u="none" strike="noStrike">
                <a:solidFill>
                  <a:srgbClr val="c75a26"/>
                </a:solidFill>
                <a:effectLst/>
                <a:uFillTx/>
                <a:latin typeface="Cambria"/>
                <a:ea typeface="Cambria"/>
              </a:rPr>
              <a:t>ADHD u dziecka</a:t>
            </a:r>
            <a:endParaRPr lang="pl-PL" sz="2000" b="0" u="none" strike="noStrike">
              <a:solidFill>
                <a:srgbClr val="000000"/>
              </a:solidFill>
              <a:effectLst/>
              <a:uFillTx/>
              <a:latin typeface="Arial"/>
            </a:endParaRPr>
          </a:p>
        </p:txBody>
      </p:sp>
      <p:sp>
        <p:nvSpPr>
          <p:cNvPr id="313" name="Text 8"/>
          <p:cNvSpPr/>
          <p:nvPr/>
        </p:nvSpPr>
        <p:spPr>
          <a:xfrm>
            <a:off x="3338640" y="2304360"/>
            <a:ext cx="2468520" cy="210276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8000"/>
              </a:lnSpc>
              <a:spcAft>
                <a:spcPts val="799"/>
              </a:spcAft>
              <a:buClr>
                <a:srgbClr val="1b2148"/>
              </a:buClr>
              <a:buFont typeface="Wingdings" charset="2"/>
              <a:buChar char=""/>
            </a:pPr>
            <a:r>
              <a:rPr lang="pl-PL" sz="1400" b="0" u="none" strike="noStrike">
                <a:solidFill>
                  <a:srgbClr val="1b2148"/>
                </a:solidFill>
                <a:effectLst/>
                <a:uFillTx/>
                <a:latin typeface="Calibri"/>
                <a:ea typeface="Calibri"/>
              </a:rPr>
              <a:t>Większy przeciętny stres rodzicielski</a:t>
            </a:r>
            <a:endParaRPr lang="pl-PL" sz="1400" b="0" u="none" strike="noStrike">
              <a:solidFill>
                <a:srgbClr val="000000"/>
              </a:solidFill>
              <a:effectLst/>
              <a:uFillTx/>
              <a:latin typeface="Arial"/>
            </a:endParaRPr>
          </a:p>
          <a:p>
            <a:pPr marL="177840" indent="-177840" defTabSz="914400">
              <a:lnSpc>
                <a:spcPct val="108000"/>
              </a:lnSpc>
              <a:spcAft>
                <a:spcPts val="799"/>
              </a:spcAft>
              <a:buClr>
                <a:srgbClr val="1b2148"/>
              </a:buClr>
              <a:buFont typeface="Wingdings" charset="2"/>
              <a:buChar char=""/>
            </a:pPr>
            <a:r>
              <a:rPr lang="pl-PL" sz="1400" b="0" u="none" strike="noStrike">
                <a:solidFill>
                  <a:srgbClr val="1b2148"/>
                </a:solidFill>
                <a:effectLst/>
                <a:uFillTx/>
                <a:latin typeface="Calibri"/>
                <a:ea typeface="Calibri"/>
              </a:rPr>
              <a:t>Niedobór snu, ograniczenie pracy zawodowej</a:t>
            </a:r>
            <a:endParaRPr lang="pl-PL" sz="1400" b="0" u="none" strike="noStrike">
              <a:solidFill>
                <a:srgbClr val="000000"/>
              </a:solidFill>
              <a:effectLst/>
              <a:uFillTx/>
              <a:latin typeface="Arial"/>
            </a:endParaRPr>
          </a:p>
          <a:p>
            <a:pPr marL="177840" indent="-177840" defTabSz="914400">
              <a:lnSpc>
                <a:spcPct val="108000"/>
              </a:lnSpc>
              <a:spcAft>
                <a:spcPts val="799"/>
              </a:spcAft>
              <a:buClr>
                <a:srgbClr val="1b2148"/>
              </a:buClr>
              <a:buFont typeface="Wingdings" charset="2"/>
              <a:buChar char=""/>
            </a:pPr>
            <a:r>
              <a:rPr lang="pl-PL" sz="1400" b="0" u="none" strike="noStrike">
                <a:solidFill>
                  <a:srgbClr val="1b2148"/>
                </a:solidFill>
                <a:effectLst/>
                <a:uFillTx/>
                <a:latin typeface="Calibri"/>
                <a:ea typeface="Calibri"/>
              </a:rPr>
              <a:t>Mniejsza dostępność rodziców dla rodzeństwa i możliwe też efekty pozytywne (empatia)</a:t>
            </a:r>
            <a:endParaRPr lang="pl-PL" sz="1400" b="0" u="none" strike="noStrike">
              <a:solidFill>
                <a:srgbClr val="000000"/>
              </a:solidFill>
              <a:effectLst/>
              <a:uFillTx/>
              <a:latin typeface="Arial"/>
            </a:endParaRPr>
          </a:p>
        </p:txBody>
      </p:sp>
      <p:sp>
        <p:nvSpPr>
          <p:cNvPr id="314" name="Shape 9"/>
          <p:cNvSpPr/>
          <p:nvPr/>
        </p:nvSpPr>
        <p:spPr>
          <a:xfrm>
            <a:off x="6026040" y="1627560"/>
            <a:ext cx="2614680" cy="2880000"/>
          </a:xfrm>
          <a:prstGeom prst="roundRect">
            <a:avLst>
              <a:gd name="adj" fmla="val 3147"/>
            </a:avLst>
          </a:prstGeom>
          <a:solidFill>
            <a:srgbClr val="fbe5e8"/>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315" name="Text 10"/>
          <p:cNvSpPr/>
          <p:nvPr/>
        </p:nvSpPr>
        <p:spPr>
          <a:xfrm>
            <a:off x="6172200" y="1684080"/>
            <a:ext cx="232236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2000" b="1" u="none" strike="noStrike">
                <a:solidFill>
                  <a:srgbClr val="a12e3c"/>
                </a:solidFill>
                <a:effectLst/>
                <a:uFillTx/>
                <a:latin typeface="Cambria"/>
                <a:ea typeface="Cambria"/>
              </a:rPr>
              <a:t>Finanse rodziny</a:t>
            </a:r>
            <a:endParaRPr lang="pl-PL" sz="2000" b="0" u="none" strike="noStrike">
              <a:solidFill>
                <a:srgbClr val="000000"/>
              </a:solidFill>
              <a:effectLst/>
              <a:uFillTx/>
              <a:latin typeface="Arial"/>
            </a:endParaRPr>
          </a:p>
        </p:txBody>
      </p:sp>
      <p:sp>
        <p:nvSpPr>
          <p:cNvPr id="316" name="Text 11"/>
          <p:cNvSpPr/>
          <p:nvPr/>
        </p:nvSpPr>
        <p:spPr>
          <a:xfrm>
            <a:off x="6100200" y="2304360"/>
            <a:ext cx="2467800" cy="210276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8000"/>
              </a:lnSpc>
              <a:spcAft>
                <a:spcPts val="799"/>
              </a:spcAft>
              <a:buClr>
                <a:srgbClr val="1b2148"/>
              </a:buClr>
              <a:buFont typeface="Wingdings" charset="2"/>
              <a:buChar char=""/>
            </a:pPr>
            <a:r>
              <a:rPr lang="pl-PL" sz="1300" b="0" u="none" strike="noStrike">
                <a:solidFill>
                  <a:srgbClr val="1b2148"/>
                </a:solidFill>
                <a:effectLst/>
                <a:uFillTx/>
                <a:latin typeface="Calibri"/>
                <a:ea typeface="Calibri"/>
              </a:rPr>
              <a:t>„Podatek wykonawczy ADHD”: impulsywne zakupy, mandaty, nieterminowe opłaty</a:t>
            </a:r>
            <a:endParaRPr lang="pl-PL" sz="1300" b="0" u="none" strike="noStrike">
              <a:solidFill>
                <a:srgbClr val="000000"/>
              </a:solidFill>
              <a:effectLst/>
              <a:uFillTx/>
              <a:latin typeface="Arial"/>
            </a:endParaRPr>
          </a:p>
          <a:p>
            <a:pPr marL="177840" indent="-177840" defTabSz="914400">
              <a:lnSpc>
                <a:spcPct val="108000"/>
              </a:lnSpc>
              <a:spcAft>
                <a:spcPts val="799"/>
              </a:spcAft>
              <a:buClr>
                <a:srgbClr val="1b2148"/>
              </a:buClr>
              <a:buFont typeface="Wingdings" charset="2"/>
              <a:buChar char=""/>
            </a:pPr>
            <a:r>
              <a:rPr lang="pl-PL" sz="1300" b="0" u="none" strike="noStrike">
                <a:solidFill>
                  <a:srgbClr val="1b2148"/>
                </a:solidFill>
                <a:effectLst/>
                <a:uFillTx/>
                <a:latin typeface="Calibri"/>
                <a:ea typeface="Calibri"/>
              </a:rPr>
              <a:t>Niewykorzystane subskrypcje, zgubione przedmioty</a:t>
            </a:r>
            <a:endParaRPr lang="pl-PL" sz="1300" b="0" u="none" strike="noStrike">
              <a:solidFill>
                <a:srgbClr val="000000"/>
              </a:solidFill>
              <a:effectLst/>
              <a:uFillTx/>
              <a:latin typeface="Arial"/>
            </a:endParaRPr>
          </a:p>
          <a:p>
            <a:pPr marL="177840" indent="-177840" defTabSz="914400">
              <a:lnSpc>
                <a:spcPct val="108000"/>
              </a:lnSpc>
              <a:spcAft>
                <a:spcPts val="799"/>
              </a:spcAft>
              <a:buClr>
                <a:srgbClr val="1b2148"/>
              </a:buClr>
              <a:buFont typeface="Wingdings" charset="2"/>
              <a:buChar char=""/>
            </a:pPr>
            <a:r>
              <a:rPr lang="pl-PL" sz="1300" b="0" u="none" strike="noStrike">
                <a:solidFill>
                  <a:srgbClr val="1b2148"/>
                </a:solidFill>
                <a:effectLst/>
                <a:uFillTx/>
                <a:latin typeface="Calibri"/>
                <a:ea typeface="Calibri"/>
              </a:rPr>
              <a:t>Koszt wynika z trudności </a:t>
            </a:r>
            <a:br>
              <a:rPr sz="1300"/>
            </a:br>
            <a:r>
              <a:rPr lang="pl-PL" sz="1300" b="0" u="none" strike="noStrike">
                <a:solidFill>
                  <a:srgbClr val="1b2148"/>
                </a:solidFill>
                <a:effectLst/>
                <a:uFillTx/>
                <a:latin typeface="Calibri"/>
                <a:ea typeface="Calibri"/>
              </a:rPr>
              <a:t>w przekładaniu intencji na działanie, nie z braku wiedzy</a:t>
            </a:r>
            <a:endParaRPr lang="pl-PL" sz="1300" b="0" u="none" strike="noStrike">
              <a:solidFill>
                <a:srgbClr val="000000"/>
              </a:solidFill>
              <a:effectLst/>
              <a:uFillTx/>
              <a:latin typeface="Arial"/>
            </a:endParaRPr>
          </a:p>
        </p:txBody>
      </p:sp>
      <p:sp>
        <p:nvSpPr>
          <p:cNvPr id="317" name="Text 12"/>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20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8"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KOSZTY SPOŁECZNE</a:t>
            </a:r>
            <a:endParaRPr lang="pl-PL" sz="1100" b="0" u="none" strike="noStrike">
              <a:solidFill>
                <a:srgbClr val="000000"/>
              </a:solidFill>
              <a:effectLst/>
              <a:uFillTx/>
              <a:latin typeface="Arial"/>
            </a:endParaRPr>
          </a:p>
        </p:txBody>
      </p:sp>
      <p:sp>
        <p:nvSpPr>
          <p:cNvPr id="319"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200" b="1" u="none" strike="noStrike">
                <a:solidFill>
                  <a:srgbClr val="1b2148"/>
                </a:solidFill>
                <a:effectLst/>
                <a:uFillTx/>
                <a:latin typeface="Cambria"/>
                <a:ea typeface="Cambria"/>
              </a:rPr>
              <a:t>Koszty społeczne ADHD liczone są w miliardach dolarów</a:t>
            </a:r>
            <a:endParaRPr lang="pl-PL" sz="2200" b="0" u="none" strike="noStrike">
              <a:solidFill>
                <a:srgbClr val="000000"/>
              </a:solidFill>
              <a:effectLst/>
              <a:uFillTx/>
              <a:latin typeface="Arial"/>
            </a:endParaRPr>
          </a:p>
        </p:txBody>
      </p:sp>
      <p:sp>
        <p:nvSpPr>
          <p:cNvPr id="320" name="Text 2"/>
          <p:cNvSpPr/>
          <p:nvPr/>
        </p:nvSpPr>
        <p:spPr>
          <a:xfrm>
            <a:off x="502920" y="1017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Wydatki bezpośrednie i pośrednie, a w dużej mierze poza systemem psychiatrycznym</a:t>
            </a:r>
            <a:endParaRPr lang="pl-PL" sz="1200" b="0" u="none" strike="noStrike">
              <a:solidFill>
                <a:srgbClr val="000000"/>
              </a:solidFill>
              <a:effectLst/>
              <a:uFillTx/>
              <a:latin typeface="Arial"/>
            </a:endParaRPr>
          </a:p>
        </p:txBody>
      </p:sp>
      <p:sp>
        <p:nvSpPr>
          <p:cNvPr id="321" name="Shape 3"/>
          <p:cNvSpPr/>
          <p:nvPr/>
        </p:nvSpPr>
        <p:spPr>
          <a:xfrm>
            <a:off x="502920" y="1519560"/>
            <a:ext cx="2614680" cy="1371240"/>
          </a:xfrm>
          <a:prstGeom prst="roundRect">
            <a:avLst>
              <a:gd name="adj" fmla="val 6000"/>
            </a:avLst>
          </a:prstGeom>
          <a:solidFill>
            <a:srgbClr val="1b2148"/>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322" name="Text 4"/>
          <p:cNvSpPr/>
          <p:nvPr/>
        </p:nvSpPr>
        <p:spPr>
          <a:xfrm>
            <a:off x="594360" y="1629360"/>
            <a:ext cx="243180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2800" b="1" u="none" strike="noStrike">
                <a:solidFill>
                  <a:srgbClr val="e8743a"/>
                </a:solidFill>
                <a:effectLst/>
                <a:uFillTx/>
                <a:latin typeface="Cambria"/>
                <a:ea typeface="Cambria"/>
              </a:rPr>
              <a:t>122,8 mld $</a:t>
            </a:r>
            <a:endParaRPr lang="pl-PL" sz="2800" b="0" u="none" strike="noStrike">
              <a:solidFill>
                <a:srgbClr val="000000"/>
              </a:solidFill>
              <a:effectLst/>
              <a:uFillTx/>
              <a:latin typeface="Arial"/>
            </a:endParaRPr>
          </a:p>
        </p:txBody>
      </p:sp>
      <p:sp>
        <p:nvSpPr>
          <p:cNvPr id="323" name="Text 5"/>
          <p:cNvSpPr/>
          <p:nvPr/>
        </p:nvSpPr>
        <p:spPr>
          <a:xfrm>
            <a:off x="667440" y="2223720"/>
            <a:ext cx="2285640" cy="6213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200" b="0" u="none" strike="noStrike">
                <a:solidFill>
                  <a:srgbClr val="c7cdee"/>
                </a:solidFill>
                <a:effectLst/>
                <a:uFillTx/>
                <a:latin typeface="Calibri"/>
                <a:ea typeface="Calibri"/>
              </a:rPr>
              <a:t>nadwyżkowe koszty społeczne ADHD u dorosłych w USA, 2018 r.</a:t>
            </a:r>
            <a:endParaRPr lang="pl-PL" sz="1200" b="0" u="none" strike="noStrike">
              <a:solidFill>
                <a:srgbClr val="000000"/>
              </a:solidFill>
              <a:effectLst/>
              <a:uFillTx/>
              <a:latin typeface="Arial"/>
            </a:endParaRPr>
          </a:p>
        </p:txBody>
      </p:sp>
      <p:sp>
        <p:nvSpPr>
          <p:cNvPr id="324" name="Shape 6"/>
          <p:cNvSpPr/>
          <p:nvPr/>
        </p:nvSpPr>
        <p:spPr>
          <a:xfrm>
            <a:off x="3264480" y="1519560"/>
            <a:ext cx="2614680" cy="1371240"/>
          </a:xfrm>
          <a:prstGeom prst="roundRect">
            <a:avLst>
              <a:gd name="adj" fmla="val 6000"/>
            </a:avLst>
          </a:prstGeom>
          <a:solidFill>
            <a:srgbClr val="1b2148"/>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325" name="Text 7"/>
          <p:cNvSpPr/>
          <p:nvPr/>
        </p:nvSpPr>
        <p:spPr>
          <a:xfrm>
            <a:off x="3355920" y="1629360"/>
            <a:ext cx="243180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3200" b="1" u="none" strike="noStrike">
                <a:solidFill>
                  <a:srgbClr val="e8743a"/>
                </a:solidFill>
                <a:effectLst/>
                <a:uFillTx/>
                <a:latin typeface="Cambria"/>
                <a:ea typeface="Cambria"/>
              </a:rPr>
              <a:t>14 092 $</a:t>
            </a:r>
            <a:endParaRPr lang="pl-PL" sz="3200" b="0" u="none" strike="noStrike">
              <a:solidFill>
                <a:srgbClr val="000000"/>
              </a:solidFill>
              <a:effectLst/>
              <a:uFillTx/>
              <a:latin typeface="Arial"/>
            </a:endParaRPr>
          </a:p>
        </p:txBody>
      </p:sp>
      <p:sp>
        <p:nvSpPr>
          <p:cNvPr id="326" name="Text 8"/>
          <p:cNvSpPr/>
          <p:nvPr/>
        </p:nvSpPr>
        <p:spPr>
          <a:xfrm>
            <a:off x="3429000" y="2223720"/>
            <a:ext cx="2285640" cy="6213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200" b="0" u="none" strike="noStrike">
                <a:solidFill>
                  <a:srgbClr val="c7cdee"/>
                </a:solidFill>
                <a:effectLst/>
                <a:uFillTx/>
                <a:latin typeface="Calibri"/>
                <a:ea typeface="Calibri"/>
              </a:rPr>
              <a:t>średni koszt przypadający na jedną dorosłą osobę z ADHD rocznie</a:t>
            </a:r>
            <a:endParaRPr lang="pl-PL" sz="1200" b="0" u="none" strike="noStrike">
              <a:solidFill>
                <a:srgbClr val="000000"/>
              </a:solidFill>
              <a:effectLst/>
              <a:uFillTx/>
              <a:latin typeface="Arial"/>
            </a:endParaRPr>
          </a:p>
        </p:txBody>
      </p:sp>
      <p:sp>
        <p:nvSpPr>
          <p:cNvPr id="327" name="Shape 9"/>
          <p:cNvSpPr/>
          <p:nvPr/>
        </p:nvSpPr>
        <p:spPr>
          <a:xfrm>
            <a:off x="6026040" y="1519560"/>
            <a:ext cx="2614680" cy="1371240"/>
          </a:xfrm>
          <a:prstGeom prst="roundRect">
            <a:avLst>
              <a:gd name="adj" fmla="val 6000"/>
            </a:avLst>
          </a:prstGeom>
          <a:solidFill>
            <a:srgbClr val="1b2148"/>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328" name="Text 10"/>
          <p:cNvSpPr/>
          <p:nvPr/>
        </p:nvSpPr>
        <p:spPr>
          <a:xfrm>
            <a:off x="6117480" y="1629360"/>
            <a:ext cx="243180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2800" b="1" u="none" strike="noStrike">
                <a:solidFill>
                  <a:srgbClr val="e8743a"/>
                </a:solidFill>
                <a:effectLst/>
                <a:uFillTx/>
                <a:latin typeface="Cambria"/>
                <a:ea typeface="Cambria"/>
              </a:rPr>
              <a:t>143–266 mld $</a:t>
            </a:r>
            <a:endParaRPr lang="pl-PL" sz="2800" b="0" u="none" strike="noStrike">
              <a:solidFill>
                <a:srgbClr val="000000"/>
              </a:solidFill>
              <a:effectLst/>
              <a:uFillTx/>
              <a:latin typeface="Arial"/>
            </a:endParaRPr>
          </a:p>
        </p:txBody>
      </p:sp>
      <p:sp>
        <p:nvSpPr>
          <p:cNvPr id="329" name="Text 11"/>
          <p:cNvSpPr/>
          <p:nvPr/>
        </p:nvSpPr>
        <p:spPr>
          <a:xfrm>
            <a:off x="6190560" y="2223720"/>
            <a:ext cx="2285640" cy="6213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200" b="0" u="none" strike="noStrike">
                <a:solidFill>
                  <a:srgbClr val="c7cdee"/>
                </a:solidFill>
                <a:effectLst/>
                <a:uFillTx/>
                <a:latin typeface="Calibri"/>
                <a:ea typeface="Calibri"/>
              </a:rPr>
              <a:t>roczny koszt łączny: dzieci, dorośli </a:t>
            </a:r>
            <a:br>
              <a:rPr sz="1200"/>
            </a:br>
            <a:r>
              <a:rPr lang="pl-PL" sz="1200" b="0" u="none" strike="noStrike">
                <a:solidFill>
                  <a:srgbClr val="c7cdee"/>
                </a:solidFill>
                <a:effectLst/>
                <a:uFillTx/>
                <a:latin typeface="Calibri"/>
                <a:ea typeface="Calibri"/>
              </a:rPr>
              <a:t>i ich rodziny (Doshi et al., 2012)</a:t>
            </a:r>
            <a:endParaRPr lang="pl-PL" sz="1200" b="0" u="none" strike="noStrike">
              <a:solidFill>
                <a:srgbClr val="000000"/>
              </a:solidFill>
              <a:effectLst/>
              <a:uFillTx/>
              <a:latin typeface="Arial"/>
            </a:endParaRPr>
          </a:p>
        </p:txBody>
      </p:sp>
      <p:graphicFrame>
        <p:nvGraphicFramePr>
          <p:cNvPr id="330" name="Table 0"/>
          <p:cNvGraphicFramePr/>
          <p:nvPr/>
        </p:nvGraphicFramePr>
        <p:xfrm>
          <a:off x="502920" y="3046680"/>
          <a:ext cx="8137800" cy="1462680"/>
        </p:xfrm>
        <a:graphic>
          <a:graphicData uri="http://schemas.openxmlformats.org/drawingml/2006/table">
            <a:tbl>
              <a:tblPr/>
              <a:tblGrid>
                <a:gridCol w="2331720"/>
                <a:gridCol w="5806440"/>
              </a:tblGrid>
              <a:tr h="365760">
                <a:tc>
                  <a:txBody>
                    <a:bodyPr tIns="36360" bIns="36360" anchor="ctr">
                      <a:noAutofit/>
                    </a:bodyPr>
                    <a:p>
                      <a:pPr defTabSz="914400">
                        <a:lnSpc>
                          <a:spcPct val="100000"/>
                        </a:lnSpc>
                        <a:tabLst>
                          <a:tab algn="l" pos="0"/>
                        </a:tabLst>
                      </a:pPr>
                      <a:r>
                        <a:rPr lang="pl-PL" sz="1400" b="1" u="none" strike="noStrike">
                          <a:solidFill>
                            <a:srgbClr val="ffffff"/>
                          </a:solidFill>
                          <a:effectLst/>
                          <a:uFillTx/>
                          <a:latin typeface="Calibri"/>
                          <a:ea typeface="Calibri"/>
                        </a:rPr>
                        <a:t>Kategoria</a:t>
                      </a:r>
                      <a:endParaRPr lang="pl-PL" sz="1400" b="0" u="none" strike="noStrike">
                        <a:solidFill>
                          <a:srgbClr val="ffffff"/>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1b2148"/>
                    </a:solidFill>
                  </a:tcPr>
                </a:tc>
                <a:tc>
                  <a:txBody>
                    <a:bodyPr tIns="36360" bIns="36360" anchor="ctr">
                      <a:noAutofit/>
                    </a:bodyPr>
                    <a:p>
                      <a:pPr defTabSz="914400">
                        <a:lnSpc>
                          <a:spcPct val="100000"/>
                        </a:lnSpc>
                        <a:tabLst>
                          <a:tab algn="l" pos="0"/>
                        </a:tabLst>
                      </a:pPr>
                      <a:r>
                        <a:rPr lang="en-US" sz="1400" b="1" u="none" strike="noStrike">
                          <a:solidFill>
                            <a:srgbClr val="ffffff"/>
                          </a:solidFill>
                          <a:effectLst/>
                          <a:uFillTx/>
                          <a:latin typeface="Calibri"/>
                          <a:ea typeface="Calibri"/>
                        </a:rPr>
                        <a:t>Przykładowe składowe</a:t>
                      </a:r>
                      <a:endParaRPr lang="pl-PL" sz="1400" b="0" u="none" strike="noStrike">
                        <a:solidFill>
                          <a:srgbClr val="ffffff"/>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1b2148"/>
                    </a:solidFill>
                  </a:tcPr>
                </a:tc>
              </a:tr>
              <a:tr h="365760">
                <a:tc>
                  <a:txBody>
                    <a:bodyPr tIns="36360" bIns="36360" anchor="ctr">
                      <a:noAutofit/>
                    </a:bodyPr>
                    <a:p>
                      <a:pPr defTabSz="914400">
                        <a:lnSpc>
                          <a:spcPct val="100000"/>
                        </a:lnSpc>
                        <a:tabLst>
                          <a:tab algn="l" pos="0"/>
                        </a:tabLst>
                      </a:pPr>
                      <a:r>
                        <a:rPr lang="en-US" sz="1200" b="1" u="none" strike="noStrike">
                          <a:solidFill>
                            <a:srgbClr val="1b2148"/>
                          </a:solidFill>
                          <a:effectLst/>
                          <a:uFillTx/>
                          <a:latin typeface="Calibri"/>
                          <a:ea typeface="Calibri"/>
                        </a:rPr>
                        <a:t>Ochrona zdrowia</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c>
                  <a:txBody>
                    <a:bodyPr tIns="36360" bIns="36360" anchor="ctr">
                      <a:noAutofit/>
                    </a:bodyPr>
                    <a:p>
                      <a:pPr defTabSz="914400">
                        <a:lnSpc>
                          <a:spcPct val="100000"/>
                        </a:lnSpc>
                        <a:tabLst>
                          <a:tab algn="l" pos="0"/>
                        </a:tabLst>
                      </a:pPr>
                      <a:r>
                        <a:rPr lang="en-US" sz="1200" b="0" u="none" strike="noStrike">
                          <a:solidFill>
                            <a:srgbClr val="55607a"/>
                          </a:solidFill>
                          <a:effectLst/>
                          <a:uFillTx/>
                          <a:latin typeface="Calibri"/>
                          <a:ea typeface="Calibri"/>
                        </a:rPr>
                        <a:t>Diagnoza, leki, konsultacje, hospitalizacje, leczenie SUD i urazów</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r>
              <a:tr h="365760">
                <a:tc>
                  <a:txBody>
                    <a:bodyPr tIns="36360" bIns="36360" anchor="ctr">
                      <a:noAutofit/>
                    </a:bodyPr>
                    <a:p>
                      <a:pPr defTabSz="914400">
                        <a:lnSpc>
                          <a:spcPct val="100000"/>
                        </a:lnSpc>
                        <a:tabLst>
                          <a:tab algn="l" pos="0"/>
                        </a:tabLst>
                      </a:pPr>
                      <a:r>
                        <a:rPr lang="en-US" sz="1200" b="1" u="none" strike="noStrike">
                          <a:solidFill>
                            <a:srgbClr val="1b2148"/>
                          </a:solidFill>
                          <a:effectLst/>
                          <a:uFillTx/>
                          <a:latin typeface="Calibri"/>
                          <a:ea typeface="Calibri"/>
                        </a:rPr>
                        <a:t>Edukacja i praca</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c>
                  <a:txBody>
                    <a:bodyPr tIns="36360" bIns="36360" anchor="ctr">
                      <a:noAutofit/>
                    </a:bodyPr>
                    <a:p>
                      <a:pPr defTabSz="914400">
                        <a:lnSpc>
                          <a:spcPct val="100000"/>
                        </a:lnSpc>
                        <a:tabLst>
                          <a:tab algn="l" pos="0"/>
                        </a:tabLst>
                      </a:pPr>
                      <a:r>
                        <a:rPr lang="en-US" sz="1200" b="0" u="none" strike="noStrike">
                          <a:solidFill>
                            <a:srgbClr val="55607a"/>
                          </a:solidFill>
                          <a:effectLst/>
                          <a:uFillTx/>
                          <a:latin typeface="Calibri"/>
                          <a:ea typeface="Calibri"/>
                        </a:rPr>
                        <a:t>Wsparcie specjalistyczne, powtarzanie klasy, absencja, prezenteizm, bezrobocie</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r>
              <a:tr h="365760">
                <a:tc>
                  <a:txBody>
                    <a:bodyPr tIns="36360" bIns="36360" anchor="ctr">
                      <a:noAutofit/>
                    </a:bodyPr>
                    <a:p>
                      <a:pPr defTabSz="914400">
                        <a:lnSpc>
                          <a:spcPct val="100000"/>
                        </a:lnSpc>
                        <a:tabLst>
                          <a:tab algn="l" pos="0"/>
                        </a:tabLst>
                      </a:pPr>
                      <a:r>
                        <a:rPr lang="en-US" sz="1200" b="1" u="none" strike="noStrike">
                          <a:solidFill>
                            <a:srgbClr val="1b2148"/>
                          </a:solidFill>
                          <a:effectLst/>
                          <a:uFillTx/>
                          <a:latin typeface="Calibri"/>
                          <a:ea typeface="Calibri"/>
                        </a:rPr>
                        <a:t>Rodzina, wypadki, prawo</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c>
                  <a:txBody>
                    <a:bodyPr tIns="36360" bIns="36360" anchor="ctr">
                      <a:noAutofit/>
                    </a:bodyPr>
                    <a:p>
                      <a:pPr defTabSz="914400">
                        <a:lnSpc>
                          <a:spcPct val="100000"/>
                        </a:lnSpc>
                        <a:tabLst>
                          <a:tab algn="l" pos="0"/>
                        </a:tabLst>
                      </a:pPr>
                      <a:r>
                        <a:rPr lang="en-US" sz="1200" b="0" u="none" strike="noStrike">
                          <a:solidFill>
                            <a:srgbClr val="55607a"/>
                          </a:solidFill>
                          <a:effectLst/>
                          <a:uFillTx/>
                          <a:latin typeface="Calibri"/>
                          <a:ea typeface="Calibri"/>
                        </a:rPr>
                        <a:t>Obciążenie opiekunów, leczenie urazów, policja, sądy, więziennictwo</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r>
            </a:tbl>
          </a:graphicData>
        </a:graphic>
      </p:graphicFrame>
      <p:sp>
        <p:nvSpPr>
          <p:cNvPr id="331" name="Text 12"/>
          <p:cNvSpPr/>
          <p:nvPr/>
        </p:nvSpPr>
        <p:spPr>
          <a:xfrm>
            <a:off x="502920" y="4626720"/>
            <a:ext cx="813780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950" b="0" i="1" u="none" strike="noStrike">
                <a:solidFill>
                  <a:srgbClr val="96a0bc"/>
                </a:solidFill>
                <a:effectLst/>
                <a:uFillTx/>
                <a:latin typeface="Calibri"/>
                <a:ea typeface="Calibri"/>
              </a:rPr>
              <a:t>Dla Polski nie istnieje obecnie równie pełne oszacowanie — mechaniczne przeliczenie kosztów USD na PLN byłoby niepoprawne metodologicznie.</a:t>
            </a:r>
            <a:endParaRPr lang="pl-PL" sz="950" b="0" u="none" strike="noStrike">
              <a:solidFill>
                <a:srgbClr val="000000"/>
              </a:solidFill>
              <a:effectLst/>
              <a:uFillTx/>
              <a:latin typeface="Arial"/>
            </a:endParaRPr>
          </a:p>
        </p:txBody>
      </p:sp>
      <p:sp>
        <p:nvSpPr>
          <p:cNvPr id="332" name="Text 13"/>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21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3"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SYNTEZA · META-ANALIZA</a:t>
            </a:r>
            <a:endParaRPr lang="pl-PL" sz="1100" b="0" u="none" strike="noStrike">
              <a:solidFill>
                <a:srgbClr val="000000"/>
              </a:solidFill>
              <a:effectLst/>
              <a:uFillTx/>
              <a:latin typeface="Arial"/>
            </a:endParaRPr>
          </a:p>
        </p:txBody>
      </p:sp>
      <p:sp>
        <p:nvSpPr>
          <p:cNvPr id="334"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200" b="1" u="none" strike="noStrike">
                <a:solidFill>
                  <a:srgbClr val="1b2148"/>
                </a:solidFill>
                <a:effectLst/>
                <a:uFillTx/>
                <a:latin typeface="Cambria"/>
                <a:ea typeface="Cambria"/>
              </a:rPr>
              <a:t>Osoby z ADHD osiągają systematycznie gorsze wyniki życiowe</a:t>
            </a:r>
            <a:endParaRPr lang="pl-PL" sz="2200" b="0" u="none" strike="noStrike">
              <a:solidFill>
                <a:srgbClr val="000000"/>
              </a:solidFill>
              <a:effectLst/>
              <a:uFillTx/>
              <a:latin typeface="Arial"/>
            </a:endParaRPr>
          </a:p>
        </p:txBody>
      </p:sp>
      <p:sp>
        <p:nvSpPr>
          <p:cNvPr id="335" name="Text 2"/>
          <p:cNvSpPr/>
          <p:nvPr/>
        </p:nvSpPr>
        <p:spPr>
          <a:xfrm>
            <a:off x="502920" y="1089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Faraone et al. (2021) — 86 badań, N = 2 639 438 (dzieci, młodzież i dorośli)</a:t>
            </a:r>
            <a:endParaRPr lang="pl-PL" sz="1200" b="0" u="none" strike="noStrike">
              <a:solidFill>
                <a:srgbClr val="000000"/>
              </a:solidFill>
              <a:effectLst/>
              <a:uFillTx/>
              <a:latin typeface="Arial"/>
            </a:endParaRPr>
          </a:p>
        </p:txBody>
      </p:sp>
      <p:graphicFrame>
        <p:nvGraphicFramePr>
          <p:cNvPr id="336" name="Chart 0"/>
          <p:cNvGraphicFramePr/>
          <p:nvPr/>
        </p:nvGraphicFramePr>
        <p:xfrm>
          <a:off x="411480" y="1410480"/>
          <a:ext cx="8320680" cy="2697120"/>
        </p:xfrm>
        <a:graphic>
          <a:graphicData uri="http://schemas.openxmlformats.org/drawingml/2006/chart">
            <c:chart xmlns:c="http://schemas.openxmlformats.org/drawingml/2006/chart" xmlns:r="http://schemas.openxmlformats.org/officeDocument/2006/relationships" r:id="rId1"/>
          </a:graphicData>
        </a:graphic>
      </p:graphicFrame>
      <p:sp>
        <p:nvSpPr>
          <p:cNvPr id="337" name="Text 3"/>
          <p:cNvSpPr/>
          <p:nvPr/>
        </p:nvSpPr>
        <p:spPr>
          <a:xfrm>
            <a:off x="540000" y="4248000"/>
            <a:ext cx="8137800" cy="396000"/>
          </a:xfrm>
          <a:prstGeom prst="rect">
            <a:avLst/>
          </a:prstGeom>
          <a:noFill/>
          <a:ln w="0">
            <a:noFill/>
          </a:ln>
        </p:spPr>
        <p:style>
          <a:lnRef idx="0"/>
          <a:fillRef idx="0"/>
          <a:effectRef idx="0"/>
          <a:fontRef idx="minor"/>
        </p:style>
        <p:txBody>
          <a:bodyPr lIns="0" rIns="0" tIns="0" bIns="0" anchor="ctr" anchorCtr="1">
            <a:noAutofit/>
          </a:bodyPr>
          <a:p>
            <a:pPr algn="ctr" defTabSz="914400">
              <a:lnSpc>
                <a:spcPct val="100000"/>
              </a:lnSpc>
              <a:tabLst>
                <a:tab algn="l" pos="0"/>
              </a:tabLst>
            </a:pPr>
            <a:r>
              <a:rPr lang="pl-PL" sz="1600" b="0" i="1" u="none" strike="noStrike">
                <a:solidFill>
                  <a:srgbClr val="55607a"/>
                </a:solidFill>
                <a:effectLst/>
                <a:uFillTx/>
                <a:latin typeface="Calibri"/>
                <a:ea typeface="Calibri"/>
              </a:rPr>
              <a:t>Cohen's d (wartości ujemne = wyniki gorsze niż u osób bez ADHD)  </a:t>
            </a:r>
            <a:endParaRPr lang="pl-PL" sz="1600" b="0" u="none" strike="noStrike">
              <a:solidFill>
                <a:srgbClr val="000000"/>
              </a:solidFill>
              <a:effectLst/>
              <a:uFillTx/>
              <a:latin typeface="Arial"/>
            </a:endParaRPr>
          </a:p>
          <a:p>
            <a:pPr algn="ctr" defTabSz="914400">
              <a:lnSpc>
                <a:spcPct val="100000"/>
              </a:lnSpc>
              <a:tabLst>
                <a:tab algn="l" pos="0"/>
              </a:tabLst>
            </a:pPr>
            <a:r>
              <a:rPr lang="pl-PL" sz="1600" b="0" i="1" u="none" strike="noStrike">
                <a:solidFill>
                  <a:srgbClr val="55607a"/>
                </a:solidFill>
                <a:effectLst/>
                <a:uFillTx/>
                <a:latin typeface="Calibri"/>
                <a:ea typeface="Calibri"/>
              </a:rPr>
              <a:t>·  interpretacja: 0,2 mały · 0,5 umiarkowany · 0,8 duży efekt</a:t>
            </a:r>
            <a:endParaRPr lang="pl-PL" sz="1600" b="0" u="none" strike="noStrike">
              <a:solidFill>
                <a:srgbClr val="000000"/>
              </a:solidFill>
              <a:effectLst/>
              <a:uFillTx/>
              <a:latin typeface="Arial"/>
            </a:endParaRPr>
          </a:p>
        </p:txBody>
      </p:sp>
      <p:sp>
        <p:nvSpPr>
          <p:cNvPr id="338" name="Text 4"/>
          <p:cNvSpPr/>
          <p:nvPr/>
        </p:nvSpPr>
        <p:spPr>
          <a:xfrm>
            <a:off x="142200" y="4869720"/>
            <a:ext cx="813780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850" b="0" i="1" u="none" strike="noStrike">
                <a:solidFill>
                  <a:srgbClr val="96a0bc"/>
                </a:solidFill>
                <a:effectLst/>
                <a:uFillTx/>
                <a:latin typeface="Calibri"/>
                <a:ea typeface="Calibri"/>
              </a:rPr>
              <a:t>Źródło: Faraone, S. V., Banaschewski, T., Coghill, D., et al. (2021). The World Federation of ADHD international consensus statement. Neuroscience &amp; Biobehavioral Reviews, 128, 789–818.</a:t>
            </a:r>
            <a:endParaRPr lang="pl-PL" sz="850" b="0" u="none" strike="noStrike">
              <a:solidFill>
                <a:srgbClr val="000000"/>
              </a:solidFill>
              <a:effectLst/>
              <a:uFillTx/>
              <a:latin typeface="Arial"/>
            </a:endParaRPr>
          </a:p>
        </p:txBody>
      </p:sp>
      <p:sp>
        <p:nvSpPr>
          <p:cNvPr id="339" name="Text 5"/>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22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0"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LECZENIE · MODEL</a:t>
            </a:r>
            <a:endParaRPr lang="pl-PL" sz="1100" b="0" u="none" strike="noStrike">
              <a:solidFill>
                <a:srgbClr val="000000"/>
              </a:solidFill>
              <a:effectLst/>
              <a:uFillTx/>
              <a:latin typeface="Arial"/>
            </a:endParaRPr>
          </a:p>
        </p:txBody>
      </p:sp>
      <p:sp>
        <p:nvSpPr>
          <p:cNvPr id="341"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100" b="1" u="none" strike="noStrike">
                <a:solidFill>
                  <a:srgbClr val="1b2148"/>
                </a:solidFill>
                <a:effectLst/>
                <a:uFillTx/>
                <a:latin typeface="Cambria"/>
                <a:ea typeface="Cambria"/>
              </a:rPr>
              <a:t>Leczenie wielomodalne: </a:t>
            </a:r>
            <a:r>
              <a:rPr lang="pl-PL" sz="2100" b="0" u="none" strike="noStrike">
                <a:solidFill>
                  <a:srgbClr val="1b2148"/>
                </a:solidFill>
                <a:effectLst/>
                <a:uFillTx/>
                <a:latin typeface="Cambria"/>
                <a:ea typeface="Cambria"/>
              </a:rPr>
              <a:t>co działa, a co wymaga więcej dowodów</a:t>
            </a:r>
            <a:endParaRPr lang="pl-PL" sz="2100" b="0" u="none" strike="noStrike">
              <a:solidFill>
                <a:srgbClr val="000000"/>
              </a:solidFill>
              <a:effectLst/>
              <a:uFillTx/>
              <a:latin typeface="Arial"/>
            </a:endParaRPr>
          </a:p>
        </p:txBody>
      </p:sp>
      <p:sp>
        <p:nvSpPr>
          <p:cNvPr id="342" name="Text 2"/>
          <p:cNvSpPr/>
          <p:nvPr/>
        </p:nvSpPr>
        <p:spPr>
          <a:xfrm>
            <a:off x="502920" y="1053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Najsilniejsze dowody dotyczą redukcji objawów. Dla wyników funkcjonalnych efekty są mniejsze, ale klinicznie istotne</a:t>
            </a:r>
            <a:endParaRPr lang="pl-PL" sz="1200" b="0" u="none" strike="noStrike">
              <a:solidFill>
                <a:srgbClr val="000000"/>
              </a:solidFill>
              <a:effectLst/>
              <a:uFillTx/>
              <a:latin typeface="Arial"/>
            </a:endParaRPr>
          </a:p>
        </p:txBody>
      </p:sp>
      <p:sp>
        <p:nvSpPr>
          <p:cNvPr id="343" name="Text 3"/>
          <p:cNvSpPr/>
          <p:nvPr/>
        </p:nvSpPr>
        <p:spPr>
          <a:xfrm>
            <a:off x="502920" y="1600200"/>
            <a:ext cx="32000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500" b="1" u="none" strike="noStrike">
                <a:solidFill>
                  <a:srgbClr val="1b2148"/>
                </a:solidFill>
                <a:effectLst/>
                <a:uFillTx/>
                <a:latin typeface="Cambria"/>
                <a:ea typeface="Cambria"/>
              </a:rPr>
              <a:t>Składowe modelu</a:t>
            </a:r>
            <a:endParaRPr lang="pl-PL" sz="1500" b="0" u="none" strike="noStrike">
              <a:solidFill>
                <a:srgbClr val="000000"/>
              </a:solidFill>
              <a:effectLst/>
              <a:uFillTx/>
              <a:latin typeface="Arial"/>
            </a:endParaRPr>
          </a:p>
        </p:txBody>
      </p:sp>
      <p:sp>
        <p:nvSpPr>
          <p:cNvPr id="344" name="Shape 4"/>
          <p:cNvSpPr/>
          <p:nvPr/>
        </p:nvSpPr>
        <p:spPr>
          <a:xfrm>
            <a:off x="502920" y="1901880"/>
            <a:ext cx="3200040" cy="2742840"/>
          </a:xfrm>
          <a:prstGeom prst="roundRect">
            <a:avLst>
              <a:gd name="adj" fmla="val 3000"/>
            </a:avLst>
          </a:prstGeom>
          <a:solidFill>
            <a:srgbClr val="f4f6fa"/>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345" name="Text 5"/>
          <p:cNvSpPr/>
          <p:nvPr/>
        </p:nvSpPr>
        <p:spPr>
          <a:xfrm>
            <a:off x="569160" y="2066400"/>
            <a:ext cx="3030840" cy="246852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8000"/>
              </a:lnSpc>
              <a:spcAft>
                <a:spcPts val="601"/>
              </a:spcAft>
              <a:buClr>
                <a:srgbClr val="1b2148"/>
              </a:buClr>
              <a:buFont typeface="Wingdings" charset="2"/>
              <a:buChar char=""/>
            </a:pPr>
            <a:r>
              <a:rPr lang="pl-PL" sz="1300" b="0" u="none" strike="noStrike">
                <a:solidFill>
                  <a:srgbClr val="1b2148"/>
                </a:solidFill>
                <a:effectLst/>
                <a:uFillTx/>
                <a:latin typeface="Calibri"/>
                <a:ea typeface="Calibri"/>
              </a:rPr>
              <a:t>Farmakoterapia dobrana do profilu ryzyka</a:t>
            </a:r>
            <a:endParaRPr lang="pl-PL" sz="1300" b="0" u="none" strike="noStrike">
              <a:solidFill>
                <a:srgbClr val="000000"/>
              </a:solidFill>
              <a:effectLst/>
              <a:uFillTx/>
              <a:latin typeface="Arial"/>
            </a:endParaRPr>
          </a:p>
          <a:p>
            <a:pPr marL="177840" indent="-177840" defTabSz="914400">
              <a:lnSpc>
                <a:spcPct val="108000"/>
              </a:lnSpc>
              <a:spcAft>
                <a:spcPts val="601"/>
              </a:spcAft>
              <a:buClr>
                <a:srgbClr val="1b2148"/>
              </a:buClr>
              <a:buFont typeface="Wingdings" charset="2"/>
              <a:buChar char=""/>
            </a:pPr>
            <a:r>
              <a:rPr lang="pl-PL" sz="1300" b="0" u="none" strike="noStrike">
                <a:solidFill>
                  <a:srgbClr val="1b2148"/>
                </a:solidFill>
                <a:effectLst/>
                <a:uFillTx/>
                <a:latin typeface="Calibri"/>
                <a:ea typeface="Calibri"/>
              </a:rPr>
              <a:t>Psychoedukacja pacjenta i rodziny</a:t>
            </a:r>
            <a:endParaRPr lang="pl-PL" sz="1300" b="0" u="none" strike="noStrike">
              <a:solidFill>
                <a:srgbClr val="000000"/>
              </a:solidFill>
              <a:effectLst/>
              <a:uFillTx/>
              <a:latin typeface="Arial"/>
            </a:endParaRPr>
          </a:p>
          <a:p>
            <a:pPr marL="177840" indent="-177840" defTabSz="914400">
              <a:lnSpc>
                <a:spcPct val="108000"/>
              </a:lnSpc>
              <a:spcAft>
                <a:spcPts val="601"/>
              </a:spcAft>
              <a:buClr>
                <a:srgbClr val="1b2148"/>
              </a:buClr>
              <a:buFont typeface="Wingdings" charset="2"/>
              <a:buChar char=""/>
            </a:pPr>
            <a:r>
              <a:rPr lang="pl-PL" sz="1300" b="0" u="none" strike="noStrike">
                <a:solidFill>
                  <a:srgbClr val="1b2148"/>
                </a:solidFill>
                <a:effectLst/>
                <a:uFillTx/>
                <a:latin typeface="Calibri"/>
                <a:ea typeface="Calibri"/>
              </a:rPr>
              <a:t>Terapia poznawczo-behawioralna</a:t>
            </a:r>
            <a:endParaRPr lang="pl-PL" sz="1300" b="0" u="none" strike="noStrike">
              <a:solidFill>
                <a:srgbClr val="000000"/>
              </a:solidFill>
              <a:effectLst/>
              <a:uFillTx/>
              <a:latin typeface="Arial"/>
            </a:endParaRPr>
          </a:p>
          <a:p>
            <a:pPr marL="177840" indent="-177840" defTabSz="914400">
              <a:lnSpc>
                <a:spcPct val="108000"/>
              </a:lnSpc>
              <a:spcAft>
                <a:spcPts val="601"/>
              </a:spcAft>
              <a:buClr>
                <a:srgbClr val="1b2148"/>
              </a:buClr>
              <a:buFont typeface="Wingdings" charset="2"/>
              <a:buChar char=""/>
            </a:pPr>
            <a:r>
              <a:rPr lang="pl-PL" sz="1300" b="0" u="none" strike="noStrike">
                <a:solidFill>
                  <a:srgbClr val="1b2148"/>
                </a:solidFill>
                <a:effectLst/>
                <a:uFillTx/>
                <a:latin typeface="Calibri"/>
                <a:ea typeface="Calibri"/>
              </a:rPr>
              <a:t>Trening funkcji wykonawczych</a:t>
            </a:r>
            <a:endParaRPr lang="pl-PL" sz="1300" b="0" u="none" strike="noStrike">
              <a:solidFill>
                <a:srgbClr val="000000"/>
              </a:solidFill>
              <a:effectLst/>
              <a:uFillTx/>
              <a:latin typeface="Arial"/>
            </a:endParaRPr>
          </a:p>
          <a:p>
            <a:pPr marL="177840" indent="-177840" defTabSz="914400">
              <a:lnSpc>
                <a:spcPct val="108000"/>
              </a:lnSpc>
              <a:spcAft>
                <a:spcPts val="601"/>
              </a:spcAft>
              <a:buClr>
                <a:srgbClr val="1b2148"/>
              </a:buClr>
              <a:buFont typeface="Wingdings" charset="2"/>
              <a:buChar char=""/>
            </a:pPr>
            <a:r>
              <a:rPr lang="pl-PL" sz="1300" b="0" u="none" strike="noStrike">
                <a:solidFill>
                  <a:srgbClr val="1b2148"/>
                </a:solidFill>
                <a:effectLst/>
                <a:uFillTx/>
                <a:latin typeface="Calibri"/>
                <a:ea typeface="Calibri"/>
              </a:rPr>
              <a:t>Leczenie współchorobowości i SUD</a:t>
            </a:r>
            <a:endParaRPr lang="pl-PL" sz="1300" b="0" u="none" strike="noStrike">
              <a:solidFill>
                <a:srgbClr val="000000"/>
              </a:solidFill>
              <a:effectLst/>
              <a:uFillTx/>
              <a:latin typeface="Arial"/>
            </a:endParaRPr>
          </a:p>
          <a:p>
            <a:pPr marL="177840" indent="-177840" defTabSz="914400">
              <a:lnSpc>
                <a:spcPct val="108000"/>
              </a:lnSpc>
              <a:spcAft>
                <a:spcPts val="601"/>
              </a:spcAft>
              <a:buClr>
                <a:srgbClr val="1b2148"/>
              </a:buClr>
              <a:buFont typeface="Wingdings" charset="2"/>
              <a:buChar char=""/>
            </a:pPr>
            <a:r>
              <a:rPr lang="pl-PL" sz="1300" b="0" u="none" strike="noStrike">
                <a:solidFill>
                  <a:srgbClr val="1b2148"/>
                </a:solidFill>
                <a:effectLst/>
                <a:uFillTx/>
                <a:latin typeface="Calibri"/>
                <a:ea typeface="Calibri"/>
              </a:rPr>
              <a:t>Interwencje rodzinne</a:t>
            </a:r>
            <a:endParaRPr lang="pl-PL" sz="1300" b="0" u="none" strike="noStrike">
              <a:solidFill>
                <a:srgbClr val="000000"/>
              </a:solidFill>
              <a:effectLst/>
              <a:uFillTx/>
              <a:latin typeface="Arial"/>
            </a:endParaRPr>
          </a:p>
          <a:p>
            <a:pPr marL="177840" indent="-177840" defTabSz="914400">
              <a:lnSpc>
                <a:spcPct val="108000"/>
              </a:lnSpc>
              <a:spcAft>
                <a:spcPts val="601"/>
              </a:spcAft>
              <a:buClr>
                <a:srgbClr val="1b2148"/>
              </a:buClr>
              <a:buFont typeface="Wingdings" charset="2"/>
              <a:buChar char=""/>
            </a:pPr>
            <a:r>
              <a:rPr lang="pl-PL" sz="1300" b="0" u="none" strike="noStrike">
                <a:solidFill>
                  <a:srgbClr val="1b2148"/>
                </a:solidFill>
                <a:effectLst/>
                <a:uFillTx/>
                <a:latin typeface="Calibri"/>
                <a:ea typeface="Calibri"/>
              </a:rPr>
              <a:t>Dostosowania edukacyjne i zawodowe</a:t>
            </a:r>
            <a:endParaRPr lang="pl-PL" sz="1300" b="0" u="none" strike="noStrike">
              <a:solidFill>
                <a:srgbClr val="000000"/>
              </a:solidFill>
              <a:effectLst/>
              <a:uFillTx/>
              <a:latin typeface="Arial"/>
            </a:endParaRPr>
          </a:p>
          <a:p>
            <a:pPr marL="177840" indent="-177840" defTabSz="914400">
              <a:lnSpc>
                <a:spcPct val="108000"/>
              </a:lnSpc>
              <a:spcAft>
                <a:spcPts val="601"/>
              </a:spcAft>
              <a:buClr>
                <a:srgbClr val="1b2148"/>
              </a:buClr>
              <a:buFont typeface="Wingdings" charset="2"/>
              <a:buChar char=""/>
            </a:pPr>
            <a:r>
              <a:rPr lang="pl-PL" sz="1300" b="0" u="none" strike="noStrike">
                <a:solidFill>
                  <a:srgbClr val="1b2148"/>
                </a:solidFill>
                <a:effectLst/>
                <a:uFillTx/>
                <a:latin typeface="Calibri"/>
                <a:ea typeface="Calibri"/>
              </a:rPr>
              <a:t>Leczenie zaburzeń snu</a:t>
            </a:r>
            <a:endParaRPr lang="pl-PL" sz="1300" b="0" u="none" strike="noStrike">
              <a:solidFill>
                <a:srgbClr val="000000"/>
              </a:solidFill>
              <a:effectLst/>
              <a:uFillTx/>
              <a:latin typeface="Arial"/>
            </a:endParaRPr>
          </a:p>
        </p:txBody>
      </p:sp>
      <p:sp>
        <p:nvSpPr>
          <p:cNvPr id="346" name="Text 6"/>
          <p:cNvSpPr/>
          <p:nvPr/>
        </p:nvSpPr>
        <p:spPr>
          <a:xfrm>
            <a:off x="3931920" y="1600200"/>
            <a:ext cx="470880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300" b="1" u="none" strike="noStrike">
                <a:solidFill>
                  <a:srgbClr val="1b2148"/>
                </a:solidFill>
                <a:effectLst/>
                <a:uFillTx/>
                <a:latin typeface="Cambria"/>
                <a:ea typeface="Cambria"/>
              </a:rPr>
              <a:t>Synteza dowodów wg obszaru</a:t>
            </a:r>
            <a:endParaRPr lang="pl-PL" sz="1300" b="0" u="none" strike="noStrike">
              <a:solidFill>
                <a:srgbClr val="000000"/>
              </a:solidFill>
              <a:effectLst/>
              <a:uFillTx/>
              <a:latin typeface="Arial"/>
            </a:endParaRPr>
          </a:p>
        </p:txBody>
      </p:sp>
      <p:graphicFrame>
        <p:nvGraphicFramePr>
          <p:cNvPr id="347" name="Table 0"/>
          <p:cNvGraphicFramePr/>
          <p:nvPr/>
        </p:nvGraphicFramePr>
        <p:xfrm>
          <a:off x="3931920" y="1901880"/>
          <a:ext cx="4708800" cy="2969640"/>
        </p:xfrm>
        <a:graphic>
          <a:graphicData uri="http://schemas.openxmlformats.org/drawingml/2006/table">
            <a:tbl>
              <a:tblPr/>
              <a:tblGrid>
                <a:gridCol w="1874520"/>
                <a:gridCol w="2834640"/>
              </a:tblGrid>
              <a:tr h="297000">
                <a:tc>
                  <a:txBody>
                    <a:bodyPr tIns="36360" bIns="36360" anchor="ctr">
                      <a:noAutofit/>
                    </a:bodyPr>
                    <a:p>
                      <a:pPr defTabSz="914400">
                        <a:lnSpc>
                          <a:spcPct val="100000"/>
                        </a:lnSpc>
                        <a:tabLst>
                          <a:tab algn="l" pos="0"/>
                        </a:tabLst>
                      </a:pPr>
                      <a:r>
                        <a:rPr lang="pl-PL" sz="1200" b="1" u="none" strike="noStrike">
                          <a:solidFill>
                            <a:srgbClr val="ffffff"/>
                          </a:solidFill>
                          <a:effectLst/>
                          <a:uFillTx/>
                          <a:latin typeface="Calibri"/>
                          <a:ea typeface="Calibri"/>
                        </a:rPr>
                        <a:t>Obszar</a:t>
                      </a:r>
                      <a:endParaRPr lang="pl-PL" sz="1200" b="0" u="none" strike="noStrike">
                        <a:solidFill>
                          <a:srgbClr val="ffffff"/>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1b2148"/>
                    </a:solidFill>
                  </a:tcPr>
                </a:tc>
                <a:tc>
                  <a:txBody>
                    <a:bodyPr tIns="36360" bIns="36360" anchor="ctr">
                      <a:noAutofit/>
                    </a:bodyPr>
                    <a:p>
                      <a:pPr defTabSz="914400">
                        <a:lnSpc>
                          <a:spcPct val="100000"/>
                        </a:lnSpc>
                        <a:tabLst>
                          <a:tab algn="l" pos="0"/>
                        </a:tabLst>
                      </a:pPr>
                      <a:r>
                        <a:rPr lang="pl-PL" sz="1200" b="1" u="none" strike="noStrike">
                          <a:solidFill>
                            <a:srgbClr val="ffffff"/>
                          </a:solidFill>
                          <a:effectLst/>
                          <a:uFillTx/>
                          <a:latin typeface="Calibri"/>
                          <a:ea typeface="Calibri"/>
                        </a:rPr>
                        <a:t>Ocena dowodów</a:t>
                      </a:r>
                      <a:endParaRPr lang="pl-PL" sz="1200" b="0" u="none" strike="noStrike">
                        <a:solidFill>
                          <a:srgbClr val="ffffff"/>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1b2148"/>
                    </a:solidFill>
                  </a:tcPr>
                </a:tc>
              </a:tr>
              <a:tr h="297000">
                <a:tc>
                  <a:txBody>
                    <a:bodyPr tIns="36360" bIns="36360" anchor="ctr">
                      <a:noAutofit/>
                    </a:bodyPr>
                    <a:p>
                      <a:pPr defTabSz="914400">
                        <a:lnSpc>
                          <a:spcPct val="100000"/>
                        </a:lnSpc>
                        <a:tabLst>
                          <a:tab algn="l" pos="0"/>
                        </a:tabLst>
                      </a:pPr>
                      <a:r>
                        <a:rPr lang="pl-PL" sz="1200" b="1" u="none" strike="noStrike">
                          <a:solidFill>
                            <a:srgbClr val="1b2148"/>
                          </a:solidFill>
                          <a:effectLst/>
                          <a:uFillTx/>
                          <a:latin typeface="Calibri"/>
                          <a:ea typeface="Calibri"/>
                        </a:rPr>
                        <a:t>Objawy ADHD</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c>
                  <a:txBody>
                    <a:bodyPr tIns="36360" bIns="36360" anchor="ctr">
                      <a:noAutofit/>
                    </a:bodyPr>
                    <a:p>
                      <a:pPr defTabSz="914400">
                        <a:lnSpc>
                          <a:spcPct val="100000"/>
                        </a:lnSpc>
                        <a:tabLst>
                          <a:tab algn="l" pos="0"/>
                        </a:tabLst>
                      </a:pPr>
                      <a:r>
                        <a:rPr lang="pl-PL" sz="1200" b="0" u="none" strike="noStrike">
                          <a:solidFill>
                            <a:srgbClr val="55607a"/>
                          </a:solidFill>
                          <a:effectLst/>
                          <a:uFillTx/>
                          <a:latin typeface="Calibri"/>
                          <a:ea typeface="Calibri"/>
                        </a:rPr>
                        <a:t>Silne dowody poprawy</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r>
              <a:tr h="297000">
                <a:tc>
                  <a:txBody>
                    <a:bodyPr tIns="36360" bIns="36360" anchor="ctr">
                      <a:noAutofit/>
                    </a:bodyPr>
                    <a:p>
                      <a:pPr defTabSz="914400">
                        <a:lnSpc>
                          <a:spcPct val="100000"/>
                        </a:lnSpc>
                        <a:tabLst>
                          <a:tab algn="l" pos="0"/>
                        </a:tabLst>
                      </a:pPr>
                      <a:r>
                        <a:rPr lang="pl-PL" sz="1200" b="1" u="none" strike="noStrike">
                          <a:solidFill>
                            <a:srgbClr val="1b2148"/>
                          </a:solidFill>
                          <a:effectLst/>
                          <a:uFillTx/>
                          <a:latin typeface="Calibri"/>
                          <a:ea typeface="Calibri"/>
                        </a:rPr>
                        <a:t>Uzależnienia</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c>
                  <a:txBody>
                    <a:bodyPr tIns="36360" bIns="36360" anchor="ctr">
                      <a:noAutofit/>
                    </a:bodyPr>
                    <a:p>
                      <a:pPr defTabSz="914400">
                        <a:lnSpc>
                          <a:spcPct val="100000"/>
                        </a:lnSpc>
                        <a:tabLst>
                          <a:tab algn="l" pos="0"/>
                        </a:tabLst>
                      </a:pPr>
                      <a:r>
                        <a:rPr lang="pl-PL" sz="1200" b="0" u="none" strike="noStrike">
                          <a:solidFill>
                            <a:srgbClr val="55607a"/>
                          </a:solidFill>
                          <a:effectLst/>
                          <a:uFillTx/>
                          <a:latin typeface="Calibri"/>
                          <a:ea typeface="Calibri"/>
                        </a:rPr>
                        <a:t>Brak wzrostu ryzyka; możliwa redukcja</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r>
              <a:tr h="297000">
                <a:tc>
                  <a:txBody>
                    <a:bodyPr tIns="36360" bIns="36360" anchor="ctr">
                      <a:noAutofit/>
                    </a:bodyPr>
                    <a:p>
                      <a:pPr defTabSz="914400">
                        <a:lnSpc>
                          <a:spcPct val="100000"/>
                        </a:lnSpc>
                        <a:tabLst>
                          <a:tab algn="l" pos="0"/>
                        </a:tabLst>
                      </a:pPr>
                      <a:r>
                        <a:rPr lang="pl-PL" sz="1200" b="1" u="none" strike="noStrike">
                          <a:solidFill>
                            <a:srgbClr val="1b2148"/>
                          </a:solidFill>
                          <a:effectLst/>
                          <a:uFillTx/>
                          <a:latin typeface="Calibri"/>
                          <a:ea typeface="Calibri"/>
                        </a:rPr>
                        <a:t>Przestępczość</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c>
                  <a:txBody>
                    <a:bodyPr tIns="36360" bIns="36360" anchor="ctr">
                      <a:noAutofit/>
                    </a:bodyPr>
                    <a:p>
                      <a:pPr defTabSz="914400">
                        <a:lnSpc>
                          <a:spcPct val="100000"/>
                        </a:lnSpc>
                        <a:tabLst>
                          <a:tab algn="l" pos="0"/>
                        </a:tabLst>
                      </a:pPr>
                      <a:r>
                        <a:rPr lang="pl-PL" sz="1200" b="0" u="none" strike="noStrike">
                          <a:solidFill>
                            <a:srgbClr val="55607a"/>
                          </a:solidFill>
                          <a:effectLst/>
                          <a:uFillTx/>
                          <a:latin typeface="Calibri"/>
                          <a:ea typeface="Calibri"/>
                        </a:rPr>
                        <a:t>Umiarkowanie silne dowody redukcji</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r>
              <a:tr h="297000">
                <a:tc>
                  <a:txBody>
                    <a:bodyPr tIns="36360" bIns="36360" anchor="ctr">
                      <a:noAutofit/>
                    </a:bodyPr>
                    <a:p>
                      <a:pPr defTabSz="914400">
                        <a:lnSpc>
                          <a:spcPct val="100000"/>
                        </a:lnSpc>
                        <a:tabLst>
                          <a:tab algn="l" pos="0"/>
                        </a:tabLst>
                      </a:pPr>
                      <a:r>
                        <a:rPr lang="pl-PL" sz="1200" b="1" u="none" strike="noStrike">
                          <a:solidFill>
                            <a:srgbClr val="1b2148"/>
                          </a:solidFill>
                          <a:effectLst/>
                          <a:uFillTx/>
                          <a:latin typeface="Calibri"/>
                          <a:ea typeface="Calibri"/>
                        </a:rPr>
                        <a:t>Wypadki transportowe</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c>
                  <a:txBody>
                    <a:bodyPr tIns="36360" bIns="36360" anchor="ctr">
                      <a:noAutofit/>
                    </a:bodyPr>
                    <a:p>
                      <a:pPr defTabSz="914400">
                        <a:lnSpc>
                          <a:spcPct val="100000"/>
                        </a:lnSpc>
                        <a:tabLst>
                          <a:tab algn="l" pos="0"/>
                        </a:tabLst>
                      </a:pPr>
                      <a:r>
                        <a:rPr lang="pl-PL" sz="1200" b="0" u="none" strike="noStrike">
                          <a:solidFill>
                            <a:srgbClr val="55607a"/>
                          </a:solidFill>
                          <a:effectLst/>
                          <a:uFillTx/>
                          <a:latin typeface="Calibri"/>
                          <a:ea typeface="Calibri"/>
                        </a:rPr>
                        <a:t>Prawdopodobna redukcja</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r>
              <a:tr h="297000">
                <a:tc>
                  <a:txBody>
                    <a:bodyPr tIns="36360" bIns="36360" anchor="ctr">
                      <a:noAutofit/>
                    </a:bodyPr>
                    <a:p>
                      <a:pPr defTabSz="914400">
                        <a:lnSpc>
                          <a:spcPct val="100000"/>
                        </a:lnSpc>
                        <a:tabLst>
                          <a:tab algn="l" pos="0"/>
                        </a:tabLst>
                      </a:pPr>
                      <a:r>
                        <a:rPr lang="pl-PL" sz="1200" b="1" u="none" strike="noStrike">
                          <a:solidFill>
                            <a:srgbClr val="1b2148"/>
                          </a:solidFill>
                          <a:effectLst/>
                          <a:uFillTx/>
                          <a:latin typeface="Calibri"/>
                          <a:ea typeface="Calibri"/>
                        </a:rPr>
                        <a:t>Zachowania samobójcze</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c>
                  <a:txBody>
                    <a:bodyPr tIns="36360" bIns="36360" anchor="ctr">
                      <a:noAutofit/>
                    </a:bodyPr>
                    <a:p>
                      <a:pPr defTabSz="914400">
                        <a:lnSpc>
                          <a:spcPct val="100000"/>
                        </a:lnSpc>
                        <a:tabLst>
                          <a:tab algn="l" pos="0"/>
                        </a:tabLst>
                      </a:pPr>
                      <a:r>
                        <a:rPr lang="pl-PL" sz="1200" b="0" u="none" strike="noStrike">
                          <a:solidFill>
                            <a:srgbClr val="55607a"/>
                          </a:solidFill>
                          <a:effectLst/>
                          <a:uFillTx/>
                          <a:latin typeface="Calibri"/>
                          <a:ea typeface="Calibri"/>
                        </a:rPr>
                        <a:t>Prawdopodobna redukcja (rejestry)</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r>
              <a:tr h="297000">
                <a:tc>
                  <a:txBody>
                    <a:bodyPr tIns="36360" bIns="36360" anchor="ctr">
                      <a:noAutofit/>
                    </a:bodyPr>
                    <a:p>
                      <a:pPr defTabSz="914400">
                        <a:lnSpc>
                          <a:spcPct val="100000"/>
                        </a:lnSpc>
                        <a:tabLst>
                          <a:tab algn="l" pos="0"/>
                        </a:tabLst>
                      </a:pPr>
                      <a:r>
                        <a:rPr lang="pl-PL" sz="1200" b="1" u="none" strike="noStrike">
                          <a:solidFill>
                            <a:srgbClr val="1b2148"/>
                          </a:solidFill>
                          <a:effectLst/>
                          <a:uFillTx/>
                          <a:latin typeface="Calibri"/>
                          <a:ea typeface="Calibri"/>
                        </a:rPr>
                        <a:t>Edukacja</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c>
                  <a:txBody>
                    <a:bodyPr tIns="36360" bIns="36360" anchor="ctr">
                      <a:noAutofit/>
                    </a:bodyPr>
                    <a:p>
                      <a:pPr defTabSz="914400">
                        <a:lnSpc>
                          <a:spcPct val="100000"/>
                        </a:lnSpc>
                        <a:tabLst>
                          <a:tab algn="l" pos="0"/>
                        </a:tabLst>
                      </a:pPr>
                      <a:r>
                        <a:rPr lang="pl-PL" sz="1200" b="0" u="none" strike="noStrike">
                          <a:solidFill>
                            <a:srgbClr val="55607a"/>
                          </a:solidFill>
                          <a:effectLst/>
                          <a:uFillTx/>
                          <a:latin typeface="Calibri"/>
                          <a:ea typeface="Calibri"/>
                        </a:rPr>
                        <a:t>Mała–umiarkowana poprawa</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r>
              <a:tr h="297000">
                <a:tc>
                  <a:txBody>
                    <a:bodyPr tIns="36360" bIns="36360" anchor="ctr">
                      <a:noAutofit/>
                    </a:bodyPr>
                    <a:p>
                      <a:pPr defTabSz="914400">
                        <a:lnSpc>
                          <a:spcPct val="100000"/>
                        </a:lnSpc>
                        <a:tabLst>
                          <a:tab algn="l" pos="0"/>
                        </a:tabLst>
                      </a:pPr>
                      <a:r>
                        <a:rPr lang="pl-PL" sz="1200" b="1" u="none" strike="noStrike">
                          <a:solidFill>
                            <a:srgbClr val="1b2148"/>
                          </a:solidFill>
                          <a:effectLst/>
                          <a:uFillTx/>
                          <a:latin typeface="Calibri"/>
                          <a:ea typeface="Calibri"/>
                        </a:rPr>
                        <a:t>Zatrudnienie / dochody</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c>
                  <a:txBody>
                    <a:bodyPr tIns="36360" bIns="36360" anchor="ctr">
                      <a:noAutofit/>
                    </a:bodyPr>
                    <a:p>
                      <a:pPr defTabSz="914400">
                        <a:lnSpc>
                          <a:spcPct val="100000"/>
                        </a:lnSpc>
                        <a:tabLst>
                          <a:tab algn="l" pos="0"/>
                        </a:tabLst>
                      </a:pPr>
                      <a:r>
                        <a:rPr lang="pl-PL" sz="1200" b="0" u="none" strike="noStrike">
                          <a:solidFill>
                            <a:srgbClr val="55607a"/>
                          </a:solidFill>
                          <a:effectLst/>
                          <a:uFillTx/>
                          <a:latin typeface="Calibri"/>
                          <a:ea typeface="Calibri"/>
                        </a:rPr>
                        <a:t>Możliwa poprawa, dane słabsze</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r>
              <a:tr h="297000">
                <a:tc>
                  <a:txBody>
                    <a:bodyPr tIns="36360" bIns="36360" anchor="ctr">
                      <a:noAutofit/>
                    </a:bodyPr>
                    <a:p>
                      <a:pPr defTabSz="914400">
                        <a:lnSpc>
                          <a:spcPct val="100000"/>
                        </a:lnSpc>
                        <a:tabLst>
                          <a:tab algn="l" pos="0"/>
                        </a:tabLst>
                      </a:pPr>
                      <a:r>
                        <a:rPr lang="pl-PL" sz="1200" b="1" u="none" strike="noStrike">
                          <a:solidFill>
                            <a:srgbClr val="1b2148"/>
                          </a:solidFill>
                          <a:effectLst/>
                          <a:uFillTx/>
                          <a:latin typeface="Calibri"/>
                          <a:ea typeface="Calibri"/>
                        </a:rPr>
                        <a:t>Relacje i rodzina</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c>
                  <a:txBody>
                    <a:bodyPr tIns="36360" bIns="36360" anchor="ctr">
                      <a:noAutofit/>
                    </a:bodyPr>
                    <a:p>
                      <a:pPr defTabSz="914400">
                        <a:lnSpc>
                          <a:spcPct val="100000"/>
                        </a:lnSpc>
                        <a:tabLst>
                          <a:tab algn="l" pos="0"/>
                        </a:tabLst>
                      </a:pPr>
                      <a:r>
                        <a:rPr lang="pl-PL" sz="1200" b="0" u="none" strike="noStrike">
                          <a:solidFill>
                            <a:srgbClr val="55607a"/>
                          </a:solidFill>
                          <a:effectLst/>
                          <a:uFillTx/>
                          <a:latin typeface="Calibri"/>
                          <a:ea typeface="Calibri"/>
                        </a:rPr>
                        <a:t>Możliwa poprawa + interwencje systemowe</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r>
              <a:tr h="297000">
                <a:tc>
                  <a:txBody>
                    <a:bodyPr tIns="36360" bIns="36360" anchor="ctr">
                      <a:noAutofit/>
                    </a:bodyPr>
                    <a:p>
                      <a:pPr defTabSz="914400">
                        <a:lnSpc>
                          <a:spcPct val="100000"/>
                        </a:lnSpc>
                        <a:tabLst>
                          <a:tab algn="l" pos="0"/>
                        </a:tabLst>
                      </a:pPr>
                      <a:r>
                        <a:rPr lang="pl-PL" sz="1200" b="1" u="none" strike="noStrike">
                          <a:solidFill>
                            <a:srgbClr val="1b2148"/>
                          </a:solidFill>
                          <a:effectLst/>
                          <a:uFillTx/>
                          <a:latin typeface="Calibri"/>
                          <a:ea typeface="Calibri"/>
                        </a:rPr>
                        <a:t>Recydywa</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c>
                  <a:txBody>
                    <a:bodyPr tIns="36360" bIns="36360" anchor="ctr">
                      <a:noAutofit/>
                    </a:bodyPr>
                    <a:p>
                      <a:pPr defTabSz="914400">
                        <a:lnSpc>
                          <a:spcPct val="100000"/>
                        </a:lnSpc>
                        <a:tabLst>
                          <a:tab algn="l" pos="0"/>
                        </a:tabLst>
                      </a:pPr>
                      <a:r>
                        <a:rPr lang="pl-PL" sz="1200" b="0" u="none" strike="noStrike">
                          <a:solidFill>
                            <a:srgbClr val="55607a"/>
                          </a:solidFill>
                          <a:effectLst/>
                          <a:uFillTx/>
                          <a:latin typeface="Calibri"/>
                          <a:ea typeface="Calibri"/>
                        </a:rPr>
                        <a:t>Dane ograniczone</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r>
            </a:tbl>
          </a:graphicData>
        </a:graphic>
      </p:graphicFrame>
      <p:sp>
        <p:nvSpPr>
          <p:cNvPr id="348" name="Text 7"/>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23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9"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FARMAKOTERAPIA</a:t>
            </a:r>
            <a:endParaRPr lang="pl-PL" sz="1100" b="0" u="none" strike="noStrike">
              <a:solidFill>
                <a:srgbClr val="000000"/>
              </a:solidFill>
              <a:effectLst/>
              <a:uFillTx/>
              <a:latin typeface="Arial"/>
            </a:endParaRPr>
          </a:p>
        </p:txBody>
      </p:sp>
      <p:sp>
        <p:nvSpPr>
          <p:cNvPr id="350"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500" b="1" u="none" strike="noStrike">
                <a:solidFill>
                  <a:srgbClr val="1b2148"/>
                </a:solidFill>
                <a:effectLst/>
                <a:uFillTx/>
                <a:latin typeface="Cambria"/>
                <a:ea typeface="Cambria"/>
              </a:rPr>
              <a:t>Klasy leków i ich porównawcza skuteczność</a:t>
            </a:r>
            <a:endParaRPr lang="pl-PL" sz="2500" b="0" u="none" strike="noStrike">
              <a:solidFill>
                <a:srgbClr val="000000"/>
              </a:solidFill>
              <a:effectLst/>
              <a:uFillTx/>
              <a:latin typeface="Arial"/>
            </a:endParaRPr>
          </a:p>
        </p:txBody>
      </p:sp>
      <p:sp>
        <p:nvSpPr>
          <p:cNvPr id="351" name="Text 2"/>
          <p:cNvSpPr/>
          <p:nvPr/>
        </p:nvSpPr>
        <p:spPr>
          <a:xfrm>
            <a:off x="502920" y="1017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Metaanaliza sieciowa 133 RCT, dzieci i młodzież, SMD względem placebo (ocena klinicystów)</a:t>
            </a:r>
            <a:endParaRPr lang="pl-PL" sz="1200" b="0" u="none" strike="noStrike">
              <a:solidFill>
                <a:srgbClr val="000000"/>
              </a:solidFill>
              <a:effectLst/>
              <a:uFillTx/>
              <a:latin typeface="Arial"/>
            </a:endParaRPr>
          </a:p>
        </p:txBody>
      </p:sp>
      <p:sp>
        <p:nvSpPr>
          <p:cNvPr id="352" name="Shape 3"/>
          <p:cNvSpPr/>
          <p:nvPr/>
        </p:nvSpPr>
        <p:spPr>
          <a:xfrm>
            <a:off x="1596240" y="1403640"/>
            <a:ext cx="4300200" cy="1371240"/>
          </a:xfrm>
          <a:prstGeom prst="rect">
            <a:avLst/>
          </a:prstGeom>
          <a:solidFill>
            <a:srgbClr val="f4f6fa"/>
          </a:solidFill>
          <a:ln w="936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353" name="Shape 4"/>
          <p:cNvSpPr/>
          <p:nvPr/>
        </p:nvSpPr>
        <p:spPr>
          <a:xfrm>
            <a:off x="5896080" y="1403640"/>
            <a:ext cx="360" cy="1371600"/>
          </a:xfrm>
          <a:prstGeom prst="line">
            <a:avLst/>
          </a:prstGeom>
          <a:ln w="15840">
            <a:solidFill>
              <a:srgbClr val="96a0bc"/>
            </a:solidFill>
            <a:prstDash val="dash"/>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354" name="Text 5"/>
          <p:cNvSpPr/>
          <p:nvPr/>
        </p:nvSpPr>
        <p:spPr>
          <a:xfrm>
            <a:off x="502920" y="1440360"/>
            <a:ext cx="128880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trike="noStrike">
                <a:solidFill>
                  <a:srgbClr val="1b2148"/>
                </a:solidFill>
                <a:effectLst/>
                <a:uFillTx/>
                <a:latin typeface="Calibri"/>
                <a:ea typeface="Calibri"/>
              </a:rPr>
              <a:t>Amfetaminy</a:t>
            </a:r>
            <a:endParaRPr lang="pl-PL" sz="1100" b="0" u="none" strike="noStrike">
              <a:solidFill>
                <a:srgbClr val="000000"/>
              </a:solidFill>
              <a:effectLst/>
              <a:uFillTx/>
              <a:latin typeface="Arial"/>
            </a:endParaRPr>
          </a:p>
        </p:txBody>
      </p:sp>
      <p:sp>
        <p:nvSpPr>
          <p:cNvPr id="355" name="Shape 6"/>
          <p:cNvSpPr/>
          <p:nvPr/>
        </p:nvSpPr>
        <p:spPr>
          <a:xfrm>
            <a:off x="2006280" y="1632240"/>
            <a:ext cx="1267200" cy="360"/>
          </a:xfrm>
          <a:prstGeom prst="line">
            <a:avLst/>
          </a:prstGeom>
          <a:ln w="28440">
            <a:solidFill>
              <a:srgbClr val="c23b4b"/>
            </a:solidFill>
            <a:round/>
          </a:ln>
        </p:spPr>
        <p:style>
          <a:lnRef idx="0"/>
          <a:fillRef idx="0"/>
          <a:effectRef idx="0"/>
          <a:fontRef idx="minor"/>
        </p:style>
        <p:txBody>
          <a:bodyPr lIns="90000" rIns="90000" tIns="-44640" bIns="-44640" anchor="t" anchorCtr="1">
            <a:noAutofit/>
          </a:bodyPr>
          <a:p>
            <a:endParaRPr lang="pl-PL" sz="1800" b="0" u="none" strike="noStrike">
              <a:solidFill>
                <a:srgbClr val="000000"/>
              </a:solidFill>
              <a:effectLst/>
              <a:uFillTx/>
              <a:latin typeface="Arial"/>
            </a:endParaRPr>
          </a:p>
        </p:txBody>
      </p:sp>
      <p:sp>
        <p:nvSpPr>
          <p:cNvPr id="356" name="Shape 7"/>
          <p:cNvSpPr/>
          <p:nvPr/>
        </p:nvSpPr>
        <p:spPr>
          <a:xfrm>
            <a:off x="2006280" y="1568160"/>
            <a:ext cx="360" cy="127800"/>
          </a:xfrm>
          <a:prstGeom prst="line">
            <a:avLst/>
          </a:prstGeom>
          <a:ln w="19080">
            <a:solidFill>
              <a:srgbClr val="c23b4b"/>
            </a:solidFill>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357" name="Shape 8"/>
          <p:cNvSpPr/>
          <p:nvPr/>
        </p:nvSpPr>
        <p:spPr>
          <a:xfrm>
            <a:off x="3273480" y="1568160"/>
            <a:ext cx="360" cy="127800"/>
          </a:xfrm>
          <a:prstGeom prst="line">
            <a:avLst/>
          </a:prstGeom>
          <a:ln w="19080">
            <a:solidFill>
              <a:srgbClr val="c23b4b"/>
            </a:solidFill>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358" name="Shape 9"/>
          <p:cNvSpPr/>
          <p:nvPr/>
        </p:nvSpPr>
        <p:spPr>
          <a:xfrm>
            <a:off x="2571480" y="1563840"/>
            <a:ext cx="136800" cy="136800"/>
          </a:xfrm>
          <a:prstGeom prst="ellipse">
            <a:avLst/>
          </a:prstGeom>
          <a:solidFill>
            <a:srgbClr val="c23b4b"/>
          </a:solidFill>
          <a:ln w="15840">
            <a:solidFill>
              <a:srgbClr val="ffffff"/>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359" name="Text 10"/>
          <p:cNvSpPr/>
          <p:nvPr/>
        </p:nvSpPr>
        <p:spPr>
          <a:xfrm>
            <a:off x="6012000" y="1440360"/>
            <a:ext cx="270000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0" u="none" strike="noStrike">
                <a:solidFill>
                  <a:srgbClr val="000000"/>
                </a:solidFill>
                <a:effectLst/>
                <a:uFillTx/>
                <a:latin typeface="Calibri"/>
                <a:ea typeface="Calibri"/>
              </a:rPr>
              <a:t>SMD −1,02 [−1,19; −0,85]  ·  </a:t>
            </a:r>
            <a:r>
              <a:rPr lang="pl-PL" sz="1100" b="1" u="none" strike="noStrike">
                <a:solidFill>
                  <a:srgbClr val="000000"/>
                </a:solidFill>
                <a:effectLst/>
                <a:uFillTx/>
                <a:latin typeface="Calibri"/>
                <a:ea typeface="Calibri"/>
              </a:rPr>
              <a:t>duży efekt</a:t>
            </a:r>
            <a:endParaRPr lang="pl-PL" sz="1100" b="0" u="none" strike="noStrike">
              <a:solidFill>
                <a:srgbClr val="000000"/>
              </a:solidFill>
              <a:effectLst/>
              <a:uFillTx/>
              <a:latin typeface="Arial"/>
            </a:endParaRPr>
          </a:p>
        </p:txBody>
      </p:sp>
      <p:sp>
        <p:nvSpPr>
          <p:cNvPr id="360" name="Text 11"/>
          <p:cNvSpPr/>
          <p:nvPr/>
        </p:nvSpPr>
        <p:spPr>
          <a:xfrm>
            <a:off x="502920" y="1897560"/>
            <a:ext cx="128880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trike="noStrike">
                <a:solidFill>
                  <a:srgbClr val="1b2148"/>
                </a:solidFill>
                <a:effectLst/>
                <a:uFillTx/>
                <a:latin typeface="Calibri"/>
                <a:ea typeface="Calibri"/>
              </a:rPr>
              <a:t>Metylofenidat</a:t>
            </a:r>
            <a:endParaRPr lang="pl-PL" sz="1100" b="0" u="none" strike="noStrike">
              <a:solidFill>
                <a:srgbClr val="000000"/>
              </a:solidFill>
              <a:effectLst/>
              <a:uFillTx/>
              <a:latin typeface="Arial"/>
            </a:endParaRPr>
          </a:p>
        </p:txBody>
      </p:sp>
      <p:sp>
        <p:nvSpPr>
          <p:cNvPr id="361" name="Shape 12"/>
          <p:cNvSpPr/>
          <p:nvPr/>
        </p:nvSpPr>
        <p:spPr>
          <a:xfrm>
            <a:off x="2975400" y="2089440"/>
            <a:ext cx="1155600" cy="360"/>
          </a:xfrm>
          <a:prstGeom prst="line">
            <a:avLst/>
          </a:prstGeom>
          <a:ln w="28440">
            <a:solidFill>
              <a:srgbClr val="1b2148"/>
            </a:solidFill>
            <a:round/>
          </a:ln>
        </p:spPr>
        <p:style>
          <a:lnRef idx="0"/>
          <a:fillRef idx="0"/>
          <a:effectRef idx="0"/>
          <a:fontRef idx="minor"/>
        </p:style>
        <p:txBody>
          <a:bodyPr lIns="90000" rIns="90000" tIns="-44640" bIns="-44640" anchor="t" anchorCtr="1">
            <a:noAutofit/>
          </a:bodyPr>
          <a:p>
            <a:endParaRPr lang="pl-PL" sz="1800" b="0" u="none" strike="noStrike">
              <a:solidFill>
                <a:srgbClr val="000000"/>
              </a:solidFill>
              <a:effectLst/>
              <a:uFillTx/>
              <a:latin typeface="Arial"/>
            </a:endParaRPr>
          </a:p>
        </p:txBody>
      </p:sp>
      <p:sp>
        <p:nvSpPr>
          <p:cNvPr id="362" name="Shape 13"/>
          <p:cNvSpPr/>
          <p:nvPr/>
        </p:nvSpPr>
        <p:spPr>
          <a:xfrm>
            <a:off x="2975400" y="2025360"/>
            <a:ext cx="360" cy="127800"/>
          </a:xfrm>
          <a:prstGeom prst="line">
            <a:avLst/>
          </a:prstGeom>
          <a:ln w="19080">
            <a:solidFill>
              <a:srgbClr val="1b2148"/>
            </a:solidFill>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363" name="Shape 14"/>
          <p:cNvSpPr/>
          <p:nvPr/>
        </p:nvSpPr>
        <p:spPr>
          <a:xfrm>
            <a:off x="4131000" y="2025360"/>
            <a:ext cx="360" cy="127800"/>
          </a:xfrm>
          <a:prstGeom prst="line">
            <a:avLst/>
          </a:prstGeom>
          <a:ln w="19080">
            <a:solidFill>
              <a:srgbClr val="1b2148"/>
            </a:solidFill>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364" name="Shape 15"/>
          <p:cNvSpPr/>
          <p:nvPr/>
        </p:nvSpPr>
        <p:spPr>
          <a:xfrm>
            <a:off x="3466080" y="2021040"/>
            <a:ext cx="136800" cy="136800"/>
          </a:xfrm>
          <a:prstGeom prst="ellipse">
            <a:avLst/>
          </a:prstGeom>
          <a:solidFill>
            <a:srgbClr val="1b2148"/>
          </a:solidFill>
          <a:ln w="15840">
            <a:solidFill>
              <a:srgbClr val="ffffff"/>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365" name="Text 16"/>
          <p:cNvSpPr/>
          <p:nvPr/>
        </p:nvSpPr>
        <p:spPr>
          <a:xfrm>
            <a:off x="6012000" y="1897560"/>
            <a:ext cx="270000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0" u="none" strike="noStrike">
                <a:solidFill>
                  <a:srgbClr val="000000"/>
                </a:solidFill>
                <a:effectLst/>
                <a:uFillTx/>
                <a:latin typeface="Calibri"/>
                <a:ea typeface="Calibri"/>
              </a:rPr>
              <a:t>SMD −0,78 [−0,93; −0,62]  ·  </a:t>
            </a:r>
            <a:r>
              <a:rPr lang="pl-PL" sz="1100" b="1" u="none" strike="noStrike">
                <a:solidFill>
                  <a:srgbClr val="000000"/>
                </a:solidFill>
                <a:effectLst/>
                <a:uFillTx/>
                <a:latin typeface="Calibri"/>
                <a:ea typeface="Calibri"/>
              </a:rPr>
              <a:t>duży efekt</a:t>
            </a:r>
            <a:endParaRPr lang="pl-PL" sz="1100" b="0" u="none" strike="noStrike">
              <a:solidFill>
                <a:srgbClr val="000000"/>
              </a:solidFill>
              <a:effectLst/>
              <a:uFillTx/>
              <a:latin typeface="Arial"/>
            </a:endParaRPr>
          </a:p>
        </p:txBody>
      </p:sp>
      <p:sp>
        <p:nvSpPr>
          <p:cNvPr id="366" name="Text 17"/>
          <p:cNvSpPr/>
          <p:nvPr/>
        </p:nvSpPr>
        <p:spPr>
          <a:xfrm>
            <a:off x="502920" y="2354760"/>
            <a:ext cx="128880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trike="noStrike">
                <a:solidFill>
                  <a:srgbClr val="1b2148"/>
                </a:solidFill>
                <a:effectLst/>
                <a:uFillTx/>
                <a:latin typeface="Calibri"/>
                <a:ea typeface="Calibri"/>
              </a:rPr>
              <a:t>Atomoksetyna</a:t>
            </a:r>
            <a:endParaRPr lang="pl-PL" sz="1100" b="0" u="none" strike="noStrike">
              <a:solidFill>
                <a:srgbClr val="000000"/>
              </a:solidFill>
              <a:effectLst/>
              <a:uFillTx/>
              <a:latin typeface="Arial"/>
            </a:endParaRPr>
          </a:p>
        </p:txBody>
      </p:sp>
      <p:sp>
        <p:nvSpPr>
          <p:cNvPr id="367" name="Shape 18"/>
          <p:cNvSpPr/>
          <p:nvPr/>
        </p:nvSpPr>
        <p:spPr>
          <a:xfrm>
            <a:off x="3981960" y="2546640"/>
            <a:ext cx="783000" cy="360"/>
          </a:xfrm>
          <a:prstGeom prst="line">
            <a:avLst/>
          </a:prstGeom>
          <a:ln w="28440">
            <a:solidFill>
              <a:srgbClr val="1f8a82"/>
            </a:solidFill>
            <a:round/>
          </a:ln>
        </p:spPr>
        <p:style>
          <a:lnRef idx="0"/>
          <a:fillRef idx="0"/>
          <a:effectRef idx="0"/>
          <a:fontRef idx="minor"/>
        </p:style>
        <p:txBody>
          <a:bodyPr lIns="90000" rIns="90000" tIns="-44640" bIns="-44640" anchor="t" anchorCtr="1">
            <a:noAutofit/>
          </a:bodyPr>
          <a:p>
            <a:endParaRPr lang="pl-PL" sz="1800" b="0" u="none" strike="noStrike">
              <a:solidFill>
                <a:srgbClr val="000000"/>
              </a:solidFill>
              <a:effectLst/>
              <a:uFillTx/>
              <a:latin typeface="Arial"/>
            </a:endParaRPr>
          </a:p>
        </p:txBody>
      </p:sp>
      <p:sp>
        <p:nvSpPr>
          <p:cNvPr id="368" name="Shape 19"/>
          <p:cNvSpPr/>
          <p:nvPr/>
        </p:nvSpPr>
        <p:spPr>
          <a:xfrm>
            <a:off x="3981960" y="2482560"/>
            <a:ext cx="360" cy="127800"/>
          </a:xfrm>
          <a:prstGeom prst="line">
            <a:avLst/>
          </a:prstGeom>
          <a:ln w="19080">
            <a:solidFill>
              <a:srgbClr val="1f8a82"/>
            </a:solidFill>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369" name="Shape 20"/>
          <p:cNvSpPr/>
          <p:nvPr/>
        </p:nvSpPr>
        <p:spPr>
          <a:xfrm>
            <a:off x="4764960" y="2482560"/>
            <a:ext cx="360" cy="127800"/>
          </a:xfrm>
          <a:prstGeom prst="line">
            <a:avLst/>
          </a:prstGeom>
          <a:ln w="19080">
            <a:solidFill>
              <a:srgbClr val="1f8a82"/>
            </a:solidFill>
            <a:round/>
          </a:ln>
        </p:spPr>
        <p:style>
          <a:lnRef idx="0"/>
          <a:fillRef idx="0"/>
          <a:effectRef idx="0"/>
          <a:fontRef idx="minor"/>
        </p:style>
        <p:txBody>
          <a:bodyPr lIns="90000" rIns="90000" tIns="45000" bIns="45000" anchor="t" anchorCtr="1">
            <a:noAutofit/>
          </a:bodyPr>
          <a:p>
            <a:endParaRPr lang="pl-PL" sz="1800" b="0" u="none" strike="noStrike">
              <a:solidFill>
                <a:srgbClr val="000000"/>
              </a:solidFill>
              <a:effectLst/>
              <a:uFillTx/>
              <a:latin typeface="Arial"/>
            </a:endParaRPr>
          </a:p>
        </p:txBody>
      </p:sp>
      <p:sp>
        <p:nvSpPr>
          <p:cNvPr id="370" name="Shape 21"/>
          <p:cNvSpPr/>
          <p:nvPr/>
        </p:nvSpPr>
        <p:spPr>
          <a:xfrm>
            <a:off x="4286160" y="2478240"/>
            <a:ext cx="136800" cy="136800"/>
          </a:xfrm>
          <a:prstGeom prst="ellipse">
            <a:avLst/>
          </a:prstGeom>
          <a:solidFill>
            <a:srgbClr val="1f8a82"/>
          </a:solidFill>
          <a:ln w="15840">
            <a:solidFill>
              <a:srgbClr val="ffffff"/>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371" name="Text 22"/>
          <p:cNvSpPr/>
          <p:nvPr/>
        </p:nvSpPr>
        <p:spPr>
          <a:xfrm>
            <a:off x="6012000" y="2354760"/>
            <a:ext cx="288000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0" u="none" strike="noStrike">
                <a:solidFill>
                  <a:srgbClr val="000000"/>
                </a:solidFill>
                <a:effectLst/>
                <a:uFillTx/>
                <a:latin typeface="Calibri"/>
                <a:ea typeface="Calibri"/>
              </a:rPr>
              <a:t>SMD −0,56 [−0,66; −0,45]  ·  </a:t>
            </a:r>
            <a:r>
              <a:rPr lang="pl-PL" sz="1100" b="1" u="none" strike="noStrike">
                <a:solidFill>
                  <a:srgbClr val="000000"/>
                </a:solidFill>
                <a:effectLst/>
                <a:uFillTx/>
                <a:latin typeface="Calibri"/>
                <a:ea typeface="Calibri"/>
              </a:rPr>
              <a:t>umiarkowany efekt </a:t>
            </a:r>
            <a:endParaRPr lang="pl-PL" sz="1100" b="0" u="none" strike="noStrike">
              <a:solidFill>
                <a:srgbClr val="000000"/>
              </a:solidFill>
              <a:effectLst/>
              <a:uFillTx/>
              <a:latin typeface="Arial"/>
            </a:endParaRPr>
          </a:p>
        </p:txBody>
      </p:sp>
      <p:sp>
        <p:nvSpPr>
          <p:cNvPr id="372" name="Text 23"/>
          <p:cNvSpPr/>
          <p:nvPr/>
        </p:nvSpPr>
        <p:spPr>
          <a:xfrm>
            <a:off x="1620000" y="2586600"/>
            <a:ext cx="548280" cy="182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000" b="0" u="none" strike="noStrike">
                <a:solidFill>
                  <a:srgbClr val="000000"/>
                </a:solidFill>
                <a:effectLst/>
                <a:uFillTx/>
                <a:latin typeface="Calibri"/>
                <a:ea typeface="Calibri"/>
              </a:rPr>
              <a:t>-1.3</a:t>
            </a:r>
            <a:endParaRPr lang="pl-PL" sz="1000" b="0" u="none" strike="noStrike">
              <a:solidFill>
                <a:srgbClr val="000000"/>
              </a:solidFill>
              <a:effectLst/>
              <a:uFillTx/>
              <a:latin typeface="Arial"/>
            </a:endParaRPr>
          </a:p>
        </p:txBody>
      </p:sp>
      <p:sp>
        <p:nvSpPr>
          <p:cNvPr id="373" name="Text 24"/>
          <p:cNvSpPr/>
          <p:nvPr/>
        </p:nvSpPr>
        <p:spPr>
          <a:xfrm>
            <a:off x="5256000" y="2766600"/>
            <a:ext cx="1279800" cy="1825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050" b="0" u="none" strike="noStrike">
                <a:solidFill>
                  <a:srgbClr val="000000"/>
                </a:solidFill>
                <a:effectLst/>
                <a:uFillTx/>
                <a:latin typeface="Calibri"/>
                <a:ea typeface="Calibri"/>
              </a:rPr>
              <a:t>brak efektu (0)</a:t>
            </a:r>
            <a:endParaRPr lang="pl-PL" sz="1050" b="0" u="none" strike="noStrike">
              <a:solidFill>
                <a:srgbClr val="000000"/>
              </a:solidFill>
              <a:effectLst/>
              <a:uFillTx/>
              <a:latin typeface="Arial"/>
            </a:endParaRPr>
          </a:p>
        </p:txBody>
      </p:sp>
      <p:sp>
        <p:nvSpPr>
          <p:cNvPr id="374" name="Text 25"/>
          <p:cNvSpPr/>
          <p:nvPr/>
        </p:nvSpPr>
        <p:spPr>
          <a:xfrm>
            <a:off x="5275800" y="2592000"/>
            <a:ext cx="54828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50" b="0" u="none" strike="noStrike">
                <a:solidFill>
                  <a:srgbClr val="000000"/>
                </a:solidFill>
                <a:effectLst/>
                <a:uFillTx/>
                <a:latin typeface="Calibri"/>
                <a:ea typeface="Calibri"/>
              </a:rPr>
              <a:t>0</a:t>
            </a:r>
            <a:endParaRPr lang="pl-PL" sz="850" b="0" u="none" strike="noStrike">
              <a:solidFill>
                <a:srgbClr val="000000"/>
              </a:solidFill>
              <a:effectLst/>
              <a:uFillTx/>
              <a:latin typeface="Arial"/>
            </a:endParaRPr>
          </a:p>
        </p:txBody>
      </p:sp>
      <p:graphicFrame>
        <p:nvGraphicFramePr>
          <p:cNvPr id="375" name="Table 0"/>
          <p:cNvGraphicFramePr/>
          <p:nvPr/>
        </p:nvGraphicFramePr>
        <p:xfrm>
          <a:off x="502920" y="3204360"/>
          <a:ext cx="8137800" cy="1461240"/>
        </p:xfrm>
        <a:graphic>
          <a:graphicData uri="http://schemas.openxmlformats.org/drawingml/2006/table">
            <a:tbl>
              <a:tblPr/>
              <a:tblGrid>
                <a:gridCol w="1737360"/>
                <a:gridCol w="2834640"/>
                <a:gridCol w="3566160"/>
              </a:tblGrid>
              <a:tr h="292320">
                <a:tc>
                  <a:txBody>
                    <a:bodyPr tIns="36360" bIns="36360" anchor="ctr">
                      <a:noAutofit/>
                    </a:bodyPr>
                    <a:p>
                      <a:pPr defTabSz="914400">
                        <a:lnSpc>
                          <a:spcPct val="100000"/>
                        </a:lnSpc>
                        <a:tabLst>
                          <a:tab algn="l" pos="0"/>
                        </a:tabLst>
                      </a:pPr>
                      <a:r>
                        <a:rPr lang="pl-PL" sz="1200" b="1" u="none" strike="noStrike">
                          <a:solidFill>
                            <a:srgbClr val="ffffff"/>
                          </a:solidFill>
                          <a:effectLst/>
                          <a:uFillTx/>
                          <a:latin typeface="Calibri"/>
                          <a:ea typeface="Calibri"/>
                        </a:rPr>
                        <a:t>Klasa</a:t>
                      </a:r>
                      <a:endParaRPr lang="pl-PL" sz="1200" b="0" u="none" strike="noStrike">
                        <a:solidFill>
                          <a:srgbClr val="ffffff"/>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1b2148"/>
                    </a:solidFill>
                  </a:tcPr>
                </a:tc>
                <a:tc>
                  <a:txBody>
                    <a:bodyPr tIns="36360" bIns="36360" anchor="ctr">
                      <a:noAutofit/>
                    </a:bodyPr>
                    <a:p>
                      <a:pPr defTabSz="914400">
                        <a:lnSpc>
                          <a:spcPct val="100000"/>
                        </a:lnSpc>
                        <a:tabLst>
                          <a:tab algn="l" pos="0"/>
                        </a:tabLst>
                      </a:pPr>
                      <a:r>
                        <a:rPr lang="pl-PL" sz="1200" b="1" u="none" strike="noStrike">
                          <a:solidFill>
                            <a:srgbClr val="ffffff"/>
                          </a:solidFill>
                          <a:effectLst/>
                          <a:uFillTx/>
                          <a:latin typeface="Calibri"/>
                          <a:ea typeface="Calibri"/>
                        </a:rPr>
                        <a:t>Mechanizm</a:t>
                      </a:r>
                      <a:endParaRPr lang="pl-PL" sz="1200" b="0" u="none" strike="noStrike">
                        <a:solidFill>
                          <a:srgbClr val="ffffff"/>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1b2148"/>
                    </a:solidFill>
                  </a:tcPr>
                </a:tc>
                <a:tc>
                  <a:txBody>
                    <a:bodyPr tIns="36360" bIns="36360" anchor="ctr">
                      <a:noAutofit/>
                    </a:bodyPr>
                    <a:p>
                      <a:pPr defTabSz="914400">
                        <a:lnSpc>
                          <a:spcPct val="100000"/>
                        </a:lnSpc>
                        <a:tabLst>
                          <a:tab algn="l" pos="0"/>
                        </a:tabLst>
                      </a:pPr>
                      <a:r>
                        <a:rPr lang="pl-PL" sz="1200" b="1" u="none" strike="noStrike">
                          <a:solidFill>
                            <a:srgbClr val="ffffff"/>
                          </a:solidFill>
                          <a:effectLst/>
                          <a:uFillTx/>
                          <a:latin typeface="Calibri"/>
                          <a:ea typeface="Calibri"/>
                        </a:rPr>
                        <a:t>Charakterystyka</a:t>
                      </a:r>
                      <a:endParaRPr lang="pl-PL" sz="1200" b="0" u="none" strike="noStrike">
                        <a:solidFill>
                          <a:srgbClr val="ffffff"/>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1b2148"/>
                    </a:solidFill>
                  </a:tcPr>
                </a:tc>
              </a:tr>
              <a:tr h="292320">
                <a:tc>
                  <a:txBody>
                    <a:bodyPr tIns="36360" bIns="36360" anchor="ctr">
                      <a:noAutofit/>
                    </a:bodyPr>
                    <a:p>
                      <a:pPr defTabSz="914400">
                        <a:lnSpc>
                          <a:spcPct val="100000"/>
                        </a:lnSpc>
                        <a:tabLst>
                          <a:tab algn="l" pos="0"/>
                        </a:tabLst>
                      </a:pPr>
                      <a:r>
                        <a:rPr lang="pl-PL" sz="1200" b="1" u="none" strike="noStrike">
                          <a:solidFill>
                            <a:srgbClr val="1b2148"/>
                          </a:solidFill>
                          <a:effectLst/>
                          <a:uFillTx/>
                          <a:latin typeface="Calibri"/>
                          <a:ea typeface="Calibri"/>
                        </a:rPr>
                        <a:t>Metylofenidat</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c>
                  <a:txBody>
                    <a:bodyPr tIns="36360" bIns="36360" anchor="ctr">
                      <a:noAutofit/>
                    </a:bodyPr>
                    <a:p>
                      <a:pPr defTabSz="914400">
                        <a:lnSpc>
                          <a:spcPct val="100000"/>
                        </a:lnSpc>
                        <a:tabLst>
                          <a:tab algn="l" pos="0"/>
                        </a:tabLst>
                      </a:pPr>
                      <a:r>
                        <a:rPr lang="pl-PL" sz="1200" b="0" u="none" strike="noStrike">
                          <a:solidFill>
                            <a:srgbClr val="55607a"/>
                          </a:solidFill>
                          <a:effectLst/>
                          <a:uFillTx/>
                          <a:latin typeface="Calibri"/>
                          <a:ea typeface="Calibri"/>
                        </a:rPr>
                        <a:t>Hamowanie wychwytu DA/NA</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c>
                  <a:txBody>
                    <a:bodyPr tIns="36360" bIns="36360" anchor="ctr">
                      <a:noAutofit/>
                    </a:bodyPr>
                    <a:p>
                      <a:pPr defTabSz="914400">
                        <a:lnSpc>
                          <a:spcPct val="100000"/>
                        </a:lnSpc>
                        <a:tabLst>
                          <a:tab algn="l" pos="0"/>
                        </a:tabLst>
                      </a:pPr>
                      <a:r>
                        <a:rPr lang="pl-PL" sz="1200" b="0" u="none" strike="noStrike">
                          <a:solidFill>
                            <a:srgbClr val="55607a"/>
                          </a:solidFill>
                          <a:effectLst/>
                          <a:uFillTx/>
                          <a:latin typeface="Calibri"/>
                          <a:ea typeface="Calibri"/>
                        </a:rPr>
                        <a:t>Szybki początek, liczne postacie uwalniania</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r>
              <a:tr h="292320">
                <a:tc>
                  <a:txBody>
                    <a:bodyPr tIns="36360" bIns="36360" anchor="ctr">
                      <a:noAutofit/>
                    </a:bodyPr>
                    <a:p>
                      <a:pPr defTabSz="914400">
                        <a:lnSpc>
                          <a:spcPct val="100000"/>
                        </a:lnSpc>
                        <a:tabLst>
                          <a:tab algn="l" pos="0"/>
                        </a:tabLst>
                      </a:pPr>
                      <a:r>
                        <a:rPr lang="pl-PL" sz="1200" b="1" u="none" strike="noStrike">
                          <a:solidFill>
                            <a:srgbClr val="1b2148"/>
                          </a:solidFill>
                          <a:effectLst/>
                          <a:uFillTx/>
                          <a:latin typeface="Calibri"/>
                          <a:ea typeface="Calibri"/>
                        </a:rPr>
                        <a:t>Amfetaminy</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c>
                  <a:txBody>
                    <a:bodyPr tIns="36360" bIns="36360" anchor="ctr">
                      <a:noAutofit/>
                    </a:bodyPr>
                    <a:p>
                      <a:pPr defTabSz="914400">
                        <a:lnSpc>
                          <a:spcPct val="100000"/>
                        </a:lnSpc>
                        <a:tabLst>
                          <a:tab algn="l" pos="0"/>
                        </a:tabLst>
                      </a:pPr>
                      <a:r>
                        <a:rPr lang="pl-PL" sz="1200" b="0" u="none" strike="noStrike">
                          <a:solidFill>
                            <a:srgbClr val="55607a"/>
                          </a:solidFill>
                          <a:effectLst/>
                          <a:uFillTx/>
                          <a:latin typeface="Calibri"/>
                          <a:ea typeface="Calibri"/>
                        </a:rPr>
                        <a:t>↑ uwalnianie i ↓ wychwyt katecholamin</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c>
                  <a:txBody>
                    <a:bodyPr tIns="36360" bIns="36360" anchor="ctr">
                      <a:noAutofit/>
                    </a:bodyPr>
                    <a:p>
                      <a:pPr defTabSz="914400">
                        <a:lnSpc>
                          <a:spcPct val="100000"/>
                        </a:lnSpc>
                        <a:tabLst>
                          <a:tab algn="l" pos="0"/>
                        </a:tabLst>
                      </a:pPr>
                      <a:r>
                        <a:rPr lang="pl-PL" sz="1200" b="0" u="none" strike="noStrike">
                          <a:solidFill>
                            <a:srgbClr val="55607a"/>
                          </a:solidFill>
                          <a:effectLst/>
                          <a:uFillTx/>
                          <a:latin typeface="Calibri"/>
                          <a:ea typeface="Calibri"/>
                        </a:rPr>
                        <a:t>Najwyższa skuteczność objawowa; bezsenność</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r>
              <a:tr h="292320">
                <a:tc>
                  <a:txBody>
                    <a:bodyPr tIns="36360" bIns="36360" anchor="ctr">
                      <a:noAutofit/>
                    </a:bodyPr>
                    <a:p>
                      <a:pPr defTabSz="914400">
                        <a:lnSpc>
                          <a:spcPct val="100000"/>
                        </a:lnSpc>
                        <a:tabLst>
                          <a:tab algn="l" pos="0"/>
                        </a:tabLst>
                      </a:pPr>
                      <a:r>
                        <a:rPr lang="pl-PL" sz="1200" b="1" u="none" strike="noStrike">
                          <a:solidFill>
                            <a:srgbClr val="1b2148"/>
                          </a:solidFill>
                          <a:effectLst/>
                          <a:uFillTx/>
                          <a:latin typeface="Calibri"/>
                          <a:ea typeface="Calibri"/>
                        </a:rPr>
                        <a:t>Atomoksetyna</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c>
                  <a:txBody>
                    <a:bodyPr tIns="36360" bIns="36360" anchor="ctr">
                      <a:noAutofit/>
                    </a:bodyPr>
                    <a:p>
                      <a:pPr defTabSz="914400">
                        <a:lnSpc>
                          <a:spcPct val="100000"/>
                        </a:lnSpc>
                        <a:tabLst>
                          <a:tab algn="l" pos="0"/>
                        </a:tabLst>
                      </a:pPr>
                      <a:r>
                        <a:rPr lang="pl-PL" sz="1200" b="0" u="none" strike="noStrike">
                          <a:solidFill>
                            <a:srgbClr val="55607a"/>
                          </a:solidFill>
                          <a:effectLst/>
                          <a:uFillTx/>
                          <a:latin typeface="Calibri"/>
                          <a:ea typeface="Calibri"/>
                        </a:rPr>
                        <a:t>Hamowanie transportera NA</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c>
                  <a:txBody>
                    <a:bodyPr tIns="36360" bIns="36360" anchor="ctr">
                      <a:noAutofit/>
                    </a:bodyPr>
                    <a:p>
                      <a:pPr defTabSz="914400">
                        <a:lnSpc>
                          <a:spcPct val="100000"/>
                        </a:lnSpc>
                        <a:tabLst>
                          <a:tab algn="l" pos="0"/>
                        </a:tabLst>
                      </a:pPr>
                      <a:r>
                        <a:rPr lang="pl-PL" sz="1200" b="0" u="none" strike="noStrike">
                          <a:solidFill>
                            <a:srgbClr val="55607a"/>
                          </a:solidFill>
                          <a:effectLst/>
                          <a:uFillTx/>
                          <a:latin typeface="Calibri"/>
                          <a:ea typeface="Calibri"/>
                        </a:rPr>
                        <a:t>Brak typowego potencjału nadużywania</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fffff"/>
                    </a:solidFill>
                  </a:tcPr>
                </a:tc>
              </a:tr>
              <a:tr h="292320">
                <a:tc>
                  <a:txBody>
                    <a:bodyPr tIns="36360" bIns="36360" anchor="ctr">
                      <a:noAutofit/>
                    </a:bodyPr>
                    <a:p>
                      <a:pPr defTabSz="914400">
                        <a:lnSpc>
                          <a:spcPct val="100000"/>
                        </a:lnSpc>
                        <a:tabLst>
                          <a:tab algn="l" pos="0"/>
                        </a:tabLst>
                      </a:pPr>
                      <a:r>
                        <a:rPr lang="pl-PL" sz="1200" b="1" u="none" strike="noStrike">
                          <a:solidFill>
                            <a:srgbClr val="1b2148"/>
                          </a:solidFill>
                          <a:effectLst/>
                          <a:uFillTx/>
                          <a:latin typeface="Calibri"/>
                          <a:ea typeface="Calibri"/>
                        </a:rPr>
                        <a:t>Guanfacyna / klonidyna</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c>
                  <a:txBody>
                    <a:bodyPr tIns="36360" bIns="36360" anchor="ctr">
                      <a:noAutofit/>
                    </a:bodyPr>
                    <a:p>
                      <a:pPr defTabSz="914400">
                        <a:lnSpc>
                          <a:spcPct val="100000"/>
                        </a:lnSpc>
                        <a:tabLst>
                          <a:tab algn="l" pos="0"/>
                        </a:tabLst>
                      </a:pPr>
                      <a:r>
                        <a:rPr lang="pl-PL" sz="1200" b="0" u="none" strike="noStrike">
                          <a:solidFill>
                            <a:srgbClr val="55607a"/>
                          </a:solidFill>
                          <a:effectLst/>
                          <a:uFillTx/>
                          <a:latin typeface="Calibri"/>
                          <a:ea typeface="Calibri"/>
                        </a:rPr>
                        <a:t>Modulacja receptorów α2A</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c>
                  <a:txBody>
                    <a:bodyPr tIns="36360" bIns="36360" anchor="ctr">
                      <a:noAutofit/>
                    </a:bodyPr>
                    <a:p>
                      <a:pPr defTabSz="914400">
                        <a:lnSpc>
                          <a:spcPct val="100000"/>
                        </a:lnSpc>
                        <a:tabLst>
                          <a:tab algn="l" pos="0"/>
                        </a:tabLst>
                      </a:pPr>
                      <a:r>
                        <a:rPr lang="pl-PL" sz="1200" b="0" u="none" strike="noStrike">
                          <a:solidFill>
                            <a:srgbClr val="55607a"/>
                          </a:solidFill>
                          <a:effectLst/>
                          <a:uFillTx/>
                          <a:latin typeface="Calibri"/>
                          <a:ea typeface="Calibri"/>
                        </a:rPr>
                        <a:t>Mniejsza skuteczność; przydatne przy tikach</a:t>
                      </a:r>
                      <a:endParaRPr lang="pl-PL" sz="1200" b="0" u="none" strike="noStrike">
                        <a:solidFill>
                          <a:srgbClr val="000000"/>
                        </a:solidFill>
                        <a:effectLst/>
                        <a:uFillTx/>
                        <a:latin typeface="Arial"/>
                      </a:endParaRPr>
                    </a:p>
                  </a:txBody>
                  <a:tcPr anchor="ctr" marL="91440" marR="91440" marT="36360" marB="36360">
                    <a:lnL w="9360">
                      <a:solidFill>
                        <a:srgbClr val="e2e6f0"/>
                      </a:solidFill>
                      <a:prstDash val="solid"/>
                    </a:lnL>
                    <a:lnR w="9360">
                      <a:solidFill>
                        <a:srgbClr val="e2e6f0"/>
                      </a:solidFill>
                      <a:prstDash val="solid"/>
                    </a:lnR>
                    <a:lnT w="9360">
                      <a:solidFill>
                        <a:srgbClr val="e2e6f0"/>
                      </a:solidFill>
                      <a:prstDash val="solid"/>
                    </a:lnT>
                    <a:lnB w="9360">
                      <a:solidFill>
                        <a:srgbClr val="e2e6f0"/>
                      </a:solidFill>
                      <a:prstDash val="solid"/>
                    </a:lnB>
                    <a:solidFill>
                      <a:srgbClr val="f4f6fa"/>
                    </a:solidFill>
                  </a:tcPr>
                </a:tc>
              </a:tr>
            </a:tbl>
          </a:graphicData>
        </a:graphic>
      </p:graphicFrame>
      <p:sp>
        <p:nvSpPr>
          <p:cNvPr id="376" name="Text 26"/>
          <p:cNvSpPr/>
          <p:nvPr/>
        </p:nvSpPr>
        <p:spPr>
          <a:xfrm>
            <a:off x="502920" y="4684680"/>
            <a:ext cx="81378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000" b="0" i="1" u="none" strike="noStrike">
                <a:solidFill>
                  <a:srgbClr val="96a0bc"/>
                </a:solidFill>
                <a:effectLst/>
                <a:uFillTx/>
                <a:latin typeface="Calibri"/>
                <a:ea typeface="Calibri"/>
              </a:rPr>
              <a:t>Źródło: Cortese, S., et al. (2018). The Lancet Psychiatry, 5(9), 727–738. Metylofenidat preferowany jako pierwsza opcja u dzieci (bilans skuteczności i tolerancji).</a:t>
            </a:r>
            <a:endParaRPr lang="pl-PL" sz="1000" b="0" u="none" strike="noStrike">
              <a:solidFill>
                <a:srgbClr val="000000"/>
              </a:solidFill>
              <a:effectLst/>
              <a:uFillTx/>
              <a:latin typeface="Arial"/>
            </a:endParaRPr>
          </a:p>
        </p:txBody>
      </p:sp>
      <p:sp>
        <p:nvSpPr>
          <p:cNvPr id="377" name="Text 27"/>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24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8" name="Text 0"/>
          <p:cNvSpPr/>
          <p:nvPr/>
        </p:nvSpPr>
        <p:spPr>
          <a:xfrm>
            <a:off x="502920" y="36576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c75a26"/>
                </a:solidFill>
                <a:effectLst/>
                <a:uFillTx/>
                <a:latin typeface="Calibri"/>
                <a:ea typeface="Calibri"/>
              </a:rPr>
              <a:t>BEZPIECZEŃSTWO I GRANICE WNIOSKOWANIA</a:t>
            </a:r>
            <a:endParaRPr lang="pl-PL" sz="1100" b="0" u="none" strike="noStrike">
              <a:solidFill>
                <a:srgbClr val="000000"/>
              </a:solidFill>
              <a:effectLst/>
              <a:uFillTx/>
              <a:latin typeface="Arial"/>
            </a:endParaRPr>
          </a:p>
        </p:txBody>
      </p:sp>
      <p:sp>
        <p:nvSpPr>
          <p:cNvPr id="379" name="Text 1"/>
          <p:cNvSpPr/>
          <p:nvPr/>
        </p:nvSpPr>
        <p:spPr>
          <a:xfrm>
            <a:off x="502920" y="621720"/>
            <a:ext cx="813780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500" b="1" u="none" strike="noStrike">
                <a:solidFill>
                  <a:srgbClr val="1b2148"/>
                </a:solidFill>
                <a:effectLst/>
                <a:uFillTx/>
                <a:latin typeface="Cambria"/>
                <a:ea typeface="Cambria"/>
              </a:rPr>
              <a:t>Monitorowanie leczenia i ograniczenia interpretacyjne</a:t>
            </a:r>
            <a:endParaRPr lang="pl-PL" sz="2500" b="0" u="none" strike="noStrike">
              <a:solidFill>
                <a:srgbClr val="000000"/>
              </a:solidFill>
              <a:effectLst/>
              <a:uFillTx/>
              <a:latin typeface="Arial"/>
            </a:endParaRPr>
          </a:p>
        </p:txBody>
      </p:sp>
      <p:sp>
        <p:nvSpPr>
          <p:cNvPr id="380" name="Text 2"/>
          <p:cNvSpPr/>
          <p:nvPr/>
        </p:nvSpPr>
        <p:spPr>
          <a:xfrm>
            <a:off x="502920" y="1017360"/>
            <a:ext cx="8137800" cy="310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200" b="0" i="1" u="none" strike="noStrike">
                <a:solidFill>
                  <a:srgbClr val="55607a"/>
                </a:solidFill>
                <a:effectLst/>
                <a:uFillTx/>
                <a:latin typeface="Calibri"/>
                <a:ea typeface="Calibri"/>
              </a:rPr>
              <a:t>Częste działania niepożądane nie są porównywalne head-to-head między preparatami</a:t>
            </a:r>
            <a:endParaRPr lang="pl-PL" sz="1200" b="0" u="none" strike="noStrike">
              <a:solidFill>
                <a:srgbClr val="000000"/>
              </a:solidFill>
              <a:effectLst/>
              <a:uFillTx/>
              <a:latin typeface="Arial"/>
            </a:endParaRPr>
          </a:p>
        </p:txBody>
      </p:sp>
      <p:sp>
        <p:nvSpPr>
          <p:cNvPr id="381" name="Shape 3"/>
          <p:cNvSpPr/>
          <p:nvPr/>
        </p:nvSpPr>
        <p:spPr>
          <a:xfrm>
            <a:off x="322920" y="1645920"/>
            <a:ext cx="3457080" cy="2314080"/>
          </a:xfrm>
          <a:prstGeom prst="roundRect">
            <a:avLst>
              <a:gd name="adj" fmla="val 3051"/>
            </a:avLst>
          </a:prstGeom>
          <a:solidFill>
            <a:srgbClr val="f4f6fa"/>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382" name="Text 4"/>
          <p:cNvSpPr/>
          <p:nvPr/>
        </p:nvSpPr>
        <p:spPr>
          <a:xfrm>
            <a:off x="389160" y="1684080"/>
            <a:ext cx="3565800" cy="502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600" b="1" u="none" strike="noStrike">
                <a:solidFill>
                  <a:srgbClr val="1b2148"/>
                </a:solidFill>
                <a:effectLst/>
                <a:uFillTx/>
                <a:latin typeface="Cambria"/>
                <a:ea typeface="Cambria"/>
              </a:rPr>
              <a:t>Najczęstsze działania niepożądane</a:t>
            </a:r>
            <a:endParaRPr lang="pl-PL" sz="1600" b="0" u="none" strike="noStrike">
              <a:solidFill>
                <a:srgbClr val="000000"/>
              </a:solidFill>
              <a:effectLst/>
              <a:uFillTx/>
              <a:latin typeface="Arial"/>
            </a:endParaRPr>
          </a:p>
        </p:txBody>
      </p:sp>
      <p:sp>
        <p:nvSpPr>
          <p:cNvPr id="383" name="Text 5"/>
          <p:cNvSpPr/>
          <p:nvPr/>
        </p:nvSpPr>
        <p:spPr>
          <a:xfrm>
            <a:off x="360000" y="2340720"/>
            <a:ext cx="3456000" cy="161928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8000"/>
              </a:lnSpc>
              <a:spcAft>
                <a:spcPts val="799"/>
              </a:spcAft>
              <a:buClr>
                <a:srgbClr val="1b2148"/>
              </a:buClr>
              <a:buFont typeface="Wingdings" charset="2"/>
              <a:buChar char=""/>
            </a:pPr>
            <a:r>
              <a:rPr lang="pl-PL" sz="1200" b="0" u="none" strike="noStrike">
                <a:solidFill>
                  <a:srgbClr val="1b2148"/>
                </a:solidFill>
                <a:effectLst/>
                <a:uFillTx/>
                <a:latin typeface="Calibri"/>
                <a:ea typeface="Calibri"/>
              </a:rPr>
              <a:t>MPH OROS: </a:t>
            </a:r>
            <a:br>
              <a:rPr sz="1200"/>
            </a:br>
            <a:r>
              <a:rPr lang="pl-PL" sz="1200" b="0" u="none" strike="noStrike">
                <a:solidFill>
                  <a:srgbClr val="1b2148"/>
                </a:solidFill>
                <a:effectLst/>
                <a:uFillTx/>
                <a:latin typeface="Calibri"/>
                <a:ea typeface="Calibri"/>
              </a:rPr>
              <a:t>ból głowy 22%, ↓ apetytu 15%, ból brzucha 14%</a:t>
            </a:r>
            <a:endParaRPr lang="pl-PL" sz="1200" b="0" u="none" strike="noStrike">
              <a:solidFill>
                <a:srgbClr val="000000"/>
              </a:solidFill>
              <a:effectLst/>
              <a:uFillTx/>
              <a:latin typeface="Arial"/>
            </a:endParaRPr>
          </a:p>
          <a:p>
            <a:pPr marL="177840" indent="-177840" defTabSz="914400">
              <a:lnSpc>
                <a:spcPct val="108000"/>
              </a:lnSpc>
              <a:spcAft>
                <a:spcPts val="799"/>
              </a:spcAft>
              <a:buClr>
                <a:srgbClr val="1b2148"/>
              </a:buClr>
              <a:buFont typeface="Wingdings" charset="2"/>
              <a:buChar char=""/>
            </a:pPr>
            <a:r>
              <a:rPr lang="pl-PL" sz="1200" b="0" u="none" strike="noStrike">
                <a:solidFill>
                  <a:srgbClr val="1b2148"/>
                </a:solidFill>
                <a:effectLst/>
                <a:uFillTx/>
                <a:latin typeface="Calibri"/>
                <a:ea typeface="Calibri"/>
              </a:rPr>
              <a:t>Atomoksetyna: </a:t>
            </a:r>
            <a:br>
              <a:rPr sz="1200"/>
            </a:br>
            <a:r>
              <a:rPr lang="pl-PL" sz="1200" b="0" u="none" strike="noStrike">
                <a:solidFill>
                  <a:srgbClr val="1b2148"/>
                </a:solidFill>
                <a:effectLst/>
                <a:uFillTx/>
                <a:latin typeface="Calibri"/>
                <a:ea typeface="Calibri"/>
              </a:rPr>
              <a:t>nudności 26%, ból brzucha 18%, ↓ apetytu 16%</a:t>
            </a:r>
            <a:endParaRPr lang="pl-PL" sz="1200" b="0" u="none" strike="noStrike">
              <a:solidFill>
                <a:srgbClr val="000000"/>
              </a:solidFill>
              <a:effectLst/>
              <a:uFillTx/>
              <a:latin typeface="Arial"/>
            </a:endParaRPr>
          </a:p>
          <a:p>
            <a:pPr marL="177840" indent="-177840" defTabSz="914400">
              <a:lnSpc>
                <a:spcPct val="108000"/>
              </a:lnSpc>
              <a:spcAft>
                <a:spcPts val="799"/>
              </a:spcAft>
              <a:buClr>
                <a:srgbClr val="1b2148"/>
              </a:buClr>
              <a:buFont typeface="Wingdings" charset="2"/>
              <a:buChar char=""/>
            </a:pPr>
            <a:r>
              <a:rPr lang="pl-PL" sz="1200" b="0" u="none" strike="noStrike">
                <a:solidFill>
                  <a:srgbClr val="1b2148"/>
                </a:solidFill>
                <a:effectLst/>
                <a:uFillTx/>
                <a:latin typeface="Calibri"/>
                <a:ea typeface="Calibri"/>
              </a:rPr>
              <a:t>Guanfacyna ER: </a:t>
            </a:r>
            <a:br>
              <a:rPr sz="1200"/>
            </a:br>
            <a:r>
              <a:rPr lang="pl-PL" sz="1200" b="0" u="none" strike="noStrike">
                <a:solidFill>
                  <a:srgbClr val="1b2148"/>
                </a:solidFill>
                <a:effectLst/>
                <a:uFillTx/>
                <a:latin typeface="Calibri"/>
                <a:ea typeface="Calibri"/>
              </a:rPr>
              <a:t>senność 38%, ból głowy 24%, zmęczenie 14%</a:t>
            </a:r>
            <a:endParaRPr lang="pl-PL" sz="1200" b="0" u="none" strike="noStrike">
              <a:solidFill>
                <a:srgbClr val="000000"/>
              </a:solidFill>
              <a:effectLst/>
              <a:uFillTx/>
              <a:latin typeface="Arial"/>
            </a:endParaRPr>
          </a:p>
        </p:txBody>
      </p:sp>
      <p:sp>
        <p:nvSpPr>
          <p:cNvPr id="384" name="Shape 6"/>
          <p:cNvSpPr/>
          <p:nvPr/>
        </p:nvSpPr>
        <p:spPr>
          <a:xfrm>
            <a:off x="3960000" y="1645920"/>
            <a:ext cx="4680000" cy="2314080"/>
          </a:xfrm>
          <a:prstGeom prst="roundRect">
            <a:avLst>
              <a:gd name="adj" fmla="val 3051"/>
            </a:avLst>
          </a:prstGeom>
          <a:solidFill>
            <a:srgbClr val="fceadd"/>
          </a:solidFill>
          <a:ln w="12600">
            <a:solidFill>
              <a:srgbClr val="e2e6f0"/>
            </a:solidFill>
            <a:round/>
          </a:ln>
          <a:effectLst>
            <a:outerShdw dist="37674" dir="8100000" blurRad="114480" rotWithShape="0">
              <a:srgbClr val="000000">
                <a:alpha val="13000"/>
              </a:srgbClr>
            </a:outerShdw>
          </a:effectLst>
        </p:spPr>
        <p:style>
          <a:lnRef idx="0"/>
          <a:fillRef idx="0"/>
          <a:effectRef idx="0"/>
          <a:fontRef idx="minor"/>
        </p:style>
        <p:txBody>
          <a:bodyPr lIns="90000" rIns="90000" tIns="45000" bIns="45000" anchor="t">
            <a:noAutofit/>
          </a:bodyPr>
          <a:p>
            <a:endParaRPr lang="pl-PL" sz="1800" b="0" u="none" strike="noStrike">
              <a:solidFill>
                <a:srgbClr val="000000"/>
              </a:solidFill>
              <a:effectLst/>
              <a:uFillTx/>
              <a:latin typeface="Arial"/>
            </a:endParaRPr>
          </a:p>
        </p:txBody>
      </p:sp>
      <p:sp>
        <p:nvSpPr>
          <p:cNvPr id="385" name="Text 7"/>
          <p:cNvSpPr/>
          <p:nvPr/>
        </p:nvSpPr>
        <p:spPr>
          <a:xfrm>
            <a:off x="4549680" y="1684080"/>
            <a:ext cx="3565800" cy="502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600" b="1" u="none" strike="noStrike">
                <a:solidFill>
                  <a:srgbClr val="c75a26"/>
                </a:solidFill>
                <a:effectLst/>
                <a:uFillTx/>
                <a:latin typeface="Cambria"/>
                <a:ea typeface="Cambria"/>
              </a:rPr>
              <a:t>Ograniczenia interpretacyjne</a:t>
            </a:r>
            <a:endParaRPr lang="pl-PL" sz="1600" b="0" u="none" strike="noStrike">
              <a:solidFill>
                <a:srgbClr val="000000"/>
              </a:solidFill>
              <a:effectLst/>
              <a:uFillTx/>
              <a:latin typeface="Arial"/>
            </a:endParaRPr>
          </a:p>
        </p:txBody>
      </p:sp>
      <p:sp>
        <p:nvSpPr>
          <p:cNvPr id="386" name="Text 8"/>
          <p:cNvSpPr/>
          <p:nvPr/>
        </p:nvSpPr>
        <p:spPr>
          <a:xfrm>
            <a:off x="4032000" y="2340720"/>
            <a:ext cx="4572000" cy="161928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8000"/>
              </a:lnSpc>
              <a:spcAft>
                <a:spcPts val="700"/>
              </a:spcAft>
              <a:buClr>
                <a:srgbClr val="1b2148"/>
              </a:buClr>
              <a:buFont typeface="Wingdings" charset="2"/>
              <a:buChar char=""/>
            </a:pPr>
            <a:r>
              <a:rPr lang="pl-PL" sz="1200" b="0" u="none" strike="noStrike">
                <a:solidFill>
                  <a:srgbClr val="1b2148"/>
                </a:solidFill>
                <a:effectLst/>
                <a:uFillTx/>
                <a:latin typeface="Calibri"/>
                <a:ea typeface="Calibri"/>
              </a:rPr>
              <a:t>Brak wieloletnich RCT z randomizacją do leczenia / braku leczenia</a:t>
            </a:r>
            <a:endParaRPr lang="pl-PL" sz="1200" b="0" u="none" strike="noStrike">
              <a:solidFill>
                <a:srgbClr val="000000"/>
              </a:solidFill>
              <a:effectLst/>
              <a:uFillTx/>
              <a:latin typeface="Arial"/>
            </a:endParaRPr>
          </a:p>
          <a:p>
            <a:pPr marL="177840" indent="-177840" defTabSz="914400">
              <a:lnSpc>
                <a:spcPct val="108000"/>
              </a:lnSpc>
              <a:spcAft>
                <a:spcPts val="700"/>
              </a:spcAft>
              <a:buClr>
                <a:srgbClr val="1b2148"/>
              </a:buClr>
              <a:buFont typeface="Wingdings" charset="2"/>
              <a:buChar char=""/>
            </a:pPr>
            <a:r>
              <a:rPr lang="pl-PL" sz="1200" b="0" u="none" strike="noStrike">
                <a:solidFill>
                  <a:srgbClr val="1b2148"/>
                </a:solidFill>
                <a:effectLst/>
                <a:uFillTx/>
                <a:latin typeface="Calibri"/>
                <a:ea typeface="Calibri"/>
              </a:rPr>
              <a:t>Dane o przestępczości, śmiertelności i kosztach </a:t>
            </a:r>
            <a:br>
              <a:rPr sz="1200"/>
            </a:br>
            <a:r>
              <a:rPr lang="pl-PL" sz="1200" b="0" u="none" strike="noStrike">
                <a:solidFill>
                  <a:srgbClr val="1b2148"/>
                </a:solidFill>
                <a:effectLst/>
                <a:uFillTx/>
                <a:latin typeface="Calibri"/>
                <a:ea typeface="Calibri"/>
              </a:rPr>
              <a:t>są w dużej mierze obserwacyjne</a:t>
            </a:r>
            <a:endParaRPr lang="pl-PL" sz="1200" b="0" u="none" strike="noStrike">
              <a:solidFill>
                <a:srgbClr val="000000"/>
              </a:solidFill>
              <a:effectLst/>
              <a:uFillTx/>
              <a:latin typeface="Arial"/>
            </a:endParaRPr>
          </a:p>
          <a:p>
            <a:pPr marL="177840" indent="-177840" defTabSz="914400">
              <a:lnSpc>
                <a:spcPct val="108000"/>
              </a:lnSpc>
              <a:spcAft>
                <a:spcPts val="700"/>
              </a:spcAft>
              <a:buClr>
                <a:srgbClr val="1b2148"/>
              </a:buClr>
              <a:buFont typeface="Wingdings" charset="2"/>
              <a:buChar char=""/>
            </a:pPr>
            <a:r>
              <a:rPr lang="pl-PL" sz="1200" b="0" u="none" strike="noStrike">
                <a:solidFill>
                  <a:srgbClr val="1b2148"/>
                </a:solidFill>
                <a:effectLst/>
                <a:uFillTx/>
                <a:latin typeface="Calibri"/>
                <a:ea typeface="Calibri"/>
              </a:rPr>
              <a:t>Heterogeniczność ADHD: płeć, wiek, współchorobowość, środowisko</a:t>
            </a:r>
            <a:endParaRPr lang="pl-PL" sz="1200" b="0" u="none" strike="noStrike">
              <a:solidFill>
                <a:srgbClr val="000000"/>
              </a:solidFill>
              <a:effectLst/>
              <a:uFillTx/>
              <a:latin typeface="Arial"/>
            </a:endParaRPr>
          </a:p>
          <a:p>
            <a:pPr marL="177840" indent="-177840" defTabSz="914400">
              <a:lnSpc>
                <a:spcPct val="108000"/>
              </a:lnSpc>
              <a:spcAft>
                <a:spcPts val="700"/>
              </a:spcAft>
              <a:buClr>
                <a:srgbClr val="1b2148"/>
              </a:buClr>
              <a:buFont typeface="Wingdings" charset="2"/>
              <a:buChar char=""/>
            </a:pPr>
            <a:r>
              <a:rPr lang="pl-PL" sz="1200" b="0" u="none" strike="noStrike">
                <a:solidFill>
                  <a:srgbClr val="1b2148"/>
                </a:solidFill>
                <a:effectLst/>
                <a:uFillTx/>
                <a:latin typeface="Calibri"/>
                <a:ea typeface="Calibri"/>
              </a:rPr>
              <a:t>HR / OR ≠ bezwzględne prawdopodobieństwo zdarzenia u jednej osoby</a:t>
            </a:r>
            <a:endParaRPr lang="pl-PL" sz="1200" b="0" u="none" strike="noStrike">
              <a:solidFill>
                <a:srgbClr val="000000"/>
              </a:solidFill>
              <a:effectLst/>
              <a:uFillTx/>
              <a:latin typeface="Arial"/>
            </a:endParaRPr>
          </a:p>
        </p:txBody>
      </p:sp>
      <p:sp>
        <p:nvSpPr>
          <p:cNvPr id="387" name="Shape 9"/>
          <p:cNvSpPr/>
          <p:nvPr/>
        </p:nvSpPr>
        <p:spPr>
          <a:xfrm>
            <a:off x="502920" y="4498920"/>
            <a:ext cx="8137800" cy="438480"/>
          </a:xfrm>
          <a:prstGeom prst="roundRect">
            <a:avLst>
              <a:gd name="adj" fmla="val 18750"/>
            </a:avLst>
          </a:prstGeom>
          <a:solidFill>
            <a:srgbClr val="1b2148"/>
          </a:solidFill>
          <a:ln w="12600">
            <a:solidFill>
              <a:srgbClr val="e2e6f0"/>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388" name="Text 10"/>
          <p:cNvSpPr/>
          <p:nvPr/>
        </p:nvSpPr>
        <p:spPr>
          <a:xfrm>
            <a:off x="551520" y="4498920"/>
            <a:ext cx="7908480" cy="438480"/>
          </a:xfrm>
          <a:prstGeom prst="rect">
            <a:avLst/>
          </a:prstGeom>
          <a:noFill/>
          <a:ln w="0">
            <a:noFill/>
          </a:ln>
        </p:spPr>
        <p:style>
          <a:lnRef idx="0"/>
          <a:fillRef idx="0"/>
          <a:effectRef idx="0"/>
          <a:fontRef idx="minor"/>
        </p:style>
        <p:txBody>
          <a:bodyPr lIns="0" rIns="0" tIns="0" bIns="0" anchor="ctr" anchorCtr="1">
            <a:noAutofit/>
          </a:bodyPr>
          <a:p>
            <a:pPr algn="ctr" defTabSz="914400">
              <a:lnSpc>
                <a:spcPct val="100000"/>
              </a:lnSpc>
              <a:tabLst>
                <a:tab algn="l" pos="0"/>
              </a:tabLst>
            </a:pPr>
            <a:r>
              <a:rPr lang="pl-PL" sz="1300" b="0" i="1" u="none" strike="noStrike">
                <a:solidFill>
                  <a:srgbClr val="ffffff"/>
                </a:solidFill>
                <a:effectLst/>
                <a:uFillTx/>
                <a:latin typeface="Calibri"/>
                <a:ea typeface="Calibri"/>
              </a:rPr>
              <a:t>Wyniki grupowe nie pozwalają przewidzieć losu konkretnej osoby, dlatego interpretacja kliniczna pozostaje niezbędna</a:t>
            </a:r>
            <a:endParaRPr lang="pl-PL" sz="1300" b="0" u="none" strike="noStrike">
              <a:solidFill>
                <a:srgbClr val="000000"/>
              </a:solidFill>
              <a:effectLst/>
              <a:uFillTx/>
              <a:latin typeface="Arial"/>
            </a:endParaRPr>
          </a:p>
        </p:txBody>
      </p:sp>
      <p:sp>
        <p:nvSpPr>
          <p:cNvPr id="389" name="Text 11"/>
          <p:cNvSpPr/>
          <p:nvPr/>
        </p:nvSpPr>
        <p:spPr>
          <a:xfrm>
            <a:off x="8275320" y="4901040"/>
            <a:ext cx="41112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lang="pl-PL" sz="800" b="0" u="none" strike="noStrike">
                <a:solidFill>
                  <a:srgbClr val="96a0bc"/>
                </a:solidFill>
                <a:effectLst/>
                <a:uFillTx/>
                <a:latin typeface="Calibri"/>
                <a:ea typeface="Calibri"/>
              </a:rPr>
              <a:t>25 / 26</a:t>
            </a:r>
            <a:endParaRPr lang="pl-PL"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b2148"/>
        </a:solidFill>
      </p:bgPr>
    </p:bg>
    <p:spTree>
      <p:nvGrpSpPr>
        <p:cNvPr id="1" name=""/>
        <p:cNvGrpSpPr/>
        <p:nvPr/>
      </p:nvGrpSpPr>
      <p:grpSpPr>
        <a:xfrm>
          <a:off x="0" y="0"/>
          <a:ext cx="0" cy="0"/>
          <a:chOff x="0" y="0"/>
          <a:chExt cx="0" cy="0"/>
        </a:xfrm>
      </p:grpSpPr>
      <p:sp>
        <p:nvSpPr>
          <p:cNvPr id="390" name="Shape 0"/>
          <p:cNvSpPr/>
          <p:nvPr/>
        </p:nvSpPr>
        <p:spPr>
          <a:xfrm>
            <a:off x="6126480" y="3291840"/>
            <a:ext cx="3840120" cy="3840120"/>
          </a:xfrm>
          <a:prstGeom prst="ellipse">
            <a:avLst/>
          </a:prstGeom>
          <a:solidFill>
            <a:srgbClr val="1f8a82">
              <a:alpha val="10000"/>
            </a:srgbClr>
          </a:solidFill>
          <a:ln w="12600">
            <a:solidFill>
              <a:srgbClr val="1f8a82">
                <a:alpha val="25000"/>
              </a:srgbClr>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391" name="Text 1"/>
          <p:cNvSpPr/>
          <p:nvPr/>
        </p:nvSpPr>
        <p:spPr>
          <a:xfrm>
            <a:off x="502920" y="411480"/>
            <a:ext cx="8137800" cy="237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100" b="1" u="none" spc="139" strike="noStrike">
                <a:solidFill>
                  <a:srgbClr val="f2a679"/>
                </a:solidFill>
                <a:effectLst/>
                <a:uFillTx/>
                <a:latin typeface="Calibri"/>
                <a:ea typeface="Calibri"/>
              </a:rPr>
              <a:t>WNIOSKI</a:t>
            </a:r>
            <a:endParaRPr lang="pl-PL" sz="1100" b="0" u="none" strike="noStrike">
              <a:solidFill>
                <a:srgbClr val="ffffff"/>
              </a:solidFill>
              <a:effectLst/>
              <a:uFillTx/>
              <a:latin typeface="Arial"/>
            </a:endParaRPr>
          </a:p>
        </p:txBody>
      </p:sp>
      <p:sp>
        <p:nvSpPr>
          <p:cNvPr id="392" name="Text 2"/>
          <p:cNvSpPr/>
          <p:nvPr/>
        </p:nvSpPr>
        <p:spPr>
          <a:xfrm>
            <a:off x="502920" y="621720"/>
            <a:ext cx="7954920" cy="529920"/>
          </a:xfrm>
          <a:prstGeom prst="rect">
            <a:avLst/>
          </a:prstGeom>
          <a:noFill/>
          <a:ln w="0">
            <a:noFill/>
          </a:ln>
        </p:spPr>
        <p:style>
          <a:lnRef idx="0"/>
          <a:fillRef idx="0"/>
          <a:effectRef idx="0"/>
          <a:fontRef idx="minor"/>
        </p:style>
        <p:txBody>
          <a:bodyPr lIns="0" rIns="0" tIns="0" bIns="0" anchor="t">
            <a:noAutofit/>
          </a:bodyPr>
          <a:p>
            <a:pPr defTabSz="914400">
              <a:lnSpc>
                <a:spcPct val="102000"/>
              </a:lnSpc>
              <a:tabLst>
                <a:tab algn="l" pos="0"/>
              </a:tabLst>
            </a:pPr>
            <a:r>
              <a:rPr lang="pl-PL" sz="2500" b="1" u="none" strike="noStrike">
                <a:solidFill>
                  <a:srgbClr val="ffffff"/>
                </a:solidFill>
                <a:effectLst/>
                <a:uFillTx/>
                <a:latin typeface="Cambria"/>
                <a:ea typeface="Cambria"/>
              </a:rPr>
              <a:t>ADHD wymaga wczesnej, kompleksowej interwencji</a:t>
            </a:r>
            <a:endParaRPr lang="pl-PL" sz="2500" b="0" u="none" strike="noStrike">
              <a:solidFill>
                <a:srgbClr val="ffffff"/>
              </a:solidFill>
              <a:effectLst/>
              <a:uFillTx/>
              <a:latin typeface="Arial"/>
            </a:endParaRPr>
          </a:p>
        </p:txBody>
      </p:sp>
      <p:sp>
        <p:nvSpPr>
          <p:cNvPr id="393" name="Shape 3"/>
          <p:cNvSpPr/>
          <p:nvPr/>
        </p:nvSpPr>
        <p:spPr>
          <a:xfrm>
            <a:off x="502920" y="1481400"/>
            <a:ext cx="347040" cy="347040"/>
          </a:xfrm>
          <a:prstGeom prst="ellipse">
            <a:avLst/>
          </a:prstGeom>
          <a:solidFill>
            <a:srgbClr val="e8743a"/>
          </a:solidFill>
          <a:ln w="12600">
            <a:solidFill>
              <a:srgbClr val="e8743a"/>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394" name="Text 4"/>
          <p:cNvSpPr/>
          <p:nvPr/>
        </p:nvSpPr>
        <p:spPr>
          <a:xfrm>
            <a:off x="502920" y="1481400"/>
            <a:ext cx="34704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200" b="1" u="none" strike="noStrike">
                <a:solidFill>
                  <a:srgbClr val="ffffff"/>
                </a:solidFill>
                <a:effectLst/>
                <a:uFillTx/>
                <a:latin typeface="Calibri"/>
                <a:ea typeface="Calibri"/>
              </a:rPr>
              <a:t>1</a:t>
            </a:r>
            <a:endParaRPr lang="pl-PL" sz="1200" b="0" u="none" strike="noStrike">
              <a:solidFill>
                <a:srgbClr val="ffffff"/>
              </a:solidFill>
              <a:effectLst/>
              <a:uFillTx/>
              <a:latin typeface="Arial"/>
            </a:endParaRPr>
          </a:p>
        </p:txBody>
      </p:sp>
      <p:sp>
        <p:nvSpPr>
          <p:cNvPr id="395" name="Text 5"/>
          <p:cNvSpPr/>
          <p:nvPr/>
        </p:nvSpPr>
        <p:spPr>
          <a:xfrm>
            <a:off x="987480" y="1444680"/>
            <a:ext cx="7472520" cy="355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300" b="1" u="none" strike="noStrike">
                <a:solidFill>
                  <a:srgbClr val="dde2f4"/>
                </a:solidFill>
                <a:effectLst/>
                <a:uFillTx/>
                <a:latin typeface="Calibri"/>
                <a:ea typeface="Calibri"/>
              </a:rPr>
              <a:t>ADHD silnie zwiększa ryzyko uzależnień</a:t>
            </a:r>
            <a:r>
              <a:rPr lang="pl-PL" sz="1300" b="0" u="none" strike="noStrike">
                <a:solidFill>
                  <a:srgbClr val="dde2f4"/>
                </a:solidFill>
                <a:effectLst/>
                <a:uFillTx/>
                <a:latin typeface="Calibri"/>
                <a:ea typeface="Calibri"/>
              </a:rPr>
              <a:t>, lecz prawidłowo prowadzona farmakoterapia tego ryzyka nie zwiększa.</a:t>
            </a:r>
            <a:endParaRPr lang="pl-PL" sz="1300" b="0" u="none" strike="noStrike">
              <a:solidFill>
                <a:srgbClr val="ffffff"/>
              </a:solidFill>
              <a:effectLst/>
              <a:uFillTx/>
              <a:latin typeface="Arial"/>
            </a:endParaRPr>
          </a:p>
        </p:txBody>
      </p:sp>
      <p:sp>
        <p:nvSpPr>
          <p:cNvPr id="396" name="Shape 6"/>
          <p:cNvSpPr/>
          <p:nvPr/>
        </p:nvSpPr>
        <p:spPr>
          <a:xfrm>
            <a:off x="502920" y="2048400"/>
            <a:ext cx="347040" cy="347040"/>
          </a:xfrm>
          <a:prstGeom prst="ellipse">
            <a:avLst/>
          </a:prstGeom>
          <a:solidFill>
            <a:srgbClr val="e8743a"/>
          </a:solidFill>
          <a:ln w="12600">
            <a:solidFill>
              <a:srgbClr val="e8743a"/>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397" name="Text 7"/>
          <p:cNvSpPr/>
          <p:nvPr/>
        </p:nvSpPr>
        <p:spPr>
          <a:xfrm>
            <a:off x="502920" y="2048400"/>
            <a:ext cx="34704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200" b="1" u="none" strike="noStrike">
                <a:solidFill>
                  <a:srgbClr val="ffffff"/>
                </a:solidFill>
                <a:effectLst/>
                <a:uFillTx/>
                <a:latin typeface="Calibri"/>
                <a:ea typeface="Calibri"/>
              </a:rPr>
              <a:t>2</a:t>
            </a:r>
            <a:endParaRPr lang="pl-PL" sz="1200" b="0" u="none" strike="noStrike">
              <a:solidFill>
                <a:srgbClr val="ffffff"/>
              </a:solidFill>
              <a:effectLst/>
              <a:uFillTx/>
              <a:latin typeface="Arial"/>
            </a:endParaRPr>
          </a:p>
        </p:txBody>
      </p:sp>
      <p:sp>
        <p:nvSpPr>
          <p:cNvPr id="398" name="Text 8"/>
          <p:cNvSpPr/>
          <p:nvPr/>
        </p:nvSpPr>
        <p:spPr>
          <a:xfrm>
            <a:off x="987480" y="2047680"/>
            <a:ext cx="7472520" cy="328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300" b="1" u="none" strike="noStrike">
                <a:solidFill>
                  <a:srgbClr val="dde2f4"/>
                </a:solidFill>
                <a:effectLst/>
                <a:uFillTx/>
                <a:latin typeface="Calibri"/>
                <a:ea typeface="Calibri"/>
              </a:rPr>
              <a:t>Najgorszy przebieg dotyczy konfiguracji</a:t>
            </a:r>
            <a:r>
              <a:rPr lang="pl-PL" sz="1300" b="0" u="none" strike="noStrike">
                <a:solidFill>
                  <a:srgbClr val="dde2f4"/>
                </a:solidFill>
                <a:effectLst/>
                <a:uFillTx/>
                <a:latin typeface="Calibri"/>
                <a:ea typeface="Calibri"/>
              </a:rPr>
              <a:t>:</a:t>
            </a:r>
            <a:endParaRPr lang="pl-PL" sz="1300" b="0" u="none" strike="noStrike">
              <a:solidFill>
                <a:srgbClr val="ffffff"/>
              </a:solidFill>
              <a:effectLst/>
              <a:uFillTx/>
              <a:latin typeface="Arial"/>
            </a:endParaRPr>
          </a:p>
          <a:p>
            <a:pPr algn="ctr" defTabSz="914400">
              <a:lnSpc>
                <a:spcPct val="100000"/>
              </a:lnSpc>
              <a:tabLst>
                <a:tab algn="l" pos="0"/>
              </a:tabLst>
            </a:pPr>
            <a:r>
              <a:rPr lang="pl-PL" sz="1300" b="0" u="none" strike="noStrike">
                <a:solidFill>
                  <a:srgbClr val="dde2f4"/>
                </a:solidFill>
                <a:effectLst/>
                <a:uFillTx/>
                <a:latin typeface="Calibri"/>
                <a:ea typeface="Calibri"/>
              </a:rPr>
              <a:t>ADHD + zaburzenia zachowania/ASPD + depresja lub SUD + niekorzystne środowisko + brak leczenia</a:t>
            </a:r>
            <a:endParaRPr lang="pl-PL" sz="1300" b="0" u="none" strike="noStrike">
              <a:solidFill>
                <a:srgbClr val="ffffff"/>
              </a:solidFill>
              <a:effectLst/>
              <a:uFillTx/>
              <a:latin typeface="Arial"/>
            </a:endParaRPr>
          </a:p>
        </p:txBody>
      </p:sp>
      <p:sp>
        <p:nvSpPr>
          <p:cNvPr id="399" name="Shape 9"/>
          <p:cNvSpPr/>
          <p:nvPr/>
        </p:nvSpPr>
        <p:spPr>
          <a:xfrm>
            <a:off x="502920" y="2615040"/>
            <a:ext cx="347040" cy="347040"/>
          </a:xfrm>
          <a:prstGeom prst="ellipse">
            <a:avLst/>
          </a:prstGeom>
          <a:solidFill>
            <a:srgbClr val="e8743a"/>
          </a:solidFill>
          <a:ln w="12600">
            <a:solidFill>
              <a:srgbClr val="e8743a"/>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400" name="Text 10"/>
          <p:cNvSpPr/>
          <p:nvPr/>
        </p:nvSpPr>
        <p:spPr>
          <a:xfrm>
            <a:off x="502920" y="2615040"/>
            <a:ext cx="34704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200" b="1" u="none" strike="noStrike">
                <a:solidFill>
                  <a:srgbClr val="ffffff"/>
                </a:solidFill>
                <a:effectLst/>
                <a:uFillTx/>
                <a:latin typeface="Calibri"/>
                <a:ea typeface="Calibri"/>
              </a:rPr>
              <a:t>3</a:t>
            </a:r>
            <a:endParaRPr lang="pl-PL" sz="1200" b="0" u="none" strike="noStrike">
              <a:solidFill>
                <a:srgbClr val="ffffff"/>
              </a:solidFill>
              <a:effectLst/>
              <a:uFillTx/>
              <a:latin typeface="Arial"/>
            </a:endParaRPr>
          </a:p>
        </p:txBody>
      </p:sp>
      <p:sp>
        <p:nvSpPr>
          <p:cNvPr id="401" name="Text 11"/>
          <p:cNvSpPr/>
          <p:nvPr/>
        </p:nvSpPr>
        <p:spPr>
          <a:xfrm>
            <a:off x="987480" y="2650680"/>
            <a:ext cx="7472520" cy="301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300" b="0" u="none" strike="noStrike">
                <a:solidFill>
                  <a:srgbClr val="dde2f4"/>
                </a:solidFill>
                <a:effectLst/>
                <a:uFillTx/>
                <a:latin typeface="Calibri"/>
                <a:ea typeface="Calibri"/>
              </a:rPr>
              <a:t>Leczenie wiąże się z niższym ryzykiem przestępczości, wypadków transportowych i zachowań samobójczych</a:t>
            </a:r>
            <a:endParaRPr lang="pl-PL" sz="1300" b="0" u="none" strike="noStrike">
              <a:solidFill>
                <a:srgbClr val="ffffff"/>
              </a:solidFill>
              <a:effectLst/>
              <a:uFillTx/>
              <a:latin typeface="Arial"/>
            </a:endParaRPr>
          </a:p>
        </p:txBody>
      </p:sp>
      <p:sp>
        <p:nvSpPr>
          <p:cNvPr id="402" name="Shape 12"/>
          <p:cNvSpPr/>
          <p:nvPr/>
        </p:nvSpPr>
        <p:spPr>
          <a:xfrm>
            <a:off x="502920" y="3182040"/>
            <a:ext cx="347040" cy="347040"/>
          </a:xfrm>
          <a:prstGeom prst="ellipse">
            <a:avLst/>
          </a:prstGeom>
          <a:solidFill>
            <a:srgbClr val="e8743a"/>
          </a:solidFill>
          <a:ln w="12600">
            <a:solidFill>
              <a:srgbClr val="e8743a"/>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403" name="Text 13"/>
          <p:cNvSpPr/>
          <p:nvPr/>
        </p:nvSpPr>
        <p:spPr>
          <a:xfrm>
            <a:off x="502920" y="3182040"/>
            <a:ext cx="34704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200" b="1" u="none" strike="noStrike">
                <a:solidFill>
                  <a:srgbClr val="ffffff"/>
                </a:solidFill>
                <a:effectLst/>
                <a:uFillTx/>
                <a:latin typeface="Calibri"/>
                <a:ea typeface="Calibri"/>
              </a:rPr>
              <a:t>4</a:t>
            </a:r>
            <a:endParaRPr lang="pl-PL" sz="1200" b="0" u="none" strike="noStrike">
              <a:solidFill>
                <a:srgbClr val="ffffff"/>
              </a:solidFill>
              <a:effectLst/>
              <a:uFillTx/>
              <a:latin typeface="Arial"/>
            </a:endParaRPr>
          </a:p>
        </p:txBody>
      </p:sp>
      <p:sp>
        <p:nvSpPr>
          <p:cNvPr id="404" name="Text 14"/>
          <p:cNvSpPr/>
          <p:nvPr/>
        </p:nvSpPr>
        <p:spPr>
          <a:xfrm>
            <a:off x="987480" y="3217680"/>
            <a:ext cx="7472520" cy="274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300" b="1" u="none" strike="noStrike">
                <a:solidFill>
                  <a:srgbClr val="dde2f4"/>
                </a:solidFill>
                <a:effectLst/>
                <a:uFillTx/>
                <a:latin typeface="Calibri"/>
                <a:ea typeface="Calibri"/>
              </a:rPr>
              <a:t>Koszty społeczne ADHD</a:t>
            </a:r>
            <a:r>
              <a:rPr lang="pl-PL" sz="1300" b="0" u="none" strike="noStrike">
                <a:solidFill>
                  <a:srgbClr val="dde2f4"/>
                </a:solidFill>
                <a:effectLst/>
                <a:uFillTx/>
                <a:latin typeface="Calibri"/>
                <a:ea typeface="Calibri"/>
              </a:rPr>
              <a:t> liczone są w setkach miliardów dolarów rocznie</a:t>
            </a:r>
            <a:endParaRPr lang="pl-PL" sz="1300" b="0" u="none" strike="noStrike">
              <a:solidFill>
                <a:srgbClr val="ffffff"/>
              </a:solidFill>
              <a:effectLst/>
              <a:uFillTx/>
              <a:latin typeface="Arial"/>
            </a:endParaRPr>
          </a:p>
        </p:txBody>
      </p:sp>
      <p:sp>
        <p:nvSpPr>
          <p:cNvPr id="405" name="Shape 15"/>
          <p:cNvSpPr/>
          <p:nvPr/>
        </p:nvSpPr>
        <p:spPr>
          <a:xfrm>
            <a:off x="502920" y="3749040"/>
            <a:ext cx="347040" cy="347040"/>
          </a:xfrm>
          <a:prstGeom prst="ellipse">
            <a:avLst/>
          </a:prstGeom>
          <a:solidFill>
            <a:srgbClr val="e8743a"/>
          </a:solidFill>
          <a:ln w="12600">
            <a:solidFill>
              <a:srgbClr val="e8743a"/>
            </a:solidFill>
            <a:round/>
          </a:ln>
        </p:spPr>
        <p:style>
          <a:lnRef idx="0"/>
          <a:fillRef idx="0"/>
          <a:effectRef idx="0"/>
          <a:fontRef idx="minor"/>
        </p:style>
        <p:txBody>
          <a:bodyPr lIns="90000" rIns="90000" tIns="45000" bIns="45000" anchor="t">
            <a:noAutofit/>
          </a:bodyPr>
          <a:p>
            <a:endParaRPr lang="pl-PL" sz="1800" b="0" u="none" strike="noStrike">
              <a:solidFill>
                <a:srgbClr val="ffffff"/>
              </a:solidFill>
              <a:effectLst/>
              <a:uFillTx/>
              <a:latin typeface="Arial"/>
            </a:endParaRPr>
          </a:p>
        </p:txBody>
      </p:sp>
      <p:sp>
        <p:nvSpPr>
          <p:cNvPr id="406" name="Text 16"/>
          <p:cNvSpPr/>
          <p:nvPr/>
        </p:nvSpPr>
        <p:spPr>
          <a:xfrm>
            <a:off x="502920" y="3749040"/>
            <a:ext cx="34704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pl-PL" sz="1200" b="1" u="none" strike="noStrike">
                <a:solidFill>
                  <a:srgbClr val="ffffff"/>
                </a:solidFill>
                <a:effectLst/>
                <a:uFillTx/>
                <a:latin typeface="Calibri"/>
                <a:ea typeface="Calibri"/>
              </a:rPr>
              <a:t>5</a:t>
            </a:r>
            <a:endParaRPr lang="pl-PL" sz="1200" b="0" u="none" strike="noStrike">
              <a:solidFill>
                <a:srgbClr val="ffffff"/>
              </a:solidFill>
              <a:effectLst/>
              <a:uFillTx/>
              <a:latin typeface="Arial"/>
            </a:endParaRPr>
          </a:p>
        </p:txBody>
      </p:sp>
      <p:sp>
        <p:nvSpPr>
          <p:cNvPr id="407" name="Text 17"/>
          <p:cNvSpPr/>
          <p:nvPr/>
        </p:nvSpPr>
        <p:spPr>
          <a:xfrm>
            <a:off x="987480" y="3712320"/>
            <a:ext cx="7472520" cy="427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300" b="0" u="none" strike="noStrike">
                <a:solidFill>
                  <a:srgbClr val="dde2f4"/>
                </a:solidFill>
                <a:effectLst/>
                <a:uFillTx/>
                <a:latin typeface="Calibri"/>
                <a:ea typeface="Calibri"/>
              </a:rPr>
              <a:t>Wczesne, wielomodalne leczenie to nie tylko redukcja objawów, lecz potencjalna profilaktyka uzależnień, wypadków i marginalizacji.</a:t>
            </a:r>
            <a:endParaRPr lang="pl-PL" sz="1300" b="0" u="none" strike="noStrike">
              <a:solidFill>
                <a:srgbClr val="ffffff"/>
              </a:solidFill>
              <a:effectLst/>
              <a:uFillTx/>
              <a:latin typeface="Arial"/>
            </a:endParaRPr>
          </a:p>
        </p:txBody>
      </p:sp>
      <p:sp>
        <p:nvSpPr>
          <p:cNvPr id="408" name="Shape 18"/>
          <p:cNvSpPr/>
          <p:nvPr/>
        </p:nvSpPr>
        <p:spPr>
          <a:xfrm>
            <a:off x="502920" y="4398840"/>
            <a:ext cx="7589520" cy="360"/>
          </a:xfrm>
          <a:prstGeom prst="line">
            <a:avLst/>
          </a:prstGeom>
          <a:ln w="12600">
            <a:solidFill>
              <a:srgbClr val="3a4480"/>
            </a:solidFill>
            <a:round/>
          </a:ln>
        </p:spPr>
        <p:style>
          <a:lnRef idx="0"/>
          <a:fillRef idx="0"/>
          <a:effectRef idx="0"/>
          <a:fontRef idx="minor"/>
        </p:style>
        <p:txBody>
          <a:bodyPr lIns="90000" rIns="90000" tIns="-44640" bIns="-44640" anchor="t" anchorCtr="1">
            <a:noAutofit/>
          </a:bodyPr>
          <a:p>
            <a:endParaRPr lang="pl-PL" sz="1800" b="0" u="none" strike="noStrike">
              <a:solidFill>
                <a:srgbClr val="ffffff"/>
              </a:solidFill>
              <a:effectLst/>
              <a:uFillTx/>
              <a:latin typeface="Arial"/>
            </a:endParaRPr>
          </a:p>
        </p:txBody>
      </p:sp>
      <p:sp>
        <p:nvSpPr>
          <p:cNvPr id="409" name="Text 19"/>
          <p:cNvSpPr/>
          <p:nvPr/>
        </p:nvSpPr>
        <p:spPr>
          <a:xfrm>
            <a:off x="502920" y="4445640"/>
            <a:ext cx="7954920" cy="4503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pl-PL" sz="1500" b="0" i="1" u="none" strike="noStrike">
                <a:solidFill>
                  <a:srgbClr val="ffffff"/>
                </a:solidFill>
                <a:effectLst/>
                <a:uFillTx/>
                <a:latin typeface="Cambria"/>
                <a:ea typeface="Cambria"/>
              </a:rPr>
              <a:t>Funkcjonalne konsekwencje ADHD rozciągają się od dzialania neuronu po budżet państwa, </a:t>
            </a:r>
            <a:br>
              <a:rPr sz="1500"/>
            </a:br>
            <a:r>
              <a:rPr lang="pl-PL" sz="1500" b="0" i="1" u="none" strike="noStrike">
                <a:solidFill>
                  <a:srgbClr val="ffffff"/>
                </a:solidFill>
                <a:effectLst/>
                <a:uFillTx/>
                <a:latin typeface="Cambria"/>
                <a:ea typeface="Cambria"/>
              </a:rPr>
              <a:t>ale to wczesna, kompleksowa interwencja decyduje o tym, w którą stronę przechyli się ten bilans.</a:t>
            </a:r>
            <a:endParaRPr lang="pl-PL"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59</TotalTime>
  <Application>LibreOffice/25.8.5.2$Linux_X86_64 LibreOffice_project/580$Build-2</Application>
  <AppVersion>15.0000</AppVersion>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2026-06-28T14:12:51Z</dcterms:created>
  <dc:creator>dr inż. Mateusz Pomianek</dc:creator>
  <dc:description/>
  <dc:language>pl-PL</dc:language>
  <cp:lastModifiedBy/>
  <dcterms:modified xsi:type="dcterms:W3CDTF">2026-06-28T17:55:11Z</dcterms:modified>
  <cp:revision>27</cp:revision>
  <dc:subject>PptxGenJS Presentation</dc:subject>
  <dc:title>ADHD a funkcjonowanie psychospołeczne — Przegląd literatury</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26</vt:r8>
  </property>
  <property fmtid="{D5CDD505-2E9C-101B-9397-08002B2CF9AE}" pid="3" name="PresentationFormat">
    <vt:lpwstr>On-screen Show (16:9)</vt:lpwstr>
  </property>
  <property fmtid="{D5CDD505-2E9C-101B-9397-08002B2CF9AE}" pid="4" name="Slides">
    <vt:r8>26</vt:r8>
  </property>
</Properties>
</file>