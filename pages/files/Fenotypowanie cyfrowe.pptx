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6256000" cy="9144000"/>
  <p:notesSz cx="9144000" cy="16256000"/>
  <p:embeddedFontLst>
    <p:embeddedFont>
      <p:font typeface="Calibri Light"/>
    </p:embeddedFont>
    <p:embeddedFont>
      <p:font typeface="Droid Sans"/>
      <p:regular r:id="rId22"/>
      <p:bold r:id="rId23"/>
    </p:embeddedFont>
    <p:embeddedFont>
      <p:font typeface="Liter"/>
      <p:regular r:id="rId24"/>
    </p:embeddedFont>
    <p:embeddedFont>
      <p:font typeface="+mn-lt"/>
    </p:embeddedFont>
    <p:embeddedFont>
      <p:font typeface="Noto Sans CJK SC"/>
      <p:regular r:id="rId25"/>
      <p:bold r:id="rId25"/>
    </p:embeddedFont>
    <p:embeddedFont>
      <p:font typeface="+mn-ea"/>
    </p:embeddedFont>
    <p:embeddedFont>
      <p:font typeface="Noto Sans Devanagari"/>
      <p:regular r:id="rId26"/>
      <p:bold r:id="rId26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font" Target="fonts/Font_1_Droid_Sans_Regular.fntdata"/><Relationship Id="rId23" Type="http://schemas.openxmlformats.org/officeDocument/2006/relationships/font" Target="fonts/Font_2_Droid_Sans_Bold.fntdata"/><Relationship Id="rId24" Type="http://schemas.openxmlformats.org/officeDocument/2006/relationships/font" Target="fonts/Font_3_Liter_Regular.fntdata"/><Relationship Id="rId25" Type="http://schemas.openxmlformats.org/officeDocument/2006/relationships/font" Target="fonts/Font_4_Noto_Sans_CJK_SC_Regular.fntdata"/><Relationship Id="rId26" Type="http://schemas.openxmlformats.org/officeDocument/2006/relationships/font" Target="fonts/Font_5_Noto_Sans_Devanagari_Regular.fntdata"/><Relationship Id="rId2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Liczba badań</c:v>
                </c:pt>
              </c:strCache>
            </c:strRef>
          </c:tx>
          <c:spPr>
            <a:solidFill>
              <a:srgbClr val="2c5f8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Depresja</c:v>
                </c:pt>
                <c:pt idx="1">
                  <c:v>Dwubiegunowe</c:v>
                </c:pt>
                <c:pt idx="2">
                  <c:v>Lęk/stres</c:v>
                </c:pt>
                <c:pt idx="3">
                  <c:v>Schizofrenia</c:v>
                </c:pt>
                <c:pt idx="4">
                  <c:v>SUD</c:v>
                </c:pt>
                <c:pt idx="5">
                  <c:v>Zaburzenia snu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16</c:v>
                </c:pt>
                <c:pt idx="1">
                  <c:v>11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</c:ser>
        <c:gapWidth val="67"/>
        <c:overlap val="0"/>
        <c:axId val="95001054"/>
        <c:axId val="27703347"/>
      </c:barChart>
      <c:catAx>
        <c:axId val="950010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333333"/>
                </a:solidFill>
                <a:uFillTx/>
                <a:latin typeface="Arial"/>
              </a:defRPr>
            </a:pPr>
          </a:p>
        </c:txPr>
        <c:crossAx val="27703347"/>
        <c:crosses val="autoZero"/>
        <c:auto val="1"/>
        <c:lblAlgn val="ctr"/>
        <c:lblOffset val="100"/>
        <c:noMultiLvlLbl val="0"/>
      </c:catAx>
      <c:valAx>
        <c:axId val="27703347"/>
        <c:scaling>
          <c:orientation val="minMax"/>
        </c:scaling>
        <c:delete val="0"/>
        <c:axPos val="l"/>
        <c:majorGridlines>
          <c:spPr>
            <a:ln w="12600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8d8d8d"/>
                </a:solidFill>
                <a:uFillTx/>
                <a:latin typeface="Arial"/>
              </a:defRPr>
            </a:pPr>
          </a:p>
        </c:txPr>
        <c:crossAx val="9500105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daac2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c5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07b54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a9bc7"/>
              </a:solidFill>
              <a:ln w="0">
                <a:noFill/>
              </a:ln>
            </c:spPr>
          </c:dPt>
          <c:dPt>
            <c:idx val="3"/>
            <c:spPr>
              <a:solidFill>
                <a:srgbClr val="8d8d8d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4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4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4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4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Monitorowanie</c:v>
                </c:pt>
                <c:pt idx="1">
                  <c:v>Diagnostyka</c:v>
                </c:pt>
                <c:pt idx="2">
                  <c:v>Interwencje</c:v>
                </c:pt>
                <c:pt idx="3">
                  <c:v>Inne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63</c:v>
                </c:pt>
                <c:pt idx="1">
                  <c:v>23</c:v>
                </c:pt>
                <c:pt idx="2">
                  <c:v>3</c:v>
                </c:pt>
                <c:pt idx="3">
                  <c:v>11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400" b="0" u="none" strike="noStrike">
              <a:solidFill>
                <a:srgbClr val="333333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1AE498-F62B-482C-8954-8DD9D49543F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A94FE13-28E0-4C54-95DB-87CB138E8E1B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7084C8-8D0A-4F27-8A74-3FB6B9966930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625356-EBE4-4A51-8641-E750D263B9E1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6B849F-CB99-4CC7-B3A6-F6560081F357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D4C941A-C4A4-469C-A316-DFAE0140B503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614B1A-1F45-424F-BBCA-FB3AF98E7E08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5C2B1D1-5E2C-4524-A09A-32510C9C5333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08F349-C645-4D61-A7F3-0557D0D2D60A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BDF2E4A-2B35-4056-B51A-6ACEDCFF4C54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5C0A22-CAE2-419F-8DB7-9EFD226682C4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35EB16-DB98-41E8-A116-49A3050E3602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32F59E-2E0E-4392-B0AA-8BF3F9ACCE40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F54638-6AA3-4721-AE67-89904F5FD05C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D60FD5E-1A0C-4CFC-A325-4A567ECB4408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BFE4FCC-98D4-443C-B4A4-5B3F060C8524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77FF5B-3A8D-4CA3-985E-2A0230FEB585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60BDFD-3483-4600-A33A-67C4517CC6C8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B2EEDD-A5E1-4352-A1CD-C745826045C6}" type="slidenum">
              <a:rPr lang="pl-PL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jmir.org/2026/1/e84146" TargetMode="External"/><Relationship Id="rId3" Type="http://schemas.openxmlformats.org/officeDocument/2006/relationships/hyperlink" Target="https://mental.jmir.org/2026/1/e8076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globalrph.com/2025/12/digital-phenotyping-in-psychiatry-what-clinical-evidence-reveals-in-2025/" TargetMode="External"/><Relationship Id="rId2" Type="http://schemas.openxmlformats.org/officeDocument/2006/relationships/hyperlink" Target="https://pmc.ncbi.nlm.nih.gov/articles/PMC10753422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10667880" y="0"/>
            <a:ext cx="5587560" cy="91436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900000" y="540000"/>
            <a:ext cx="761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8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Nowa metoda ciągłej oceny stanu zdrowia psychicznego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015920" y="2133720"/>
            <a:ext cx="838152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pl-PL" sz="6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Fenotypowanie cyfrowe</a:t>
            </a:r>
            <a:endParaRPr lang="pl-PL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015920" y="3581640"/>
            <a:ext cx="838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800" b="0" u="none" spc="99" strike="noStrike">
                <a:solidFill>
                  <a:srgbClr val="6a9bc7"/>
                </a:solidFill>
                <a:effectLst/>
                <a:uFillTx/>
                <a:latin typeface="Droid Sans"/>
                <a:ea typeface="Liter"/>
              </a:rPr>
              <a:t>digital phenotyping in mental health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015920" y="4952880"/>
            <a:ext cx="2285640" cy="360"/>
          </a:xfrm>
          <a:prstGeom prst="straightConnector1">
            <a:avLst/>
          </a:prstGeom>
          <a:noFill/>
          <a:ln w="3175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15920" y="528336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dr inż. Mateusz Pomianek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80000"/>
              </a:lnSpc>
            </a:pPr>
            <a:r>
              <a:rPr lang="pl-PL" sz="1800" b="0" i="1" u="none" spc="99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Psychiatria cyfrowa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667880" y="8267760"/>
            <a:ext cx="50796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l-PL" sz="13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Liter"/>
                <a:ea typeface="Liter"/>
              </a:rPr>
              <a:t>2026/2027  ACADEMIC YEAR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1015920" y="507960"/>
            <a:ext cx="76197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3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Agenda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1015920" y="1219320"/>
            <a:ext cx="14223600" cy="360"/>
          </a:xfrm>
          <a:prstGeom prst="straightConnector1">
            <a:avLst/>
          </a:prstGeom>
          <a:noFill/>
          <a:ln w="25400">
            <a:solidFill>
              <a:srgbClr val="2c5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1625760" y="2413080"/>
            <a:ext cx="507600" cy="50760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625760" y="2413080"/>
            <a:ext cx="507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2133720" y="2654280"/>
            <a:ext cx="2437920" cy="36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4572000" y="2413080"/>
            <a:ext cx="507600" cy="50760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4572000" y="2413080"/>
            <a:ext cx="507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5079960" y="2654280"/>
            <a:ext cx="2437920" cy="36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7518240" y="2413080"/>
            <a:ext cx="507600" cy="50760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518240" y="2413080"/>
            <a:ext cx="507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3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8026560" y="2654280"/>
            <a:ext cx="2437920" cy="36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10464840" y="2413080"/>
            <a:ext cx="507600" cy="50760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10464840" y="2413080"/>
            <a:ext cx="507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4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10972800" y="2654280"/>
            <a:ext cx="2437920" cy="36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13411080" y="2413080"/>
            <a:ext cx="507600" cy="50760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13411080" y="2413080"/>
            <a:ext cx="507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609480" y="314964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Wprowadzenie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609480" y="379728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Definicja i źródła danych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3556080" y="313704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Zdrowie psychiczne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3556080" y="378468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Zastosowania kliniczne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6502320" y="310536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Aspekty technologiczne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6502320" y="400716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ML i metodologia badań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9448920" y="314964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Wyzwania etyczne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9448920" y="379728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Prywatność i bias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12512160" y="313704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Perspektywy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12512160" y="3784680"/>
            <a:ext cx="2539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Podsumowanie </a:t>
            </a:r>
            <a:br>
              <a:rPr sz="2100"/>
            </a:br>
            <a:r>
              <a:rPr lang="pl-PL" sz="21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i wnioski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1015920" y="5474160"/>
            <a:ext cx="14482080" cy="31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4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Prezentacja omawia fenomen </a:t>
            </a:r>
            <a:r>
              <a:rPr lang="pl-PL" sz="2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fenotypowania cyfrowego</a:t>
            </a:r>
            <a:r>
              <a:rPr lang="pl-PL" sz="24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w kontekście zdrowia psychicznego.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</a:pPr>
            <a:r>
              <a:rPr lang="pl-PL" sz="24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Przedstawione zostaną definicje, źródła danych, zastosowania kliniczne, oraz kluczowe metody analityczny.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</a:pPr>
            <a:r>
              <a:rPr lang="pl-PL" sz="24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Czas trwania: </a:t>
            </a:r>
            <a:r>
              <a:rPr lang="pl-PL" sz="24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20–25 minut</a:t>
            </a:r>
            <a:r>
              <a:rPr lang="pl-PL" sz="24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6255800" cy="27428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1015920" y="762120"/>
            <a:ext cx="5079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pc="400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CZĘŚĆ 01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015920" y="139716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Definicja, geneza pojęcia i źródła danych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1015920" y="3429000"/>
            <a:ext cx="50400" cy="15235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1320840" y="3269520"/>
            <a:ext cx="1493496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en-US" sz="5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Wprowadzenie do fenotypowania cyfrowego</a:t>
            </a:r>
            <a:endParaRPr lang="pl-PL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1320840" y="4425840"/>
            <a:ext cx="9709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Omówienie definicji, historycznego kontekstu oraz metod zbierania danych cyfrowych w badaniach nad zdrowiem psychicznym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1015920" y="8001000"/>
            <a:ext cx="1422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* W tej części zostaną omówione podstawy teoretyczne i metodologiczne fenotypowania cyfrowego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Definicja i geneza pojęcia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04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762120" y="12700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1092240" y="111744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Definicja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„moment-by-moment quantification of the individual-level human phenotype in situ using data from personal digital devices" (Onnela &amp; Rauch, 2016)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762120" y="248904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092240" y="231156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Geneza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Pojęcie wprowadzone w 2016 r. przez badaczy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z Harvard University jako odpowiedź na brak obiektywnych biomarkerów w psychiatrii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762120" y="370836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1092240" y="350532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Alternatywne nazwy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personal sensing, intelligent sensing, body computing - terminologia odzwierciedla różne aspekty metody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762120" y="49276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1092240" y="469908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Cel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Częsty i ciągły pomiar fenotypu człowieka w naturalnym kontekście, bez konieczności obecności klinicysty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762120" y="614664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092240" y="599436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Kontekst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Rozwój technologii mobilnych i szeroka adopcja smartfonów stworzyły warunki do pasywnego zbierania danych behawioralnych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62120" y="7162920"/>
            <a:ext cx="6933960" cy="152352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1015920" y="7289640"/>
            <a:ext cx="642600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Istota: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Fenotypowanie cyfrowe przekształca subiektywną, epizodyczną ocenę psychiatryczną w ciągły, obiektywny pomiar zachowań w naturalnym środowisku pacjenta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8636040" y="114300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8889840" y="13334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9398160" y="114300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Urządzenia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039320" y="2133720"/>
            <a:ext cx="342720" cy="456840"/>
          </a:xfrm>
          <a:custGeom>
            <a:avLst/>
            <a:gdLst>
              <a:gd name="textAreaLeft" fmla="*/ 0 w 342720"/>
              <a:gd name="textAreaRight" fmla="*/ 343080 w 34272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8636040" y="276876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8915400" y="2959200"/>
            <a:ext cx="355320" cy="406080"/>
          </a:xfrm>
          <a:custGeom>
            <a:avLst/>
            <a:gdLst>
              <a:gd name="textAreaLeft" fmla="*/ 0 w 355320"/>
              <a:gd name="textAreaRight" fmla="*/ 355680 w 35532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9398160" y="276876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Zbiór danych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10039320" y="3759120"/>
            <a:ext cx="342720" cy="456840"/>
          </a:xfrm>
          <a:custGeom>
            <a:avLst/>
            <a:gdLst>
              <a:gd name="textAreaLeft" fmla="*/ 0 w 342720"/>
              <a:gd name="textAreaRight" fmla="*/ 343080 w 34272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8636040" y="439416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8889840" y="458460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9398160" y="439416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Analiza ML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12192120" y="1333440"/>
            <a:ext cx="355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Smartfon, smartwatch, czujniki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12192120" y="2959200"/>
            <a:ext cx="355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Dane pasywne i aktywne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12192120" y="4584600"/>
            <a:ext cx="35557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pl-PL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Wykrywanie wzorców behawioralnych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8636040" y="5460840"/>
            <a:ext cx="7111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Rys. 1: Schemat procesu fenotypowania cyfrowego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8100000" y="6095880"/>
            <a:ext cx="7647840" cy="292068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2"/>
          <p:cNvSpPr/>
          <p:nvPr/>
        </p:nvSpPr>
        <p:spPr>
          <a:xfrm>
            <a:off x="8940960" y="6273720"/>
            <a:ext cx="650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Perspektywa historyczna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8280000" y="6781680"/>
            <a:ext cx="746784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Thomas Insel, były dyrektor NIMH, przewidywał, że wpływ fenotypowania cyfrowego na psychiatrię do 2050 r. może przewyższyć postępy w genomice i neurobiologii. Obecnie (2026) obserwuje się duży wzrost liczby publikacji w tej dziedzinie.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330120" y="177840"/>
            <a:ext cx="355320" cy="406080"/>
          </a:xfrm>
          <a:custGeom>
            <a:avLst/>
            <a:gdLst>
              <a:gd name="textAreaLeft" fmla="*/ 0 w 355320"/>
              <a:gd name="textAreaRight" fmla="*/ 355680 w 35532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Źródła danych i metody zbierania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05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540000" y="939960"/>
            <a:ext cx="777024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36000">
            <a:solidFill>
              <a:srgbClr val="3465a4"/>
            </a:solidFill>
            <a:round/>
          </a:ln>
          <a:effectLst>
            <a:outerShdw algn="bl" blurRad="127080" dir="5400000" dist="25560" rotWithShape="0">
              <a:srgbClr val="2c5f8a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14680" y="1147320"/>
            <a:ext cx="6603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3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Dane pasywne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1468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Passive sensing - zbierane automatycznie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81468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2c5f8a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745200" y="2387520"/>
            <a:ext cx="753480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pc="-60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Akcelerometr</a:t>
            </a:r>
            <a:r>
              <a:rPr lang="pl-PL" sz="2600" b="0" u="none" spc="-60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</a:t>
            </a:r>
            <a:r>
              <a:rPr lang="pl-PL" sz="2400" b="0" u="none" spc="-60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aktywność fizyczna, kroki, wzorce ruchu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GPS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lokalizacja, mobilność, czas w domu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Ekran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czas użycia, wzorce odblokowania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Komunikacja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logi połączeń/SMS (anonim.)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Klawiatura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dynamika pisania, tapów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Aplikacje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czas użycia, typy aplikacji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Nosniki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smartwatch (HRV, sen)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8784000" y="939960"/>
            <a:ext cx="721332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36000">
            <a:solidFill>
              <a:srgbClr val="ff8000"/>
            </a:solidFill>
            <a:round/>
          </a:ln>
          <a:effectLst>
            <a:outerShdw algn="bl" blurRad="127080" dir="5400000" dist="25560" rotWithShape="0">
              <a:srgbClr val="e07b54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9088560" y="1147320"/>
            <a:ext cx="6603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32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Dane aktywne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908856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Active sensing - wymagają zaangażowania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908856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e07b54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9019080" y="2387520"/>
            <a:ext cx="688464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EMA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eko-logiczne momentowe oceny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Kwestionariusze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PHQ-9, GAD-7, PANSS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Zadania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zadania poznawcze, testy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Samooceny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nastrój, poziom lęku, sen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Zaleta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kontekst subiektywny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Wada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obciążenie poznawcze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Hybryda</a:t>
            </a:r>
            <a:r>
              <a:rPr lang="pl-PL" sz="26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pasywne + aktywne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6255800" cy="27428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1015920" y="762120"/>
            <a:ext cx="5079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pc="400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CZĘŚĆ 02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015920" y="139716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Monitorowanie, diagnostyka i predykcja epizodów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1015920" y="3429000"/>
            <a:ext cx="50400" cy="15235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320840" y="3368880"/>
            <a:ext cx="1371564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en-US" sz="5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Zastosowania w zdrowiu psychicznym</a:t>
            </a:r>
            <a:endParaRPr lang="pl-PL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320840" y="4489200"/>
            <a:ext cx="7679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Przegląd dowodów klinicznych w depresji, zaburzeniach dwubiegunowych i schizofrenii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1015920" y="8001000"/>
            <a:ext cx="1422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* Na podstawie: scoping review JMIR 2026 (n=65), PMC 2023, GlobalRPH 2025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Depresja i zaburzenia lękowe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07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Chart 0"/>
          <p:cNvGraphicFramePr/>
          <p:nvPr/>
        </p:nvGraphicFramePr>
        <p:xfrm>
          <a:off x="762120" y="1092240"/>
          <a:ext cx="7213320" cy="609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7" name="Text 4"/>
          <p:cNvSpPr/>
          <p:nvPr/>
        </p:nvSpPr>
        <p:spPr>
          <a:xfrm>
            <a:off x="762120" y="7289640"/>
            <a:ext cx="7213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Rys. 2: Liczba badań fenotypowania cyfrowego wg diagnozy (n=65, 2012–2025)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8381880" y="109224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Kluczowe markery behawioralne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8381880" y="160020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8381880" y="1619280"/>
            <a:ext cx="71118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4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Zmniejszona zmienność lokalizacyjna (mniej miejsc, dłuższy czas w domu), zmiany w użyciu aplikacji społecznościowych, zaburzenia snu. Osoby z depresją przejawiają ograniczoną mobilność - co odzwierciedla anhedonię i unikanie.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8381880" y="368316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Badanie NESDA (Behapp)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8381880" y="419112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8381880" y="4209840"/>
            <a:ext cx="742860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4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n=217 (109 sympt., 108 asympt.). Mniejsza liczba trajektorii GPS koreluje z objawami depresji i lęku (AUC = 0,60). Modele ML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z cechami behawioralnymi przewyższyły modele demograficzne.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8381880" y="601992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Wnioski kliniczne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8381880" y="652788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8381880" y="6546960"/>
            <a:ext cx="753300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4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Markery behawioralne nie zastępują diagnostyki klinicznej, ale mogą ją wspierać. Zmiany w trajektoriach GPS mogą mieć zastosowanie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w monitorowaniu objawów oraz jako cel interwencji behawioralnej.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8381880" y="8291160"/>
            <a:ext cx="7111800" cy="55836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8636040" y="8302320"/>
            <a:ext cx="66034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en-US" sz="1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Źródło:</a:t>
            </a:r>
            <a:r>
              <a:rPr lang="en-US" sz="16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0" u="sng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  <a:hlinkClick r:id="rId2"/>
              </a:rPr>
              <a:t>JMIR Scoping Review 2026</a:t>
            </a:r>
            <a:r>
              <a:rPr lang="en-US" sz="16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, </a:t>
            </a:r>
            <a:r>
              <a:rPr lang="en-US" sz="1600" b="0" u="sng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  <a:hlinkClick r:id="rId3"/>
              </a:rPr>
              <a:t>JMIR Ment Health 2026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Zaburzenia dwubiegunowe i schizofrenia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08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762120" y="1143000"/>
            <a:ext cx="4571640" cy="71118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2489040" y="1650960"/>
            <a:ext cx="634680" cy="634680"/>
          </a:xfrm>
          <a:custGeom>
            <a:avLst/>
            <a:gdLst>
              <a:gd name="textAreaLeft" fmla="*/ 0 w 634680"/>
              <a:gd name="textAreaRight" fmla="*/ 635040 w 634680"/>
              <a:gd name="textAreaTop" fmla="*/ 0 h 634680"/>
              <a:gd name="textAreaBottom" fmla="*/ 635040 h 634680"/>
            </a:gdLst>
            <a:ahLst/>
            <a:cxnLst/>
            <a:rect l="textAreaLeft" t="textAreaTop" r="textAreaRight" b="textAreaBottom"/>
            <a:pathLst>
              <a:path w="635000" h="635000">
                <a:moveTo>
                  <a:pt x="597421" y="297780"/>
                </a:moveTo>
                <a:cubicBezTo>
                  <a:pt x="575593" y="296292"/>
                  <a:pt x="556617" y="312663"/>
                  <a:pt x="555005" y="334615"/>
                </a:cubicBezTo>
                <a:cubicBezTo>
                  <a:pt x="550912" y="392906"/>
                  <a:pt x="525735" y="445492"/>
                  <a:pt x="487040" y="484684"/>
                </a:cubicBezTo>
                <a:lnTo>
                  <a:pt x="447725" y="445244"/>
                </a:lnTo>
                <a:cubicBezTo>
                  <a:pt x="439167" y="436687"/>
                  <a:pt x="426393" y="434206"/>
                  <a:pt x="415230" y="438795"/>
                </a:cubicBezTo>
                <a:cubicBezTo>
                  <a:pt x="404068" y="443384"/>
                  <a:pt x="396875" y="454298"/>
                  <a:pt x="396875" y="466328"/>
                </a:cubicBezTo>
                <a:lnTo>
                  <a:pt x="396875" y="605234"/>
                </a:lnTo>
                <a:cubicBezTo>
                  <a:pt x="396875" y="621729"/>
                  <a:pt x="410146" y="635000"/>
                  <a:pt x="426641" y="635000"/>
                </a:cubicBezTo>
                <a:lnTo>
                  <a:pt x="565547" y="635000"/>
                </a:lnTo>
                <a:cubicBezTo>
                  <a:pt x="577577" y="635000"/>
                  <a:pt x="588491" y="627807"/>
                  <a:pt x="593080" y="616645"/>
                </a:cubicBezTo>
                <a:cubicBezTo>
                  <a:pt x="597669" y="605482"/>
                  <a:pt x="595188" y="592708"/>
                  <a:pt x="586631" y="584150"/>
                </a:cubicBezTo>
                <a:lnTo>
                  <a:pt x="543223" y="540742"/>
                </a:lnTo>
                <a:cubicBezTo>
                  <a:pt x="594940" y="488404"/>
                  <a:pt x="628675" y="418207"/>
                  <a:pt x="634256" y="340072"/>
                </a:cubicBezTo>
                <a:cubicBezTo>
                  <a:pt x="635744" y="318244"/>
                  <a:pt x="619373" y="299269"/>
                  <a:pt x="597421" y="297656"/>
                </a:cubicBezTo>
                <a:close/>
                <a:moveTo>
                  <a:pt x="48369" y="50850"/>
                </a:moveTo>
                <a:lnTo>
                  <a:pt x="91777" y="94258"/>
                </a:lnTo>
                <a:cubicBezTo>
                  <a:pt x="40060" y="146596"/>
                  <a:pt x="6325" y="216793"/>
                  <a:pt x="744" y="294928"/>
                </a:cubicBezTo>
                <a:cubicBezTo>
                  <a:pt x="-744" y="316756"/>
                  <a:pt x="15627" y="335731"/>
                  <a:pt x="37579" y="337344"/>
                </a:cubicBezTo>
                <a:cubicBezTo>
                  <a:pt x="59531" y="338956"/>
                  <a:pt x="78383" y="322461"/>
                  <a:pt x="79995" y="300509"/>
                </a:cubicBezTo>
                <a:cubicBezTo>
                  <a:pt x="84088" y="242218"/>
                  <a:pt x="109265" y="189632"/>
                  <a:pt x="147960" y="150440"/>
                </a:cubicBezTo>
                <a:lnTo>
                  <a:pt x="187275" y="189756"/>
                </a:lnTo>
                <a:cubicBezTo>
                  <a:pt x="195833" y="198313"/>
                  <a:pt x="208607" y="200794"/>
                  <a:pt x="219770" y="196205"/>
                </a:cubicBezTo>
                <a:cubicBezTo>
                  <a:pt x="230932" y="191616"/>
                  <a:pt x="238125" y="180702"/>
                  <a:pt x="238125" y="168672"/>
                </a:cubicBezTo>
                <a:lnTo>
                  <a:pt x="238125" y="29766"/>
                </a:lnTo>
                <a:cubicBezTo>
                  <a:pt x="238125" y="13271"/>
                  <a:pt x="224854" y="0"/>
                  <a:pt x="208359" y="0"/>
                </a:cubicBezTo>
                <a:lnTo>
                  <a:pt x="69453" y="0"/>
                </a:lnTo>
                <a:cubicBezTo>
                  <a:pt x="57423" y="0"/>
                  <a:pt x="46509" y="7193"/>
                  <a:pt x="41920" y="18355"/>
                </a:cubicBezTo>
                <a:cubicBezTo>
                  <a:pt x="37331" y="29518"/>
                  <a:pt x="39936" y="42292"/>
                  <a:pt x="48369" y="50850"/>
                </a:cubicBezTo>
                <a:close/>
                <a:moveTo>
                  <a:pt x="297656" y="37579"/>
                </a:moveTo>
                <a:cubicBezTo>
                  <a:pt x="296168" y="59407"/>
                  <a:pt x="312539" y="78383"/>
                  <a:pt x="334491" y="79995"/>
                </a:cubicBezTo>
                <a:cubicBezTo>
                  <a:pt x="392782" y="84088"/>
                  <a:pt x="445368" y="109265"/>
                  <a:pt x="484560" y="147960"/>
                </a:cubicBezTo>
                <a:lnTo>
                  <a:pt x="445244" y="187275"/>
                </a:lnTo>
                <a:cubicBezTo>
                  <a:pt x="436687" y="195833"/>
                  <a:pt x="434206" y="208607"/>
                  <a:pt x="438795" y="219770"/>
                </a:cubicBezTo>
                <a:cubicBezTo>
                  <a:pt x="443384" y="230932"/>
                  <a:pt x="454298" y="238125"/>
                  <a:pt x="466328" y="238125"/>
                </a:cubicBezTo>
                <a:lnTo>
                  <a:pt x="605234" y="238125"/>
                </a:lnTo>
                <a:cubicBezTo>
                  <a:pt x="621729" y="238125"/>
                  <a:pt x="635000" y="224854"/>
                  <a:pt x="635000" y="208359"/>
                </a:cubicBezTo>
                <a:lnTo>
                  <a:pt x="635000" y="69453"/>
                </a:lnTo>
                <a:cubicBezTo>
                  <a:pt x="635000" y="57423"/>
                  <a:pt x="627807" y="46509"/>
                  <a:pt x="616645" y="41920"/>
                </a:cubicBezTo>
                <a:cubicBezTo>
                  <a:pt x="605482" y="37331"/>
                  <a:pt x="592708" y="39936"/>
                  <a:pt x="584150" y="48369"/>
                </a:cubicBezTo>
                <a:lnTo>
                  <a:pt x="540742" y="91777"/>
                </a:lnTo>
                <a:cubicBezTo>
                  <a:pt x="488404" y="40060"/>
                  <a:pt x="418207" y="6325"/>
                  <a:pt x="340072" y="744"/>
                </a:cubicBezTo>
                <a:cubicBezTo>
                  <a:pt x="318244" y="-744"/>
                  <a:pt x="299269" y="15627"/>
                  <a:pt x="297656" y="37579"/>
                </a:cubicBezTo>
                <a:close/>
                <a:moveTo>
                  <a:pt x="50850" y="586631"/>
                </a:moveTo>
                <a:lnTo>
                  <a:pt x="94258" y="543223"/>
                </a:lnTo>
                <a:cubicBezTo>
                  <a:pt x="146596" y="594940"/>
                  <a:pt x="216793" y="628675"/>
                  <a:pt x="294928" y="634256"/>
                </a:cubicBezTo>
                <a:cubicBezTo>
                  <a:pt x="316756" y="635744"/>
                  <a:pt x="335731" y="619373"/>
                  <a:pt x="337344" y="597421"/>
                </a:cubicBezTo>
                <a:cubicBezTo>
                  <a:pt x="338956" y="575469"/>
                  <a:pt x="322461" y="556617"/>
                  <a:pt x="300509" y="555005"/>
                </a:cubicBezTo>
                <a:cubicBezTo>
                  <a:pt x="242218" y="550912"/>
                  <a:pt x="189632" y="525735"/>
                  <a:pt x="150440" y="487040"/>
                </a:cubicBezTo>
                <a:lnTo>
                  <a:pt x="189756" y="447725"/>
                </a:lnTo>
                <a:cubicBezTo>
                  <a:pt x="198313" y="439167"/>
                  <a:pt x="200794" y="426393"/>
                  <a:pt x="196205" y="415230"/>
                </a:cubicBezTo>
                <a:cubicBezTo>
                  <a:pt x="191616" y="404068"/>
                  <a:pt x="180702" y="396875"/>
                  <a:pt x="168672" y="396875"/>
                </a:cubicBezTo>
                <a:lnTo>
                  <a:pt x="29766" y="396875"/>
                </a:lnTo>
                <a:cubicBezTo>
                  <a:pt x="13271" y="396875"/>
                  <a:pt x="0" y="410146"/>
                  <a:pt x="0" y="426641"/>
                </a:cubicBezTo>
                <a:lnTo>
                  <a:pt x="0" y="565547"/>
                </a:lnTo>
                <a:cubicBezTo>
                  <a:pt x="0" y="577577"/>
                  <a:pt x="7193" y="588491"/>
                  <a:pt x="18355" y="593080"/>
                </a:cubicBezTo>
                <a:cubicBezTo>
                  <a:pt x="29518" y="597669"/>
                  <a:pt x="42292" y="595064"/>
                  <a:pt x="50850" y="586631"/>
                </a:cubicBez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762120" y="2540160"/>
            <a:ext cx="457164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5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11</a:t>
            </a:r>
            <a:r>
              <a:rPr lang="en-US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 badań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762120" y="3759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600" b="1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Zaburzenie dwubiegunowe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900000" y="4419720"/>
            <a:ext cx="432000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Parametry snu predykują epizody maniakalne i depresyjne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1015920" y="6934680"/>
            <a:ext cx="406368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4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MONARCA II: n=129, 9 mies., poprawa jakości życia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5842080" y="1143000"/>
            <a:ext cx="4571640" cy="71118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7569360" y="1650960"/>
            <a:ext cx="634680" cy="634680"/>
          </a:xfrm>
          <a:custGeom>
            <a:avLst/>
            <a:gdLst>
              <a:gd name="textAreaLeft" fmla="*/ 0 w 634680"/>
              <a:gd name="textAreaRight" fmla="*/ 635040 w 634680"/>
              <a:gd name="textAreaTop" fmla="*/ 0 h 634680"/>
              <a:gd name="textAreaBottom" fmla="*/ 635040 h 634680"/>
            </a:gdLst>
            <a:ahLst/>
            <a:cxnLst/>
            <a:rect l="textAreaLeft" t="textAreaTop" r="textAreaRight" b="textAreaBottom"/>
            <a:pathLst>
              <a:path w="635000" h="635000">
                <a:moveTo>
                  <a:pt x="317500" y="0"/>
                </a:moveTo>
                <a:cubicBezTo>
                  <a:pt x="323205" y="0"/>
                  <a:pt x="328910" y="1240"/>
                  <a:pt x="334119" y="3597"/>
                </a:cubicBezTo>
                <a:lnTo>
                  <a:pt x="567779" y="102691"/>
                </a:lnTo>
                <a:cubicBezTo>
                  <a:pt x="595064" y="114226"/>
                  <a:pt x="615404" y="141139"/>
                  <a:pt x="615280" y="173633"/>
                </a:cubicBezTo>
                <a:cubicBezTo>
                  <a:pt x="614660" y="296664"/>
                  <a:pt x="564059" y="521767"/>
                  <a:pt x="350366" y="624086"/>
                </a:cubicBezTo>
                <a:cubicBezTo>
                  <a:pt x="329654" y="634008"/>
                  <a:pt x="305594" y="634008"/>
                  <a:pt x="284882" y="624086"/>
                </a:cubicBezTo>
                <a:cubicBezTo>
                  <a:pt x="71065" y="521767"/>
                  <a:pt x="20588" y="296664"/>
                  <a:pt x="19968" y="173633"/>
                </a:cubicBezTo>
                <a:cubicBezTo>
                  <a:pt x="19844" y="141139"/>
                  <a:pt x="40184" y="114226"/>
                  <a:pt x="67469" y="102691"/>
                </a:cubicBezTo>
                <a:lnTo>
                  <a:pt x="301005" y="3597"/>
                </a:lnTo>
                <a:cubicBezTo>
                  <a:pt x="306214" y="1240"/>
                  <a:pt x="311795" y="0"/>
                  <a:pt x="317500" y="0"/>
                </a:cubicBezTo>
                <a:close/>
                <a:moveTo>
                  <a:pt x="317500" y="82848"/>
                </a:moveTo>
                <a:lnTo>
                  <a:pt x="317500" y="551780"/>
                </a:lnTo>
                <a:cubicBezTo>
                  <a:pt x="488652" y="468933"/>
                  <a:pt x="534665" y="285378"/>
                  <a:pt x="535781" y="175493"/>
                </a:cubicBezTo>
                <a:lnTo>
                  <a:pt x="317500" y="82972"/>
                </a:lnTo>
                <a:lnTo>
                  <a:pt x="317500" y="82972"/>
                </a:ln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5842080" y="2540160"/>
            <a:ext cx="457164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5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89%</a:t>
            </a:r>
            <a:endParaRPr lang="pl-PL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5842080" y="3759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600" b="1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Czułość predykcji nawrotu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6095880" y="4419720"/>
            <a:ext cx="40636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Model CrossCheck: </a:t>
            </a:r>
            <a:br>
              <a:rPr sz="2200"/>
            </a:b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108% wzrost anomalii behawioralnych przed nawrotem schizofrenii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6095880" y="6934680"/>
            <a:ext cx="406368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4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Specyficzność: 75% </a:t>
            </a:r>
            <a:br>
              <a:rPr sz="2400"/>
            </a:br>
            <a:r>
              <a:rPr lang="pl-PL" sz="24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(Henson et al., 2021)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10922040" y="1143000"/>
            <a:ext cx="4571640" cy="71118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12649320" y="1650960"/>
            <a:ext cx="634680" cy="634680"/>
          </a:xfrm>
          <a:custGeom>
            <a:avLst/>
            <a:gdLst>
              <a:gd name="textAreaLeft" fmla="*/ 0 w 634680"/>
              <a:gd name="textAreaRight" fmla="*/ 635040 w 634680"/>
              <a:gd name="textAreaTop" fmla="*/ 0 h 634680"/>
              <a:gd name="textAreaBottom" fmla="*/ 635040 h 634680"/>
            </a:gdLst>
            <a:ahLst/>
            <a:cxnLst/>
            <a:rect l="textAreaLeft" t="textAreaTop" r="textAreaRight" b="textAreaBottom"/>
            <a:pathLst>
              <a:path w="635000" h="635000">
                <a:moveTo>
                  <a:pt x="79375" y="119062"/>
                </a:moveTo>
                <a:cubicBezTo>
                  <a:pt x="79375" y="97110"/>
                  <a:pt x="97110" y="79375"/>
                  <a:pt x="119062" y="79375"/>
                </a:cubicBezTo>
                <a:lnTo>
                  <a:pt x="317500" y="79375"/>
                </a:lnTo>
                <a:cubicBezTo>
                  <a:pt x="339452" y="79375"/>
                  <a:pt x="357188" y="97110"/>
                  <a:pt x="357188" y="119062"/>
                </a:cubicBezTo>
                <a:lnTo>
                  <a:pt x="357188" y="476250"/>
                </a:lnTo>
                <a:lnTo>
                  <a:pt x="476250" y="476250"/>
                </a:lnTo>
                <a:lnTo>
                  <a:pt x="476250" y="317500"/>
                </a:lnTo>
                <a:cubicBezTo>
                  <a:pt x="476250" y="295548"/>
                  <a:pt x="493985" y="277813"/>
                  <a:pt x="515937" y="277813"/>
                </a:cubicBezTo>
                <a:lnTo>
                  <a:pt x="595313" y="277813"/>
                </a:lnTo>
                <a:cubicBezTo>
                  <a:pt x="617265" y="277813"/>
                  <a:pt x="635000" y="295548"/>
                  <a:pt x="635000" y="317500"/>
                </a:cubicBezTo>
                <a:cubicBezTo>
                  <a:pt x="635000" y="339452"/>
                  <a:pt x="617265" y="357188"/>
                  <a:pt x="595313" y="357188"/>
                </a:cubicBezTo>
                <a:lnTo>
                  <a:pt x="555625" y="357188"/>
                </a:lnTo>
                <a:lnTo>
                  <a:pt x="555625" y="515937"/>
                </a:lnTo>
                <a:cubicBezTo>
                  <a:pt x="555625" y="537890"/>
                  <a:pt x="537890" y="555625"/>
                  <a:pt x="515937" y="555625"/>
                </a:cubicBezTo>
                <a:lnTo>
                  <a:pt x="317500" y="555625"/>
                </a:lnTo>
                <a:cubicBezTo>
                  <a:pt x="295548" y="555625"/>
                  <a:pt x="277813" y="537890"/>
                  <a:pt x="277813" y="515937"/>
                </a:cubicBezTo>
                <a:lnTo>
                  <a:pt x="277813" y="158750"/>
                </a:lnTo>
                <a:lnTo>
                  <a:pt x="158750" y="158750"/>
                </a:lnTo>
                <a:lnTo>
                  <a:pt x="158750" y="317500"/>
                </a:lnTo>
                <a:cubicBezTo>
                  <a:pt x="158750" y="339452"/>
                  <a:pt x="141015" y="357188"/>
                  <a:pt x="119062" y="357188"/>
                </a:cubicBezTo>
                <a:lnTo>
                  <a:pt x="39688" y="357188"/>
                </a:lnTo>
                <a:cubicBezTo>
                  <a:pt x="17735" y="357188"/>
                  <a:pt x="0" y="339452"/>
                  <a:pt x="0" y="317500"/>
                </a:cubicBezTo>
                <a:cubicBezTo>
                  <a:pt x="0" y="295548"/>
                  <a:pt x="17735" y="277813"/>
                  <a:pt x="39688" y="277813"/>
                </a:cubicBezTo>
                <a:lnTo>
                  <a:pt x="79375" y="277813"/>
                </a:lnTo>
                <a:lnTo>
                  <a:pt x="79375" y="119062"/>
                </a:ln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10922040" y="2540160"/>
            <a:ext cx="457164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56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8</a:t>
            </a:r>
            <a:r>
              <a:rPr lang="en-US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 badań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10922040" y="3759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400" b="1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Schizofrenia - objawy negatywne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11175840" y="4419720"/>
            <a:ext cx="40636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Akcelerometr jako zwalidowana miara objawów negatywnych: anhedonia, awolicja, obniżenie afektu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11175840" y="6934680"/>
            <a:ext cx="406368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50000"/>
              </a:lnSpc>
            </a:pPr>
            <a:r>
              <a:rPr lang="pl-PL" sz="24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Strauss et al. 2022: </a:t>
            </a:r>
            <a:br>
              <a:rPr sz="2400"/>
            </a:br>
            <a:r>
              <a:rPr lang="pl-PL" sz="24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r=-0.45 z BNSS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762120" y="8763120"/>
            <a:ext cx="14731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Źródła: </a:t>
            </a:r>
            <a:r>
              <a:rPr lang="en-US" sz="1400" b="0" i="1" u="sng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  <a:hlinkClick r:id="rId1"/>
              </a:rPr>
              <a:t>GlobalRPH 2025</a:t>
            </a:r>
            <a:r>
              <a:rPr lang="en-US" sz="14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, </a:t>
            </a:r>
            <a:r>
              <a:rPr lang="en-US" sz="1400" b="0" i="1" u="sng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  <a:hlinkClick r:id="rId2"/>
              </a:rPr>
              <a:t>PMC 2023</a:t>
            </a:r>
            <a:r>
              <a:rPr lang="en-US" sz="14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, Henson et al. 2021, Strauss et al. 2022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16255800" cy="27428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1015920" y="762120"/>
            <a:ext cx="5079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pc="400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CZĘŚĆ 03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1015920" y="139716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Algorytmy uczenia maszynowego i wyzwania metodologiczne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1015920" y="3429000"/>
            <a:ext cx="50400" cy="15235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1320840" y="3345840"/>
            <a:ext cx="1371564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en-US" sz="5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Aspekty technologiczne i analityczne</a:t>
            </a:r>
            <a:endParaRPr lang="pl-PL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320840" y="4444920"/>
            <a:ext cx="7139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Metody uczenia maszynowego, przetwarzanie danych i ograniczenia metodologiczne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1015920" y="8001000"/>
            <a:ext cx="1422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* Na podstawie: ScienceDirect 2025, JMIR 2026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Algorytmy uczenia maszynowego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10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762120" y="12700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1092240" y="111744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Dominujące metody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regresja logistyczna, Random Forest, SVM - tradycyjne techniki ML dominują w analizie danych fenotypowania cyfrowego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6"/>
          <p:cNvSpPr/>
          <p:nvPr/>
        </p:nvSpPr>
        <p:spPr>
          <a:xfrm>
            <a:off x="762120" y="248904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092240" y="231156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Random Forest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sprawdza się przy danych strukturalnych; dobrze radzi sobie z cechami wysoce skorelowanymi (typowymi dla danych sensorowych)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762120" y="370836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1092240" y="350532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LSTM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lepiej modeluje zależności czasowe w danych behawioralnych; szczególnie użyteczny w predykcji epizodów nawrotu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762120" y="49276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1092240" y="477504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XAI (Explainable AI)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wartości SHAP umożliwiają interpretację decyzji modelu - kluczowe w kontekście klinicznym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762120" y="60958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1092240" y="5969160"/>
            <a:ext cx="66034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Przykład interpretacji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SHAP wykazał ujemną relację między liczbą trajektorii GPS a prawdopodobieństwem depresji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762120" y="7162920"/>
            <a:ext cx="6933960" cy="152352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900000" y="7289640"/>
            <a:ext cx="666000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Kluczowe:</a:t>
            </a: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W psychiatrii precyzyjnej interpretowalność modelu jest równie ważna jak jego dokładność. Klinicysta musi rozumieć podstawy decyzji algorytmu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8636040" y="114300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7"/>
          <p:cNvSpPr/>
          <p:nvPr/>
        </p:nvSpPr>
        <p:spPr>
          <a:xfrm>
            <a:off x="8889840" y="13334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9398160" y="114300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Ekstrakcja cech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10039320" y="2133720"/>
            <a:ext cx="342720" cy="456840"/>
          </a:xfrm>
          <a:custGeom>
            <a:avLst/>
            <a:gdLst>
              <a:gd name="textAreaLeft" fmla="*/ 0 w 342720"/>
              <a:gd name="textAreaRight" fmla="*/ 343080 w 34272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8636040" y="276876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1"/>
          <p:cNvSpPr/>
          <p:nvPr/>
        </p:nvSpPr>
        <p:spPr>
          <a:xfrm>
            <a:off x="8889840" y="295920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9398160" y="276876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Selekcja (Boruta)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3"/>
          <p:cNvSpPr/>
          <p:nvPr/>
        </p:nvSpPr>
        <p:spPr>
          <a:xfrm>
            <a:off x="10039320" y="3759120"/>
            <a:ext cx="342720" cy="456840"/>
          </a:xfrm>
          <a:custGeom>
            <a:avLst/>
            <a:gdLst>
              <a:gd name="textAreaLeft" fmla="*/ 0 w 342720"/>
              <a:gd name="textAreaRight" fmla="*/ 343080 w 34272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4"/>
          <p:cNvSpPr/>
          <p:nvPr/>
        </p:nvSpPr>
        <p:spPr>
          <a:xfrm>
            <a:off x="8636040" y="4394160"/>
            <a:ext cx="3301560" cy="88848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0">
            <a:noFill/>
          </a:ln>
          <a:effectLst>
            <a:outerShdw algn="bl" blurRad="76320" dir="5400000" dist="25560" rotWithShape="0">
              <a:srgbClr val="2c5f8a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5"/>
          <p:cNvSpPr/>
          <p:nvPr/>
        </p:nvSpPr>
        <p:spPr>
          <a:xfrm>
            <a:off x="8839080" y="4584600"/>
            <a:ext cx="507600" cy="406080"/>
          </a:xfrm>
          <a:custGeom>
            <a:avLst/>
            <a:gdLst>
              <a:gd name="textAreaLeft" fmla="*/ 0 w 507600"/>
              <a:gd name="textAreaRight" fmla="*/ 507960 w 50760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9398160" y="4394160"/>
            <a:ext cx="2285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Model + SHAP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12192120" y="1333440"/>
            <a:ext cx="355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GPS, akcelerometr, aplikacje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12192120" y="2959200"/>
            <a:ext cx="355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Wybór cech informatywnych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9"/>
          <p:cNvSpPr/>
          <p:nvPr/>
        </p:nvSpPr>
        <p:spPr>
          <a:xfrm>
            <a:off x="12192120" y="4584600"/>
            <a:ext cx="355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pl-PL" sz="22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Predykcja + interpretacja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8640000" y="5580000"/>
            <a:ext cx="7111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18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Rys. 3: Pipeline analityczny w fenotypowaniu cyfrowym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1"/>
          <p:cNvSpPr/>
          <p:nvPr/>
        </p:nvSpPr>
        <p:spPr>
          <a:xfrm>
            <a:off x="8636040" y="6095880"/>
            <a:ext cx="7111800" cy="25398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2"/>
          <p:cNvSpPr/>
          <p:nvPr/>
        </p:nvSpPr>
        <p:spPr>
          <a:xfrm>
            <a:off x="8940960" y="6273720"/>
            <a:ext cx="650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Hybrydowe podejścia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3"/>
          <p:cNvSpPr/>
          <p:nvPr/>
        </p:nvSpPr>
        <p:spPr>
          <a:xfrm>
            <a:off x="8940960" y="6781680"/>
            <a:ext cx="650196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</a:pP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Najnowsze badania wskazują, że modele hybrydowe łączące Random Forest z LSTM oraz dane pasywne </a:t>
            </a:r>
            <a:br>
              <a:rPr sz="2200"/>
            </a:b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z aktywnymi wykazują największy potencjał kliniczny. Balanced accuracy w predykcji epizodów: 58–73%.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4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330120" y="177840"/>
            <a:ext cx="355320" cy="406080"/>
          </a:xfrm>
          <a:custGeom>
            <a:avLst/>
            <a:gdLst>
              <a:gd name="textAreaLeft" fmla="*/ 0 w 355320"/>
              <a:gd name="textAreaRight" fmla="*/ 355680 w 35532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Wyzwania metodologiczne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11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762120" y="1143000"/>
            <a:ext cx="7060680" cy="342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762120" y="1143000"/>
            <a:ext cx="7060680" cy="5040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1015920" y="1473120"/>
            <a:ext cx="507600" cy="406080"/>
          </a:xfrm>
          <a:custGeom>
            <a:avLst/>
            <a:gdLst>
              <a:gd name="textAreaLeft" fmla="*/ 0 w 507600"/>
              <a:gd name="textAreaRight" fmla="*/ 507960 w 50760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1650960" y="1422360"/>
            <a:ext cx="596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Niewielkie i niejednorodne próby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1066680" y="2057400"/>
            <a:ext cx="655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Rozmiary prób: od &lt;10 do &gt;18 000 uczestników, mediana n=52 (IQR=26–126). Większość badań ma charakter obserwacyjny. Wysoka stopa attrycji utrudnia uzyskanie wiarygodnych wyników.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8432640" y="1143000"/>
            <a:ext cx="7060680" cy="342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8432640" y="1143000"/>
            <a:ext cx="7060680" cy="5040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8788320" y="1473120"/>
            <a:ext cx="304560" cy="406080"/>
          </a:xfrm>
          <a:custGeom>
            <a:avLst/>
            <a:gdLst>
              <a:gd name="textAreaLeft" fmla="*/ 0 w 304560"/>
              <a:gd name="textAreaRight" fmla="*/ 304920 w 30456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9321840" y="1422360"/>
            <a:ext cx="596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Brak standaryzacji raportowania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8737560" y="2057400"/>
            <a:ext cx="655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Niepełne opisy sensorów, ograniczone raportowanie jakości danych (częstotliwość próbkowania, braki), heterogeniczne praktyki walidacyjne - to ogranicza odtwarzalność i porównywalność badań.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4"/>
          <p:cNvSpPr/>
          <p:nvPr/>
        </p:nvSpPr>
        <p:spPr>
          <a:xfrm>
            <a:off x="762120" y="4927680"/>
            <a:ext cx="7060680" cy="342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762120" y="4927680"/>
            <a:ext cx="7060680" cy="5040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1117440" y="5257800"/>
            <a:ext cx="304560" cy="406080"/>
          </a:xfrm>
          <a:custGeom>
            <a:avLst/>
            <a:gdLst>
              <a:gd name="textAreaLeft" fmla="*/ 0 w 304560"/>
              <a:gd name="textAreaRight" fmla="*/ 304920 w 30456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52400" y="196850"/>
                </a:moveTo>
                <a:cubicBezTo>
                  <a:pt x="165179" y="196850"/>
                  <a:pt x="175577" y="207248"/>
                  <a:pt x="175577" y="220027"/>
                </a:cubicBezTo>
                <a:cubicBezTo>
                  <a:pt x="175577" y="226933"/>
                  <a:pt x="173117" y="231061"/>
                  <a:pt x="170101" y="234077"/>
                </a:cubicBezTo>
                <a:cubicBezTo>
                  <a:pt x="166529" y="237569"/>
                  <a:pt x="161607" y="240030"/>
                  <a:pt x="156766" y="241618"/>
                </a:cubicBezTo>
                <a:cubicBezTo>
                  <a:pt x="144939" y="245586"/>
                  <a:pt x="133350" y="256937"/>
                  <a:pt x="133350" y="272971"/>
                </a:cubicBezTo>
                <a:cubicBezTo>
                  <a:pt x="133350" y="283528"/>
                  <a:pt x="141843" y="292021"/>
                  <a:pt x="152400" y="292021"/>
                </a:cubicBezTo>
                <a:cubicBezTo>
                  <a:pt x="161528" y="292021"/>
                  <a:pt x="169227" y="285591"/>
                  <a:pt x="171053" y="276939"/>
                </a:cubicBezTo>
                <a:cubicBezTo>
                  <a:pt x="186293" y="271304"/>
                  <a:pt x="213678" y="256064"/>
                  <a:pt x="213678" y="219948"/>
                </a:cubicBezTo>
                <a:cubicBezTo>
                  <a:pt x="213678" y="186134"/>
                  <a:pt x="186214" y="158671"/>
                  <a:pt x="152400" y="158671"/>
                </a:cubicBezTo>
                <a:cubicBezTo>
                  <a:pt x="118586" y="158671"/>
                  <a:pt x="91123" y="186134"/>
                  <a:pt x="91123" y="219948"/>
                </a:cubicBezTo>
                <a:cubicBezTo>
                  <a:pt x="91123" y="230505"/>
                  <a:pt x="99616" y="238998"/>
                  <a:pt x="110173" y="238998"/>
                </a:cubicBezTo>
                <a:cubicBezTo>
                  <a:pt x="120729" y="238998"/>
                  <a:pt x="129223" y="230505"/>
                  <a:pt x="129223" y="219948"/>
                </a:cubicBezTo>
                <a:cubicBezTo>
                  <a:pt x="129223" y="207169"/>
                  <a:pt x="139621" y="196771"/>
                  <a:pt x="152400" y="196771"/>
                </a:cubicBezTo>
                <a:close/>
                <a:moveTo>
                  <a:pt x="174625" y="330200"/>
                </a:moveTo>
                <a:cubicBezTo>
                  <a:pt x="174625" y="317897"/>
                  <a:pt x="164703" y="307975"/>
                  <a:pt x="152400" y="307975"/>
                </a:cubicBezTo>
                <a:cubicBezTo>
                  <a:pt x="140097" y="307975"/>
                  <a:pt x="130175" y="317897"/>
                  <a:pt x="130175" y="330200"/>
                </a:cubicBezTo>
                <a:cubicBezTo>
                  <a:pt x="130175" y="342503"/>
                  <a:pt x="140097" y="352425"/>
                  <a:pt x="152400" y="352425"/>
                </a:cubicBezTo>
                <a:cubicBezTo>
                  <a:pt x="164703" y="352425"/>
                  <a:pt x="174625" y="342503"/>
                  <a:pt x="174625" y="330200"/>
                </a:cubicBez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1650960" y="5207040"/>
            <a:ext cx="596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Dominacja samoopisów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1066680" y="5842080"/>
            <a:ext cx="655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Większość badań opiera się na samoopisach stanu psychicznego (skale kliniczne), a nie na pasywnych danych sensorowych. Tylko 23% skupia się na diagnostyce, a 3% na interwencjach.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9"/>
          <p:cNvSpPr/>
          <p:nvPr/>
        </p:nvSpPr>
        <p:spPr>
          <a:xfrm>
            <a:off x="8432640" y="4927680"/>
            <a:ext cx="7060680" cy="342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"/>
          <p:cNvSpPr/>
          <p:nvPr/>
        </p:nvSpPr>
        <p:spPr>
          <a:xfrm>
            <a:off x="8432640" y="4927680"/>
            <a:ext cx="7060680" cy="5040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1"/>
          <p:cNvSpPr/>
          <p:nvPr/>
        </p:nvSpPr>
        <p:spPr>
          <a:xfrm>
            <a:off x="8737560" y="525780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9321840" y="5207040"/>
            <a:ext cx="596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Bias i braki danych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8737560" y="5842080"/>
            <a:ext cx="655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Bias w doborze próbki oraz brakujące dane to główne wyzwania. Problemy z rekrutacją utrzymującym się uczestników i różnice międzyplatformowe </a:t>
            </a:r>
            <a:br>
              <a:rPr sz="2200"/>
            </a:br>
            <a:r>
              <a:rPr lang="pl-PL" sz="22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(Android vs iOS) komplikują generalizację wyników.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4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16255800" cy="27428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1015920" y="762120"/>
            <a:ext cx="5079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pc="400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CZĘŚĆ 04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1015920" y="139716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Prywatność, zgoda świadoma, bias algorytmiczny i odpowiedzialność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1015920" y="3429000"/>
            <a:ext cx="50400" cy="15235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1320840" y="3345840"/>
            <a:ext cx="1371564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pl-PL" sz="5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Wyzwania etyczne i prawne</a:t>
            </a:r>
            <a:endParaRPr lang="pl-PL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320840" y="4456080"/>
            <a:ext cx="6779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Analiza kwestii prywatności, zgody świadomej, RODO oraz biasu algorytmicznego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1015920" y="8001000"/>
            <a:ext cx="1422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* Na podstawie: JMIR mHealth 2021, Springer 2025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355680" y="177840"/>
            <a:ext cx="304560" cy="406080"/>
          </a:xfrm>
          <a:custGeom>
            <a:avLst/>
            <a:gdLst>
              <a:gd name="textAreaLeft" fmla="*/ 0 w 304560"/>
              <a:gd name="textAreaRight" fmla="*/ 304920 w 30456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Prywatność, zgoda świadoma i RODO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13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762120" y="939960"/>
            <a:ext cx="721332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solidFill>
              <a:srgbClr val="3465a4"/>
            </a:solidFill>
          </a:ln>
          <a:effectLst>
            <a:outerShdw algn="bl" blurRad="127080" dir="5400000" dist="25560" rotWithShape="0">
              <a:srgbClr val="2c5f8a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1066680" y="1219320"/>
            <a:ext cx="469332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8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Zgoda świadoma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106668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Informed consent w kontekście pasywnego monitoringu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106668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2c5f8a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066680" y="2387520"/>
            <a:ext cx="660348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Użytkownicy nie zdają sobie sprawy, jak dane „niewinne" (tapsy ekranu, lokalizacja) mogą ujawniać wrażliwe informacje o stanie psychicznym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Badanie </a:t>
            </a: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Delphi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(JMIR 2021): silna zgoda ekspertów co do potrzeby ochrony prywatności, transparentności i zgody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Osoby z zaburzeniami psychicznymi - wahania zdolności decyzyjnych utrudniają wyrażenie świadomej zgody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Zgoda powinna być </a:t>
            </a: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procesem ciągłym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, a nie jednorazowym wydarzeniem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8280360" y="939960"/>
            <a:ext cx="755964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solidFill>
              <a:srgbClr val="ff8000"/>
            </a:solidFill>
          </a:ln>
          <a:effectLst>
            <a:outerShdw algn="bl" blurRad="127080" dir="5400000" dist="25560" rotWithShape="0">
              <a:srgbClr val="e07b54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8585280" y="1219320"/>
            <a:ext cx="455472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8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RODO i re-identyfikacja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858528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Regulacje prawne i ryzyka danych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4"/>
          <p:cNvSpPr/>
          <p:nvPr/>
        </p:nvSpPr>
        <p:spPr>
          <a:xfrm>
            <a:off x="858528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e07b54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8424000" y="2387520"/>
            <a:ext cx="738000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RODO/GDPR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wymaga jasnej informacji o celu i czasie przechowywania danych; dane zdrowotne to kategoria szczególna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Re-identyfikacja danych zanonimizowanych staje się coraz łatwiejsza dzięki zaawansowanej analityce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i dostępności publicznych baz danych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Dane surowe (raw data) nie mogą być uznane za „nieidentyfikujące" - zgoda powinna być normą przy udostępnianiu danych osobowych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701"/>
              </a:spcAft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pl-PL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HIPAA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(USA) nie obejmuje nowych form danych identyfikujących, takich jak kinematyka naciśnięć klawiszy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6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254160" y="177840"/>
            <a:ext cx="507600" cy="406080"/>
          </a:xfrm>
          <a:custGeom>
            <a:avLst/>
            <a:gdLst>
              <a:gd name="textAreaLeft" fmla="*/ 0 w 507600"/>
              <a:gd name="textAreaRight" fmla="*/ 507960 w 50760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Liter"/>
              </a:rPr>
              <a:t>Bias algorytmiczny i sprawiedliwość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14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Chart 0"/>
          <p:cNvGraphicFramePr/>
          <p:nvPr/>
        </p:nvGraphicFramePr>
        <p:xfrm>
          <a:off x="762120" y="1092240"/>
          <a:ext cx="7213320" cy="609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0" name="Text 4"/>
          <p:cNvSpPr/>
          <p:nvPr/>
        </p:nvSpPr>
        <p:spPr>
          <a:xfrm>
            <a:off x="762120" y="7289640"/>
            <a:ext cx="7213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Rys. 4: Cel badań fenotypowania cyfrowego (n=65)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8381880" y="109224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Calibri Light"/>
                <a:ea typeface="Liter"/>
              </a:rPr>
              <a:t>Bias w doborze próbki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8381880" y="160020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8381880" y="1547280"/>
            <a:ext cx="745812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Badania często obejmują wykształconych, młodych użytkowników Androida. W badaniu NESDA wykluczono użytkowników iOS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ryzyko wykluczenia grup defaworyzowanych.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8381880" y="342900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Calibri Light"/>
                <a:ea typeface="Liter"/>
              </a:rPr>
              <a:t>Medykalizacja normy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9"/>
          <p:cNvSpPr/>
          <p:nvPr/>
        </p:nvSpPr>
        <p:spPr>
          <a:xfrm>
            <a:off x="8381880" y="393696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8381880" y="3884040"/>
            <a:ext cx="761976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AI może prowadzić do medykalizacji normalnych zachowań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- np. zmniejszenie aktywności społecznej u nastolatków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(norma rozwojowa) może być klasyfikowane jako patologia.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8381880" y="5765760"/>
            <a:ext cx="711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2c5f8a"/>
                </a:solidFill>
                <a:effectLst/>
                <a:uFillTx/>
                <a:latin typeface="Calibri Light"/>
                <a:ea typeface="Liter"/>
              </a:rPr>
              <a:t>Brak różnorodności kulturowej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8381880" y="6273720"/>
            <a:ext cx="7111800" cy="360"/>
          </a:xfrm>
          <a:prstGeom prst="straightConnector1">
            <a:avLst/>
          </a:prstGeom>
          <a:noFill/>
          <a:ln w="12700">
            <a:solidFill>
              <a:srgbClr val="d9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8381880" y="6220800"/>
            <a:ext cx="711180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Badania zachodnie dominują - brak danych z innych kontekstów kulturowych. Koncepcja zdrowia psychicznego różni się między kulturami, co wpływa na walidację narzędzi.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8381880" y="8178840"/>
            <a:ext cx="7111800" cy="711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8636040" y="8255160"/>
            <a:ext cx="66034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</a:pPr>
            <a:r>
              <a:rPr lang="pl-PL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Wniosek:</a:t>
            </a:r>
            <a:r>
              <a:rPr lang="pl-PL" sz="2200" b="0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 Dane zdeidentyfikowane wymagają ochrony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16255800" cy="274284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1015920" y="762120"/>
            <a:ext cx="5079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pc="400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CZĘŚĆ 05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015920" y="139716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2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Kierunki rozwoju, ograniczenia i wnioski końcowe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1015920" y="3429000"/>
            <a:ext cx="50400" cy="15235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1320840" y="3287880"/>
            <a:ext cx="1371564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lang="en-US" sz="54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Perspektywy i podsumowanie</a:t>
            </a:r>
            <a:endParaRPr lang="pl-PL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1320840" y="4442760"/>
            <a:ext cx="7139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Przyszłe kierunki badań, ograniczenia obecne </a:t>
            </a:r>
            <a:br>
              <a:rPr sz="2400"/>
            </a:br>
            <a:r>
              <a:rPr lang="pl-PL" sz="24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i synteza wiedzy o fenotypowaniu cyfrowym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1015920" y="8001000"/>
            <a:ext cx="1422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* Podsumowanie na podstawie przeglądów literatury 2023–2026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7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Przyszłość i ograniczenia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16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762120" y="939960"/>
            <a:ext cx="721332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noFill/>
          </a:ln>
          <a:effectLst>
            <a:outerShdw algn="bl" blurRad="127080" dir="5400000" dist="25560" rotWithShape="0">
              <a:srgbClr val="2c5f8a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762120" y="939960"/>
            <a:ext cx="7213320" cy="1011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1066680" y="1219320"/>
            <a:ext cx="6603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Kierunki rozwoju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06668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Future directions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106668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2c5f8a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1066680" y="2387520"/>
            <a:ext cx="660348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Multimodalna fuzja sensorów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smartfon + smartwatch + czujniki otoczenia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Integracja z EHR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połączenie danych cyfrowych z elektroniczną dokumentacją medyczną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Standaryzacja biomarkerów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cyfrowe biomarkery dla psychiatrii precyzyjnej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Hybrydowe modele ML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połączenie RF + LSTM + XAI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Psychiatria precyzyjna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dopasowanie interwencji do profilu jednostkowego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8280360" y="939960"/>
            <a:ext cx="7213320" cy="787356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0">
            <a:noFill/>
          </a:ln>
          <a:effectLst>
            <a:outerShdw algn="bl" blurRad="127080" dir="5400000" dist="25560" rotWithShape="0">
              <a:srgbClr val="e07b54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8280360" y="939960"/>
            <a:ext cx="7213320" cy="10116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8585280" y="1219320"/>
            <a:ext cx="6603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Ograniczenia obecne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8585280" y="1778040"/>
            <a:ext cx="6603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Current limitations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8585280" y="2209680"/>
            <a:ext cx="6603480" cy="360"/>
          </a:xfrm>
          <a:prstGeom prst="straightConnector1">
            <a:avLst/>
          </a:prstGeom>
          <a:noFill/>
          <a:ln w="12700">
            <a:solidFill>
              <a:srgbClr val="e07b54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8585280" y="2387520"/>
            <a:ext cx="6603480" cy="63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Dokładność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balanced accuracy 58–73% - poniżej progów klinicznych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Brak standaryzacji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heterogeniczne metody, trudna replikacja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Małe próby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mediana n=52, wysoka attrycja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Brak interwencji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tylko 3% badań ocenia interwencje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● </a:t>
            </a:r>
            <a:r>
              <a:rPr lang="en-US" sz="2000" b="1" u="none" strike="noStrike">
                <a:solidFill>
                  <a:srgbClr val="e07b54"/>
                </a:solidFill>
                <a:effectLst/>
                <a:uFillTx/>
                <a:latin typeface="Liter"/>
                <a:ea typeface="Liter"/>
              </a:rPr>
              <a:t>Narzędzie wspierające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nie zastępuje oceny klinicznej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16255800" cy="7617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304920" y="177840"/>
            <a:ext cx="406080" cy="406080"/>
          </a:xfrm>
          <a:custGeom>
            <a:avLst/>
            <a:gdLst>
              <a:gd name="textAreaLeft" fmla="*/ 0 w 406080"/>
              <a:gd name="textAreaRight" fmla="*/ 406440 w 40608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888840" y="0"/>
            <a:ext cx="1269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Podsumowanie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15239880" y="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9e8f5"/>
                </a:solidFill>
                <a:effectLst/>
                <a:uFillTx/>
                <a:latin typeface="Liter"/>
                <a:ea typeface="Liter"/>
              </a:rPr>
              <a:t>17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"/>
          <p:cNvSpPr/>
          <p:nvPr/>
        </p:nvSpPr>
        <p:spPr>
          <a:xfrm>
            <a:off x="762120" y="127008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1092240" y="111744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Definicja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Fenotypowanie cyfrowe to metoda częstego i ciągłego pomiaru fenotypu człowieka w naturalnym kontekście,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                     wykorzystująca dane z urządzeń cyfrowych (Onnela &amp; Rauch, 2016)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762120" y="228600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1092240" y="208296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Dowody kliniczne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Najsilniejsze dowody dotyczą depresji (n=16), zaburzeń dwubiegunowych (n=11) i schizofrenii (n=8).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    Markery behawioralne korelują z objawami klinicznymi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8"/>
          <p:cNvSpPr/>
          <p:nvPr/>
        </p:nvSpPr>
        <p:spPr>
          <a:xfrm>
            <a:off x="762120" y="330192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1092240" y="304812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Metody analityczne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Dominują tradycyjne metody ML (RF, regresja logistyczna);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        XAI (SHAP) poprawia interpretowalność; balanced accuracy: 58–73%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762120" y="431784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1092240" y="401328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Wyzwania etyczne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Prywatność, zgoda świadoma, bias w doborze próbki, re-identyfikacja danych,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	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       medykalizacja normy, wymagają kompleksowych ram etycznych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2"/>
          <p:cNvSpPr/>
          <p:nvPr/>
        </p:nvSpPr>
        <p:spPr>
          <a:xfrm>
            <a:off x="762120" y="533412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1092240" y="497844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Przyszłość</a:t>
            </a: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Multimodalne sensory, integracja z EHR, standaryzacja cyfrowych biomarkerów, rozwój psychiatrii precyzyjnej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4"/>
          <p:cNvSpPr/>
          <p:nvPr/>
        </p:nvSpPr>
        <p:spPr>
          <a:xfrm>
            <a:off x="762120" y="6350040"/>
            <a:ext cx="151920" cy="151920"/>
          </a:xfrm>
          <a:prstGeom prst="ellipse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1092240" y="5943600"/>
            <a:ext cx="14350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0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Status obecny</a:t>
            </a: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: Narzędzie wspierające decyzje kliniczne, nie zastępujące oceny psychiatrycznej; </a:t>
            </a:r>
            <a:br>
              <a:rPr sz="2000"/>
            </a:br>
            <a:r>
              <a:rPr lang="pl-PL" sz="20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                                 o jego miejscu w praktyce zdecydują walidacja i realna korzyść dla pacjenta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762120" y="6959520"/>
            <a:ext cx="14731560" cy="16506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1015920" y="7061040"/>
            <a:ext cx="1422360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</a:pPr>
            <a:r>
              <a:rPr lang="pl-PL" sz="21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Konkluzja:</a:t>
            </a:r>
            <a:r>
              <a:rPr lang="pl-PL" sz="2100" b="0" u="none" strike="noStrike">
                <a:solidFill>
                  <a:srgbClr val="333333"/>
                </a:solidFill>
                <a:effectLst/>
                <a:uFillTx/>
                <a:latin typeface="Liter"/>
                <a:ea typeface="Liter"/>
              </a:rPr>
              <a:t> Fenotypowanie cyfrowe reprezentuje fundamentalną zmianę paradygmatu - od subiektywnej, epizodycznej oceny psychiatrycznej do ciągłego, obiektywnego pomiaru zachowań w naturalnym środowisku pacjenta. Jego pełna realizacja kliniczna wymaga jednak przezwyciężenia istotnych barier metodologicznych, etycznych i regulacyjnych.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8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16255800" cy="75960"/>
          </a:xfrm>
          <a:prstGeom prst="rect">
            <a:avLst/>
          </a:pr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3048120" y="1905120"/>
            <a:ext cx="1015956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72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Dziękuję za uwagę</a:t>
            </a:r>
            <a:endParaRPr lang="pl-PL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4640400" y="3060360"/>
            <a:ext cx="7239600" cy="360"/>
          </a:xfrm>
          <a:prstGeom prst="straightConnector1">
            <a:avLst/>
          </a:prstGeom>
          <a:noFill/>
          <a:ln w="254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3048120" y="4165560"/>
            <a:ext cx="10159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3200" b="0" u="none" strike="noStrike">
                <a:solidFill>
                  <a:srgbClr val="000000"/>
                </a:solidFill>
                <a:effectLst/>
                <a:uFillTx/>
                <a:latin typeface="Liter"/>
                <a:ea typeface="Liter"/>
              </a:rPr>
              <a:t>Fenotypowanie cyfrowe to nowa era </a:t>
            </a:r>
            <a:br>
              <a:rPr sz="3200"/>
            </a:br>
            <a:r>
              <a:rPr lang="pl-PL" sz="3200" b="0" u="none" strike="noStrike">
                <a:solidFill>
                  <a:srgbClr val="000000"/>
                </a:solidFill>
                <a:effectLst/>
                <a:uFillTx/>
                <a:latin typeface="Liter"/>
                <a:ea typeface="Liter"/>
              </a:rPr>
              <a:t>w ocenie zdrowia psychicznego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5549760" y="5321160"/>
            <a:ext cx="5079600" cy="101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5880240" y="5613480"/>
            <a:ext cx="456840" cy="406080"/>
          </a:xfrm>
          <a:custGeom>
            <a:avLst/>
            <a:gdLst>
              <a:gd name="textAreaLeft" fmla="*/ 0 w 456840"/>
              <a:gd name="textAreaRight" fmla="*/ 457200 w 456840"/>
              <a:gd name="textAreaTop" fmla="*/ 0 h 406080"/>
              <a:gd name="textAreaBottom" fmla="*/ 406440 h 406080"/>
            </a:gdLst>
            <a:ahLst/>
            <a:cxnLst/>
            <a:rect l="textAreaLeft" t="textAreaTop" r="textAreaRight" b="textAreaBottom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2c5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591240" y="5473800"/>
            <a:ext cx="39873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l-PL" sz="2600" b="1" u="none" strike="noStrike">
                <a:solidFill>
                  <a:srgbClr val="2c5f8a"/>
                </a:solidFill>
                <a:effectLst/>
                <a:uFillTx/>
                <a:latin typeface="Liter"/>
                <a:ea typeface="Liter"/>
              </a:rPr>
              <a:t>Pytania i dyskusja Q&amp;A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1015920" y="8229600"/>
            <a:ext cx="14223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000" b="0" u="none" strike="noStrike">
                <a:solidFill>
                  <a:srgbClr val="8d8d8d"/>
                </a:solidFill>
                <a:effectLst/>
                <a:uFillTx/>
                <a:latin typeface="Liter"/>
                <a:ea typeface="Liter"/>
              </a:rPr>
              <a:t>Literatura: Onnela &amp; Rauch (2016), JMIR Scoping Review (2026), PMC (2023), Springer AI Ethics (2025), GlobalRPH (2025)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0" y="9093240"/>
            <a:ext cx="16255800" cy="5040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LibreOffice/25.8.5.2$Linux_X86_64 LibreOffice_project/580$Build-2</Application>
  <AppVersion>15.0000</AppVersion>
  <Words>1766</Words>
  <Paragraphs>217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2026-06-01T22:35:21Z</dcterms:created>
  <dc:creator>Kimi</dc:creator>
  <dc:description/>
  <dc:language>pl-PL</dc:language>
  <cp:lastModifiedBy/>
  <dcterms:modified xsi:type="dcterms:W3CDTF">2026-06-28T16:40:44Z</dcterms:modified>
  <cp:revision>24</cp:revision>
  <dc:subject>Fenotypowanie cyfrowe</dc:subject>
  <dc:title>Fenotypowanie cyfrowe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{"Label":"Fenotypowanie cyfrowe","ContentProducer":"001191110108MACG2KBH8F10000","ProduceID":"19e854f5-6502-8e7d-8000-0000389f59f8","ReservedCode1":"","ContentPropagator":"001191110108MACG2KBH8F20000","PropagateID":"19e854f5-6502-8e7d-8000-0000389f59f8","</vt:lpwstr>
  </property>
  <property fmtid="{D5CDD505-2E9C-101B-9397-08002B2CF9AE}" pid="3" name="Notes">
    <vt:i4>18</vt:i4>
  </property>
  <property fmtid="{D5CDD505-2E9C-101B-9397-08002B2CF9AE}" pid="4" name="PresentationFormat">
    <vt:lpwstr>Niestandardowy</vt:lpwstr>
  </property>
  <property fmtid="{D5CDD505-2E9C-101B-9397-08002B2CF9AE}" pid="5" name="Slides">
    <vt:i4>18</vt:i4>
  </property>
</Properties>
</file>