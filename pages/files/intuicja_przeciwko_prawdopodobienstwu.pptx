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2.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7" r:id="rId32"/>
    <p:sldId id="288" r:id="rId33"/>
    <p:sldId id="289" r:id="rId34"/>
    <p:sldId id="290" r:id="rId35"/>
    <p:sldId id="291" r:id="rId36"/>
    <p:sldId id="292" r:id="rId37"/>
    <p:sldId id="293" r:id="rId38"/>
    <p:sldId id="294" r:id="rId39"/>
    <p:sldId id="295" r:id="rId4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5B19"/>
    <a:srgbClr val="7A5D00"/>
    <a:srgbClr val="3E1B59"/>
    <a:srgbClr val="420000"/>
    <a:srgbClr val="D0D4DA"/>
    <a:srgbClr val="000000"/>
    <a:srgbClr val="D6DA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1" d="100"/>
          <a:sy n="151" d="100"/>
        </p:scale>
        <p:origin x="47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Arkusz_programu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Arkusz_programu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Arkusz_programu_Microsoft_Excel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l-PL"/>
  <c:roundedCorners val="1"/>
  <c:style val="2"/>
  <c:chart>
    <c:title>
      <c:tx>
        <c:rich>
          <a:bodyPr/>
          <a:lstStyle/>
          <a:p>
            <a:pPr>
              <a:defRPr sz="900" b="0" i="0" u="none" strike="noStrike">
                <a:solidFill>
                  <a:srgbClr val="16243F"/>
                </a:solidFill>
                <a:latin typeface="Arial"/>
              </a:defRPr>
            </a:pPr>
            <a:r>
              <a:rPr lang="pl-PL" sz="900" b="0" i="0" u="none" strike="noStrike">
                <a:solidFill>
                  <a:srgbClr val="16243F"/>
                </a:solidFill>
                <a:latin typeface="Arial"/>
              </a:rPr>
              <a:t>Symulacja: odchylenie od 50% (pkt proc.)</a:t>
            </a:r>
          </a:p>
        </c:rich>
      </c:tx>
      <c:layout/>
      <c:overlay val="0"/>
    </c:title>
    <c:autoTitleDeleted val="0"/>
    <c:plotArea>
      <c:layout/>
      <c:barChart>
        <c:barDir val="col"/>
        <c:grouping val="clustered"/>
        <c:varyColors val="0"/>
        <c:ser>
          <c:idx val="0"/>
          <c:order val="0"/>
          <c:tx>
            <c:strRef>
              <c:f>Sheet1!$B$1</c:f>
              <c:strCache>
                <c:ptCount val="1"/>
                <c:pt idx="0">
                  <c:v>Odchylenie od 50%</c:v>
                </c:pt>
              </c:strCache>
            </c:strRef>
          </c:tx>
          <c:spPr>
            <a:solidFill>
              <a:srgbClr val="C07A35"/>
            </a:solidFill>
            <a:effectLst/>
          </c:spPr>
          <c:invertIfNegative val="0"/>
          <c:dPt>
            <c:idx val="0"/>
            <c:invertIfNegative val="0"/>
            <c:bubble3D val="0"/>
            <c:spPr>
              <a:solidFill>
                <a:srgbClr val="C07A35"/>
              </a:solidFill>
              <a:effectLst/>
            </c:spPr>
            <c:extLst>
              <c:ext xmlns:c16="http://schemas.microsoft.com/office/drawing/2014/chart" uri="{C3380CC4-5D6E-409C-BE32-E72D297353CC}">
                <c16:uniqueId val="{00000001-F73C-478B-B412-14FD7C1B2B4A}"/>
              </c:ext>
            </c:extLst>
          </c:dPt>
          <c:dPt>
            <c:idx val="1"/>
            <c:invertIfNegative val="0"/>
            <c:bubble3D val="0"/>
            <c:spPr>
              <a:solidFill>
                <a:srgbClr val="6B5B95"/>
              </a:solidFill>
              <a:effectLst/>
            </c:spPr>
            <c:extLst>
              <c:ext xmlns:c16="http://schemas.microsoft.com/office/drawing/2014/chart" uri="{C3380CC4-5D6E-409C-BE32-E72D297353CC}">
                <c16:uniqueId val="{00000003-F73C-478B-B412-14FD7C1B2B4A}"/>
              </c:ext>
            </c:extLst>
          </c:dPt>
          <c:dPt>
            <c:idx val="2"/>
            <c:invertIfNegative val="0"/>
            <c:bubble3D val="0"/>
            <c:spPr>
              <a:solidFill>
                <a:srgbClr val="0F6E6E"/>
              </a:solidFill>
              <a:effectLst/>
            </c:spPr>
            <c:extLst>
              <c:ext xmlns:c16="http://schemas.microsoft.com/office/drawing/2014/chart" uri="{C3380CC4-5D6E-409C-BE32-E72D297353CC}">
                <c16:uniqueId val="{00000005-F73C-478B-B412-14FD7C1B2B4A}"/>
              </c:ext>
            </c:extLst>
          </c:dPt>
          <c:dLbls>
            <c:numFmt formatCode="#,##0" sourceLinked="0"/>
            <c:spPr>
              <a:noFill/>
              <a:ln>
                <a:noFill/>
              </a:ln>
              <a:effectLst/>
            </c:spPr>
            <c:txPr>
              <a:bodyPr/>
              <a:lstStyle/>
              <a:p>
                <a:pPr>
                  <a:defRPr sz="1200" b="0" i="0" u="none" strike="noStrike">
                    <a:solidFill>
                      <a:srgbClr val="16243F"/>
                    </a:solidFill>
                    <a:latin typeface="Arial"/>
                  </a:defRPr>
                </a:pPr>
                <a:endParaRPr lang="pl-PL"/>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n=5</c:v>
                </c:pt>
                <c:pt idx="1">
                  <c:v>n=30</c:v>
                </c:pt>
                <c:pt idx="2">
                  <c:v>n=200</c:v>
                </c:pt>
              </c:strCache>
            </c:strRef>
          </c:cat>
          <c:val>
            <c:numRef>
              <c:f>Sheet1!$B$2:$B$4</c:f>
              <c:numCache>
                <c:formatCode>General</c:formatCode>
                <c:ptCount val="3"/>
                <c:pt idx="0">
                  <c:v>44</c:v>
                </c:pt>
                <c:pt idx="1">
                  <c:v>18</c:v>
                </c:pt>
                <c:pt idx="2">
                  <c:v>7</c:v>
                </c:pt>
              </c:numCache>
            </c:numRef>
          </c:val>
          <c:extLst>
            <c:ext xmlns:c16="http://schemas.microsoft.com/office/drawing/2014/chart" uri="{C3380CC4-5D6E-409C-BE32-E72D297353CC}">
              <c16:uniqueId val="{00000006-F73C-478B-B412-14FD7C1B2B4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baseline="0">
                <a:solidFill>
                  <a:srgbClr val="5B6472"/>
                </a:solidFill>
                <a:latin typeface="Arial"/>
              </a:defRPr>
            </a:pPr>
            <a:endParaRPr lang="pl-P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1E4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72"/>
                </a:solidFill>
                <a:latin typeface="Arial"/>
              </a:defRPr>
            </a:pPr>
            <a:endParaRPr lang="pl-PL"/>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l-PL"/>
  <c:roundedCorners val="1"/>
  <c:style val="2"/>
  <c:chart>
    <c:title>
      <c:tx>
        <c:rich>
          <a:bodyPr/>
          <a:lstStyle/>
          <a:p>
            <a:pPr>
              <a:defRPr sz="900" b="0" i="0" u="none" strike="noStrike">
                <a:solidFill>
                  <a:srgbClr val="16243F"/>
                </a:solidFill>
                <a:latin typeface="Arial"/>
              </a:defRPr>
            </a:pPr>
            <a:r>
              <a:rPr lang="pl-PL" sz="1200" b="0" i="0" u="none" strike="noStrike" dirty="0" err="1">
                <a:solidFill>
                  <a:srgbClr val="16243F"/>
                </a:solidFill>
                <a:latin typeface="Arial"/>
              </a:rPr>
              <a:t>Gigerenzer</a:t>
            </a:r>
            <a:r>
              <a:rPr lang="pl-PL" sz="1200" b="0" i="0" u="none" strike="noStrike" dirty="0">
                <a:solidFill>
                  <a:srgbClr val="16243F"/>
                </a:solidFill>
                <a:latin typeface="Arial"/>
              </a:rPr>
              <a:t> i </a:t>
            </a:r>
            <a:r>
              <a:rPr lang="pl-PL" sz="1200" b="0" i="0" u="none" strike="noStrike" dirty="0" err="1">
                <a:solidFill>
                  <a:srgbClr val="16243F"/>
                </a:solidFill>
                <a:latin typeface="Arial"/>
              </a:rPr>
              <a:t>Hoffrage</a:t>
            </a:r>
            <a:r>
              <a:rPr lang="pl-PL" sz="1200" b="0" i="0" u="none" strike="noStrike" dirty="0">
                <a:solidFill>
                  <a:srgbClr val="16243F"/>
                </a:solidFill>
                <a:latin typeface="Arial"/>
              </a:rPr>
              <a:t> (1995) </a:t>
            </a:r>
            <a:r>
              <a:rPr lang="pl-PL" sz="1200" b="0" i="0" u="none" strike="noStrike" dirty="0" smtClean="0">
                <a:solidFill>
                  <a:srgbClr val="16243F"/>
                </a:solidFill>
                <a:latin typeface="Arial"/>
              </a:rPr>
              <a:t>- </a:t>
            </a:r>
            <a:r>
              <a:rPr lang="pl-PL" sz="1200" b="0" i="0" u="none" strike="noStrike" dirty="0">
                <a:solidFill>
                  <a:srgbClr val="16243F"/>
                </a:solidFill>
                <a:latin typeface="Arial"/>
              </a:rPr>
              <a:t>orientacyjne wartości</a:t>
            </a:r>
          </a:p>
        </c:rich>
      </c:tx>
      <c:layout/>
      <c:overlay val="0"/>
    </c:title>
    <c:autoTitleDeleted val="0"/>
    <c:plotArea>
      <c:layout/>
      <c:barChart>
        <c:barDir val="bar"/>
        <c:grouping val="clustered"/>
        <c:varyColors val="0"/>
        <c:ser>
          <c:idx val="0"/>
          <c:order val="0"/>
          <c:tx>
            <c:strRef>
              <c:f>Sheet1!$B$1</c:f>
              <c:strCache>
                <c:ptCount val="1"/>
                <c:pt idx="0">
                  <c:v>% poprawnych odpowiedzi</c:v>
                </c:pt>
              </c:strCache>
            </c:strRef>
          </c:tx>
          <c:spPr>
            <a:solidFill>
              <a:srgbClr val="C07A35"/>
            </a:solidFill>
            <a:effectLst/>
          </c:spPr>
          <c:invertIfNegative val="0"/>
          <c:dPt>
            <c:idx val="0"/>
            <c:invertIfNegative val="0"/>
            <c:bubble3D val="0"/>
            <c:spPr>
              <a:solidFill>
                <a:srgbClr val="C07A35"/>
              </a:solidFill>
              <a:effectLst/>
            </c:spPr>
            <c:extLst>
              <c:ext xmlns:c16="http://schemas.microsoft.com/office/drawing/2014/chart" uri="{C3380CC4-5D6E-409C-BE32-E72D297353CC}">
                <c16:uniqueId val="{00000001-E503-4123-A9BD-852033C4F5BA}"/>
              </c:ext>
            </c:extLst>
          </c:dPt>
          <c:dPt>
            <c:idx val="1"/>
            <c:invertIfNegative val="0"/>
            <c:bubble3D val="0"/>
            <c:spPr>
              <a:solidFill>
                <a:srgbClr val="0F6E6E"/>
              </a:solidFill>
              <a:effectLst/>
            </c:spPr>
            <c:extLst>
              <c:ext xmlns:c16="http://schemas.microsoft.com/office/drawing/2014/chart" uri="{C3380CC4-5D6E-409C-BE32-E72D297353CC}">
                <c16:uniqueId val="{00000003-E503-4123-A9BD-852033C4F5BA}"/>
              </c:ext>
            </c:extLst>
          </c:dPt>
          <c:dLbls>
            <c:numFmt formatCode="#,##0" sourceLinked="0"/>
            <c:spPr>
              <a:noFill/>
              <a:ln>
                <a:noFill/>
              </a:ln>
              <a:effectLst/>
            </c:spPr>
            <c:txPr>
              <a:bodyPr/>
              <a:lstStyle/>
              <a:p>
                <a:pPr>
                  <a:defRPr sz="1200" b="0" i="0" u="none" strike="noStrike">
                    <a:solidFill>
                      <a:srgbClr val="16243F"/>
                    </a:solidFill>
                    <a:latin typeface="Arial"/>
                  </a:defRPr>
                </a:pPr>
                <a:endParaRPr lang="pl-PL"/>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Format: procenty</c:v>
                </c:pt>
                <c:pt idx="1">
                  <c:v>Format: częstości naturalne</c:v>
                </c:pt>
              </c:strCache>
            </c:strRef>
          </c:cat>
          <c:val>
            <c:numRef>
              <c:f>Sheet1!$B$2:$B$3</c:f>
              <c:numCache>
                <c:formatCode>General</c:formatCode>
                <c:ptCount val="2"/>
                <c:pt idx="0">
                  <c:v>16</c:v>
                </c:pt>
                <c:pt idx="1">
                  <c:v>46</c:v>
                </c:pt>
              </c:numCache>
            </c:numRef>
          </c:val>
          <c:extLst>
            <c:ext xmlns:c16="http://schemas.microsoft.com/office/drawing/2014/chart" uri="{C3380CC4-5D6E-409C-BE32-E72D297353CC}">
              <c16:uniqueId val="{00000004-E503-4123-A9BD-852033C4F5B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pl-PL"/>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1E4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Arial"/>
              </a:defRPr>
            </a:pPr>
            <a:endParaRPr lang="pl-PL"/>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l-PL"/>
  <c:roundedCorners val="1"/>
  <c:style val="2"/>
  <c:chart>
    <c:title>
      <c:tx>
        <c:rich>
          <a:bodyPr/>
          <a:lstStyle/>
          <a:p>
            <a:pPr>
              <a:defRPr sz="1200" b="0" i="0" u="none" strike="noStrike">
                <a:solidFill>
                  <a:srgbClr val="16243F"/>
                </a:solidFill>
                <a:latin typeface="Arial"/>
              </a:defRPr>
            </a:pPr>
            <a:r>
              <a:rPr lang="pl-PL" sz="1200" b="0" i="0" u="none" strike="noStrike" dirty="0">
                <a:solidFill>
                  <a:srgbClr val="16243F"/>
                </a:solidFill>
                <a:latin typeface="Arial"/>
              </a:rPr>
              <a:t>Orientacyjny odsetek odpowiedzi normatywnie poprawnych </a:t>
            </a:r>
            <a:r>
              <a:rPr lang="pl-PL" sz="1200" b="0" i="0" u="none" strike="noStrike" dirty="0" smtClean="0">
                <a:solidFill>
                  <a:srgbClr val="16243F"/>
                </a:solidFill>
                <a:latin typeface="Arial"/>
              </a:rPr>
              <a:t>(%)</a:t>
            </a:r>
            <a:endParaRPr lang="pl-PL" sz="1200" b="0" i="0" u="none" strike="noStrike" dirty="0">
              <a:solidFill>
                <a:srgbClr val="16243F"/>
              </a:solidFill>
              <a:latin typeface="Arial"/>
            </a:endParaRPr>
          </a:p>
        </c:rich>
      </c:tx>
      <c:layout/>
      <c:overlay val="0"/>
    </c:title>
    <c:autoTitleDeleted val="0"/>
    <c:plotArea>
      <c:layout>
        <c:manualLayout>
          <c:layoutTarget val="inner"/>
          <c:xMode val="edge"/>
          <c:yMode val="edge"/>
          <c:x val="4.9052201808107321E-2"/>
          <c:y val="0.14765849397219324"/>
          <c:w val="0.93397248954991741"/>
          <c:h val="0.61185253235549009"/>
        </c:manualLayout>
      </c:layout>
      <c:barChart>
        <c:barDir val="col"/>
        <c:grouping val="clustered"/>
        <c:varyColors val="0"/>
        <c:ser>
          <c:idx val="0"/>
          <c:order val="0"/>
          <c:tx>
            <c:strRef>
              <c:f>Sheet1!$B$1</c:f>
              <c:strCache>
                <c:ptCount val="1"/>
                <c:pt idx="0">
                  <c:v>Przed wykładem</c:v>
                </c:pt>
              </c:strCache>
            </c:strRef>
          </c:tx>
          <c:spPr>
            <a:solidFill>
              <a:srgbClr val="C07A35"/>
            </a:solidFill>
            <a:effectLst/>
          </c:spPr>
          <c:invertIfNegative val="0"/>
          <c:dLbls>
            <c:numFmt formatCode="#,##0" sourceLinked="0"/>
            <c:spPr>
              <a:noFill/>
              <a:ln>
                <a:noFill/>
              </a:ln>
              <a:effectLst/>
            </c:spPr>
            <c:txPr>
              <a:bodyPr/>
              <a:lstStyle/>
              <a:p>
                <a:pPr>
                  <a:defRPr sz="800" b="0" i="0" u="none" strike="noStrike">
                    <a:solidFill>
                      <a:srgbClr val="16243F"/>
                    </a:solidFill>
                    <a:latin typeface="Arial"/>
                  </a:defRPr>
                </a:pPr>
                <a:endParaRPr lang="pl-PL"/>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Linda</c:v>
                </c:pt>
                <c:pt idx="1">
                  <c:v>Monty Hall</c:v>
                </c:pt>
                <c:pt idx="2">
                  <c:v>Test medyczny</c:v>
                </c:pt>
                <c:pt idx="3">
                  <c:v>Urodziny</c:v>
                </c:pt>
                <c:pt idx="4">
                  <c:v>Moneta</c:v>
                </c:pt>
              </c:strCache>
            </c:strRef>
          </c:cat>
          <c:val>
            <c:numRef>
              <c:f>Sheet1!$B$2:$B$6</c:f>
              <c:numCache>
                <c:formatCode>General</c:formatCode>
                <c:ptCount val="5"/>
                <c:pt idx="0">
                  <c:v>12</c:v>
                </c:pt>
                <c:pt idx="1">
                  <c:v>15</c:v>
                </c:pt>
                <c:pt idx="2">
                  <c:v>10</c:v>
                </c:pt>
                <c:pt idx="3">
                  <c:v>8</c:v>
                </c:pt>
                <c:pt idx="4">
                  <c:v>20</c:v>
                </c:pt>
              </c:numCache>
            </c:numRef>
          </c:val>
          <c:extLst>
            <c:ext xmlns:c16="http://schemas.microsoft.com/office/drawing/2014/chart" uri="{C3380CC4-5D6E-409C-BE32-E72D297353CC}">
              <c16:uniqueId val="{00000000-A123-4924-8BC3-A5B7C71E345D}"/>
            </c:ext>
          </c:extLst>
        </c:ser>
        <c:ser>
          <c:idx val="1"/>
          <c:order val="1"/>
          <c:tx>
            <c:strRef>
              <c:f>Sheet1!$C$1</c:f>
              <c:strCache>
                <c:ptCount val="1"/>
                <c:pt idx="0">
                  <c:v>Po wykładzie</c:v>
                </c:pt>
              </c:strCache>
            </c:strRef>
          </c:tx>
          <c:spPr>
            <a:solidFill>
              <a:srgbClr val="0F6E6E"/>
            </a:solidFill>
            <a:effectLst/>
          </c:spPr>
          <c:invertIfNegative val="0"/>
          <c:dLbls>
            <c:numFmt formatCode="#,##0" sourceLinked="0"/>
            <c:spPr>
              <a:noFill/>
              <a:ln>
                <a:noFill/>
              </a:ln>
              <a:effectLst/>
            </c:spPr>
            <c:txPr>
              <a:bodyPr/>
              <a:lstStyle/>
              <a:p>
                <a:pPr>
                  <a:defRPr sz="800" b="0" i="0" u="none" strike="noStrike">
                    <a:solidFill>
                      <a:srgbClr val="16243F"/>
                    </a:solidFill>
                    <a:latin typeface="Arial"/>
                  </a:defRPr>
                </a:pPr>
                <a:endParaRPr lang="pl-PL"/>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Linda</c:v>
                </c:pt>
                <c:pt idx="1">
                  <c:v>Monty Hall</c:v>
                </c:pt>
                <c:pt idx="2">
                  <c:v>Test medyczny</c:v>
                </c:pt>
                <c:pt idx="3">
                  <c:v>Urodziny</c:v>
                </c:pt>
                <c:pt idx="4">
                  <c:v>Moneta</c:v>
                </c:pt>
              </c:strCache>
            </c:strRef>
          </c:cat>
          <c:val>
            <c:numRef>
              <c:f>Sheet1!$C$2:$C$6</c:f>
              <c:numCache>
                <c:formatCode>General</c:formatCode>
                <c:ptCount val="5"/>
                <c:pt idx="0">
                  <c:v>58</c:v>
                </c:pt>
                <c:pt idx="1">
                  <c:v>62</c:v>
                </c:pt>
                <c:pt idx="2">
                  <c:v>55</c:v>
                </c:pt>
                <c:pt idx="3">
                  <c:v>60</c:v>
                </c:pt>
                <c:pt idx="4">
                  <c:v>71</c:v>
                </c:pt>
              </c:numCache>
            </c:numRef>
          </c:val>
          <c:extLst>
            <c:ext xmlns:c16="http://schemas.microsoft.com/office/drawing/2014/chart" uri="{C3380CC4-5D6E-409C-BE32-E72D297353CC}">
              <c16:uniqueId val="{00000001-A123-4924-8BC3-A5B7C71E345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Arial"/>
              </a:defRPr>
            </a:pPr>
            <a:endParaRPr lang="pl-PL"/>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1E4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pl-PL"/>
          </a:p>
        </c:txPr>
        <c:crossAx val="2094734554"/>
        <c:crosses val="autoZero"/>
        <c:crossBetween val="between"/>
      </c:valAx>
      <c:spPr>
        <a:noFill/>
        <a:ln>
          <a:noFill/>
        </a:ln>
        <a:effectLst/>
      </c:spPr>
    </c:plotArea>
    <c:legend>
      <c:legendPos val="b"/>
      <c:layout>
        <c:manualLayout>
          <c:xMode val="edge"/>
          <c:yMode val="edge"/>
          <c:x val="0.34284217944979101"/>
          <c:y val="0.88705398697539184"/>
          <c:w val="0.31431564110041799"/>
          <c:h val="0.1129460130246083"/>
        </c:manualLayout>
      </c:layout>
      <c:overlay val="0"/>
      <c:txPr>
        <a:bodyPr/>
        <a:lstStyle/>
        <a:p>
          <a:pPr>
            <a:defRPr sz="1200">
              <a:solidFill>
                <a:srgbClr val="16243F"/>
              </a:solidFill>
            </a:defRPr>
          </a:pPr>
          <a:endParaRPr lang="pl-PL"/>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3878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Slajd nieinteraktywny. Otwieramy trzema pytaniami, na które studenci odpowiedzą intuicyjnie w głowie, bez </a:t>
            </a:r>
            <a:r>
              <a:rPr lang="en-US"/>
              <a:t>głosowania </a:t>
            </a:r>
            <a:r>
              <a:rPr lang="en-US" smtClean="0"/>
              <a:t>- </a:t>
            </a:r>
            <a:r>
              <a:rPr lang="en-US" dirty="0"/>
              <a:t>wracamy do nich na slajdzie 3 w formie pomiaru. Cel: zasygnalizować, że intuicja w tych trzech przypadkach (test medyczny, hazard, decyzje finansowe) systematycznie myli się w przewidywalny sposób. Wizualizacja: mózg zestawiony z drzewem probabilistycznym i macierzą </a:t>
            </a:r>
            <a:r>
              <a:rPr lang="en-US"/>
              <a:t>wypłat </a:t>
            </a:r>
            <a:r>
              <a:rPr lang="en-US" smtClean="0"/>
              <a:t>- </a:t>
            </a:r>
            <a:r>
              <a:rPr lang="en-US" dirty="0"/>
              <a:t>sugeruje dwa rejestry myślenia, które będziemy porównywać przez cały wykład. Teza główna: umysł nie jest ogólnie nieracjonalny, lecz używa strategii adaptacyjnych do codziennego środowiska, zawodzących w zadaniach formalnych.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Slajd </a:t>
            </a:r>
            <a:r>
              <a:rPr lang="en-US"/>
              <a:t>techniczny </a:t>
            </a:r>
            <a:r>
              <a:rPr lang="en-US" smtClean="0"/>
              <a:t>- </a:t>
            </a:r>
            <a:r>
              <a:rPr lang="en-US" dirty="0"/>
              <a:t>krótko, sprawnie. Studenci skanują kod QR lub wpisują slido.com i kod pokoju #INTUICJA2026. Podkreślić: nie trzeba się logować, odpowiedzi są anonimowe, wyniki zlicza się automatycznie i pojawiają się w czasie rzeczywistym jako wykres słupkowy lub kołowy. Poprosić, by nie zamykali karty </a:t>
            </a:r>
            <a:r>
              <a:rPr lang="en-US"/>
              <a:t>przeglądarki </a:t>
            </a:r>
            <a:r>
              <a:rPr lang="en-US" smtClean="0"/>
              <a:t>- </a:t>
            </a:r>
            <a:r>
              <a:rPr lang="en-US" dirty="0"/>
              <a:t>będziemy wracać do tego samego pokoju przez całe zajęcia. Funkcje takie jak eksport CSV, chmura słów czy ranking wymagają weryfikacji w aktualnej wersji narzędzia przed </a:t>
            </a:r>
            <a:r>
              <a:rPr lang="en-US"/>
              <a:t>zajęciami </a:t>
            </a:r>
            <a:r>
              <a:rPr lang="en-US" smtClean="0"/>
              <a:t>- </a:t>
            </a:r>
            <a:r>
              <a:rPr lang="en-US" dirty="0"/>
              <a:t>sprawdzić dzień wcześniej. Plan awaryjny (kartki A–D, podniesienie ręki) opisany jest w materiałach uzupełniających; kluczowe głosowania (slajdy 3, 14, 17, 22, 23, 30, 31, 38, 40) należy przeprowadzić nawet bez internetu.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Pięć niezależnych głosowań jednokrotnego wyboru, wprowadzonych do Slido jako osobne pytania w tej samej sesji. Nie ujawniamy żadnej </a:t>
            </a:r>
            <a:r>
              <a:rPr lang="en-US" dirty="0" err="1"/>
              <a:t>odpowiedzi</a:t>
            </a:r>
            <a:r>
              <a:rPr lang="en-US" dirty="0"/>
              <a:t> </a:t>
            </a:r>
            <a:r>
              <a:rPr lang="en-US" dirty="0" smtClean="0"/>
              <a:t>- </a:t>
            </a:r>
            <a:r>
              <a:rPr lang="en-US" dirty="0"/>
              <a:t>to pomiar wyjściowy (pretest), do którego wracamy na slajdzie 40, porównując odsetek odpowiedzi normatywnie poprawnych przed i po wykładzie. Poinformować studentów, że to jest punkt odniesienia, nie test wiedzy oceniany. Każde pytanie ma swoją pełną wersję i materiał źródłowy w dalszej części wykładu (slajdy 14, 17, 22, 23 odpowiednio). Czas: maksymalnie 4–5 minut na </a:t>
            </a:r>
            <a:r>
              <a:rPr lang="en-US" dirty="0" err="1"/>
              <a:t>wszystkie</a:t>
            </a:r>
            <a:r>
              <a:rPr lang="en-US" dirty="0"/>
              <a:t> pięć </a:t>
            </a:r>
            <a:r>
              <a:rPr lang="en-US" dirty="0" err="1"/>
              <a:t>pytań</a:t>
            </a:r>
            <a:r>
              <a:rPr lang="en-US" dirty="0"/>
              <a:t> </a:t>
            </a:r>
            <a:r>
              <a:rPr lang="en-US" dirty="0" smtClean="0"/>
              <a:t>- </a:t>
            </a:r>
            <a:r>
              <a:rPr lang="en-US" dirty="0"/>
              <a:t>tempo szybkie, bez dyskusji.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Krótkie, skondensowane ramy </a:t>
            </a:r>
            <a:r>
              <a:rPr lang="en-US" dirty="0" err="1"/>
              <a:t>teoretyczne</a:t>
            </a:r>
            <a:r>
              <a:rPr lang="en-US" dirty="0"/>
              <a:t> </a:t>
            </a:r>
            <a:r>
              <a:rPr lang="en-US" dirty="0" smtClean="0"/>
              <a:t>- </a:t>
            </a:r>
            <a:r>
              <a:rPr lang="en-US" dirty="0"/>
              <a:t>to jedyny slajd czysto definicyjny w tej części wykładu, zgodnie z zasadą, by nie tworzyć katalogu pojęć. Model normatywny (Savage, von Neumann–Morgenstern) opisuje, jak decydent powinien rozumować. Model opisowy (Kahneman, Tversky, Simon) opisuje, jak ludzie faktycznie rozumują. Kluczowa teza: </a:t>
            </a:r>
            <a:r>
              <a:rPr lang="en-US" dirty="0" err="1"/>
              <a:t>heurystyki</a:t>
            </a:r>
            <a:r>
              <a:rPr lang="en-US" dirty="0"/>
              <a:t> nie są błędami </a:t>
            </a:r>
            <a:r>
              <a:rPr lang="en-US" dirty="0" err="1"/>
              <a:t>systemu</a:t>
            </a:r>
            <a:r>
              <a:rPr lang="en-US" dirty="0"/>
              <a:t> </a:t>
            </a:r>
            <a:r>
              <a:rPr lang="en-US" dirty="0" smtClean="0"/>
              <a:t>- </a:t>
            </a:r>
            <a:r>
              <a:rPr lang="en-US" dirty="0"/>
              <a:t>są strategiami zoptymalizowanymi pod inne kryteria niż formalna poprawność matematyczna. Ta ramka będzie się powtarzać przy każdym paradoksie: pokazujemy </a:t>
            </a:r>
            <a:r>
              <a:rPr lang="en-US" dirty="0" err="1"/>
              <a:t>odpowiedź</a:t>
            </a:r>
            <a:r>
              <a:rPr lang="en-US" dirty="0"/>
              <a:t> intuicyjną, normę matematyczną i wyjaśniamy mechanizm rozjazdu między nimi.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Sześć mechanizmów, które będą wracać w kolejnych </a:t>
            </a:r>
            <a:r>
              <a:rPr lang="en-US"/>
              <a:t>paradoksach </a:t>
            </a:r>
            <a:r>
              <a:rPr lang="en-US" smtClean="0"/>
              <a:t>- </a:t>
            </a:r>
            <a:r>
              <a:rPr lang="en-US" dirty="0"/>
              <a:t>to słownik roboczy, do którego można się odwoływać gestem, nie ponownym wykładem. Reprezentatywność wyjaśni problem Lindy i błąd koniunkcji. Dostępność wyjaśni efekt gorącej ręki i ocenę ryzyka katastrof. Zakotwiczenie wróci przy paradoksie petersburskim. Ograniczenia pamięci roboczej wyjaśniają, czemu rachunek bayesowski 'w głowie' jest tak </a:t>
            </a:r>
            <a:r>
              <a:rPr lang="en-US"/>
              <a:t>trudny </a:t>
            </a:r>
            <a:r>
              <a:rPr lang="en-US" smtClean="0"/>
              <a:t>- </a:t>
            </a:r>
            <a:r>
              <a:rPr lang="en-US" dirty="0"/>
              <a:t>stąd waga częstości naturalnych (slajd 21). Zastępowanie pytań (Kahneman) to mechanizm ogólny: pytanie 'jak prawdopodobne?' zamieniamy na 'jak typowe?' albo 'jak łatwo to sobie wyobrazić?'. Narracja i emocje tłumaczą siłę przykładów anegdotycznych nad danymi populacyjnymi.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Klasyczny eksperyment myślowy demonstrujący błąd reprezentatywności w ocenie losowości. Studenci typowo wybierają opcję A (OROR RO) jako 'bardziej losową', bo przypomina nieregularny wzór, a odrzucają C (same orły) jako 'nielosową', mimo identycznego prawdopodobieństwa </a:t>
            </a:r>
            <a:r>
              <a:rPr lang="en-US"/>
              <a:t>matematycznego </a:t>
            </a:r>
            <a:r>
              <a:rPr lang="en-US" smtClean="0"/>
              <a:t>- </a:t>
            </a:r>
            <a:r>
              <a:rPr lang="en-US" dirty="0"/>
              <a:t>1/64 dla każdej z 64 możliwych sekwencji sześciu rzutów. Wzór do pokazania po głosowaniu: P=(1/2)^6=1/64. Kluczowe rozróżnienie pojęciowe: sekwencja pojedyncza (zawsze równie prawdopodobna jak każda inna) versus klasa sekwencji o określonej liczbie orłów (różne klasy mają różne liczebności, stąd różne prawdopodobieństwa łączne). To rozróżnienie wróci w problemie chłopca i dziewczynki (slajd 24).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Błąd hazardzisty to przekonanie, że szansa danego wyniku zmienia się w odpowiedzi na poprzednie, niezależne wyniki. Mechanizm: ludzie traktują krótkie sekwencje jako próbkę, która powinna odzwierciedlać proporcje populacji ('prawo małych liczb' w wersji </a:t>
            </a:r>
            <a:r>
              <a:rPr lang="en-US"/>
              <a:t>intuicyjnej </a:t>
            </a:r>
            <a:r>
              <a:rPr lang="en-US" smtClean="0"/>
              <a:t>- </a:t>
            </a:r>
            <a:r>
              <a:rPr lang="en-US" dirty="0"/>
              <a:t>pełniej na slajdzie 10). W rzeczywistości proces Bernoulliego nie ma pamięci. Klasyczne badanie Tversky i Kahneman (1971, Belief in the Law of Small Numbers) opisuje ten mechanizm teoretycznie. Warto skontrastować z efektem gorącej ręki (slajd 9</a:t>
            </a:r>
            <a:r>
              <a:rPr lang="en-US"/>
              <a:t>) </a:t>
            </a:r>
            <a:r>
              <a:rPr lang="en-US" smtClean="0"/>
              <a:t>- </a:t>
            </a:r>
            <a:r>
              <a:rPr lang="en-US" dirty="0"/>
              <a:t>z pozoru podobne zjawisko, ale dotyczące procesów, w których zależność seryjna jest a priori możliwa (umiejętność, forma dnia), nie losowych urządzeń mechanicznych.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Historyczny przypadek jest jednym z najlepiej znanych ilustracji błędu hazardzisty w </a:t>
            </a:r>
            <a:r>
              <a:rPr lang="en-US"/>
              <a:t>praktyce </a:t>
            </a:r>
            <a:r>
              <a:rPr lang="en-US" smtClean="0"/>
              <a:t>- </a:t>
            </a:r>
            <a:r>
              <a:rPr lang="en-US" dirty="0"/>
              <a:t>udokumentowany w popularnych i akademickich opracowaniach historii rachunku prawdopodobieństwa, choć dokładne kwoty strat w różnych źródłach się różnią (oznaczyć jako dane wymagające dodatkowej weryfikacji źródłowej przed użyciem dokładnej liczby). Cel pytania skalowego: zmierzyć siłę przekonania o 'wyrównywaniu się' losu, nie tylko kierunek błędu. Większość odpowiedzi grupowych zwykle skupia się w przedziale 11–40%, co już odzwierciedla błąd, mimo że poprawna wartość to 0%. Warto skomentować, że nawet osoby znające teoretycznie zasadę niezależności zdarzeń intuicyjnie przypisują niezerową wartość.</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jeden z rzadkich przypadków w psychologii poznawczej, w którym 'błąd poznawczy' okazał się częściowo artefaktem metodologicznym samych badaczy. Gilovich, Vallone i Tversky (1985, The Hot Hand in Basketball, Cognitive Psychology) przeanalizowali dane strzałów zawodników Philadelphia 76ers i nie znaleźli statystycznie istotnej autokorelacji w seriach </a:t>
            </a:r>
            <a:r>
              <a:rPr lang="en-US"/>
              <a:t>trafień </a:t>
            </a:r>
            <a:r>
              <a:rPr lang="en-US" smtClean="0"/>
              <a:t>- </a:t>
            </a:r>
            <a:r>
              <a:rPr lang="en-US" dirty="0"/>
              <a:t>wniosek: gorąca ręka jest iluzją wynikającą z błędnej intuicji o tym, jak wyglądają losowe sekwencje (podobnie jak w slajdzie 6). Miller i Sanjurjo (2018, Surprised by the Hot Hand Fallacy?, Econometrica) wykazali, że standardowa metoda liczenia częstości warunkowej w krótkich sekwencjach ma systematyczne obciążenie </a:t>
            </a:r>
            <a:r>
              <a:rPr lang="en-US"/>
              <a:t>zaniżające </a:t>
            </a:r>
            <a:r>
              <a:rPr lang="en-US" smtClean="0"/>
              <a:t>- </a:t>
            </a:r>
            <a:r>
              <a:rPr lang="en-US" dirty="0"/>
              <a:t>po korekcie pojawia się słaby, ale wykrywalny efekt. Wniosek dydaktyczny: ostrożność wobec własnych narzędzi statystycznych jest częścią tej samej lekcji o intuicji.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Małe próby generują znacznie bardziej ekstremalne wyniki procentowe niż wielkie </a:t>
            </a:r>
            <a:r>
              <a:rPr lang="en-US"/>
              <a:t>próby </a:t>
            </a:r>
            <a:r>
              <a:rPr lang="en-US" smtClean="0"/>
              <a:t>- </a:t>
            </a:r>
            <a:r>
              <a:rPr lang="en-US" dirty="0"/>
              <a:t>to czysta konsekwencja prawa wielkich liczb działającego w obie strony: im mniejsza próba, tym większa wariancja estymatora proporcji. Tversky i Kahneman (1971, Belief in the Law of Small Numbers, Psychological Bulletin) wykazali, że nawet doświadczeni badacze systematycznie nie doceniają tej zależności i ufają wynikom małych prób tak, jakby były reprezentatywne dla populacji. Wykres pokazuje symulowane odchylenie od 50% w próbach różnej </a:t>
            </a:r>
            <a:r>
              <a:rPr lang="en-US"/>
              <a:t>wielkości </a:t>
            </a:r>
            <a:r>
              <a:rPr lang="en-US" smtClean="0"/>
              <a:t>- </a:t>
            </a:r>
            <a:r>
              <a:rPr lang="en-US" dirty="0"/>
              <a:t>im mniejsza próba, tym szersza dystrybucja wyników. To bezpośrednio wyjaśnia zarówno błąd hazardzisty, jak i nadmierną pewność co do wniosków z małych badań pilotażowych.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Klasyczny problem z baterii Kahnemana i Tversky'ego (1972, Subjective Probability: A Judgment of Representativeness) demonstrujący zaniedbanie wielkości próby (sample size neglect). Większość respondentów odpowiada 'podobna liczba', bo myślą kategorią reprezentatywności: 50/50 to 'typowy' wynik niezależnie od liczby obserwacji, więc odchylenia od niego wydają się równie nieprawdopodobne w obu szpitalach. W rzeczywistości błąd standardowy proporcji jest odwrotnie proporcjonalny do pierwiastka z wielkości </a:t>
            </a:r>
            <a:r>
              <a:rPr lang="en-US"/>
              <a:t>próby </a:t>
            </a:r>
            <a:r>
              <a:rPr lang="en-US" smtClean="0"/>
              <a:t>- </a:t>
            </a:r>
            <a:r>
              <a:rPr lang="en-US" dirty="0"/>
              <a:t>mała próba (szpital B) generuje ekstremalne dzienne proporcje znacznie częściej. Symulacja: dla p=0,5 i n=15 odchylenie standardowe proporcji ≈ 12,9 punktu procentowego; dla n=45 ≈ 7,4 punktu procentowego.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Regresja do średniej (Galton, koniec XIX wieku) to statystyczna konsekwencja niedoskonałej korelacji między dwoma pomiarami tej samej zmiennej obciążonej błędem </a:t>
            </a:r>
            <a:r>
              <a:rPr lang="en-US"/>
              <a:t>losowym </a:t>
            </a:r>
            <a:r>
              <a:rPr lang="en-US" smtClean="0"/>
              <a:t>- </a:t>
            </a:r>
            <a:r>
              <a:rPr lang="en-US" dirty="0"/>
              <a:t>ekstremalny wynik w pierwszym pomiarze jest częściowo efektem przypadkowej fluktuacji, która przy drugim pomiarze nie powtarza się z tą samą siłą. Ludzie systematycznie interpretują tę statystyczną konieczność jako przyczynowy efekt interwencji zastosowanej między </a:t>
            </a:r>
            <a:r>
              <a:rPr lang="en-US"/>
              <a:t>pomiarami </a:t>
            </a:r>
            <a:r>
              <a:rPr lang="en-US" smtClean="0"/>
              <a:t>- </a:t>
            </a:r>
            <a:r>
              <a:rPr lang="en-US" dirty="0"/>
              <a:t>to jeden z najczęstszych błędów w ocenie skuteczności terapii, treningu czy kar i nagród (zob. slajd 13). Klasyczny przykład Kahnemana z lotnikami izraelskimi: instruktorzy chwalący dobry lot i krytykujący słaby obserwowali pogorszenie po chwale i poprawę po </a:t>
            </a:r>
            <a:r>
              <a:rPr lang="en-US"/>
              <a:t>krytyce </a:t>
            </a:r>
            <a:r>
              <a:rPr lang="en-US" smtClean="0"/>
              <a:t>- </a:t>
            </a:r>
            <a:r>
              <a:rPr lang="en-US" dirty="0"/>
              <a:t>co przypisywali skuteczności kary, a nie regresji statystycznej.</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Kontynuacja slajdu 12 z konkretnym, praktycznym scenariuszem. To znany przykład Kahnemana z treningu pilotów izraelskich sił </a:t>
            </a:r>
            <a:r>
              <a:rPr lang="en-US"/>
              <a:t>powietrznych </a:t>
            </a:r>
            <a:r>
              <a:rPr lang="en-US" smtClean="0"/>
              <a:t>- </a:t>
            </a:r>
            <a:r>
              <a:rPr lang="en-US" dirty="0"/>
              <a:t>instruktorzy byli przekonani, że krytyka po słabym locie poprawia wykonanie, a chwała po dobrym locie psuje kolejny wynik, co prowadziło do paradoksalnego wniosku, że karanie jest skuteczne, a chwalenie szkodliwe. W rzeczywistości obserwowany wzorzec jest w pełni zgodny z czystą regresją do średniej, bez żadnego efektu kauzalnego nagrody czy kary. Implikacja praktyczna dla psychologii edukacyjnej i klinicznej: oceny skuteczności interwencji bez grupy kontrolnej i losowizacji są systematycznie zniekształcone przez ten mechanizm, niezależnie od kierunku interwencji.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najsłynniejszy eksperyment ilustrujący błąd koniunkcji (conjunction fallacy). Opis Lindy jest skonstruowany tak, by być reprezentatywny dla stereotypu feministki, nie dla stereotypu kasjerki </a:t>
            </a:r>
            <a:r>
              <a:rPr lang="en-US"/>
              <a:t>bankowej </a:t>
            </a:r>
            <a:r>
              <a:rPr lang="en-US" smtClean="0"/>
              <a:t>- </a:t>
            </a:r>
            <a:r>
              <a:rPr lang="en-US" dirty="0"/>
              <a:t>dlatego opcja koniunkcyjna 'pasuje' narracyjnie lepiej, mimo że matematycznie zbiór 'kasjerki i feministki' jest podzbiorem zbioru 'kasjerki', więc nie może być liczniejszy ani bardziej prawdopodobny. Wzór P(A∩B)≤P(A) należy wyprowadzić na tablicy: zbiór iloczynowy jest zawsze podzbiorem (lub równy) każdemu z dwóch zbiorów składowych. Tversky i Kahneman (1983, Extensional versus intuitive reasoning: The conjunction fallacy in probability judgment, Psychological Review) odnotowali efekt nawet u doktorantów statystyki. Replikacje w wielu krajach potwierdziły efekt, choć jego siła zależy od sformułowania </a:t>
            </a:r>
            <a:r>
              <a:rPr lang="en-US"/>
              <a:t>pytania </a:t>
            </a:r>
            <a:r>
              <a:rPr lang="en-US" smtClean="0"/>
              <a:t>- </a:t>
            </a:r>
            <a:r>
              <a:rPr lang="en-US" dirty="0"/>
              <a:t>częstości naturalne (slajd 21) osłabiają błąd.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Ćwiczenie </a:t>
            </a:r>
            <a:r>
              <a:rPr lang="en-US"/>
              <a:t>transferowe </a:t>
            </a:r>
            <a:r>
              <a:rPr lang="en-US" smtClean="0"/>
              <a:t>- </a:t>
            </a:r>
            <a:r>
              <a:rPr lang="en-US" dirty="0"/>
              <a:t>przenosimy logikę problemu Lindy na scenariusze bliższe realnym kontekstom zawodowym studentów psychologii: polityczny, kliniczny i ekonomiczny (ten ostatni omówiony ustnie: 'firma zbankrutuje' vs 'firma zbankrutuje z powodu cyberataku na łańcuch dostaw'). W każdej parze druga opcja jest logicznie podzbiorem pierwszej, więc nie może być bardziej prawdopodobna, choć jest bardziej 'wyobrażalna' i konkretna. Kliniczne zastosowanie: ostrożność wobec przeformułowywania ryzyka nawrotu w kategoriach konkretnego, żywego scenariusza, bo to sztucznie zawyża postrzeganą wiarygodność takiej prognozy.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Klasyczny eksperyment z serii Kahnemana i Tversky'ego (1973, On the Psychology of Prediction, Psychological Review) na problemie prawników i inżynierów. Kluczowy wynik: gdy badanym podano wyłącznie częstość bazową (bez opisu), poprawnie ją wykorzystywali. Gdy dodano nawet nic nieznaczący, niediagnostyczny opis osoby, częstość bazowa była niemal całkowicie ignorowana, a oceny opierały się wyłącznie na stereotypowym podobieństwie opisu do jednego z zawodów. To ilustruje siłę </a:t>
            </a:r>
            <a:r>
              <a:rPr lang="en-US" dirty="0" err="1"/>
              <a:t>heurystyki</a:t>
            </a:r>
            <a:r>
              <a:rPr lang="en-US" dirty="0"/>
              <a:t> reprezentatywności nad formalnym rachunkiem prawdopodobieństwa warunkowego i wprowadza mechanicznie do pełnego paradoksu bayesowskiego (test medyczny, slajd 17).</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Fundamentalny paradoks bayesowski w tej </a:t>
            </a:r>
            <a:r>
              <a:rPr lang="en-US" dirty="0" err="1"/>
              <a:t>prezentacji</a:t>
            </a:r>
            <a:r>
              <a:rPr lang="en-US" dirty="0"/>
              <a:t> </a:t>
            </a:r>
            <a:r>
              <a:rPr lang="en-US" dirty="0" smtClean="0"/>
              <a:t>- </a:t>
            </a:r>
            <a:r>
              <a:rPr lang="en-US" dirty="0"/>
              <a:t>poprzedza go slajd 16 (przygotowanie pojęciowe) i uzupełnia slajd 18 (odróżnienie kierunków warunkowania) oraz slajd 21 (rozwiązanie dydaktyczne przez częstości naturalne). Kluczowy wzór do rozpisania na tablicy: P(D|+) = P(+|D)P(D) / [P(+|D)P(D) + P(+|¬D)P(¬D)] = (0,95×0,01) / (0,95×0,01 + 0,05×0,99) = 0,0095/0,059 ≈ 0,161. Tablica 2×2 na 10 000 osób jest kluczowym narzędziem dydaktycznym: 95 prawdziwie dodatnich, 5 fałszywie ujemnych, 495 fałszywie dodatnich, 9405 prawdziwie ujemnych. Casscells, Schoenberger i Grayboys (1978, New England Journal of Medicine) wykazali, że nawet studenci i lekarze Harvard Medical School systematycznie mylą się w tym zadaniu, najczęściej podając </a:t>
            </a:r>
            <a:r>
              <a:rPr lang="en-US" dirty="0" err="1"/>
              <a:t>odpowiedź</a:t>
            </a:r>
            <a:r>
              <a:rPr lang="en-US" dirty="0"/>
              <a:t> bliską czułości testu (95%), czyli mylącą P(D|+) z P(+|D).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Slajd czysto pojęciowy, wzmacniający rozróżnienie kluczowe dla całego bloku bayesowskiego. Błąd transpozycji warunku (confusion of the inverse, czasem nazywany błędem prokuratora w kontekście </a:t>
            </a:r>
            <a:r>
              <a:rPr lang="en-US"/>
              <a:t>prawnym </a:t>
            </a:r>
            <a:r>
              <a:rPr lang="en-US" smtClean="0"/>
              <a:t>- </a:t>
            </a:r>
            <a:r>
              <a:rPr lang="en-US" dirty="0"/>
              <a:t>zob. slajd 19) polega na milczącym założeniu, że P(A|B) = P(B|A), co jest prawdą tylko wtedy, gdy P(A) = P(B). W medycynie czułość testu (P(+|D)) jest łatwo dostępna z badań walidacyjnych producenta testu, natomiast to, czego naprawdę potrzebuje pacjent i </a:t>
            </a:r>
            <a:r>
              <a:rPr lang="en-US"/>
              <a:t>lekarz </a:t>
            </a:r>
            <a:r>
              <a:rPr lang="en-US" smtClean="0"/>
              <a:t>- </a:t>
            </a:r>
            <a:r>
              <a:rPr lang="en-US" dirty="0"/>
              <a:t>P(D</a:t>
            </a:r>
            <a:r>
              <a:rPr lang="en-US"/>
              <a:t>|+) </a:t>
            </a:r>
            <a:r>
              <a:rPr lang="en-US" smtClean="0"/>
              <a:t>- </a:t>
            </a:r>
            <a:r>
              <a:rPr lang="en-US" dirty="0"/>
              <a:t>wymaga dodatkowo znajomości częstości bazowej choroby w populacji. To rozróżnienie jest kluczowe klinicznie: interpretacja wyników przesiewowych (mammografia, testy genetyczne) wymaga świadomego stosowania twierdzenia Bayesa, nie intuicyjnego czytania czułości jako trafności diagnostycznej.</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Bezpośrednie zastosowanie błędu transpozycji warunku (slajd 18) w kontekście sądowym, gdzie ma to poważne konsekwencje życiowe. Błąd prokuratora polega na przedstawieniu przez oskarżenie prawdopodobieństwa dowodu przy założeniu niewinności (P(dowód|niewinny), np. 1 na milion) tak, jakby było ono prawdopodobieństwem niewinności przy tym dowodzie (P(niewinny|dowód</a:t>
            </a:r>
            <a:r>
              <a:rPr lang="en-US"/>
              <a:t>)) </a:t>
            </a:r>
            <a:r>
              <a:rPr lang="en-US" smtClean="0"/>
              <a:t>- </a:t>
            </a:r>
            <a:r>
              <a:rPr lang="en-US" dirty="0"/>
              <a:t>co jest merytorycznie błędne bez uwzględnienia częstości bazowej i innych dowodów w sprawie. Rzeczywiste sprawy sądowe pokazują dramatyczne, realne konsekwencje tego </a:t>
            </a:r>
            <a:r>
              <a:rPr lang="en-US"/>
              <a:t>błędu </a:t>
            </a:r>
            <a:r>
              <a:rPr lang="en-US" smtClean="0"/>
              <a:t>- </a:t>
            </a:r>
            <a:r>
              <a:rPr lang="en-US" dirty="0"/>
              <a:t>skazania niewinnych osób na podstawie nieprawidłowo zinterpretowanej statystyki. Uwaga metodologiczna: unikać przywoływania konkretnych nazwisk bez zweryfikowanego źródła prawnego.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Rozszerzenie logiki paradoksu testu medycznego na systemy bezpieczeństwa, wykrywania oszustw finansowych i systemy predykcyjne. Przy bardzo niskiej częstości bazowej zdarzenia docelowego (1 na 100 000) nawet system o pozornie imponującej trafności 99% generuje przytłaczającą większość fałszywych alarmów wśród wszystkich sygnalizowanych przypadków. To praktyczna konsekwencja tego samego mechanizmu bayesowskiego omawianego na slajdach 17–19. Implikacja etyczna: masowa inwigilacja lub masowy skrining rzadkich zjawisk generuje ogromne koszty społeczne fałszywych alarmów, nawet przy statystycznie 'dobrych' systemach.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Gigerenzer i Hoffrage (1995, How to Improve Bayesian Reasoning Without Instruction: Frequency Formats, Psychological Review) wykazali, że przeformułowanie zadań bayesowskich z języka prawdopodobieństw warunkowych na język częstości naturalnych radykalnie poprawia trafność rozumowania bayesowskiego bez dodatkowego instruktażu statystycznego. Wartości na wykresie mają charakter </a:t>
            </a:r>
            <a:r>
              <a:rPr lang="en-US"/>
              <a:t>orientacyjny </a:t>
            </a:r>
            <a:r>
              <a:rPr lang="en-US" smtClean="0"/>
              <a:t>- </a:t>
            </a:r>
            <a:r>
              <a:rPr lang="en-US" dirty="0"/>
              <a:t>dokładne wartości różnią się między eksperymentami; przy prezentacji zaznaczyć w mowie 'wyniki rzędu' i odnieść do oryginalnej publikacji. Mechanizm: format częstości naturalnych eksponuje strukturę zagnieżdżonych zbiorów w sposób zgodny z tym, jak ewolucyjnie mózg śledził częstości zdarzeń w konkretnych próbkach obserwacji. Implikacja praktyczna dla komunikacji ryzyka klinicznego: zawsze przekładać procenty na liczby osób w konkretnej grupie.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Paradoks urodzin (birthday paradox) jest 'paradoksem' tylko </a:t>
            </a:r>
            <a:r>
              <a:rPr lang="en-US" dirty="0" err="1"/>
              <a:t>intuicyjnie</a:t>
            </a:r>
            <a:r>
              <a:rPr lang="en-US" dirty="0"/>
              <a:t> </a:t>
            </a:r>
            <a:r>
              <a:rPr lang="en-US" dirty="0" smtClean="0"/>
              <a:t>- </a:t>
            </a:r>
            <a:r>
              <a:rPr lang="en-US" dirty="0"/>
              <a:t>matematycznie jest w pełni zgodny z rachunkiem kombinatorycznym, lecz wynik zaskakuje niemal każdego, kto pierwszy raz się z nim styka. Mechanizm błędu: ludzie nieświadomie liczą prawdopodobieństwo w kategoriach 'czy KTOŚ ma urodziny w MOIM dniu' (co wymagałoby znacznie więcej </a:t>
            </a:r>
            <a:r>
              <a:rPr lang="en-US" dirty="0" err="1"/>
              <a:t>osób</a:t>
            </a:r>
            <a:r>
              <a:rPr lang="en-US" dirty="0"/>
              <a:t> </a:t>
            </a:r>
            <a:r>
              <a:rPr lang="en-US" dirty="0" smtClean="0"/>
              <a:t>- </a:t>
            </a:r>
            <a:r>
              <a:rPr lang="en-US" dirty="0"/>
              <a:t>ok. 253 dla 50% szans), a nie 'czy KTOKOLWIEK z KTÓRYMKOLWIEK'. Liczba możliwych par przy n osobach wynosi C(n,2)=n(n-1)/2 </a:t>
            </a:r>
            <a:r>
              <a:rPr lang="en-US" dirty="0" smtClean="0"/>
              <a:t>- </a:t>
            </a:r>
            <a:r>
              <a:rPr lang="en-US" dirty="0"/>
              <a:t>rośnie kwadratowo, nie liniowo z n. Dla n=23 mamy aż 253 niezależne 'okazje' na zbieżność. Wzór dokładny: P(brak zbieżności)=365!/[(365-n)!×365^n]. Warto pokazać histogram odpowiedzi żywcem wygenerowany przez </a:t>
            </a:r>
            <a:r>
              <a:rPr lang="en-US" dirty="0" err="1"/>
              <a:t>Slido</a:t>
            </a:r>
            <a:r>
              <a:rPr lang="en-US" dirty="0"/>
              <a:t> </a:t>
            </a:r>
            <a:r>
              <a:rPr lang="en-US" dirty="0" smtClean="0"/>
              <a:t>- </a:t>
            </a:r>
            <a:r>
              <a:rPr lang="en-US" dirty="0"/>
              <a:t>niemal zawsze modalna </a:t>
            </a:r>
            <a:r>
              <a:rPr lang="en-US" dirty="0" err="1"/>
              <a:t>odpowiedź</a:t>
            </a:r>
            <a:r>
              <a:rPr lang="en-US" dirty="0"/>
              <a:t> grupy jest znacząco wyższa niż 23, co samo w sobie jest demonstracją tezy wykładu.</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Jeden z najsłynniejszych paradoksów probabilistycznych, spopularyzowany przez kolumnę Marilyn vos Savant w 'Parade Magazine' (1990), gdzie poprawna </a:t>
            </a:r>
            <a:r>
              <a:rPr lang="en-US" dirty="0" err="1"/>
              <a:t>odpowiedź</a:t>
            </a:r>
            <a:r>
              <a:rPr lang="en-US" dirty="0"/>
              <a:t> wywołała burzę krytycznych listów, także od doktorów </a:t>
            </a:r>
            <a:r>
              <a:rPr lang="en-US" dirty="0" err="1"/>
              <a:t>matematyki</a:t>
            </a:r>
            <a:r>
              <a:rPr lang="en-US" dirty="0"/>
              <a:t> </a:t>
            </a:r>
            <a:r>
              <a:rPr lang="en-US" dirty="0" smtClean="0"/>
              <a:t>- </a:t>
            </a:r>
            <a:r>
              <a:rPr lang="en-US" dirty="0"/>
              <a:t>dobra ilustracja siły błędnej intuicji nawet u ekspertów. Kluczowy błąd intuicyjny: po odsłonięciu jednych drzwi ludzie zakładają, że pozostały dwoje drzwi mają równe szanse po 1/2 </a:t>
            </a:r>
            <a:r>
              <a:rPr lang="en-US" dirty="0" smtClean="0"/>
              <a:t>- </a:t>
            </a:r>
            <a:r>
              <a:rPr lang="en-US" dirty="0"/>
              <a:t>ignorując fakt, że wybór prowadzącego NIE jest losowy: on zawsze wie, gdzie jest nagroda, i zawsze otwiera drzwi puste spośród tych, których gracz nie wybrał. To sprawia, że cała pierwotna szansa 2/3 (że nagroda jest za jednymi z dwóch niewybranych drzwi) 'przenosi się' w całości na pozostałe, niewskazane drzwi. Symulacja Monte Carlo (minimum 1000 powtórzeń) jest najskuteczniejszym narzędziem przekonującym </a:t>
            </a:r>
            <a:r>
              <a:rPr lang="en-US" dirty="0" err="1"/>
              <a:t>sceptyków</a:t>
            </a:r>
            <a:r>
              <a:rPr lang="en-US" dirty="0"/>
              <a:t> </a:t>
            </a:r>
            <a:r>
              <a:rPr lang="en-US" dirty="0" smtClean="0"/>
              <a:t>- </a:t>
            </a:r>
            <a:r>
              <a:rPr lang="en-US" dirty="0"/>
              <a:t>warto pokazać ją na żywo lub jako przygotowany wcześniej wykres słupkowy porównujący częstość wygranych obu strategii.</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Trzy głosowania osobne, jedno dla każdej </a:t>
            </a:r>
            <a:r>
              <a:rPr lang="en-US" dirty="0" err="1"/>
              <a:t>wersji</a:t>
            </a:r>
            <a:r>
              <a:rPr lang="en-US" dirty="0"/>
              <a:t> </a:t>
            </a:r>
            <a:r>
              <a:rPr lang="en-US" dirty="0" smtClean="0"/>
              <a:t>- </a:t>
            </a:r>
            <a:r>
              <a:rPr lang="en-US" dirty="0"/>
              <a:t>to demonstruje, jak precyzyjny mechanizm uzyskania informacji zmienia </a:t>
            </a:r>
            <a:r>
              <a:rPr lang="en-US" dirty="0" err="1"/>
              <a:t>odpowiedź</a:t>
            </a:r>
            <a:r>
              <a:rPr lang="en-US" dirty="0"/>
              <a:t>, mimo pozornie tej samej treści. Odpowiedzi: wersja 1 (przynajmniej jedno to chłopiec, bez określania które) = 1/3, bo z czterech równie prawdopodobnych kombinacji (CC, CD, DC, DD) wykluczamy tylko DD, zostają trzy równie prawdopodobne możliwości, z których jedna to CC. Wersja 2 (STARSZE dziecko to </a:t>
            </a:r>
            <a:r>
              <a:rPr lang="en-US" dirty="0" err="1"/>
              <a:t>chłopiec</a:t>
            </a:r>
            <a:r>
              <a:rPr lang="en-US" dirty="0"/>
              <a:t> </a:t>
            </a:r>
            <a:r>
              <a:rPr lang="en-US" dirty="0" smtClean="0"/>
              <a:t>- </a:t>
            </a:r>
            <a:r>
              <a:rPr lang="en-US" dirty="0"/>
              <a:t>informacja identyfikuje konkretne dziecko) = 1/2, bo pozostają tylko dwie możliwości: starszy chłopiec-młodsza dziewczynka, starszy chłopiec-młodszy chłopiec. Wersja 3 (informacja o dniu tygodnia urodzenia) zaskakująco daje wynik bliski 13/27, nie 1/3 ani 1/2 </a:t>
            </a:r>
            <a:r>
              <a:rPr lang="en-US" dirty="0" smtClean="0"/>
              <a:t>- </a:t>
            </a:r>
            <a:r>
              <a:rPr lang="en-US" dirty="0"/>
              <a:t>paradoks znany jako 'boy born on Tuesday problem', spopularyzowany przez Gary'ego Fostera i dyskutowany przez Petera Winklera. Kluczowa lekcja: sposób, w jaki uzyskaliśmy informację (identyfikująca konkretne dziecko czy jedynie potwierdzająca istnienie), radykalnie zmienia przestrzeń zdarzeń </a:t>
            </a:r>
            <a:r>
              <a:rPr lang="en-US" dirty="0" err="1"/>
              <a:t>warunkowych</a:t>
            </a:r>
            <a:r>
              <a:rPr lang="en-US" dirty="0"/>
              <a:t> </a:t>
            </a:r>
            <a:r>
              <a:rPr lang="en-US" dirty="0" smtClean="0"/>
              <a:t>- </a:t>
            </a:r>
            <a:r>
              <a:rPr lang="en-US" dirty="0"/>
              <a:t>subtelność łatwo pomijana w rozumowaniu potocznym.</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Klasyczny paradoks pokazujący, jak pozornie poprawne rozumowanie o wartości oczekiwanej może zawierać ukryty błąd formalny. Fałszywe rozumowanie traktuje X jednocześnie jako 'kwotę w mojej kopercie' i podstawia ją do obliczenia oczekiwanej wartości drugiej koperty tak, jakby X było stałą, niezależną od tego, którą kopertę faktycznie </a:t>
            </a:r>
            <a:r>
              <a:rPr lang="en-US"/>
              <a:t>wylosowano </a:t>
            </a:r>
            <a:r>
              <a:rPr lang="en-US" smtClean="0"/>
              <a:t>- </a:t>
            </a:r>
            <a:r>
              <a:rPr lang="en-US" dirty="0"/>
              <a:t>w rzeczywistości, jeśli koperty zawierają ustalone kwoty a i 2a, to zmienna losowa 'kwota w mojej kopercie' przyjmuje wartość a lub 2a z prawdopodobieństwem 1/2 każda, i poprawna analiza pokazuje, że oczekiwana wartość zamiany jest dokładnie równa oczekiwanej wartości pozostania przy </a:t>
            </a:r>
            <a:r>
              <a:rPr lang="en-US"/>
              <a:t>wyborze </a:t>
            </a:r>
            <a:r>
              <a:rPr lang="en-US" smtClean="0"/>
              <a:t>- </a:t>
            </a:r>
            <a:r>
              <a:rPr lang="en-US" dirty="0"/>
              <a:t>nie ma żadnej korzyści z zamiany. Filozoficznie paradoks ten był przedmiotem dyskusji dotyczącej poprawnego formalizowania niepewności o wartości a, gdy nie znamy rozkładu a priori kwoty w pierwszej </a:t>
            </a:r>
            <a:r>
              <a:rPr lang="en-US"/>
              <a:t>kopercie </a:t>
            </a:r>
            <a:r>
              <a:rPr lang="en-US" smtClean="0"/>
              <a:t>- </a:t>
            </a:r>
            <a:r>
              <a:rPr lang="en-US" dirty="0"/>
              <a:t>to subtelny problem epistemologii prawdopodobieństwa, wykraczający poza podstawowy kurs, warto zasygnalizować studentom zaawansowanym.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Paradoks sformułowany przez Nicolasa Bernoulliego (1713) i przeanalizowany przez Daniela Bernoulliego (1738) jest jednym z pierwszych historycznie wskazań, że sama wartość oczekiwana nie wystarcza do opisania racjonalnego zachowania w </a:t>
            </a:r>
            <a:r>
              <a:rPr lang="en-US"/>
              <a:t>hazardzie </a:t>
            </a:r>
            <a:r>
              <a:rPr lang="en-US" smtClean="0"/>
              <a:t>- </a:t>
            </a:r>
            <a:r>
              <a:rPr lang="en-US" dirty="0"/>
              <a:t>to fundament dla późniejszej teorii użyteczności. Wzór na wartość oczekiwaną: E(X)=Σ_{n=1}^∞ (1/2^n)·2^n = Σ_{n=1}^∞ 1, co jest sumą rozbieżną (nieskończoną), mimo że w praktyce niemal wszyscy respondenci deklarują gotowość zapłaty rzędu kilkudziesięciu, może kilkuset złotych. Rozwiązanie Bernoulliego: ludzie maksymalizują nie wartość pieniężną, lecz jej logarytmiczną użyteczność (malejącą krańcową użyteczność pieniądza</a:t>
            </a:r>
            <a:r>
              <a:rPr lang="en-US"/>
              <a:t>) </a:t>
            </a:r>
            <a:r>
              <a:rPr lang="en-US" smtClean="0"/>
              <a:t>- </a:t>
            </a:r>
            <a:r>
              <a:rPr lang="en-US" dirty="0"/>
              <a:t>U(x)=ln(x), co daje skończoną wartość oczekiwaną użyteczności. Współczesne wyjaśnienia dodają: ograniczone zasoby przeciwnika (realistycznie nikt nie wypłaci nieskończonej kwoty), awersję do ryzyka i dyskontowanie bardzo małych prawdopodobieństw ogromnych </a:t>
            </a:r>
            <a:r>
              <a:rPr lang="en-US"/>
              <a:t>wygranych </a:t>
            </a:r>
            <a:r>
              <a:rPr lang="en-US" smtClean="0"/>
              <a:t>- </a:t>
            </a:r>
            <a:r>
              <a:rPr lang="en-US" dirty="0"/>
              <a:t>temat naturalnie łączy się z paradoksem Allais'go i teorią perspektywy (bloki IV).</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wielokrotnych porównań (multiple comparisons problem) jest kluczowym zagadnieniem metodologicznym we współczesnej psychologii, szczególnie w kontekście kryzysu replikacji. Wzór: P(co najmniej jeden fałszywy wynik w k niezależnych testach) = 1−(1−α)^k. Dla α=0,05 i k=20: 1−0,95^20≈0,642. Intuicyjnie ludzie liniowo ekstrapolują 5% na 20 testów, dochodząc do błędnej odpowiedzi 'ok. 20% lub mniej' (mylenie sumowania prawdopodobieństw niezależnych zdarzeń z prostym mnożeniem). W praktyce badawczej ten mechanizm leży u podstaw problemu p-hackingu: analizowanie wielu zmiennych zależnych, wielu podgrup lub wielu punktów czasowych bez korekty statystycznej (np. korekty Bonferroniego: α'=α/k) systematycznie zawyża odsetek fałszywych odkryć publikowanych jako istotne statystycznie. Ilustracja klasyczna: eksperyment 'martwego łososia' w fMRI (Bennett i in., 2009</a:t>
            </a:r>
            <a:r>
              <a:rPr lang="en-US"/>
              <a:t>) </a:t>
            </a:r>
            <a:r>
              <a:rPr lang="en-US" smtClean="0"/>
              <a:t>- </a:t>
            </a:r>
            <a:r>
              <a:rPr lang="en-US" dirty="0"/>
              <a:t>analiza bez korekty za wielokrotne porównania wykazała 'istotną aktywność mózgu' u martwej ryby.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Historia Abrahama Walda i Statistical Research Group (Columbia University, lata 40. XX wieku) jest jednym z najbardziej wpływowych przykładów wykrycia błędu przeżywalności w praktyce z realnymi konsekwencjami militarnymi. Intuicyjny błąd: wojskowi chcieli wzmocnić pancerz w miejscach z największą liczbą trafień widocznych na wracających samolotach. Wald odwrócił rozumowanie: skoro te samoloty wróciły MIMO trafień w te miejsca, oznacza to, że trafienia tam są 'do przeżycia'; brak trafień w innych miejscach (silnik, kokpit, zbiorniki paliwa) wśród ocalałych oznacza, że samoloty trafione tam nie wracały w ogóle i dlatego nie są reprezentowane w próbie. Mechanizm ogólny błędu przeżywalności: wnioskowanie na podstawie widocznej, 'ocalałej' podpróby, z pominięciem niewidocznej części populacji, która nie przetrwała </a:t>
            </a:r>
            <a:r>
              <a:rPr lang="en-US"/>
              <a:t>selekcji </a:t>
            </a:r>
            <a:r>
              <a:rPr lang="en-US" smtClean="0"/>
              <a:t>- </a:t>
            </a:r>
            <a:r>
              <a:rPr lang="en-US" dirty="0"/>
              <a:t>dotyczy to również oceny sukcesu przedsiębiorstw (analizujemy tylko firmy, które przetrwały), skuteczności diet czy inwestycji giełdowych. Jeśli narzędzie do głosowania nie obsługuje zaznaczania obszaru na obrazku, zastosować cztery ponumerowane strefy schematu samolotu jako alternatywę.</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Skondensowane wprowadzenie pojęciowe do bloku o ryzyku i niepewności, analogiczne do slajdu </a:t>
            </a:r>
            <a:r>
              <a:rPr lang="en-US"/>
              <a:t>4 </a:t>
            </a:r>
            <a:r>
              <a:rPr lang="en-US" smtClean="0"/>
              <a:t>- </a:t>
            </a:r>
            <a:r>
              <a:rPr lang="en-US" dirty="0"/>
              <a:t>jedyny czysto definicyjny slajd tego bloku. Kluczowe rozróżnienie za Frankiem Knightem (1921): ryzyko dotyczy sytuacji ze znanym rozkładem prawdopodobieństwa (np. ruletka), niepewność (niejednoznaczność) dotyczy sytuacji, w których rozkład jest nieznany lub trudny do oszacowania (np. inwestycja w nowy rynek). Von Neumann i Morgenstern (1944, Theory of Games and Economic Behavior) sformalizowali teorię oczekiwanej użyteczności jako normatywny model decyzji w warunkach ryzyka. Funkcja użyteczności wklęsła (malejąca użyteczność krańcowa pieniądza) tłumaczy awersję do ryzyka: im więcej mamy, tym mniej cenimy każdą kolejną </a:t>
            </a:r>
            <a:r>
              <a:rPr lang="en-US"/>
              <a:t>jednostkę </a:t>
            </a:r>
            <a:r>
              <a:rPr lang="en-US" smtClean="0"/>
              <a:t>- </a:t>
            </a:r>
            <a:r>
              <a:rPr lang="en-US" dirty="0"/>
              <a:t>to podstawa dla wyjaśnienia paradoksu petersburskiego (slajd 26) i przygotowanie do paradoksów Allais'go (slajdy 30–31).</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Pierwsza z dwóch par loterii Allais'go (1953, Le comportement de l'homme rationnel devant le risque, Econometrica</a:t>
            </a:r>
            <a:r>
              <a:rPr lang="en-US"/>
              <a:t>) </a:t>
            </a:r>
            <a:r>
              <a:rPr lang="en-US" smtClean="0"/>
              <a:t>- </a:t>
            </a:r>
            <a:r>
              <a:rPr lang="en-US" dirty="0"/>
              <a:t>NIE ujawniamy wartości oczekiwanych przed zamknięciem głosowania, zgodnie z instrukcją zadania. Wartości oczekiwane: E(A)=1 000 000 zł; E(B)=0,89×1 000 000+0,10×5 000 000+0,01×0=890 000+500 000=1 390 000 zł. Mimo wyższej wartości oczekiwanej loterii B, większość badanych wybiera </a:t>
            </a:r>
            <a:r>
              <a:rPr lang="en-US"/>
              <a:t>A </a:t>
            </a:r>
            <a:r>
              <a:rPr lang="en-US" smtClean="0"/>
              <a:t>- </a:t>
            </a:r>
            <a:r>
              <a:rPr lang="en-US" dirty="0"/>
              <a:t>efekt pewności (certainty effect): ludzie nadmiernie preferują wynik pewny (100%) nad niepewny, nawet kosztem znacznie wyższej wartości oczekiwanej. To pierwsza część </a:t>
            </a:r>
            <a:r>
              <a:rPr lang="en-US"/>
              <a:t>paradoksu </a:t>
            </a:r>
            <a:r>
              <a:rPr lang="en-US" smtClean="0"/>
              <a:t>- </a:t>
            </a:r>
            <a:r>
              <a:rPr lang="en-US" dirty="0"/>
              <a:t>pełne znaczenie ujawni się dopiero po porównaniu z drugą parą (slajd 31), gdzie ujawnia się naruszenie aksjomatu niezależności teorii oczekiwanej użyteczności.</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Teoria perspektywy (Kahneman i Tversky, 1979, Prospect Theory: An Analysis of Decision under Risk, Econometrica) jest deskryptywnym modelem decyzji w warunkach ryzyka, który wyjaśnia zarówno paradoks Allais'go, jak i szereg innych anomalii teorii oczekiwanej użyteczności. Funkcja wartości v(x) jest wklęsła dla zysków (awersja do ryzyka przy zyskach) i wypukła dla strat (poszukiwanie ryzyka przy stratach), asymetryczna wokół punktu odniesienia (v(−x) mocniej ujemna niż v(x) </a:t>
            </a:r>
            <a:r>
              <a:rPr lang="en-US"/>
              <a:t>dodatnia </a:t>
            </a:r>
            <a:r>
              <a:rPr lang="en-US" smtClean="0"/>
              <a:t>- </a:t>
            </a:r>
            <a:r>
              <a:rPr lang="en-US" dirty="0"/>
              <a:t>awersja do straty). Funkcja ważenia prawdopodobieństw π(p) systematycznie przeszacowuje małe p (stąd popularność loterii i ubezpieczeń) i niedoszacowuje duże p bliskie pewności (stąd efekt pewności z paradoksu Allais'go). Czteropolowy wzorzec (fourfold pattern of risk attitudes, Tversky i Kahneman, 1992) podsumowuje: unikanie ryzyka dla dużych prawdopodobieństw zysku i małych prawdopodobieństw straty; poszukiwanie ryzyka dla małych prawdopodobieństw zysku (loterie) i dużych prawdopodobieństw straty (ubezpieczenia, spory sądowe zamiast ugody).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Daniel Ellsberg (1961, Risk, Ambiguity, and the Savage Axioms, Quarterly Journal of Economics) wykazał, że ludzie systematycznie preferują opcje o znanym prawdopodobieństwie (ryzyko) nad opcjami o nieznanym prawdopodobieństwie (niejednoznaczność), nawet gdy nie ma to logicznego uzasadnienia w kategoriach oczekiwanej wartości subiektywnej. Kluczowy mechanizm paradoksu: w pierwszej rundzie wybór urny A (dla czerwonego) sugeruje przekonanie, że w urnie B jest MNIEJ niż 50 czerwonych kul (subiektywne prawdopodobieństwo czerwonego w B &lt; 0,5). Ale w drugiej rundzie ten sam wybór urny A (dla czarnego) sugeruje odwrotne </a:t>
            </a:r>
            <a:r>
              <a:rPr lang="en-US"/>
              <a:t>przekonanie </a:t>
            </a:r>
            <a:r>
              <a:rPr lang="en-US" smtClean="0"/>
              <a:t>- </a:t>
            </a:r>
            <a:r>
              <a:rPr lang="en-US" dirty="0"/>
              <a:t>że w urnie B jest mniej niż 50 czarnych kul. Te dwa przekonania nie mogą być jednocześnie prawdziwe (w urnie B jest dokładnie 100 kul czerwonych i czarnych razem), co ujawnia, że wybory NIE wynikają z żadnego spójnego oszacowania prawdopodobieństwa, lecz z czystej awersji do niejednoznaczności jako takiej. To narusza aksjomat Savage'a (1954) o istnieniu spójnych prawdopodobieństw </a:t>
            </a:r>
            <a:r>
              <a:rPr lang="en-US"/>
              <a:t>subiektywnych </a:t>
            </a:r>
            <a:r>
              <a:rPr lang="en-US" smtClean="0"/>
              <a:t>- </a:t>
            </a:r>
            <a:r>
              <a:rPr lang="en-US" dirty="0"/>
              <a:t>fundament klasycznej teorii decyzji bayesowskiej.</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Bezpośrednie rozszerzenie paradoksu Ellsberga na format bardziej zbliżony do codziennych decyzji finansowych i medycznych (np. wybór metody leczenia o znanej skuteczności 30% vs metody eksperymentalnej o nieznanej, ale szacowanej na 10–50% skuteczności). Kluczowa demonstracja: sposób przedstawienia zakresu niepewności (szeroki przedział z tym samym środkiem co znana wartość) sam w sobie wywołuje unikanie, niezależnie od tego, że statystycznie oczekiwana wartość obu opcji jest identyczna. Badania nad ambiguity aversion mają zastosowania kliniczne: pacjenci i lekarze systematycznie preferują terapie o dobrze poznanym profilu skuteczności nad nowsze terapie o potencjalnie wyższej, lecz mniej pewnej </a:t>
            </a:r>
            <a:r>
              <a:rPr lang="en-US"/>
              <a:t>skuteczności </a:t>
            </a:r>
            <a:r>
              <a:rPr lang="en-US" smtClean="0"/>
              <a:t>- </a:t>
            </a:r>
            <a:r>
              <a:rPr lang="en-US" dirty="0"/>
              <a:t>co może prowadzić do nadmiernego konserwatyzmu terapeutycznego nawet gdy nowa metoda ma wyższą oczekiwaną skuteczność. Camerer i Weber (1992, Recent Developments in Modeling Preferences: Uncertainty and Ambiguity) systematyzują tę literaturę.</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Klasyczny eksperyment Tversky'ego i Kahnemana (1981, The Framing of Decisions and the Psychology of Choice, Science</a:t>
            </a:r>
            <a:r>
              <a:rPr lang="en-US"/>
              <a:t>) </a:t>
            </a:r>
            <a:r>
              <a:rPr lang="en-US" smtClean="0"/>
              <a:t>- </a:t>
            </a:r>
            <a:r>
              <a:rPr lang="en-US" dirty="0"/>
              <a:t>'Azjatycka choroba problem'. Obie wersje są matematycznie identyczne (200 uratowanych z 600 = 400 zmarłych z 600; te same wartości oczekiwane w obu programach), różni je wyłącznie framing: zyski (uratowani) versus straty (zmarli). W oryginalnym badaniu ok. 72% badanych w ramie zysku wybierało pewny Program X (awersja do ryzyka przy zyskach), podczas gdy ok. 78% w ramie straty wybierało ryzykowny Program Y (poszukiwanie ryzyka przy stratach</a:t>
            </a:r>
            <a:r>
              <a:rPr lang="en-US"/>
              <a:t>) </a:t>
            </a:r>
            <a:r>
              <a:rPr lang="en-US" smtClean="0"/>
              <a:t>- </a:t>
            </a:r>
            <a:r>
              <a:rPr lang="en-US" dirty="0"/>
              <a:t>dokładna replikacja tego wzorca zależy od próby i wymaga podania źródła przy cytowaniu liczb. W tej wersji dydaktycznej podział na grupę A i B odbywa się przez losowe przypisanie różnych wersji tekstu różnym połówkom sali (np. przez rozdanie dwóch wariantów slajdu lub kart</a:t>
            </a:r>
            <a:r>
              <a:rPr lang="en-US"/>
              <a:t>) </a:t>
            </a:r>
            <a:r>
              <a:rPr lang="en-US" smtClean="0"/>
              <a:t>- </a:t>
            </a:r>
            <a:r>
              <a:rPr lang="en-US" dirty="0"/>
              <a:t>jeśli Slido obsługuje segmentację odbiorców, można wysłać różne pytania do różnych podgrup; jeśli nie, alternatywnie pokazać wersję A połowie sali na jednym slajdzie, wersję B drugiej połowie na kolejnym, i porównać zagregowane wyniki obu grup.</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Hume (A Treatise of Human Nature, 1739; An Enquiry Concerning Human Understanding, 1748) postawił fundamentalne pytanie epistemologiczne: nigdy nie obserwujemy samej 'siły przyczynowej</a:t>
            </a:r>
            <a:r>
              <a:rPr lang="en-US"/>
              <a:t>' </a:t>
            </a:r>
            <a:r>
              <a:rPr lang="en-US" smtClean="0"/>
              <a:t>- </a:t>
            </a:r>
            <a:r>
              <a:rPr lang="en-US" dirty="0"/>
              <a:t>obserwujemy jedynie regularne następstwo (constant conjunction) zdarzeń w czasie i przestrzeni. Nasze przekonanie o przyczynowości jest, wg Hume'a, przyzwyczajeniem umysłu (custom), nie logiczną koniecznością wynikającą z obserwacji. Chmura słów posłuży jako zbiór surowego materiału do uporządkowania na pięć kategorii filozoficznych i statystycznych kryteriów przyczynowości, które pojawią się w literaturze: następstwo czasowe (przyczyna musi poprzedzać skutek), współwystępowanie (korelacja), mechanizm (możliwy do zidentyfikowania proces łączący przyczynę ze skutkiem), interwencja (manipulacja przyczyną zmienia </a:t>
            </a:r>
            <a:r>
              <a:rPr lang="en-US"/>
              <a:t>skutek </a:t>
            </a:r>
            <a:r>
              <a:rPr lang="en-US" smtClean="0"/>
              <a:t>- </a:t>
            </a:r>
            <a:r>
              <a:rPr lang="en-US" dirty="0"/>
              <a:t>fundament eksperymentu, Pearl 2009), kontrfaktyczność (gdyby przyczyna nie zaszła, skutek by nie zaszedł). To wprowadzenie filozoficzne przygotowuje grunt pod slajdy 37–38 dotyczące korelacji, predykcji i paradoksu Simpsona.</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Klasyczny, podręcznikowy przykład zmiennej zakłócającej (confounding variable</a:t>
            </a:r>
            <a:r>
              <a:rPr lang="en-US"/>
              <a:t>) </a:t>
            </a:r>
            <a:r>
              <a:rPr lang="en-US" smtClean="0"/>
              <a:t>- </a:t>
            </a:r>
            <a:r>
              <a:rPr lang="en-US" dirty="0"/>
              <a:t>temperatura wpływa niezależnie zarówno na sprzedaż lodów, jak i na liczbę osób kąpiących się (a więc pośrednio na ryzyko utonięć), tworząc silną korelację między sprzedażą lodów a utonięciami, mimo braku jakiegokolwiek bezpośredniego związku przyczynowego między nimi. To najprostsza ilustracja zasady 'korelacja nie implikuje przyczynowości' (correlation does not imply causation), lecz cel dydaktyczny wykracza poza samo hasło: chodzi o wykształcenie nawyku aktywnego poszukiwania możliwych zmiennych zakłócających przy każdej zaobserwowanej korelacji. Judea Pearl (2009, Causality: Models, Reasoning, and Inference) formalizuje to poprzez grafy przyczynowe (</a:t>
            </a:r>
            <a:r>
              <a:rPr lang="en-US"/>
              <a:t>DAG </a:t>
            </a:r>
            <a:r>
              <a:rPr lang="en-US" smtClean="0"/>
              <a:t>- </a:t>
            </a:r>
            <a:r>
              <a:rPr lang="en-US" dirty="0"/>
              <a:t>directed acyclic graphs) i operator do-calculus, pozwalający rozróżnić zwykłe warunkowanie P(Y|X) od przyczynowej interwencji P(Y|do(X</a:t>
            </a:r>
            <a:r>
              <a:rPr lang="en-US"/>
              <a:t>)) </a:t>
            </a:r>
            <a:r>
              <a:rPr lang="en-US" smtClean="0"/>
              <a:t>- </a:t>
            </a:r>
            <a:r>
              <a:rPr lang="en-US" dirty="0"/>
              <a:t>to zaawansowane narzędzie, warto tylko zasygnalizować jego istnienie studentom zainteresowanym metodologią.</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Paradoks Simpsona (Edward Simpson, 1951, oraz wcześniej Udny Yule) demonstruje, jak trend widoczny w danych zagregowanych może się odwrócić lub zniknąć po podziale na </a:t>
            </a:r>
            <a:r>
              <a:rPr lang="en-US"/>
              <a:t>podgrupy </a:t>
            </a:r>
            <a:r>
              <a:rPr lang="en-US" smtClean="0"/>
              <a:t>- </a:t>
            </a:r>
            <a:r>
              <a:rPr lang="en-US" dirty="0"/>
              <a:t>i odwrotnie. Liczby na slajdzie są ilustracyjnym, spreparowanym przykładem dydaktycznym typowym dla podręczników statystyki (klasyczny wzorzec: terapia A wygrywa w OBU podgrupach, ale terapia B wygrywa zagregowanie</a:t>
            </a:r>
            <a:r>
              <a:rPr lang="en-US"/>
              <a:t>) </a:t>
            </a:r>
            <a:r>
              <a:rPr lang="en-US" smtClean="0"/>
              <a:t>- </a:t>
            </a:r>
            <a:r>
              <a:rPr lang="en-US" dirty="0"/>
              <a:t>nie są to dane z konkretnego realnego badania i należy jasno to zaznaczyć studentom, oznaczając liczby jako przykład ilustracyjny, nie cytat z publikacji. Mechanizm: terapia A była częściej stosowana u pacjentów z cięższymi objawami (263 z 350, czyli 75% ciężkich przypadków), gdzie ogólny wskaźnik wyleczeń jest niższy niezależnie od </a:t>
            </a:r>
            <a:r>
              <a:rPr lang="en-US"/>
              <a:t>terapii </a:t>
            </a:r>
            <a:r>
              <a:rPr lang="en-US" smtClean="0"/>
              <a:t>- </a:t>
            </a:r>
            <a:r>
              <a:rPr lang="en-US" dirty="0"/>
              <a:t>to zaburza porównanie zagregowane. Klasyczny prawdziwy przykład z literatury: badanie UC Berkeley admission bias (Bickel, Hammel, O'Connell, 1975, Science) dotyczące pozornej dyskryminacji płciowej w przyjęciach na studia, która znikała po uwzględnieniu wydziału jako zmiennej ukrytej. Kluczowa lekcja metodologiczna: zawsze sprawdzać, czy zmienna grupująca (tu: nasilenie objawów) nie jest nierównomiernie rozłożona między porównywanymi warunkami.</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Trzy klasyczne modele teorii gier w jednym slajdzie, zgodnie z wymogiem </a:t>
            </a:r>
            <a:r>
              <a:rPr lang="en-US"/>
              <a:t>zwięzłości </a:t>
            </a:r>
            <a:r>
              <a:rPr lang="en-US" smtClean="0"/>
              <a:t>- </a:t>
            </a:r>
            <a:r>
              <a:rPr lang="en-US" dirty="0"/>
              <a:t>czas dydaktyczny skupić na grze ultimatum jako głównym głosowaniu, dylemat więźnia i aukcję o dolara omówić ustnie jako uzupełnienie. Model maksymalizacji wypłaty (rational self-interest) przewiduje, że gracz B powinien zaakceptować dowolną ofertę większą niż 0 zł (coś jest lepsze niż nic), a gracz A powinien zaoferować minimalną możliwą kwotę. W rzeczywistości badania eksperymentalne w ekonomii behawioralnej (przegląd: Camerer, 2003, Behavioral Game Theory: Experiments in Strategic Interaction) konsekwentnie pokazują, że oferty poniżej ok. 20–30% puli są odrzucane przez większość badanych mimo straty </a:t>
            </a:r>
            <a:r>
              <a:rPr lang="en-US"/>
              <a:t>netto </a:t>
            </a:r>
            <a:r>
              <a:rPr lang="en-US" smtClean="0"/>
              <a:t>- </a:t>
            </a:r>
            <a:r>
              <a:rPr lang="en-US" dirty="0"/>
              <a:t>motywowane poczuciem sprawiedliwości i niechęcią do bycia potraktowanym niesprawiedliwie (inequity aversion, Fehr i Schmidt, 1999). Histogram odpowiedzi studenckich zwykle pokazuje wyraźny próg akceptacji w okolicach 20–30 zł z 100 zł, a nie tuż powyżej 0 zł, co jest bezpośrednim potwierdzeniem odejścia od modelu czysto materialnej maksymalizacji wypłaty. Aukcja o dolara (Shubik, 1971) ilustruje eskalację zaangażowania (escalation of commitment</a:t>
            </a:r>
            <a:r>
              <a:rPr lang="en-US"/>
              <a:t>) </a:t>
            </a:r>
            <a:r>
              <a:rPr lang="en-US" smtClean="0"/>
              <a:t>- </a:t>
            </a:r>
            <a:r>
              <a:rPr lang="en-US" dirty="0"/>
              <a:t>zjawisko, w którym racjonalna z osobna decyzja kontynuowania licytacji w każdym kroku prowadzi do skumulowanej irracjonalności całej sekwencji decyzji, analogiczne do 'efektu utopionych kosztów' w projektach biznesowych i inwestycyjnych.</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Wartości na wykresie są w pełni </a:t>
            </a:r>
            <a:r>
              <a:rPr lang="en-US"/>
              <a:t>ILUSTRACYJNE </a:t>
            </a:r>
            <a:r>
              <a:rPr lang="en-US" smtClean="0"/>
              <a:t>- </a:t>
            </a:r>
            <a:r>
              <a:rPr lang="en-US" dirty="0"/>
              <a:t>służą wyłącznie jako szablon wizualny do wypełnienia rzeczywistymi wynikami z bieżącej grupy studentów po zamknięciu obu pomiarów (slajd 3 i powtórzenie tych samych pytań tutaj); przed użyciem na prawdziwych zajęciach należy podmienić dane na wygenerowane automatycznie przez Slido z rzeczywistego pomiaru. Struktura raportu końcowego generowanego przez Slido powinna obejmować: liczbę uczestników, frekwencję w każdym pytaniu, rozkład odpowiedzi, odsetek poprawnych odpowiedzi przed i po, zmianę wyniku grupy, pytania o najwyższym odsetku błędów oraz eksport anonimowych danych do CSV. Zamykamy wykład listą dwunastu procedur debiasingowych jako praktycznym zestawem narzędzi, które studenci mogą stosować samodzielnie w pracy naukowej i </a:t>
            </a:r>
            <a:r>
              <a:rPr lang="en-US"/>
              <a:t>klinicznej </a:t>
            </a:r>
            <a:r>
              <a:rPr lang="en-US" smtClean="0"/>
              <a:t>- </a:t>
            </a:r>
            <a:r>
              <a:rPr lang="en-US" dirty="0"/>
              <a:t>każda z nich odpowiada bezpośrednio jednemu z paradoksów omówionych w wykładzie (np. 'częstości naturalne' odsyła do slajdu 21, 'ryzyko vs niejednoznaczność' do slajdów 33–34, 'korelacja ≠ przyczynowość' do slajdów 37–38). Kończymy tezą: 'Intuicja nie jest przeciwieństwem racjonalności. Jest narzędziem zoptymalizowanym do innych warunków niż formalne zadania probabilistyczne.' Warto dać chwilę ciszy po tym zdaniu przed zamknięciem wykładu.</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16243F"/>
          </a:solidFill>
          <a:ln w="12700">
            <a:solidFill>
              <a:srgbClr val="16243F"/>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WYKŁAD · PSYCHOLOGIA DECYZJI</a:t>
            </a:r>
            <a:endParaRPr lang="en-US" sz="900" dirty="0"/>
          </a:p>
        </p:txBody>
      </p:sp>
      <p:sp>
        <p:nvSpPr>
          <p:cNvPr id="4" name="Text 2"/>
          <p:cNvSpPr/>
          <p:nvPr/>
        </p:nvSpPr>
        <p:spPr>
          <a:xfrm>
            <a:off x="457200" y="777240"/>
            <a:ext cx="8229600" cy="642608"/>
          </a:xfrm>
          <a:prstGeom prst="rect">
            <a:avLst/>
          </a:prstGeom>
          <a:noFill/>
          <a:ln/>
        </p:spPr>
        <p:txBody>
          <a:bodyPr wrap="square" lIns="0" tIns="0" rIns="0" bIns="0" rtlCol="0" anchor="ctr"/>
          <a:lstStyle/>
          <a:p>
            <a:pPr marL="0" indent="0">
              <a:buNone/>
            </a:pPr>
            <a:r>
              <a:rPr lang="en-US" sz="3200" b="1" dirty="0">
                <a:solidFill>
                  <a:srgbClr val="16243F"/>
                </a:solidFill>
                <a:latin typeface="Cambria" pitchFamily="34" charset="0"/>
                <a:ea typeface="Cambria" pitchFamily="34" charset="-122"/>
                <a:cs typeface="Cambria" pitchFamily="34" charset="-120"/>
              </a:rPr>
              <a:t>Intuicja przeciwko prawdopodobieństwu</a:t>
            </a:r>
            <a:endParaRPr lang="en-US" sz="3200" dirty="0"/>
          </a:p>
        </p:txBody>
      </p:sp>
      <p:sp>
        <p:nvSpPr>
          <p:cNvPr id="5" name="Text 3"/>
          <p:cNvSpPr/>
          <p:nvPr/>
        </p:nvSpPr>
        <p:spPr>
          <a:xfrm>
            <a:off x="457200" y="1444752"/>
            <a:ext cx="8229600" cy="384048"/>
          </a:xfrm>
          <a:prstGeom prst="rect">
            <a:avLst/>
          </a:prstGeom>
          <a:noFill/>
          <a:ln/>
        </p:spPr>
        <p:txBody>
          <a:bodyPr wrap="square" lIns="0" tIns="0" rIns="0" bIns="0" rtlCol="0" anchor="ctr"/>
          <a:lstStyle/>
          <a:p>
            <a:pPr marL="0" indent="0">
              <a:buNone/>
            </a:pPr>
            <a:r>
              <a:rPr lang="en-US" sz="1600" i="1" dirty="0">
                <a:solidFill>
                  <a:srgbClr val="5B6472"/>
                </a:solidFill>
                <a:latin typeface="+mj-lt"/>
                <a:ea typeface="Calibri" pitchFamily="34" charset="-122"/>
                <a:cs typeface="Calibri" pitchFamily="34" charset="-120"/>
              </a:rPr>
              <a:t>Złudzenia poznawcze w statystyce, predykcji i teorii gier</a:t>
            </a:r>
            <a:endParaRPr lang="en-US" sz="1600" dirty="0">
              <a:latin typeface="+mj-lt"/>
            </a:endParaRPr>
          </a:p>
        </p:txBody>
      </p:sp>
      <p:sp>
        <p:nvSpPr>
          <p:cNvPr id="6" name="Shape 4"/>
          <p:cNvSpPr/>
          <p:nvPr/>
        </p:nvSpPr>
        <p:spPr>
          <a:xfrm>
            <a:off x="457200" y="2286000"/>
            <a:ext cx="8229600" cy="2148840"/>
          </a:xfrm>
          <a:prstGeom prst="roundRect">
            <a:avLst>
              <a:gd name="adj" fmla="val 2553"/>
            </a:avLst>
          </a:prstGeom>
          <a:solidFill>
            <a:srgbClr val="EDF1F7"/>
          </a:solidFill>
          <a:ln w="12700">
            <a:solidFill>
              <a:srgbClr val="E1E4EA"/>
            </a:solidFill>
            <a:prstDash val="solid"/>
          </a:ln>
        </p:spPr>
      </p:sp>
      <p:grpSp>
        <p:nvGrpSpPr>
          <p:cNvPr id="17" name="Grupa 16"/>
          <p:cNvGrpSpPr/>
          <p:nvPr/>
        </p:nvGrpSpPr>
        <p:grpSpPr>
          <a:xfrm>
            <a:off x="685800" y="2468880"/>
            <a:ext cx="7818120" cy="386576"/>
            <a:chOff x="685800" y="2468880"/>
            <a:chExt cx="7818120" cy="386576"/>
          </a:xfrm>
        </p:grpSpPr>
        <p:sp>
          <p:nvSpPr>
            <p:cNvPr id="7" name="Shape 5"/>
            <p:cNvSpPr/>
            <p:nvPr/>
          </p:nvSpPr>
          <p:spPr>
            <a:xfrm>
              <a:off x="685800" y="2514600"/>
              <a:ext cx="274320" cy="274320"/>
            </a:xfrm>
            <a:prstGeom prst="ellipse">
              <a:avLst/>
            </a:prstGeom>
            <a:solidFill>
              <a:srgbClr val="0F6E6E"/>
            </a:solidFill>
            <a:ln w="12700">
              <a:solidFill>
                <a:srgbClr val="0F6E6E"/>
              </a:solidFill>
              <a:prstDash val="solid"/>
            </a:ln>
          </p:spPr>
        </p:sp>
        <p:sp>
          <p:nvSpPr>
            <p:cNvPr id="8" name="Text 6"/>
            <p:cNvSpPr/>
            <p:nvPr/>
          </p:nvSpPr>
          <p:spPr>
            <a:xfrm>
              <a:off x="685800" y="251460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9" name="Text 7"/>
            <p:cNvSpPr/>
            <p:nvPr/>
          </p:nvSpPr>
          <p:spPr>
            <a:xfrm>
              <a:off x="1097280" y="2468880"/>
              <a:ext cx="7406640" cy="386576"/>
            </a:xfrm>
            <a:prstGeom prst="rect">
              <a:avLst/>
            </a:prstGeom>
            <a:noFill/>
            <a:ln/>
          </p:spPr>
          <p:txBody>
            <a:bodyPr wrap="square" lIns="0" tIns="0" rIns="0" bIns="0" rtlCol="0" anchor="ctr"/>
            <a:lstStyle/>
            <a:p>
              <a:pPr marL="0" indent="0">
                <a:buNone/>
              </a:pPr>
              <a:r>
                <a:rPr lang="en-US" sz="1600" dirty="0">
                  <a:solidFill>
                    <a:srgbClr val="16243F"/>
                  </a:solidFill>
                  <a:latin typeface="Calibri" pitchFamily="34" charset="0"/>
                  <a:ea typeface="Calibri" pitchFamily="34" charset="-122"/>
                  <a:cs typeface="Calibri" pitchFamily="34" charset="-120"/>
                </a:rPr>
                <a:t>Czy wynik dodatni testu oznacza wysokie prawdopodobieństwo choroby?</a:t>
              </a:r>
              <a:endParaRPr lang="en-US" sz="1600" dirty="0"/>
            </a:p>
          </p:txBody>
        </p:sp>
      </p:grpSp>
      <p:grpSp>
        <p:nvGrpSpPr>
          <p:cNvPr id="18" name="Grupa 17"/>
          <p:cNvGrpSpPr/>
          <p:nvPr/>
        </p:nvGrpSpPr>
        <p:grpSpPr>
          <a:xfrm>
            <a:off x="685800" y="3063240"/>
            <a:ext cx="7818120" cy="386576"/>
            <a:chOff x="685800" y="3063240"/>
            <a:chExt cx="7818120" cy="386576"/>
          </a:xfrm>
        </p:grpSpPr>
        <p:sp>
          <p:nvSpPr>
            <p:cNvPr id="10" name="Shape 8"/>
            <p:cNvSpPr/>
            <p:nvPr/>
          </p:nvSpPr>
          <p:spPr>
            <a:xfrm>
              <a:off x="685800" y="3108960"/>
              <a:ext cx="274320" cy="274320"/>
            </a:xfrm>
            <a:prstGeom prst="ellipse">
              <a:avLst/>
            </a:prstGeom>
            <a:solidFill>
              <a:srgbClr val="0F6E6E"/>
            </a:solidFill>
            <a:ln w="12700">
              <a:solidFill>
                <a:srgbClr val="0F6E6E"/>
              </a:solidFill>
              <a:prstDash val="solid"/>
            </a:ln>
          </p:spPr>
        </p:sp>
        <p:sp>
          <p:nvSpPr>
            <p:cNvPr id="11" name="Text 9"/>
            <p:cNvSpPr/>
            <p:nvPr/>
          </p:nvSpPr>
          <p:spPr>
            <a:xfrm>
              <a:off x="685800" y="310896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2" name="Text 10"/>
            <p:cNvSpPr/>
            <p:nvPr/>
          </p:nvSpPr>
          <p:spPr>
            <a:xfrm>
              <a:off x="1097280" y="3063240"/>
              <a:ext cx="7406640" cy="386576"/>
            </a:xfrm>
            <a:prstGeom prst="rect">
              <a:avLst/>
            </a:prstGeom>
            <a:noFill/>
            <a:ln/>
          </p:spPr>
          <p:txBody>
            <a:bodyPr wrap="square" lIns="0" tIns="0" rIns="0" bIns="0" rtlCol="0" anchor="ctr"/>
            <a:lstStyle/>
            <a:p>
              <a:pPr marL="0" indent="0">
                <a:buNone/>
              </a:pPr>
              <a:r>
                <a:rPr lang="en-US" sz="1600" dirty="0">
                  <a:solidFill>
                    <a:srgbClr val="16243F"/>
                  </a:solidFill>
                  <a:latin typeface="Calibri" pitchFamily="34" charset="0"/>
                  <a:ea typeface="Calibri" pitchFamily="34" charset="-122"/>
                  <a:cs typeface="Calibri" pitchFamily="34" charset="-120"/>
                </a:rPr>
                <a:t>Czy po pięciu orłach bardziej prawdopodobna jest reszka?</a:t>
              </a:r>
              <a:endParaRPr lang="en-US" sz="1600" dirty="0"/>
            </a:p>
          </p:txBody>
        </p:sp>
      </p:grpSp>
      <p:grpSp>
        <p:nvGrpSpPr>
          <p:cNvPr id="19" name="Grupa 18"/>
          <p:cNvGrpSpPr/>
          <p:nvPr/>
        </p:nvGrpSpPr>
        <p:grpSpPr>
          <a:xfrm>
            <a:off x="685800" y="3657600"/>
            <a:ext cx="7818120" cy="386576"/>
            <a:chOff x="685800" y="3657600"/>
            <a:chExt cx="7818120" cy="386576"/>
          </a:xfrm>
        </p:grpSpPr>
        <p:sp>
          <p:nvSpPr>
            <p:cNvPr id="13" name="Shape 11"/>
            <p:cNvSpPr/>
            <p:nvPr/>
          </p:nvSpPr>
          <p:spPr>
            <a:xfrm>
              <a:off x="685800" y="3703320"/>
              <a:ext cx="274320" cy="274320"/>
            </a:xfrm>
            <a:prstGeom prst="ellipse">
              <a:avLst/>
            </a:prstGeom>
            <a:solidFill>
              <a:srgbClr val="0F6E6E"/>
            </a:solidFill>
            <a:ln w="12700">
              <a:solidFill>
                <a:srgbClr val="0F6E6E"/>
              </a:solidFill>
              <a:prstDash val="solid"/>
            </a:ln>
          </p:spPr>
        </p:sp>
        <p:sp>
          <p:nvSpPr>
            <p:cNvPr id="14" name="Text 12"/>
            <p:cNvSpPr/>
            <p:nvPr/>
          </p:nvSpPr>
          <p:spPr>
            <a:xfrm>
              <a:off x="685800" y="37033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097280" y="3657600"/>
              <a:ext cx="7406640" cy="386576"/>
            </a:xfrm>
            <a:prstGeom prst="rect">
              <a:avLst/>
            </a:prstGeom>
            <a:noFill/>
            <a:ln/>
          </p:spPr>
          <p:txBody>
            <a:bodyPr wrap="square" lIns="0" tIns="0" rIns="0" bIns="0" rtlCol="0" anchor="ctr"/>
            <a:lstStyle/>
            <a:p>
              <a:pPr marL="0" indent="0">
                <a:buNone/>
              </a:pPr>
              <a:r>
                <a:rPr lang="en-US" sz="1600" dirty="0">
                  <a:solidFill>
                    <a:srgbClr val="16243F"/>
                  </a:solidFill>
                  <a:latin typeface="Calibri" pitchFamily="34" charset="0"/>
                  <a:ea typeface="Calibri" pitchFamily="34" charset="-122"/>
                  <a:cs typeface="Calibri" pitchFamily="34" charset="-120"/>
                </a:rPr>
                <a:t>Czy racjonalny człowiek powinien przyjąć każdą dodatnią ofertę pieniężną?</a:t>
              </a:r>
              <a:endParaRPr lang="en-US" sz="1600" dirty="0"/>
            </a:p>
          </p:txBody>
        </p:sp>
      </p:grpSp>
      <p:sp>
        <p:nvSpPr>
          <p:cNvPr id="16" name="Text 14"/>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1/40   ·   Wprowadzenie</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1000"/>
                                        <p:tgtEl>
                                          <p:spTgt spid="18"/>
                                        </p:tgtEl>
                                      </p:cBhvr>
                                    </p:animEffect>
                                    <p:anim calcmode="lin" valueType="num">
                                      <p:cBhvr>
                                        <p:cTn id="14" dur="1000" fill="hold"/>
                                        <p:tgtEl>
                                          <p:spTgt spid="18"/>
                                        </p:tgtEl>
                                        <p:attrNameLst>
                                          <p:attrName>ppt_x</p:attrName>
                                        </p:attrNameLst>
                                      </p:cBhvr>
                                      <p:tavLst>
                                        <p:tav tm="0">
                                          <p:val>
                                            <p:strVal val="#ppt_x"/>
                                          </p:val>
                                        </p:tav>
                                        <p:tav tm="100000">
                                          <p:val>
                                            <p:strVal val="#ppt_x"/>
                                          </p:val>
                                        </p:tav>
                                      </p:tavLst>
                                    </p:anim>
                                    <p:anim calcmode="lin" valueType="num">
                                      <p:cBhvr>
                                        <p:cTn id="15" dur="1000" fill="hold"/>
                                        <p:tgtEl>
                                          <p:spTgt spid="18"/>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1000"/>
                                        <p:tgtEl>
                                          <p:spTgt spid="19"/>
                                        </p:tgtEl>
                                      </p:cBhvr>
                                    </p:animEffect>
                                    <p:anim calcmode="lin" valueType="num">
                                      <p:cBhvr>
                                        <p:cTn id="20" dur="1000" fill="hold"/>
                                        <p:tgtEl>
                                          <p:spTgt spid="19"/>
                                        </p:tgtEl>
                                        <p:attrNameLst>
                                          <p:attrName>ppt_x</p:attrName>
                                        </p:attrNameLst>
                                      </p:cBhvr>
                                      <p:tavLst>
                                        <p:tav tm="0">
                                          <p:val>
                                            <p:strVal val="#ppt_x"/>
                                          </p:val>
                                        </p:tav>
                                        <p:tav tm="100000">
                                          <p:val>
                                            <p:strVal val="#ppt_x"/>
                                          </p:val>
                                        </p:tav>
                                      </p:tavLst>
                                    </p:anim>
                                    <p:anim calcmode="lin" valueType="num">
                                      <p:cBhvr>
                                        <p:cTn id="2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16243F"/>
          </a:solidFill>
          <a:ln w="12700">
            <a:solidFill>
              <a:srgbClr val="16243F"/>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SLAJD TECHNICZNY</a:t>
            </a:r>
            <a:endParaRPr lang="en-US" sz="900" dirty="0"/>
          </a:p>
        </p:txBody>
      </p:sp>
      <p:sp>
        <p:nvSpPr>
          <p:cNvPr id="4" name="Text 2"/>
          <p:cNvSpPr/>
          <p:nvPr/>
        </p:nvSpPr>
        <p:spPr>
          <a:xfrm>
            <a:off x="457200" y="676656"/>
            <a:ext cx="8229600" cy="557784"/>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Jak dołączyć do głosowania?</a:t>
            </a:r>
            <a:endParaRPr lang="en-US" sz="2400" dirty="0"/>
          </a:p>
        </p:txBody>
      </p:sp>
      <p:sp>
        <p:nvSpPr>
          <p:cNvPr id="5" name="Shape 3"/>
          <p:cNvSpPr/>
          <p:nvPr/>
        </p:nvSpPr>
        <p:spPr>
          <a:xfrm>
            <a:off x="457200" y="1554480"/>
            <a:ext cx="2743200" cy="2834640"/>
          </a:xfrm>
          <a:prstGeom prst="roundRect">
            <a:avLst>
              <a:gd name="adj" fmla="val 2000"/>
            </a:avLst>
          </a:prstGeom>
          <a:solidFill>
            <a:srgbClr val="EDF1F7"/>
          </a:solidFill>
          <a:ln w="12700">
            <a:solidFill>
              <a:srgbClr val="E1E4EA"/>
            </a:solidFill>
            <a:prstDash val="solid"/>
          </a:ln>
        </p:spPr>
      </p:sp>
      <p:sp>
        <p:nvSpPr>
          <p:cNvPr id="6" name="Shape 4"/>
          <p:cNvSpPr/>
          <p:nvPr/>
        </p:nvSpPr>
        <p:spPr>
          <a:xfrm>
            <a:off x="868680" y="1783080"/>
            <a:ext cx="1920240" cy="1920240"/>
          </a:xfrm>
          <a:prstGeom prst="rect">
            <a:avLst/>
          </a:prstGeom>
          <a:solidFill>
            <a:srgbClr val="FFFFFF"/>
          </a:solidFill>
          <a:ln w="19050">
            <a:solidFill>
              <a:srgbClr val="16243F"/>
            </a:solidFill>
            <a:prstDash val="solid"/>
          </a:ln>
        </p:spPr>
      </p:sp>
      <p:sp>
        <p:nvSpPr>
          <p:cNvPr id="7" name="Shape 5"/>
          <p:cNvSpPr/>
          <p:nvPr/>
        </p:nvSpPr>
        <p:spPr>
          <a:xfrm>
            <a:off x="914400" y="1828800"/>
            <a:ext cx="256032" cy="256032"/>
          </a:xfrm>
          <a:prstGeom prst="rect">
            <a:avLst/>
          </a:prstGeom>
          <a:solidFill>
            <a:srgbClr val="16243F"/>
          </a:solidFill>
          <a:ln w="12700">
            <a:solidFill>
              <a:srgbClr val="16243F"/>
            </a:solidFill>
            <a:prstDash val="solid"/>
          </a:ln>
        </p:spPr>
      </p:sp>
      <p:sp>
        <p:nvSpPr>
          <p:cNvPr id="8" name="Shape 6"/>
          <p:cNvSpPr/>
          <p:nvPr/>
        </p:nvSpPr>
        <p:spPr>
          <a:xfrm>
            <a:off x="914400" y="2130552"/>
            <a:ext cx="256032" cy="256032"/>
          </a:xfrm>
          <a:prstGeom prst="rect">
            <a:avLst/>
          </a:prstGeom>
          <a:solidFill>
            <a:srgbClr val="16243F"/>
          </a:solidFill>
          <a:ln w="12700">
            <a:solidFill>
              <a:srgbClr val="16243F"/>
            </a:solidFill>
            <a:prstDash val="solid"/>
          </a:ln>
        </p:spPr>
      </p:sp>
      <p:sp>
        <p:nvSpPr>
          <p:cNvPr id="9" name="Shape 7"/>
          <p:cNvSpPr/>
          <p:nvPr/>
        </p:nvSpPr>
        <p:spPr>
          <a:xfrm>
            <a:off x="914400" y="3035808"/>
            <a:ext cx="256032" cy="256032"/>
          </a:xfrm>
          <a:prstGeom prst="rect">
            <a:avLst/>
          </a:prstGeom>
          <a:solidFill>
            <a:srgbClr val="16243F"/>
          </a:solidFill>
          <a:ln w="12700">
            <a:solidFill>
              <a:srgbClr val="16243F"/>
            </a:solidFill>
            <a:prstDash val="solid"/>
          </a:ln>
        </p:spPr>
      </p:sp>
      <p:sp>
        <p:nvSpPr>
          <p:cNvPr id="10" name="Shape 8"/>
          <p:cNvSpPr/>
          <p:nvPr/>
        </p:nvSpPr>
        <p:spPr>
          <a:xfrm>
            <a:off x="914400" y="3337560"/>
            <a:ext cx="256032" cy="256032"/>
          </a:xfrm>
          <a:prstGeom prst="rect">
            <a:avLst/>
          </a:prstGeom>
          <a:solidFill>
            <a:srgbClr val="16243F"/>
          </a:solidFill>
          <a:ln w="12700">
            <a:solidFill>
              <a:srgbClr val="16243F"/>
            </a:solidFill>
            <a:prstDash val="solid"/>
          </a:ln>
        </p:spPr>
      </p:sp>
      <p:sp>
        <p:nvSpPr>
          <p:cNvPr id="11" name="Shape 9"/>
          <p:cNvSpPr/>
          <p:nvPr/>
        </p:nvSpPr>
        <p:spPr>
          <a:xfrm>
            <a:off x="1216152" y="2130552"/>
            <a:ext cx="256032" cy="256032"/>
          </a:xfrm>
          <a:prstGeom prst="rect">
            <a:avLst/>
          </a:prstGeom>
          <a:solidFill>
            <a:srgbClr val="16243F"/>
          </a:solidFill>
          <a:ln w="12700">
            <a:solidFill>
              <a:srgbClr val="16243F"/>
            </a:solidFill>
            <a:prstDash val="solid"/>
          </a:ln>
        </p:spPr>
      </p:sp>
      <p:sp>
        <p:nvSpPr>
          <p:cNvPr id="12" name="Shape 10"/>
          <p:cNvSpPr/>
          <p:nvPr/>
        </p:nvSpPr>
        <p:spPr>
          <a:xfrm>
            <a:off x="1216152" y="2432304"/>
            <a:ext cx="256032" cy="256032"/>
          </a:xfrm>
          <a:prstGeom prst="rect">
            <a:avLst/>
          </a:prstGeom>
          <a:solidFill>
            <a:srgbClr val="16243F"/>
          </a:solidFill>
          <a:ln w="12700">
            <a:solidFill>
              <a:srgbClr val="16243F"/>
            </a:solidFill>
            <a:prstDash val="solid"/>
          </a:ln>
        </p:spPr>
      </p:sp>
      <p:sp>
        <p:nvSpPr>
          <p:cNvPr id="13" name="Shape 11"/>
          <p:cNvSpPr/>
          <p:nvPr/>
        </p:nvSpPr>
        <p:spPr>
          <a:xfrm>
            <a:off x="1216152" y="3337560"/>
            <a:ext cx="256032" cy="256032"/>
          </a:xfrm>
          <a:prstGeom prst="rect">
            <a:avLst/>
          </a:prstGeom>
          <a:solidFill>
            <a:srgbClr val="16243F"/>
          </a:solidFill>
          <a:ln w="12700">
            <a:solidFill>
              <a:srgbClr val="16243F"/>
            </a:solidFill>
            <a:prstDash val="solid"/>
          </a:ln>
        </p:spPr>
      </p:sp>
      <p:sp>
        <p:nvSpPr>
          <p:cNvPr id="14" name="Shape 12"/>
          <p:cNvSpPr/>
          <p:nvPr/>
        </p:nvSpPr>
        <p:spPr>
          <a:xfrm>
            <a:off x="1517904" y="2432304"/>
            <a:ext cx="256032" cy="256032"/>
          </a:xfrm>
          <a:prstGeom prst="rect">
            <a:avLst/>
          </a:prstGeom>
          <a:solidFill>
            <a:srgbClr val="16243F"/>
          </a:solidFill>
          <a:ln w="12700">
            <a:solidFill>
              <a:srgbClr val="16243F"/>
            </a:solidFill>
            <a:prstDash val="solid"/>
          </a:ln>
        </p:spPr>
      </p:sp>
      <p:sp>
        <p:nvSpPr>
          <p:cNvPr id="15" name="Shape 13"/>
          <p:cNvSpPr/>
          <p:nvPr/>
        </p:nvSpPr>
        <p:spPr>
          <a:xfrm>
            <a:off x="1517904" y="2734056"/>
            <a:ext cx="256032" cy="256032"/>
          </a:xfrm>
          <a:prstGeom prst="rect">
            <a:avLst/>
          </a:prstGeom>
          <a:solidFill>
            <a:srgbClr val="16243F"/>
          </a:solidFill>
          <a:ln w="12700">
            <a:solidFill>
              <a:srgbClr val="16243F"/>
            </a:solidFill>
            <a:prstDash val="solid"/>
          </a:ln>
        </p:spPr>
      </p:sp>
      <p:sp>
        <p:nvSpPr>
          <p:cNvPr id="16" name="Shape 14"/>
          <p:cNvSpPr/>
          <p:nvPr/>
        </p:nvSpPr>
        <p:spPr>
          <a:xfrm>
            <a:off x="1819656" y="1828800"/>
            <a:ext cx="256032" cy="256032"/>
          </a:xfrm>
          <a:prstGeom prst="rect">
            <a:avLst/>
          </a:prstGeom>
          <a:solidFill>
            <a:srgbClr val="16243F"/>
          </a:solidFill>
          <a:ln w="12700">
            <a:solidFill>
              <a:srgbClr val="16243F"/>
            </a:solidFill>
            <a:prstDash val="solid"/>
          </a:ln>
        </p:spPr>
      </p:sp>
      <p:sp>
        <p:nvSpPr>
          <p:cNvPr id="17" name="Shape 15"/>
          <p:cNvSpPr/>
          <p:nvPr/>
        </p:nvSpPr>
        <p:spPr>
          <a:xfrm>
            <a:off x="1819656" y="2734056"/>
            <a:ext cx="256032" cy="256032"/>
          </a:xfrm>
          <a:prstGeom prst="rect">
            <a:avLst/>
          </a:prstGeom>
          <a:solidFill>
            <a:srgbClr val="16243F"/>
          </a:solidFill>
          <a:ln w="12700">
            <a:solidFill>
              <a:srgbClr val="16243F"/>
            </a:solidFill>
            <a:prstDash val="solid"/>
          </a:ln>
        </p:spPr>
      </p:sp>
      <p:sp>
        <p:nvSpPr>
          <p:cNvPr id="18" name="Shape 16"/>
          <p:cNvSpPr/>
          <p:nvPr/>
        </p:nvSpPr>
        <p:spPr>
          <a:xfrm>
            <a:off x="1819656" y="3035808"/>
            <a:ext cx="256032" cy="256032"/>
          </a:xfrm>
          <a:prstGeom prst="rect">
            <a:avLst/>
          </a:prstGeom>
          <a:solidFill>
            <a:srgbClr val="16243F"/>
          </a:solidFill>
          <a:ln w="12700">
            <a:solidFill>
              <a:srgbClr val="16243F"/>
            </a:solidFill>
            <a:prstDash val="solid"/>
          </a:ln>
        </p:spPr>
      </p:sp>
      <p:sp>
        <p:nvSpPr>
          <p:cNvPr id="19" name="Shape 17"/>
          <p:cNvSpPr/>
          <p:nvPr/>
        </p:nvSpPr>
        <p:spPr>
          <a:xfrm>
            <a:off x="2121408" y="1828800"/>
            <a:ext cx="256032" cy="256032"/>
          </a:xfrm>
          <a:prstGeom prst="rect">
            <a:avLst/>
          </a:prstGeom>
          <a:solidFill>
            <a:srgbClr val="16243F"/>
          </a:solidFill>
          <a:ln w="12700">
            <a:solidFill>
              <a:srgbClr val="16243F"/>
            </a:solidFill>
            <a:prstDash val="solid"/>
          </a:ln>
        </p:spPr>
      </p:sp>
      <p:sp>
        <p:nvSpPr>
          <p:cNvPr id="20" name="Shape 18"/>
          <p:cNvSpPr/>
          <p:nvPr/>
        </p:nvSpPr>
        <p:spPr>
          <a:xfrm>
            <a:off x="2121408" y="2130552"/>
            <a:ext cx="256032" cy="256032"/>
          </a:xfrm>
          <a:prstGeom prst="rect">
            <a:avLst/>
          </a:prstGeom>
          <a:solidFill>
            <a:srgbClr val="16243F"/>
          </a:solidFill>
          <a:ln w="12700">
            <a:solidFill>
              <a:srgbClr val="16243F"/>
            </a:solidFill>
            <a:prstDash val="solid"/>
          </a:ln>
        </p:spPr>
      </p:sp>
      <p:sp>
        <p:nvSpPr>
          <p:cNvPr id="21" name="Shape 19"/>
          <p:cNvSpPr/>
          <p:nvPr/>
        </p:nvSpPr>
        <p:spPr>
          <a:xfrm>
            <a:off x="2121408" y="3035808"/>
            <a:ext cx="256032" cy="256032"/>
          </a:xfrm>
          <a:prstGeom prst="rect">
            <a:avLst/>
          </a:prstGeom>
          <a:solidFill>
            <a:srgbClr val="16243F"/>
          </a:solidFill>
          <a:ln w="12700">
            <a:solidFill>
              <a:srgbClr val="16243F"/>
            </a:solidFill>
            <a:prstDash val="solid"/>
          </a:ln>
        </p:spPr>
      </p:sp>
      <p:sp>
        <p:nvSpPr>
          <p:cNvPr id="22" name="Shape 20"/>
          <p:cNvSpPr/>
          <p:nvPr/>
        </p:nvSpPr>
        <p:spPr>
          <a:xfrm>
            <a:off x="2121408" y="3337560"/>
            <a:ext cx="256032" cy="256032"/>
          </a:xfrm>
          <a:prstGeom prst="rect">
            <a:avLst/>
          </a:prstGeom>
          <a:solidFill>
            <a:srgbClr val="16243F"/>
          </a:solidFill>
          <a:ln w="12700">
            <a:solidFill>
              <a:srgbClr val="16243F"/>
            </a:solidFill>
            <a:prstDash val="solid"/>
          </a:ln>
        </p:spPr>
      </p:sp>
      <p:sp>
        <p:nvSpPr>
          <p:cNvPr id="23" name="Shape 21"/>
          <p:cNvSpPr/>
          <p:nvPr/>
        </p:nvSpPr>
        <p:spPr>
          <a:xfrm>
            <a:off x="2423160" y="2130552"/>
            <a:ext cx="256032" cy="256032"/>
          </a:xfrm>
          <a:prstGeom prst="rect">
            <a:avLst/>
          </a:prstGeom>
          <a:solidFill>
            <a:srgbClr val="16243F"/>
          </a:solidFill>
          <a:ln w="12700">
            <a:solidFill>
              <a:srgbClr val="16243F"/>
            </a:solidFill>
            <a:prstDash val="solid"/>
          </a:ln>
        </p:spPr>
      </p:sp>
      <p:sp>
        <p:nvSpPr>
          <p:cNvPr id="24" name="Shape 22"/>
          <p:cNvSpPr/>
          <p:nvPr/>
        </p:nvSpPr>
        <p:spPr>
          <a:xfrm>
            <a:off x="2423160" y="2432304"/>
            <a:ext cx="256032" cy="256032"/>
          </a:xfrm>
          <a:prstGeom prst="rect">
            <a:avLst/>
          </a:prstGeom>
          <a:solidFill>
            <a:srgbClr val="16243F"/>
          </a:solidFill>
          <a:ln w="12700">
            <a:solidFill>
              <a:srgbClr val="16243F"/>
            </a:solidFill>
            <a:prstDash val="solid"/>
          </a:ln>
        </p:spPr>
      </p:sp>
      <p:sp>
        <p:nvSpPr>
          <p:cNvPr id="25" name="Shape 23"/>
          <p:cNvSpPr/>
          <p:nvPr/>
        </p:nvSpPr>
        <p:spPr>
          <a:xfrm>
            <a:off x="2423160" y="3337560"/>
            <a:ext cx="256032" cy="256032"/>
          </a:xfrm>
          <a:prstGeom prst="rect">
            <a:avLst/>
          </a:prstGeom>
          <a:solidFill>
            <a:srgbClr val="16243F"/>
          </a:solidFill>
          <a:ln w="12700">
            <a:solidFill>
              <a:srgbClr val="16243F"/>
            </a:solidFill>
            <a:prstDash val="solid"/>
          </a:ln>
        </p:spPr>
      </p:sp>
      <p:sp>
        <p:nvSpPr>
          <p:cNvPr id="26" name="Text 24"/>
          <p:cNvSpPr/>
          <p:nvPr/>
        </p:nvSpPr>
        <p:spPr>
          <a:xfrm>
            <a:off x="548640" y="3794760"/>
            <a:ext cx="2560320" cy="502920"/>
          </a:xfrm>
          <a:prstGeom prst="rect">
            <a:avLst/>
          </a:prstGeom>
          <a:noFill/>
          <a:ln/>
        </p:spPr>
        <p:txBody>
          <a:bodyPr wrap="square" lIns="0" tIns="0" rIns="0" bIns="0"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Kod QR → aktywna sesja Slido</a:t>
            </a:r>
            <a:endParaRPr lang="en-US" sz="1100" dirty="0"/>
          </a:p>
        </p:txBody>
      </p:sp>
      <p:sp>
        <p:nvSpPr>
          <p:cNvPr id="27" name="Shape 25"/>
          <p:cNvSpPr/>
          <p:nvPr/>
        </p:nvSpPr>
        <p:spPr>
          <a:xfrm>
            <a:off x="3429000" y="1554480"/>
            <a:ext cx="5257800" cy="493776"/>
          </a:xfrm>
          <a:prstGeom prst="roundRect">
            <a:avLst>
              <a:gd name="adj" fmla="val 11111"/>
            </a:avLst>
          </a:prstGeom>
          <a:solidFill>
            <a:srgbClr val="FFFFFF"/>
          </a:solidFill>
          <a:ln w="12700">
            <a:solidFill>
              <a:srgbClr val="E1E4EA"/>
            </a:solidFill>
            <a:prstDash val="solid"/>
          </a:ln>
        </p:spPr>
      </p:sp>
      <p:sp>
        <p:nvSpPr>
          <p:cNvPr id="28" name="Text 26"/>
          <p:cNvSpPr/>
          <p:nvPr/>
        </p:nvSpPr>
        <p:spPr>
          <a:xfrm>
            <a:off x="3566160" y="1554480"/>
            <a:ext cx="1737360" cy="493776"/>
          </a:xfrm>
          <a:prstGeom prst="rect">
            <a:avLst/>
          </a:prstGeom>
          <a:noFill/>
          <a:ln/>
        </p:spPr>
        <p:txBody>
          <a:bodyPr wrap="square" lIns="0" tIns="0" rIns="0" bIns="0" rtlCol="0" anchor="ctr"/>
          <a:lstStyle/>
          <a:p>
            <a:pPr marL="0" indent="0">
              <a:buNone/>
            </a:pPr>
            <a:r>
              <a:rPr lang="en-US" sz="1050" b="1" dirty="0">
                <a:solidFill>
                  <a:srgbClr val="16243F"/>
                </a:solidFill>
                <a:latin typeface="Calibri" pitchFamily="34" charset="0"/>
                <a:ea typeface="Calibri" pitchFamily="34" charset="-122"/>
                <a:cs typeface="Calibri" pitchFamily="34" charset="-120"/>
              </a:rPr>
              <a:t>Adres internetowy:</a:t>
            </a:r>
            <a:endParaRPr lang="en-US" sz="1050" dirty="0"/>
          </a:p>
        </p:txBody>
      </p:sp>
      <p:sp>
        <p:nvSpPr>
          <p:cNvPr id="29" name="Text 27"/>
          <p:cNvSpPr/>
          <p:nvPr/>
        </p:nvSpPr>
        <p:spPr>
          <a:xfrm>
            <a:off x="5349240" y="1554480"/>
            <a:ext cx="3200400" cy="493776"/>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www.slido.com</a:t>
            </a:r>
            <a:endParaRPr lang="en-US" sz="1000" dirty="0"/>
          </a:p>
        </p:txBody>
      </p:sp>
      <p:sp>
        <p:nvSpPr>
          <p:cNvPr id="30" name="Shape 28"/>
          <p:cNvSpPr/>
          <p:nvPr/>
        </p:nvSpPr>
        <p:spPr>
          <a:xfrm>
            <a:off x="3429000" y="2121408"/>
            <a:ext cx="5257800" cy="493776"/>
          </a:xfrm>
          <a:prstGeom prst="roundRect">
            <a:avLst>
              <a:gd name="adj" fmla="val 11111"/>
            </a:avLst>
          </a:prstGeom>
          <a:solidFill>
            <a:srgbClr val="FFFFFF"/>
          </a:solidFill>
          <a:ln w="12700">
            <a:solidFill>
              <a:srgbClr val="E1E4EA"/>
            </a:solidFill>
            <a:prstDash val="solid"/>
          </a:ln>
        </p:spPr>
      </p:sp>
      <p:sp>
        <p:nvSpPr>
          <p:cNvPr id="31" name="Text 29"/>
          <p:cNvSpPr/>
          <p:nvPr/>
        </p:nvSpPr>
        <p:spPr>
          <a:xfrm>
            <a:off x="3566160" y="2121408"/>
            <a:ext cx="1737360" cy="493776"/>
          </a:xfrm>
          <a:prstGeom prst="rect">
            <a:avLst/>
          </a:prstGeom>
          <a:noFill/>
          <a:ln/>
        </p:spPr>
        <p:txBody>
          <a:bodyPr wrap="square" lIns="0" tIns="0" rIns="0" bIns="0" rtlCol="0" anchor="ctr"/>
          <a:lstStyle/>
          <a:p>
            <a:pPr marL="0" indent="0">
              <a:buNone/>
            </a:pPr>
            <a:r>
              <a:rPr lang="en-US" sz="1050" b="1" dirty="0">
                <a:solidFill>
                  <a:srgbClr val="16243F"/>
                </a:solidFill>
                <a:latin typeface="Calibri" pitchFamily="34" charset="0"/>
                <a:ea typeface="Calibri" pitchFamily="34" charset="-122"/>
                <a:cs typeface="Calibri" pitchFamily="34" charset="-120"/>
              </a:rPr>
              <a:t>Kod pokoju:</a:t>
            </a:r>
            <a:endParaRPr lang="en-US" sz="1050" dirty="0"/>
          </a:p>
        </p:txBody>
      </p:sp>
      <p:sp>
        <p:nvSpPr>
          <p:cNvPr id="32" name="Text 30"/>
          <p:cNvSpPr/>
          <p:nvPr/>
        </p:nvSpPr>
        <p:spPr>
          <a:xfrm>
            <a:off x="5349240" y="2121408"/>
            <a:ext cx="3200400" cy="493776"/>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#INTUICJA2026 (wyświetlany na każdym slajdzie głosowania)</a:t>
            </a:r>
            <a:endParaRPr lang="en-US" sz="1000" dirty="0"/>
          </a:p>
        </p:txBody>
      </p:sp>
      <p:sp>
        <p:nvSpPr>
          <p:cNvPr id="33" name="Shape 31"/>
          <p:cNvSpPr/>
          <p:nvPr/>
        </p:nvSpPr>
        <p:spPr>
          <a:xfrm>
            <a:off x="3429000" y="2688336"/>
            <a:ext cx="5257800" cy="493776"/>
          </a:xfrm>
          <a:prstGeom prst="roundRect">
            <a:avLst>
              <a:gd name="adj" fmla="val 11111"/>
            </a:avLst>
          </a:prstGeom>
          <a:solidFill>
            <a:srgbClr val="FFFFFF"/>
          </a:solidFill>
          <a:ln w="12700">
            <a:solidFill>
              <a:srgbClr val="E1E4EA"/>
            </a:solidFill>
            <a:prstDash val="solid"/>
          </a:ln>
        </p:spPr>
      </p:sp>
      <p:sp>
        <p:nvSpPr>
          <p:cNvPr id="34" name="Text 32"/>
          <p:cNvSpPr/>
          <p:nvPr/>
        </p:nvSpPr>
        <p:spPr>
          <a:xfrm>
            <a:off x="3566160" y="2688336"/>
            <a:ext cx="1737360" cy="493776"/>
          </a:xfrm>
          <a:prstGeom prst="rect">
            <a:avLst/>
          </a:prstGeom>
          <a:noFill/>
          <a:ln/>
        </p:spPr>
        <p:txBody>
          <a:bodyPr wrap="square" lIns="0" tIns="0" rIns="0" bIns="0" rtlCol="0" anchor="ctr"/>
          <a:lstStyle/>
          <a:p>
            <a:pPr marL="0" indent="0">
              <a:buNone/>
            </a:pPr>
            <a:r>
              <a:rPr lang="en-US" sz="1050" b="1" dirty="0">
                <a:solidFill>
                  <a:srgbClr val="16243F"/>
                </a:solidFill>
                <a:latin typeface="Calibri" pitchFamily="34" charset="0"/>
                <a:ea typeface="Calibri" pitchFamily="34" charset="-122"/>
                <a:cs typeface="Calibri" pitchFamily="34" charset="-120"/>
              </a:rPr>
              <a:t>Bez instalacji:</a:t>
            </a:r>
            <a:endParaRPr lang="en-US" sz="1050" dirty="0"/>
          </a:p>
        </p:txBody>
      </p:sp>
      <p:sp>
        <p:nvSpPr>
          <p:cNvPr id="35" name="Text 33"/>
          <p:cNvSpPr/>
          <p:nvPr/>
        </p:nvSpPr>
        <p:spPr>
          <a:xfrm>
            <a:off x="5349240" y="2688336"/>
            <a:ext cx="3200400" cy="493776"/>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wejście przez przeglądarkę telefonu, tabletu lub komputera</a:t>
            </a:r>
            <a:endParaRPr lang="en-US" sz="1000" dirty="0"/>
          </a:p>
        </p:txBody>
      </p:sp>
      <p:sp>
        <p:nvSpPr>
          <p:cNvPr id="36" name="Shape 34"/>
          <p:cNvSpPr/>
          <p:nvPr/>
        </p:nvSpPr>
        <p:spPr>
          <a:xfrm>
            <a:off x="3429000" y="3255264"/>
            <a:ext cx="5257800" cy="493776"/>
          </a:xfrm>
          <a:prstGeom prst="roundRect">
            <a:avLst>
              <a:gd name="adj" fmla="val 11111"/>
            </a:avLst>
          </a:prstGeom>
          <a:solidFill>
            <a:srgbClr val="FFFFFF"/>
          </a:solidFill>
          <a:ln w="12700">
            <a:solidFill>
              <a:srgbClr val="E1E4EA"/>
            </a:solidFill>
            <a:prstDash val="solid"/>
          </a:ln>
        </p:spPr>
      </p:sp>
      <p:sp>
        <p:nvSpPr>
          <p:cNvPr id="37" name="Text 35"/>
          <p:cNvSpPr/>
          <p:nvPr/>
        </p:nvSpPr>
        <p:spPr>
          <a:xfrm>
            <a:off x="3566160" y="3255264"/>
            <a:ext cx="1737360" cy="493776"/>
          </a:xfrm>
          <a:prstGeom prst="rect">
            <a:avLst/>
          </a:prstGeom>
          <a:noFill/>
          <a:ln/>
        </p:spPr>
        <p:txBody>
          <a:bodyPr wrap="square" lIns="0" tIns="0" rIns="0" bIns="0" rtlCol="0" anchor="ctr"/>
          <a:lstStyle/>
          <a:p>
            <a:pPr marL="0" indent="0">
              <a:buNone/>
            </a:pPr>
            <a:r>
              <a:rPr lang="en-US" sz="1050" b="1" dirty="0">
                <a:solidFill>
                  <a:srgbClr val="16243F"/>
                </a:solidFill>
                <a:latin typeface="Calibri" pitchFamily="34" charset="0"/>
                <a:ea typeface="Calibri" pitchFamily="34" charset="-122"/>
                <a:cs typeface="Calibri" pitchFamily="34" charset="-120"/>
              </a:rPr>
              <a:t>Anonimowość:</a:t>
            </a:r>
            <a:endParaRPr lang="en-US" sz="1050" dirty="0"/>
          </a:p>
        </p:txBody>
      </p:sp>
      <p:sp>
        <p:nvSpPr>
          <p:cNvPr id="38" name="Text 36"/>
          <p:cNvSpPr/>
          <p:nvPr/>
        </p:nvSpPr>
        <p:spPr>
          <a:xfrm>
            <a:off x="5349240" y="3255264"/>
            <a:ext cx="3200400" cy="493776"/>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odpowiedzi nie są powiązane z tożsamością uczestnika</a:t>
            </a:r>
            <a:endParaRPr lang="en-US" sz="1000" dirty="0"/>
          </a:p>
        </p:txBody>
      </p:sp>
      <p:sp>
        <p:nvSpPr>
          <p:cNvPr id="39" name="Shape 37"/>
          <p:cNvSpPr/>
          <p:nvPr/>
        </p:nvSpPr>
        <p:spPr>
          <a:xfrm>
            <a:off x="3429000" y="3822192"/>
            <a:ext cx="5257800" cy="493776"/>
          </a:xfrm>
          <a:prstGeom prst="roundRect">
            <a:avLst>
              <a:gd name="adj" fmla="val 11111"/>
            </a:avLst>
          </a:prstGeom>
          <a:solidFill>
            <a:srgbClr val="FFFFFF"/>
          </a:solidFill>
          <a:ln w="12700">
            <a:solidFill>
              <a:srgbClr val="E1E4EA"/>
            </a:solidFill>
            <a:prstDash val="solid"/>
          </a:ln>
        </p:spPr>
      </p:sp>
      <p:sp>
        <p:nvSpPr>
          <p:cNvPr id="40" name="Text 38"/>
          <p:cNvSpPr/>
          <p:nvPr/>
        </p:nvSpPr>
        <p:spPr>
          <a:xfrm>
            <a:off x="3566160" y="3822192"/>
            <a:ext cx="1737360" cy="493776"/>
          </a:xfrm>
          <a:prstGeom prst="rect">
            <a:avLst/>
          </a:prstGeom>
          <a:noFill/>
          <a:ln/>
        </p:spPr>
        <p:txBody>
          <a:bodyPr wrap="square" lIns="0" tIns="0" rIns="0" bIns="0" rtlCol="0" anchor="ctr"/>
          <a:lstStyle/>
          <a:p>
            <a:pPr marL="0" indent="0">
              <a:buNone/>
            </a:pPr>
            <a:r>
              <a:rPr lang="en-US" sz="1050" b="1" dirty="0">
                <a:solidFill>
                  <a:srgbClr val="16243F"/>
                </a:solidFill>
                <a:latin typeface="Calibri" pitchFamily="34" charset="0"/>
                <a:ea typeface="Calibri" pitchFamily="34" charset="-122"/>
                <a:cs typeface="Calibri" pitchFamily="34" charset="-120"/>
              </a:rPr>
              <a:t>Zliczanie:</a:t>
            </a:r>
            <a:endParaRPr lang="en-US" sz="1050" dirty="0"/>
          </a:p>
        </p:txBody>
      </p:sp>
      <p:sp>
        <p:nvSpPr>
          <p:cNvPr id="41" name="Text 39"/>
          <p:cNvSpPr/>
          <p:nvPr/>
        </p:nvSpPr>
        <p:spPr>
          <a:xfrm>
            <a:off x="5349240" y="3822192"/>
            <a:ext cx="3200400" cy="493776"/>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wyniki agregowane automatycznie i prezentowane w czasie rzeczywistym</a:t>
            </a:r>
            <a:endParaRPr lang="en-US" sz="1000" dirty="0"/>
          </a:p>
        </p:txBody>
      </p:sp>
      <p:sp>
        <p:nvSpPr>
          <p:cNvPr id="42" name="Shape 40"/>
          <p:cNvSpPr/>
          <p:nvPr/>
        </p:nvSpPr>
        <p:spPr>
          <a:xfrm>
            <a:off x="3429000" y="4443984"/>
            <a:ext cx="5257800" cy="502920"/>
          </a:xfrm>
          <a:prstGeom prst="roundRect">
            <a:avLst>
              <a:gd name="adj" fmla="val 10909"/>
            </a:avLst>
          </a:prstGeom>
          <a:solidFill>
            <a:srgbClr val="C07A35"/>
          </a:solidFill>
          <a:ln w="12700">
            <a:solidFill>
              <a:srgbClr val="E1E4EA"/>
            </a:solidFill>
            <a:prstDash val="solid"/>
          </a:ln>
        </p:spPr>
      </p:sp>
      <p:sp>
        <p:nvSpPr>
          <p:cNvPr id="43" name="Text 41"/>
          <p:cNvSpPr/>
          <p:nvPr/>
        </p:nvSpPr>
        <p:spPr>
          <a:xfrm>
            <a:off x="3566160" y="4443984"/>
            <a:ext cx="5029200" cy="502920"/>
          </a:xfrm>
          <a:prstGeom prst="rect">
            <a:avLst/>
          </a:prstGeom>
          <a:noFill/>
          <a:ln/>
        </p:spPr>
        <p:txBody>
          <a:bodyPr wrap="square" lIns="0" tIns="0" rIns="0" bIns="0" rtlCol="0" anchor="ctr"/>
          <a:lstStyle/>
          <a:p>
            <a:r>
              <a:rPr lang="pl-PL" sz="950" b="1" dirty="0">
                <a:solidFill>
                  <a:srgbClr val="FFFFFF"/>
                </a:solidFill>
                <a:latin typeface="Calibri" pitchFamily="34" charset="0"/>
                <a:ea typeface="Calibri" pitchFamily="34" charset="-122"/>
                <a:cs typeface="Calibri" pitchFamily="34" charset="-120"/>
              </a:rPr>
              <a:t>Zachowaj otwarte głosowanie do końca zajęć - nie zmieniaj odpowiedzi po omówieniu </a:t>
            </a:r>
            <a:r>
              <a:rPr lang="pl-PL" sz="950" b="1" dirty="0" smtClean="0">
                <a:solidFill>
                  <a:srgbClr val="FFFFFF"/>
                </a:solidFill>
                <a:latin typeface="Calibri" pitchFamily="34" charset="0"/>
                <a:ea typeface="Calibri" pitchFamily="34" charset="-122"/>
                <a:cs typeface="Calibri" pitchFamily="34" charset="-120"/>
              </a:rPr>
              <a:t>rozwiązania</a:t>
            </a:r>
            <a:endParaRPr lang="pl-PL" sz="950" b="1" dirty="0">
              <a:solidFill>
                <a:srgbClr val="FFFFFF"/>
              </a:solidFill>
              <a:latin typeface="Calibri" pitchFamily="34" charset="0"/>
              <a:ea typeface="Calibri" pitchFamily="34" charset="-122"/>
              <a:cs typeface="Calibri" pitchFamily="34" charset="-120"/>
            </a:endParaRPr>
          </a:p>
        </p:txBody>
      </p:sp>
      <p:sp>
        <p:nvSpPr>
          <p:cNvPr id="44" name="Text 42"/>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2/40   ·   Wprowadzenie</a:t>
            </a:r>
            <a:endParaRPr lang="en-US" sz="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C07A35"/>
          </a:solidFill>
          <a:ln w="12700">
            <a:solidFill>
              <a:srgbClr val="C07A3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PRETEST · GŁOSOWANIE</a:t>
            </a:r>
            <a:endParaRPr lang="en-US" sz="900" dirty="0"/>
          </a:p>
        </p:txBody>
      </p:sp>
      <p:sp>
        <p:nvSpPr>
          <p:cNvPr id="4" name="Text 2"/>
          <p:cNvSpPr/>
          <p:nvPr/>
        </p:nvSpPr>
        <p:spPr>
          <a:xfrm>
            <a:off x="457200" y="676656"/>
            <a:ext cx="8229600" cy="519498"/>
          </a:xfrm>
          <a:prstGeom prst="rect">
            <a:avLst/>
          </a:prstGeom>
          <a:noFill/>
          <a:ln/>
        </p:spPr>
        <p:txBody>
          <a:bodyPr wrap="square" lIns="0" tIns="0" rIns="0" bIns="0" rtlCol="0" anchor="ctr"/>
          <a:lstStyle/>
          <a:p>
            <a:r>
              <a:rPr lang="pl-PL" sz="2400" b="1" dirty="0">
                <a:solidFill>
                  <a:srgbClr val="16243F"/>
                </a:solidFill>
                <a:latin typeface="Cambria" pitchFamily="34" charset="0"/>
                <a:ea typeface="Cambria" pitchFamily="34" charset="-122"/>
                <a:cs typeface="Cambria" pitchFamily="34" charset="-120"/>
              </a:rPr>
              <a:t>Test intuicji statystycznej </a:t>
            </a:r>
            <a:r>
              <a:rPr lang="pl-PL" sz="2400" b="1" dirty="0" smtClean="0">
                <a:solidFill>
                  <a:srgbClr val="16243F"/>
                </a:solidFill>
                <a:latin typeface="Cambria" pitchFamily="34" charset="0"/>
                <a:ea typeface="Cambria" pitchFamily="34" charset="-122"/>
                <a:cs typeface="Cambria" pitchFamily="34" charset="-120"/>
              </a:rPr>
              <a:t>-&gt; </a:t>
            </a:r>
            <a:r>
              <a:rPr lang="pl-PL" sz="2400" b="1" dirty="0">
                <a:solidFill>
                  <a:srgbClr val="16243F"/>
                </a:solidFill>
                <a:latin typeface="Cambria" pitchFamily="34" charset="0"/>
                <a:ea typeface="Cambria" pitchFamily="34" charset="-122"/>
                <a:cs typeface="Cambria" pitchFamily="34" charset="-120"/>
              </a:rPr>
              <a:t>pięć szybkich pytań</a:t>
            </a:r>
            <a:endParaRPr lang="pl-PL" sz="2400" b="1" dirty="0">
              <a:solidFill>
                <a:srgbClr val="16243F"/>
              </a:solidFill>
              <a:latin typeface="Cambria" pitchFamily="34" charset="0"/>
              <a:ea typeface="Cambria" pitchFamily="34" charset="-122"/>
              <a:cs typeface="Cambria" pitchFamily="34" charset="-120"/>
            </a:endParaRPr>
          </a:p>
        </p:txBody>
      </p:sp>
      <p:grpSp>
        <p:nvGrpSpPr>
          <p:cNvPr id="25" name="Grupa 24"/>
          <p:cNvGrpSpPr/>
          <p:nvPr/>
        </p:nvGrpSpPr>
        <p:grpSpPr>
          <a:xfrm>
            <a:off x="457200" y="1371600"/>
            <a:ext cx="8229600" cy="439434"/>
            <a:chOff x="457200" y="1371600"/>
            <a:chExt cx="8229600" cy="439434"/>
          </a:xfrm>
        </p:grpSpPr>
        <p:sp>
          <p:nvSpPr>
            <p:cNvPr id="5" name="Shape 3"/>
            <p:cNvSpPr/>
            <p:nvPr/>
          </p:nvSpPr>
          <p:spPr>
            <a:xfrm>
              <a:off x="457200" y="1379034"/>
              <a:ext cx="8229600" cy="432000"/>
            </a:xfrm>
            <a:prstGeom prst="roundRect">
              <a:avLst>
                <a:gd name="adj" fmla="val 12500"/>
              </a:avLst>
            </a:prstGeom>
            <a:solidFill>
              <a:srgbClr val="FFFFFF"/>
            </a:solidFill>
            <a:ln w="12700">
              <a:solidFill>
                <a:srgbClr val="D0D4DA"/>
              </a:solidFill>
              <a:prstDash val="solid"/>
            </a:ln>
          </p:spPr>
        </p:sp>
        <p:sp>
          <p:nvSpPr>
            <p:cNvPr id="6" name="Text 4"/>
            <p:cNvSpPr/>
            <p:nvPr/>
          </p:nvSpPr>
          <p:spPr>
            <a:xfrm>
              <a:off x="640080" y="1371600"/>
              <a:ext cx="7863840" cy="438912"/>
            </a:xfrm>
            <a:prstGeom prst="rect">
              <a:avLst/>
            </a:prstGeom>
            <a:noFill/>
            <a:ln/>
          </p:spPr>
          <p:txBody>
            <a:bodyPr wrap="square" lIns="0" tIns="0" rIns="0" bIns="0" rtlCol="0" anchor="ctr"/>
            <a:lstStyle/>
            <a:p>
              <a:pPr marL="0" indent="0">
                <a:buNone/>
              </a:pPr>
              <a:r>
                <a:rPr lang="pl-PL" sz="1600" dirty="0" smtClean="0">
                  <a:solidFill>
                    <a:srgbClr val="16243F"/>
                  </a:solidFill>
                  <a:latin typeface="Calibri" pitchFamily="34" charset="0"/>
                  <a:ea typeface="Calibri" pitchFamily="34" charset="-122"/>
                  <a:cs typeface="Calibri" pitchFamily="34" charset="-120"/>
                </a:rPr>
                <a:t>1. </a:t>
              </a:r>
              <a:r>
                <a:rPr lang="pl-PL" sz="1600" b="1" dirty="0" smtClean="0">
                  <a:solidFill>
                    <a:srgbClr val="16243F"/>
                  </a:solidFill>
                  <a:latin typeface="Calibri" pitchFamily="34" charset="0"/>
                  <a:ea typeface="Calibri" pitchFamily="34" charset="-122"/>
                  <a:cs typeface="Calibri" pitchFamily="34" charset="-120"/>
                </a:rPr>
                <a:t>Problem Lindy </a:t>
              </a:r>
              <a:r>
                <a:rPr lang="pl-PL" sz="1600" dirty="0" smtClean="0">
                  <a:solidFill>
                    <a:srgbClr val="16243F"/>
                  </a:solidFill>
                  <a:latin typeface="Calibri" pitchFamily="34" charset="0"/>
                  <a:ea typeface="Calibri" pitchFamily="34" charset="-122"/>
                  <a:cs typeface="Calibri" pitchFamily="34" charset="-120"/>
                </a:rPr>
                <a:t>- czy szczegółowy opis jest bardziej prawdopodobny niż ogólny?</a:t>
              </a:r>
              <a:endParaRPr lang="pl-PL" sz="1600" dirty="0"/>
            </a:p>
          </p:txBody>
        </p:sp>
      </p:grpSp>
      <p:grpSp>
        <p:nvGrpSpPr>
          <p:cNvPr id="26" name="Grupa 25"/>
          <p:cNvGrpSpPr/>
          <p:nvPr/>
        </p:nvGrpSpPr>
        <p:grpSpPr>
          <a:xfrm>
            <a:off x="457200" y="1901952"/>
            <a:ext cx="8229600" cy="439434"/>
            <a:chOff x="457200" y="1901952"/>
            <a:chExt cx="8229600" cy="439434"/>
          </a:xfrm>
        </p:grpSpPr>
        <p:sp>
          <p:nvSpPr>
            <p:cNvPr id="7" name="Shape 5"/>
            <p:cNvSpPr/>
            <p:nvPr/>
          </p:nvSpPr>
          <p:spPr>
            <a:xfrm>
              <a:off x="457200" y="1909386"/>
              <a:ext cx="8229600" cy="432000"/>
            </a:xfrm>
            <a:prstGeom prst="roundRect">
              <a:avLst>
                <a:gd name="adj" fmla="val 12500"/>
              </a:avLst>
            </a:prstGeom>
            <a:solidFill>
              <a:srgbClr val="FFFFFF"/>
            </a:solidFill>
            <a:ln w="12700">
              <a:solidFill>
                <a:srgbClr val="D0D4DA"/>
              </a:solidFill>
              <a:prstDash val="solid"/>
            </a:ln>
          </p:spPr>
        </p:sp>
        <p:sp>
          <p:nvSpPr>
            <p:cNvPr id="8" name="Text 6"/>
            <p:cNvSpPr/>
            <p:nvPr/>
          </p:nvSpPr>
          <p:spPr>
            <a:xfrm>
              <a:off x="640080" y="1901952"/>
              <a:ext cx="7863840" cy="438912"/>
            </a:xfrm>
            <a:prstGeom prst="rect">
              <a:avLst/>
            </a:prstGeom>
            <a:noFill/>
            <a:ln/>
          </p:spPr>
          <p:txBody>
            <a:bodyPr wrap="square" lIns="0" tIns="0" rIns="0" bIns="0" rtlCol="0" anchor="ctr"/>
            <a:lstStyle/>
            <a:p>
              <a:pPr marL="0" indent="0">
                <a:buNone/>
              </a:pPr>
              <a:r>
                <a:rPr lang="pl-PL" sz="1600" dirty="0" smtClean="0">
                  <a:solidFill>
                    <a:srgbClr val="16243F"/>
                  </a:solidFill>
                  <a:latin typeface="Calibri" pitchFamily="34" charset="0"/>
                  <a:ea typeface="Calibri" pitchFamily="34" charset="-122"/>
                  <a:cs typeface="Calibri" pitchFamily="34" charset="-120"/>
                </a:rPr>
                <a:t>2. </a:t>
              </a:r>
              <a:r>
                <a:rPr lang="pl-PL" sz="1600" b="1" dirty="0" smtClean="0">
                  <a:solidFill>
                    <a:srgbClr val="16243F"/>
                  </a:solidFill>
                  <a:latin typeface="Calibri" pitchFamily="34" charset="0"/>
                  <a:ea typeface="Calibri" pitchFamily="34" charset="-122"/>
                  <a:cs typeface="Calibri" pitchFamily="34" charset="-120"/>
                </a:rPr>
                <a:t>Monty Hall </a:t>
              </a:r>
              <a:r>
                <a:rPr lang="pl-PL" sz="1600" dirty="0" smtClean="0">
                  <a:solidFill>
                    <a:srgbClr val="16243F"/>
                  </a:solidFill>
                  <a:latin typeface="Calibri" pitchFamily="34" charset="0"/>
                  <a:ea typeface="Calibri" pitchFamily="34" charset="-122"/>
                  <a:cs typeface="Calibri" pitchFamily="34" charset="-120"/>
                </a:rPr>
                <a:t>- zmienić wybrane drzwi, czy zostać przy pierwszym wyborze?</a:t>
              </a:r>
              <a:endParaRPr lang="pl-PL" sz="1600" dirty="0"/>
            </a:p>
          </p:txBody>
        </p:sp>
      </p:grpSp>
      <p:grpSp>
        <p:nvGrpSpPr>
          <p:cNvPr id="27" name="Grupa 26"/>
          <p:cNvGrpSpPr/>
          <p:nvPr/>
        </p:nvGrpSpPr>
        <p:grpSpPr>
          <a:xfrm>
            <a:off x="457200" y="2432304"/>
            <a:ext cx="8229600" cy="439434"/>
            <a:chOff x="457200" y="2432304"/>
            <a:chExt cx="8229600" cy="439434"/>
          </a:xfrm>
        </p:grpSpPr>
        <p:sp>
          <p:nvSpPr>
            <p:cNvPr id="9" name="Shape 7"/>
            <p:cNvSpPr/>
            <p:nvPr/>
          </p:nvSpPr>
          <p:spPr>
            <a:xfrm>
              <a:off x="457200" y="2439738"/>
              <a:ext cx="8229600" cy="432000"/>
            </a:xfrm>
            <a:prstGeom prst="roundRect">
              <a:avLst>
                <a:gd name="adj" fmla="val 12500"/>
              </a:avLst>
            </a:prstGeom>
            <a:solidFill>
              <a:srgbClr val="FFFFFF"/>
            </a:solidFill>
            <a:ln w="12700">
              <a:solidFill>
                <a:srgbClr val="D0D4DA"/>
              </a:solidFill>
              <a:prstDash val="solid"/>
            </a:ln>
          </p:spPr>
        </p:sp>
        <p:sp>
          <p:nvSpPr>
            <p:cNvPr id="10" name="Text 8"/>
            <p:cNvSpPr/>
            <p:nvPr/>
          </p:nvSpPr>
          <p:spPr>
            <a:xfrm>
              <a:off x="640080" y="2432304"/>
              <a:ext cx="7863840" cy="438912"/>
            </a:xfrm>
            <a:prstGeom prst="rect">
              <a:avLst/>
            </a:prstGeom>
            <a:noFill/>
            <a:ln/>
          </p:spPr>
          <p:txBody>
            <a:bodyPr wrap="square" lIns="0" tIns="0" rIns="0" bIns="0" rtlCol="0" anchor="ctr"/>
            <a:lstStyle/>
            <a:p>
              <a:pPr marL="0" indent="0">
                <a:buNone/>
              </a:pPr>
              <a:r>
                <a:rPr lang="pl-PL" sz="1600" dirty="0" smtClean="0">
                  <a:solidFill>
                    <a:srgbClr val="16243F"/>
                  </a:solidFill>
                  <a:latin typeface="Calibri" pitchFamily="34" charset="0"/>
                  <a:ea typeface="Calibri" pitchFamily="34" charset="-122"/>
                  <a:cs typeface="Calibri" pitchFamily="34" charset="-120"/>
                </a:rPr>
                <a:t>3. </a:t>
              </a:r>
              <a:r>
                <a:rPr lang="pl-PL" sz="1600" b="1" dirty="0" smtClean="0">
                  <a:solidFill>
                    <a:srgbClr val="16243F"/>
                  </a:solidFill>
                  <a:latin typeface="Calibri" pitchFamily="34" charset="0"/>
                  <a:ea typeface="Calibri" pitchFamily="34" charset="-122"/>
                  <a:cs typeface="Calibri" pitchFamily="34" charset="-120"/>
                </a:rPr>
                <a:t>Test medyczny </a:t>
              </a:r>
              <a:r>
                <a:rPr lang="pl-PL" sz="1600" dirty="0" smtClean="0">
                  <a:solidFill>
                    <a:srgbClr val="16243F"/>
                  </a:solidFill>
                  <a:latin typeface="Calibri" pitchFamily="34" charset="0"/>
                  <a:ea typeface="Calibri" pitchFamily="34" charset="-122"/>
                  <a:cs typeface="Calibri" pitchFamily="34" charset="-120"/>
                </a:rPr>
                <a:t>- jakie jest prawdopodobieństwo choroby po wyniku dodatnim?</a:t>
              </a:r>
              <a:endParaRPr lang="pl-PL" sz="1600" dirty="0"/>
            </a:p>
          </p:txBody>
        </p:sp>
      </p:grpSp>
      <p:grpSp>
        <p:nvGrpSpPr>
          <p:cNvPr id="28" name="Grupa 27"/>
          <p:cNvGrpSpPr/>
          <p:nvPr/>
        </p:nvGrpSpPr>
        <p:grpSpPr>
          <a:xfrm>
            <a:off x="457200" y="2962656"/>
            <a:ext cx="8229600" cy="439434"/>
            <a:chOff x="457200" y="2962656"/>
            <a:chExt cx="8229600" cy="439434"/>
          </a:xfrm>
        </p:grpSpPr>
        <p:sp>
          <p:nvSpPr>
            <p:cNvPr id="11" name="Shape 9"/>
            <p:cNvSpPr/>
            <p:nvPr/>
          </p:nvSpPr>
          <p:spPr>
            <a:xfrm>
              <a:off x="457200" y="2970090"/>
              <a:ext cx="8229600" cy="432000"/>
            </a:xfrm>
            <a:prstGeom prst="roundRect">
              <a:avLst>
                <a:gd name="adj" fmla="val 12500"/>
              </a:avLst>
            </a:prstGeom>
            <a:solidFill>
              <a:srgbClr val="FFFFFF"/>
            </a:solidFill>
            <a:ln w="12700">
              <a:solidFill>
                <a:srgbClr val="D0D4DA"/>
              </a:solidFill>
              <a:prstDash val="solid"/>
            </a:ln>
          </p:spPr>
        </p:sp>
        <p:sp>
          <p:nvSpPr>
            <p:cNvPr id="12" name="Text 10"/>
            <p:cNvSpPr/>
            <p:nvPr/>
          </p:nvSpPr>
          <p:spPr>
            <a:xfrm>
              <a:off x="640080" y="2962656"/>
              <a:ext cx="7863840" cy="438912"/>
            </a:xfrm>
            <a:prstGeom prst="rect">
              <a:avLst/>
            </a:prstGeom>
            <a:noFill/>
            <a:ln/>
          </p:spPr>
          <p:txBody>
            <a:bodyPr wrap="square" lIns="0" tIns="0" rIns="0" bIns="0" rtlCol="0" anchor="ctr"/>
            <a:lstStyle/>
            <a:p>
              <a:pPr marL="0" indent="0">
                <a:buNone/>
              </a:pPr>
              <a:r>
                <a:rPr lang="pl-PL" sz="1600" dirty="0" smtClean="0">
                  <a:solidFill>
                    <a:srgbClr val="16243F"/>
                  </a:solidFill>
                  <a:latin typeface="Calibri" pitchFamily="34" charset="0"/>
                  <a:ea typeface="Calibri" pitchFamily="34" charset="-122"/>
                  <a:cs typeface="Calibri" pitchFamily="34" charset="-120"/>
                </a:rPr>
                <a:t>4. </a:t>
              </a:r>
              <a:r>
                <a:rPr lang="pl-PL" sz="1600" b="1" dirty="0" smtClean="0">
                  <a:solidFill>
                    <a:srgbClr val="16243F"/>
                  </a:solidFill>
                  <a:latin typeface="Calibri" pitchFamily="34" charset="0"/>
                  <a:ea typeface="Calibri" pitchFamily="34" charset="-122"/>
                  <a:cs typeface="Calibri" pitchFamily="34" charset="-120"/>
                </a:rPr>
                <a:t>Paradoks urodzin </a:t>
              </a:r>
              <a:r>
                <a:rPr lang="pl-PL" sz="1600" dirty="0" smtClean="0">
                  <a:solidFill>
                    <a:srgbClr val="16243F"/>
                  </a:solidFill>
                  <a:latin typeface="Calibri" pitchFamily="34" charset="0"/>
                  <a:ea typeface="Calibri" pitchFamily="34" charset="-122"/>
                  <a:cs typeface="Calibri" pitchFamily="34" charset="-120"/>
                </a:rPr>
                <a:t>- ile osób potrzeba, by przekroczyć 50% szans na wspólne urodziny?</a:t>
              </a:r>
              <a:endParaRPr lang="pl-PL" sz="1600" dirty="0"/>
            </a:p>
          </p:txBody>
        </p:sp>
      </p:grpSp>
      <p:grpSp>
        <p:nvGrpSpPr>
          <p:cNvPr id="29" name="Grupa 28"/>
          <p:cNvGrpSpPr/>
          <p:nvPr/>
        </p:nvGrpSpPr>
        <p:grpSpPr>
          <a:xfrm>
            <a:off x="457200" y="3493008"/>
            <a:ext cx="8229600" cy="439434"/>
            <a:chOff x="457200" y="3493008"/>
            <a:chExt cx="8229600" cy="439434"/>
          </a:xfrm>
        </p:grpSpPr>
        <p:sp>
          <p:nvSpPr>
            <p:cNvPr id="13" name="Shape 11"/>
            <p:cNvSpPr/>
            <p:nvPr/>
          </p:nvSpPr>
          <p:spPr>
            <a:xfrm>
              <a:off x="457200" y="3500442"/>
              <a:ext cx="8229600" cy="432000"/>
            </a:xfrm>
            <a:prstGeom prst="roundRect">
              <a:avLst>
                <a:gd name="adj" fmla="val 12500"/>
              </a:avLst>
            </a:prstGeom>
            <a:solidFill>
              <a:srgbClr val="FFFFFF"/>
            </a:solidFill>
            <a:ln w="12700">
              <a:solidFill>
                <a:srgbClr val="D0D4DA"/>
              </a:solidFill>
              <a:prstDash val="solid"/>
            </a:ln>
          </p:spPr>
        </p:sp>
        <p:sp>
          <p:nvSpPr>
            <p:cNvPr id="14" name="Text 12"/>
            <p:cNvSpPr/>
            <p:nvPr/>
          </p:nvSpPr>
          <p:spPr>
            <a:xfrm>
              <a:off x="640080" y="3493008"/>
              <a:ext cx="7863840" cy="438912"/>
            </a:xfrm>
            <a:prstGeom prst="rect">
              <a:avLst/>
            </a:prstGeom>
            <a:noFill/>
            <a:ln/>
          </p:spPr>
          <p:txBody>
            <a:bodyPr wrap="square" lIns="0" tIns="0" rIns="0" bIns="0" rtlCol="0" anchor="ctr"/>
            <a:lstStyle/>
            <a:p>
              <a:pPr marL="0" indent="0">
                <a:buNone/>
              </a:pPr>
              <a:r>
                <a:rPr lang="pl-PL" sz="1600" dirty="0" smtClean="0">
                  <a:solidFill>
                    <a:srgbClr val="16243F"/>
                  </a:solidFill>
                  <a:latin typeface="Calibri" pitchFamily="34" charset="0"/>
                  <a:ea typeface="Calibri" pitchFamily="34" charset="-122"/>
                  <a:cs typeface="Calibri" pitchFamily="34" charset="-120"/>
                </a:rPr>
                <a:t>5. </a:t>
              </a:r>
              <a:r>
                <a:rPr lang="pl-PL" sz="1600" b="1" dirty="0" smtClean="0">
                  <a:solidFill>
                    <a:srgbClr val="16243F"/>
                  </a:solidFill>
                  <a:latin typeface="Calibri" pitchFamily="34" charset="0"/>
                  <a:ea typeface="Calibri" pitchFamily="34" charset="-122"/>
                  <a:cs typeface="Calibri" pitchFamily="34" charset="-120"/>
                </a:rPr>
                <a:t>Seria rzutów monetą </a:t>
              </a:r>
              <a:r>
                <a:rPr lang="pl-PL" sz="1600" dirty="0" smtClean="0">
                  <a:solidFill>
                    <a:srgbClr val="16243F"/>
                  </a:solidFill>
                  <a:latin typeface="Calibri" pitchFamily="34" charset="0"/>
                  <a:ea typeface="Calibri" pitchFamily="34" charset="-122"/>
                  <a:cs typeface="Calibri" pitchFamily="34" charset="-120"/>
                </a:rPr>
                <a:t>- czy po 5 orłach reszka jest bardziej prawdopodobna?</a:t>
              </a:r>
              <a:endParaRPr lang="pl-PL" sz="1600" dirty="0"/>
            </a:p>
          </p:txBody>
        </p:sp>
      </p:grpSp>
      <p:sp>
        <p:nvSpPr>
          <p:cNvPr id="15" name="Shape 13"/>
          <p:cNvSpPr/>
          <p:nvPr/>
        </p:nvSpPr>
        <p:spPr>
          <a:xfrm>
            <a:off x="7406640" y="4041648"/>
            <a:ext cx="1280160" cy="731520"/>
          </a:xfrm>
          <a:prstGeom prst="roundRect">
            <a:avLst>
              <a:gd name="adj" fmla="val 6000"/>
            </a:avLst>
          </a:prstGeom>
          <a:solidFill>
            <a:srgbClr val="EDF1F7"/>
          </a:solidFill>
          <a:ln w="12700">
            <a:solidFill>
              <a:srgbClr val="E1E4EA"/>
            </a:solidFill>
            <a:prstDash val="solid"/>
          </a:ln>
        </p:spPr>
      </p:sp>
      <p:sp>
        <p:nvSpPr>
          <p:cNvPr id="16" name="Shape 14"/>
          <p:cNvSpPr/>
          <p:nvPr/>
        </p:nvSpPr>
        <p:spPr>
          <a:xfrm>
            <a:off x="7516368" y="4133088"/>
            <a:ext cx="365760" cy="365760"/>
          </a:xfrm>
          <a:prstGeom prst="rect">
            <a:avLst/>
          </a:prstGeom>
          <a:solidFill>
            <a:srgbClr val="FFFFFF"/>
          </a:solidFill>
          <a:ln w="19050">
            <a:solidFill>
              <a:srgbClr val="16243F"/>
            </a:solidFill>
            <a:prstDash val="solid"/>
          </a:ln>
        </p:spPr>
      </p:sp>
      <p:sp>
        <p:nvSpPr>
          <p:cNvPr id="17" name="Shape 15"/>
          <p:cNvSpPr/>
          <p:nvPr/>
        </p:nvSpPr>
        <p:spPr>
          <a:xfrm>
            <a:off x="7543800" y="4160520"/>
            <a:ext cx="82296" cy="82296"/>
          </a:xfrm>
          <a:prstGeom prst="rect">
            <a:avLst/>
          </a:prstGeom>
          <a:solidFill>
            <a:srgbClr val="16243F"/>
          </a:solidFill>
          <a:ln w="12700">
            <a:solidFill>
              <a:srgbClr val="16243F"/>
            </a:solidFill>
            <a:prstDash val="solid"/>
          </a:ln>
        </p:spPr>
      </p:sp>
      <p:sp>
        <p:nvSpPr>
          <p:cNvPr id="18" name="Shape 16"/>
          <p:cNvSpPr/>
          <p:nvPr/>
        </p:nvSpPr>
        <p:spPr>
          <a:xfrm>
            <a:off x="7543800" y="4361688"/>
            <a:ext cx="82296" cy="82296"/>
          </a:xfrm>
          <a:prstGeom prst="rect">
            <a:avLst/>
          </a:prstGeom>
          <a:solidFill>
            <a:srgbClr val="16243F"/>
          </a:solidFill>
          <a:ln w="12700">
            <a:solidFill>
              <a:srgbClr val="16243F"/>
            </a:solidFill>
            <a:prstDash val="solid"/>
          </a:ln>
        </p:spPr>
      </p:sp>
      <p:sp>
        <p:nvSpPr>
          <p:cNvPr id="19" name="Shape 17"/>
          <p:cNvSpPr/>
          <p:nvPr/>
        </p:nvSpPr>
        <p:spPr>
          <a:xfrm>
            <a:off x="7644384" y="4261104"/>
            <a:ext cx="82296" cy="82296"/>
          </a:xfrm>
          <a:prstGeom prst="rect">
            <a:avLst/>
          </a:prstGeom>
          <a:solidFill>
            <a:srgbClr val="16243F"/>
          </a:solidFill>
          <a:ln w="12700">
            <a:solidFill>
              <a:srgbClr val="16243F"/>
            </a:solidFill>
            <a:prstDash val="solid"/>
          </a:ln>
        </p:spPr>
      </p:sp>
      <p:sp>
        <p:nvSpPr>
          <p:cNvPr id="20" name="Shape 18"/>
          <p:cNvSpPr/>
          <p:nvPr/>
        </p:nvSpPr>
        <p:spPr>
          <a:xfrm>
            <a:off x="7744968" y="4160520"/>
            <a:ext cx="82296" cy="82296"/>
          </a:xfrm>
          <a:prstGeom prst="rect">
            <a:avLst/>
          </a:prstGeom>
          <a:solidFill>
            <a:srgbClr val="16243F"/>
          </a:solidFill>
          <a:ln w="12700">
            <a:solidFill>
              <a:srgbClr val="16243F"/>
            </a:solidFill>
            <a:prstDash val="solid"/>
          </a:ln>
        </p:spPr>
      </p:sp>
      <p:sp>
        <p:nvSpPr>
          <p:cNvPr id="21" name="Shape 19"/>
          <p:cNvSpPr/>
          <p:nvPr/>
        </p:nvSpPr>
        <p:spPr>
          <a:xfrm>
            <a:off x="7744968" y="4361688"/>
            <a:ext cx="82296" cy="82296"/>
          </a:xfrm>
          <a:prstGeom prst="rect">
            <a:avLst/>
          </a:prstGeom>
          <a:solidFill>
            <a:srgbClr val="16243F"/>
          </a:solidFill>
          <a:ln w="12700">
            <a:solidFill>
              <a:srgbClr val="16243F"/>
            </a:solidFill>
            <a:prstDash val="solid"/>
          </a:ln>
        </p:spPr>
      </p:sp>
      <p:sp>
        <p:nvSpPr>
          <p:cNvPr id="22" name="Text 20"/>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23" name="Text 21"/>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sp>
        <p:nvSpPr>
          <p:cNvPr id="24" name="Text 22"/>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3/40   ·   Wprowadzenie</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1000"/>
                                        <p:tgtEl>
                                          <p:spTgt spid="26"/>
                                        </p:tgtEl>
                                      </p:cBhvr>
                                    </p:animEffect>
                                    <p:anim calcmode="lin" valueType="num">
                                      <p:cBhvr>
                                        <p:cTn id="14" dur="1000" fill="hold"/>
                                        <p:tgtEl>
                                          <p:spTgt spid="26"/>
                                        </p:tgtEl>
                                        <p:attrNameLst>
                                          <p:attrName>ppt_x</p:attrName>
                                        </p:attrNameLst>
                                      </p:cBhvr>
                                      <p:tavLst>
                                        <p:tav tm="0">
                                          <p:val>
                                            <p:strVal val="#ppt_x"/>
                                          </p:val>
                                        </p:tav>
                                        <p:tav tm="100000">
                                          <p:val>
                                            <p:strVal val="#ppt_x"/>
                                          </p:val>
                                        </p:tav>
                                      </p:tavLst>
                                    </p:anim>
                                    <p:anim calcmode="lin" valueType="num">
                                      <p:cBhvr>
                                        <p:cTn id="15" dur="1000" fill="hold"/>
                                        <p:tgtEl>
                                          <p:spTgt spid="26"/>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1000"/>
                                        <p:tgtEl>
                                          <p:spTgt spid="27"/>
                                        </p:tgtEl>
                                      </p:cBhvr>
                                    </p:animEffect>
                                    <p:anim calcmode="lin" valueType="num">
                                      <p:cBhvr>
                                        <p:cTn id="20" dur="1000" fill="hold"/>
                                        <p:tgtEl>
                                          <p:spTgt spid="27"/>
                                        </p:tgtEl>
                                        <p:attrNameLst>
                                          <p:attrName>ppt_x</p:attrName>
                                        </p:attrNameLst>
                                      </p:cBhvr>
                                      <p:tavLst>
                                        <p:tav tm="0">
                                          <p:val>
                                            <p:strVal val="#ppt_x"/>
                                          </p:val>
                                        </p:tav>
                                        <p:tav tm="100000">
                                          <p:val>
                                            <p:strVal val="#ppt_x"/>
                                          </p:val>
                                        </p:tav>
                                      </p:tavLst>
                                    </p:anim>
                                    <p:anim calcmode="lin" valueType="num">
                                      <p:cBhvr>
                                        <p:cTn id="21" dur="1000" fill="hold"/>
                                        <p:tgtEl>
                                          <p:spTgt spid="27"/>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1000"/>
                                        <p:tgtEl>
                                          <p:spTgt spid="28"/>
                                        </p:tgtEl>
                                      </p:cBhvr>
                                    </p:animEffect>
                                    <p:anim calcmode="lin" valueType="num">
                                      <p:cBhvr>
                                        <p:cTn id="26" dur="1000" fill="hold"/>
                                        <p:tgtEl>
                                          <p:spTgt spid="28"/>
                                        </p:tgtEl>
                                        <p:attrNameLst>
                                          <p:attrName>ppt_x</p:attrName>
                                        </p:attrNameLst>
                                      </p:cBhvr>
                                      <p:tavLst>
                                        <p:tav tm="0">
                                          <p:val>
                                            <p:strVal val="#ppt_x"/>
                                          </p:val>
                                        </p:tav>
                                        <p:tav tm="100000">
                                          <p:val>
                                            <p:strVal val="#ppt_x"/>
                                          </p:val>
                                        </p:tav>
                                      </p:tavLst>
                                    </p:anim>
                                    <p:anim calcmode="lin" valueType="num">
                                      <p:cBhvr>
                                        <p:cTn id="27" dur="1000" fill="hold"/>
                                        <p:tgtEl>
                                          <p:spTgt spid="28"/>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1000"/>
                                        <p:tgtEl>
                                          <p:spTgt spid="29"/>
                                        </p:tgtEl>
                                      </p:cBhvr>
                                    </p:animEffect>
                                    <p:anim calcmode="lin" valueType="num">
                                      <p:cBhvr>
                                        <p:cTn id="32" dur="1000" fill="hold"/>
                                        <p:tgtEl>
                                          <p:spTgt spid="29"/>
                                        </p:tgtEl>
                                        <p:attrNameLst>
                                          <p:attrName>ppt_x</p:attrName>
                                        </p:attrNameLst>
                                      </p:cBhvr>
                                      <p:tavLst>
                                        <p:tav tm="0">
                                          <p:val>
                                            <p:strVal val="#ppt_x"/>
                                          </p:val>
                                        </p:tav>
                                        <p:tav tm="100000">
                                          <p:val>
                                            <p:strVal val="#ppt_x"/>
                                          </p:val>
                                        </p:tav>
                                      </p:tavLst>
                                    </p:anim>
                                    <p:anim calcmode="lin" valueType="num">
                                      <p:cBhvr>
                                        <p:cTn id="33"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16243F"/>
          </a:solidFill>
          <a:ln w="12700">
            <a:solidFill>
              <a:srgbClr val="16243F"/>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RAMY TEORETYCZNE</a:t>
            </a:r>
            <a:endParaRPr lang="en-US" sz="900" dirty="0"/>
          </a:p>
        </p:txBody>
      </p:sp>
      <p:sp>
        <p:nvSpPr>
          <p:cNvPr id="4" name="Text 2"/>
          <p:cNvSpPr/>
          <p:nvPr/>
        </p:nvSpPr>
        <p:spPr>
          <a:xfrm>
            <a:off x="457200" y="676656"/>
            <a:ext cx="8229600" cy="586994"/>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Racjonalność normatywna i opisowa</a:t>
            </a:r>
            <a:endParaRPr lang="en-US" sz="2400" dirty="0"/>
          </a:p>
        </p:txBody>
      </p:sp>
      <p:sp>
        <p:nvSpPr>
          <p:cNvPr id="5" name="Shape 3"/>
          <p:cNvSpPr/>
          <p:nvPr/>
        </p:nvSpPr>
        <p:spPr>
          <a:xfrm>
            <a:off x="457200" y="1641348"/>
            <a:ext cx="3977640" cy="1933956"/>
          </a:xfrm>
          <a:prstGeom prst="roundRect">
            <a:avLst>
              <a:gd name="adj" fmla="val 2353"/>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6" name="Shape 4"/>
          <p:cNvSpPr/>
          <p:nvPr/>
        </p:nvSpPr>
        <p:spPr>
          <a:xfrm>
            <a:off x="457200" y="1641348"/>
            <a:ext cx="3977640" cy="457200"/>
          </a:xfrm>
          <a:prstGeom prst="roundRect">
            <a:avLst>
              <a:gd name="adj" fmla="val 12000"/>
            </a:avLst>
          </a:prstGeom>
          <a:solidFill>
            <a:srgbClr val="0F6E6E"/>
          </a:solidFill>
          <a:ln w="12700">
            <a:solidFill>
              <a:srgbClr val="E1E4EA"/>
            </a:solidFill>
            <a:prstDash val="solid"/>
          </a:ln>
        </p:spPr>
      </p:sp>
      <p:sp>
        <p:nvSpPr>
          <p:cNvPr id="7" name="Text 5"/>
          <p:cNvSpPr/>
          <p:nvPr/>
        </p:nvSpPr>
        <p:spPr>
          <a:xfrm>
            <a:off x="457200" y="1641348"/>
            <a:ext cx="3977640" cy="457200"/>
          </a:xfrm>
          <a:prstGeom prst="rect">
            <a:avLst/>
          </a:prstGeom>
          <a:noFill/>
          <a:ln/>
        </p:spPr>
        <p:txBody>
          <a:bodyPr wrap="square" lIns="0" tIns="0" rIns="0" bIns="0" rtlCol="0" anchor="ctr"/>
          <a:lstStyle/>
          <a:p>
            <a:pPr marL="0" indent="0" algn="ctr">
              <a:buNone/>
            </a:pPr>
            <a:r>
              <a:rPr lang="en-US" b="1" dirty="0">
                <a:solidFill>
                  <a:srgbClr val="FFFFFF"/>
                </a:solidFill>
                <a:latin typeface="Cambria" pitchFamily="34" charset="0"/>
                <a:ea typeface="Cambria" pitchFamily="34" charset="-122"/>
                <a:cs typeface="Cambria" pitchFamily="34" charset="-120"/>
              </a:rPr>
              <a:t>Model normatywny</a:t>
            </a:r>
            <a:endParaRPr lang="en-US" dirty="0"/>
          </a:p>
        </p:txBody>
      </p:sp>
      <p:sp>
        <p:nvSpPr>
          <p:cNvPr id="8" name="Text 6"/>
          <p:cNvSpPr/>
          <p:nvPr/>
        </p:nvSpPr>
        <p:spPr>
          <a:xfrm>
            <a:off x="587297" y="2235708"/>
            <a:ext cx="3739375" cy="1237042"/>
          </a:xfrm>
          <a:prstGeom prst="rect">
            <a:avLst/>
          </a:prstGeom>
          <a:noFill/>
          <a:ln/>
        </p:spPr>
        <p:txBody>
          <a:bodyPr wrap="square" lIns="0" tIns="0" rIns="0" bIns="0" rtlCol="0" anchor="ctr"/>
          <a:lstStyle/>
          <a:p>
            <a:pPr marL="216000" indent="-216000">
              <a:spcAft>
                <a:spcPts val="600"/>
              </a:spcAft>
              <a:buSzPct val="100000"/>
              <a:buChar char="•"/>
            </a:pPr>
            <a:r>
              <a:rPr lang="en-US" sz="1600" dirty="0">
                <a:solidFill>
                  <a:srgbClr val="2B2D33"/>
                </a:solidFill>
                <a:latin typeface="Calibri" pitchFamily="34" charset="0"/>
                <a:ea typeface="Calibri" pitchFamily="34" charset="-122"/>
                <a:cs typeface="Calibri" pitchFamily="34" charset="-120"/>
              </a:rPr>
              <a:t>Pełna, spójna lista preferencji</a:t>
            </a:r>
            <a:endParaRPr lang="en-US" sz="1600" dirty="0"/>
          </a:p>
          <a:p>
            <a:pPr marL="216000" indent="-216000">
              <a:spcAft>
                <a:spcPts val="600"/>
              </a:spcAft>
              <a:buSzPct val="100000"/>
              <a:buChar char="•"/>
            </a:pPr>
            <a:r>
              <a:rPr lang="en-US" sz="1600" dirty="0">
                <a:solidFill>
                  <a:srgbClr val="2B2D33"/>
                </a:solidFill>
                <a:latin typeface="Calibri" pitchFamily="34" charset="0"/>
                <a:ea typeface="Calibri" pitchFamily="34" charset="-122"/>
                <a:cs typeface="Calibri" pitchFamily="34" charset="-120"/>
              </a:rPr>
              <a:t>Poprawne obliczanie prawdopodobieństw</a:t>
            </a:r>
            <a:endParaRPr lang="en-US" sz="1600" dirty="0"/>
          </a:p>
          <a:p>
            <a:pPr marL="216000" indent="-216000">
              <a:spcAft>
                <a:spcPts val="600"/>
              </a:spcAft>
              <a:buSzPct val="100000"/>
              <a:buChar char="•"/>
            </a:pPr>
            <a:r>
              <a:rPr lang="en-US" sz="1600" dirty="0">
                <a:solidFill>
                  <a:srgbClr val="2B2D33"/>
                </a:solidFill>
                <a:latin typeface="Calibri" pitchFamily="34" charset="0"/>
                <a:ea typeface="Calibri" pitchFamily="34" charset="-122"/>
                <a:cs typeface="Calibri" pitchFamily="34" charset="-120"/>
              </a:rPr>
              <a:t>Maksymalizacja oczekiwanej użyteczności</a:t>
            </a:r>
            <a:endParaRPr lang="en-US" sz="1600" dirty="0"/>
          </a:p>
        </p:txBody>
      </p:sp>
      <p:sp>
        <p:nvSpPr>
          <p:cNvPr id="9" name="Shape 7"/>
          <p:cNvSpPr/>
          <p:nvPr/>
        </p:nvSpPr>
        <p:spPr>
          <a:xfrm>
            <a:off x="4709160" y="1641348"/>
            <a:ext cx="3977640" cy="1933956"/>
          </a:xfrm>
          <a:prstGeom prst="roundRect">
            <a:avLst>
              <a:gd name="adj" fmla="val 2353"/>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10" name="Shape 8"/>
          <p:cNvSpPr/>
          <p:nvPr/>
        </p:nvSpPr>
        <p:spPr>
          <a:xfrm>
            <a:off x="4709160" y="1641348"/>
            <a:ext cx="3977640" cy="457200"/>
          </a:xfrm>
          <a:prstGeom prst="roundRect">
            <a:avLst>
              <a:gd name="adj" fmla="val 12000"/>
            </a:avLst>
          </a:prstGeom>
          <a:solidFill>
            <a:srgbClr val="C07A35"/>
          </a:solidFill>
          <a:ln w="12700">
            <a:solidFill>
              <a:srgbClr val="E1E4EA"/>
            </a:solidFill>
            <a:prstDash val="solid"/>
          </a:ln>
        </p:spPr>
      </p:sp>
      <p:sp>
        <p:nvSpPr>
          <p:cNvPr id="11" name="Text 9"/>
          <p:cNvSpPr/>
          <p:nvPr/>
        </p:nvSpPr>
        <p:spPr>
          <a:xfrm>
            <a:off x="4709160" y="1641348"/>
            <a:ext cx="3977640" cy="457200"/>
          </a:xfrm>
          <a:prstGeom prst="rect">
            <a:avLst/>
          </a:prstGeom>
          <a:noFill/>
          <a:ln/>
        </p:spPr>
        <p:txBody>
          <a:bodyPr wrap="square" lIns="0" tIns="0" rIns="0" bIns="0" rtlCol="0" anchor="ctr"/>
          <a:lstStyle/>
          <a:p>
            <a:pPr marL="0" indent="0" algn="ctr">
              <a:buNone/>
            </a:pPr>
            <a:r>
              <a:rPr lang="en-US" b="1" dirty="0">
                <a:solidFill>
                  <a:srgbClr val="FFFFFF"/>
                </a:solidFill>
                <a:latin typeface="Cambria" pitchFamily="34" charset="0"/>
                <a:ea typeface="Cambria" pitchFamily="34" charset="-122"/>
                <a:cs typeface="Cambria" pitchFamily="34" charset="-120"/>
              </a:rPr>
              <a:t>Model opisowy</a:t>
            </a:r>
            <a:endParaRPr lang="en-US" dirty="0"/>
          </a:p>
        </p:txBody>
      </p:sp>
      <p:sp>
        <p:nvSpPr>
          <p:cNvPr id="12" name="Text 10"/>
          <p:cNvSpPr/>
          <p:nvPr/>
        </p:nvSpPr>
        <p:spPr>
          <a:xfrm>
            <a:off x="4839257" y="2235708"/>
            <a:ext cx="3739375" cy="1237042"/>
          </a:xfrm>
          <a:prstGeom prst="rect">
            <a:avLst/>
          </a:prstGeom>
          <a:noFill/>
          <a:ln/>
        </p:spPr>
        <p:txBody>
          <a:bodyPr wrap="square" lIns="0" tIns="0" rIns="0" bIns="0" rtlCol="0" anchor="ctr"/>
          <a:lstStyle/>
          <a:p>
            <a:pPr marL="216000" indent="-216000">
              <a:spcAft>
                <a:spcPts val="600"/>
              </a:spcAft>
              <a:buSzPct val="100000"/>
              <a:buChar char="•"/>
            </a:pPr>
            <a:r>
              <a:rPr lang="en-US" sz="1600" dirty="0">
                <a:solidFill>
                  <a:srgbClr val="2B2D33"/>
                </a:solidFill>
                <a:latin typeface="Calibri" pitchFamily="34" charset="0"/>
                <a:ea typeface="Calibri" pitchFamily="34" charset="-122"/>
                <a:cs typeface="Calibri" pitchFamily="34" charset="-120"/>
              </a:rPr>
              <a:t>Heurystyki: szybkie, oszczędne reguły</a:t>
            </a:r>
            <a:endParaRPr lang="en-US" sz="1600" dirty="0"/>
          </a:p>
          <a:p>
            <a:pPr marL="216000" indent="-216000">
              <a:spcAft>
                <a:spcPts val="600"/>
              </a:spcAft>
              <a:buSzPct val="100000"/>
              <a:buChar char="•"/>
            </a:pPr>
            <a:r>
              <a:rPr lang="en-US" sz="1600" dirty="0">
                <a:solidFill>
                  <a:srgbClr val="2B2D33"/>
                </a:solidFill>
                <a:latin typeface="Calibri" pitchFamily="34" charset="0"/>
                <a:ea typeface="Calibri" pitchFamily="34" charset="-122"/>
                <a:cs typeface="Calibri" pitchFamily="34" charset="-120"/>
              </a:rPr>
              <a:t>Systematyczne, przewidywalne odchylenia</a:t>
            </a:r>
            <a:endParaRPr lang="en-US" sz="1600" dirty="0"/>
          </a:p>
          <a:p>
            <a:pPr marL="216000" indent="-216000">
              <a:spcAft>
                <a:spcPts val="600"/>
              </a:spcAft>
              <a:buSzPct val="100000"/>
              <a:buChar char="•"/>
            </a:pPr>
            <a:r>
              <a:rPr lang="en-US" sz="1600" dirty="0">
                <a:solidFill>
                  <a:srgbClr val="2B2D33"/>
                </a:solidFill>
                <a:latin typeface="Calibri" pitchFamily="34" charset="0"/>
                <a:ea typeface="Calibri" pitchFamily="34" charset="-122"/>
                <a:cs typeface="Calibri" pitchFamily="34" charset="-120"/>
              </a:rPr>
              <a:t>Racjonalność ograniczona (Simon)</a:t>
            </a:r>
            <a:endParaRPr lang="en-US" sz="1600" dirty="0"/>
          </a:p>
        </p:txBody>
      </p:sp>
      <p:sp>
        <p:nvSpPr>
          <p:cNvPr id="13" name="Shape 11"/>
          <p:cNvSpPr/>
          <p:nvPr/>
        </p:nvSpPr>
        <p:spPr>
          <a:xfrm>
            <a:off x="457200" y="3771900"/>
            <a:ext cx="8229600" cy="960120"/>
          </a:xfrm>
          <a:prstGeom prst="roundRect">
            <a:avLst>
              <a:gd name="adj" fmla="val 5714"/>
            </a:avLst>
          </a:prstGeom>
          <a:solidFill>
            <a:srgbClr val="EDF1F7"/>
          </a:solidFill>
          <a:ln w="12700">
            <a:solidFill>
              <a:srgbClr val="D0D4DA"/>
            </a:solidFill>
            <a:prstDash val="solid"/>
          </a:ln>
        </p:spPr>
        <p:txBody>
          <a:bodyPr anchor="ctr"/>
          <a:lstStyle/>
          <a:p>
            <a:pPr algn="ctr">
              <a:lnSpc>
                <a:spcPct val="150000"/>
              </a:lnSpc>
            </a:pPr>
            <a:r>
              <a:rPr lang="pl-PL" dirty="0">
                <a:solidFill>
                  <a:srgbClr val="16243F"/>
                </a:solidFill>
                <a:latin typeface="+mj-lt"/>
                <a:ea typeface="Calibri" pitchFamily="34" charset="-122"/>
                <a:cs typeface="Calibri" pitchFamily="34" charset="-120"/>
              </a:rPr>
              <a:t>Heurystyki bywają adaptacyjne w środowisku codziennym (mało danych, presja czasu), </a:t>
            </a:r>
            <a:r>
              <a:rPr lang="pl-PL" dirty="0" smtClean="0">
                <a:solidFill>
                  <a:srgbClr val="16243F"/>
                </a:solidFill>
                <a:latin typeface="+mj-lt"/>
                <a:ea typeface="Calibri" pitchFamily="34" charset="-122"/>
                <a:cs typeface="Calibri" pitchFamily="34" charset="-120"/>
              </a:rPr>
              <a:t>lecz </a:t>
            </a:r>
            <a:r>
              <a:rPr lang="pl-PL" dirty="0">
                <a:solidFill>
                  <a:srgbClr val="16243F"/>
                </a:solidFill>
                <a:latin typeface="+mj-lt"/>
                <a:ea typeface="Calibri" pitchFamily="34" charset="-122"/>
                <a:cs typeface="Calibri" pitchFamily="34" charset="-120"/>
              </a:rPr>
              <a:t>zawodzą w zadaniach wymagających formalnego rachunku prawdopodobieństwa.</a:t>
            </a:r>
          </a:p>
        </p:txBody>
      </p:sp>
      <p:sp>
        <p:nvSpPr>
          <p:cNvPr id="15" name="Text 13"/>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4/40   ·   Ramy teoretyczne</a:t>
            </a:r>
            <a:endParaRPr lang="en-US" sz="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16243F"/>
          </a:solidFill>
          <a:ln w="12700">
            <a:solidFill>
              <a:srgbClr val="16243F"/>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RAMY TEORETYCZNE</a:t>
            </a:r>
            <a:endParaRPr lang="en-US" sz="900" dirty="0"/>
          </a:p>
        </p:txBody>
      </p:sp>
      <p:sp>
        <p:nvSpPr>
          <p:cNvPr id="4" name="Text 2"/>
          <p:cNvSpPr/>
          <p:nvPr/>
        </p:nvSpPr>
        <p:spPr>
          <a:xfrm>
            <a:off x="457200" y="676656"/>
            <a:ext cx="8229600" cy="5486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Dlaczego mózg nie liczy jak statystyk?</a:t>
            </a:r>
            <a:endParaRPr lang="en-US" sz="2400" dirty="0"/>
          </a:p>
        </p:txBody>
      </p:sp>
      <p:sp>
        <p:nvSpPr>
          <p:cNvPr id="5" name="Shape 3"/>
          <p:cNvSpPr/>
          <p:nvPr/>
        </p:nvSpPr>
        <p:spPr>
          <a:xfrm>
            <a:off x="457200" y="1417320"/>
            <a:ext cx="4023360" cy="960120"/>
          </a:xfrm>
          <a:prstGeom prst="roundRect">
            <a:avLst>
              <a:gd name="adj" fmla="val 5714"/>
            </a:avLst>
          </a:prstGeom>
          <a:solidFill>
            <a:srgbClr val="FFFFFF"/>
          </a:solidFill>
          <a:ln w="12700">
            <a:solidFill>
              <a:schemeClr val="accent1">
                <a:lumMod val="75000"/>
              </a:schemeClr>
            </a:solidFill>
            <a:prstDash val="solid"/>
          </a:ln>
          <a:effectLst>
            <a:outerShdw blurRad="88900" dist="25400" dir="5400000" algn="bl" rotWithShape="0">
              <a:srgbClr val="000000">
                <a:alpha val="10000"/>
              </a:srgbClr>
            </a:outerShdw>
          </a:effectLst>
        </p:spPr>
      </p:sp>
      <p:sp>
        <p:nvSpPr>
          <p:cNvPr id="6" name="Text 4"/>
          <p:cNvSpPr/>
          <p:nvPr/>
        </p:nvSpPr>
        <p:spPr>
          <a:xfrm>
            <a:off x="621792" y="1508760"/>
            <a:ext cx="3657600" cy="292608"/>
          </a:xfrm>
          <a:prstGeom prst="rect">
            <a:avLst/>
          </a:prstGeom>
          <a:noFill/>
          <a:ln/>
        </p:spPr>
        <p:txBody>
          <a:bodyPr wrap="square" lIns="0" tIns="0" rIns="0" bIns="0" rtlCol="0" anchor="ctr"/>
          <a:lstStyle/>
          <a:p>
            <a:pPr marL="0" indent="0">
              <a:buNone/>
            </a:pPr>
            <a:r>
              <a:rPr lang="en-US" sz="1600" b="1" dirty="0">
                <a:solidFill>
                  <a:srgbClr val="16243F"/>
                </a:solidFill>
                <a:latin typeface="Cambria" pitchFamily="34" charset="0"/>
                <a:ea typeface="Cambria" pitchFamily="34" charset="-122"/>
                <a:cs typeface="Cambria" pitchFamily="34" charset="-120"/>
              </a:rPr>
              <a:t>Reprezentatywność</a:t>
            </a:r>
            <a:endParaRPr lang="en-US" sz="1600" dirty="0"/>
          </a:p>
        </p:txBody>
      </p:sp>
      <p:sp>
        <p:nvSpPr>
          <p:cNvPr id="7" name="Text 5"/>
          <p:cNvSpPr/>
          <p:nvPr/>
        </p:nvSpPr>
        <p:spPr>
          <a:xfrm>
            <a:off x="621792" y="1801368"/>
            <a:ext cx="3657600" cy="530352"/>
          </a:xfrm>
          <a:prstGeom prst="rect">
            <a:avLst/>
          </a:prstGeom>
          <a:noFill/>
          <a:ln/>
        </p:spPr>
        <p:txBody>
          <a:bodyPr wrap="square" lIns="0" tIns="0" rIns="0" bIns="0" rtlCol="0" anchor="ctr"/>
          <a:lstStyle/>
          <a:p>
            <a:pPr marL="0" indent="0">
              <a:buNone/>
            </a:pPr>
            <a:r>
              <a:rPr lang="pl-PL" sz="1200" dirty="0" smtClean="0">
                <a:solidFill>
                  <a:srgbClr val="000000"/>
                </a:solidFill>
                <a:latin typeface="Calibri" pitchFamily="34" charset="0"/>
                <a:ea typeface="Calibri" pitchFamily="34" charset="-122"/>
                <a:cs typeface="Calibri" pitchFamily="34" charset="-120"/>
              </a:rPr>
              <a:t>ocena prawdopodobieństwa przez podobieństwo do prototypu, nie przez częstość bazową</a:t>
            </a:r>
            <a:endParaRPr lang="pl-PL" sz="1200" dirty="0">
              <a:solidFill>
                <a:srgbClr val="000000"/>
              </a:solidFill>
            </a:endParaRPr>
          </a:p>
        </p:txBody>
      </p:sp>
      <p:sp>
        <p:nvSpPr>
          <p:cNvPr id="8" name="Shape 6"/>
          <p:cNvSpPr/>
          <p:nvPr/>
        </p:nvSpPr>
        <p:spPr>
          <a:xfrm>
            <a:off x="4681728" y="1417320"/>
            <a:ext cx="4023360" cy="960120"/>
          </a:xfrm>
          <a:prstGeom prst="roundRect">
            <a:avLst>
              <a:gd name="adj" fmla="val 5714"/>
            </a:avLst>
          </a:prstGeom>
          <a:solidFill>
            <a:srgbClr val="FFFFFF"/>
          </a:solidFill>
          <a:ln w="12700">
            <a:solidFill>
              <a:schemeClr val="accent6">
                <a:lumMod val="50000"/>
              </a:schemeClr>
            </a:solidFill>
            <a:prstDash val="solid"/>
          </a:ln>
          <a:effectLst>
            <a:outerShdw blurRad="88900" dist="25400" dir="5400000" algn="bl" rotWithShape="0">
              <a:srgbClr val="000000">
                <a:alpha val="10000"/>
              </a:srgbClr>
            </a:outerShdw>
          </a:effectLst>
        </p:spPr>
      </p:sp>
      <p:sp>
        <p:nvSpPr>
          <p:cNvPr id="9" name="Text 7"/>
          <p:cNvSpPr/>
          <p:nvPr/>
        </p:nvSpPr>
        <p:spPr>
          <a:xfrm>
            <a:off x="4846320" y="1508760"/>
            <a:ext cx="3657600" cy="292608"/>
          </a:xfrm>
          <a:prstGeom prst="rect">
            <a:avLst/>
          </a:prstGeom>
          <a:noFill/>
          <a:ln/>
        </p:spPr>
        <p:txBody>
          <a:bodyPr wrap="square" lIns="0" tIns="0" rIns="0" bIns="0" rtlCol="0" anchor="ctr"/>
          <a:lstStyle/>
          <a:p>
            <a:pPr marL="0" indent="0">
              <a:buNone/>
            </a:pPr>
            <a:r>
              <a:rPr lang="en-US" sz="1600" b="1" dirty="0">
                <a:solidFill>
                  <a:srgbClr val="16243F"/>
                </a:solidFill>
                <a:latin typeface="Cambria" pitchFamily="34" charset="0"/>
                <a:ea typeface="Cambria" pitchFamily="34" charset="-122"/>
                <a:cs typeface="Cambria" pitchFamily="34" charset="-120"/>
              </a:rPr>
              <a:t>Dostępność</a:t>
            </a:r>
            <a:endParaRPr lang="en-US" sz="1600" dirty="0"/>
          </a:p>
        </p:txBody>
      </p:sp>
      <p:sp>
        <p:nvSpPr>
          <p:cNvPr id="10" name="Text 8"/>
          <p:cNvSpPr/>
          <p:nvPr/>
        </p:nvSpPr>
        <p:spPr>
          <a:xfrm>
            <a:off x="4846320" y="1801368"/>
            <a:ext cx="3657600" cy="530352"/>
          </a:xfrm>
          <a:prstGeom prst="rect">
            <a:avLst/>
          </a:prstGeom>
          <a:noFill/>
          <a:ln/>
        </p:spPr>
        <p:txBody>
          <a:bodyPr wrap="square" lIns="0" tIns="0" rIns="0" bIns="0" rtlCol="0" anchor="ctr"/>
          <a:lstStyle/>
          <a:p>
            <a:pPr marL="0" indent="0">
              <a:buNone/>
            </a:pPr>
            <a:r>
              <a:rPr lang="pl-PL" sz="1200" dirty="0" smtClean="0">
                <a:solidFill>
                  <a:schemeClr val="tx2">
                    <a:lumMod val="50000"/>
                  </a:schemeClr>
                </a:solidFill>
                <a:latin typeface="Calibri" pitchFamily="34" charset="0"/>
                <a:ea typeface="Calibri" pitchFamily="34" charset="-122"/>
                <a:cs typeface="Calibri" pitchFamily="34" charset="-120"/>
              </a:rPr>
              <a:t>łatwość przywołania przykładu z pamięci zastępuje rzeczywistą częstość zdarzenia</a:t>
            </a:r>
            <a:endParaRPr lang="pl-PL" sz="1200" dirty="0">
              <a:solidFill>
                <a:schemeClr val="tx2">
                  <a:lumMod val="50000"/>
                </a:schemeClr>
              </a:solidFill>
            </a:endParaRPr>
          </a:p>
        </p:txBody>
      </p:sp>
      <p:sp>
        <p:nvSpPr>
          <p:cNvPr id="11" name="Shape 9"/>
          <p:cNvSpPr/>
          <p:nvPr/>
        </p:nvSpPr>
        <p:spPr>
          <a:xfrm>
            <a:off x="457200" y="2496312"/>
            <a:ext cx="4023360" cy="960120"/>
          </a:xfrm>
          <a:prstGeom prst="roundRect">
            <a:avLst>
              <a:gd name="adj" fmla="val 5714"/>
            </a:avLst>
          </a:prstGeom>
          <a:solidFill>
            <a:srgbClr val="FFFFFF"/>
          </a:solidFill>
          <a:ln w="12700">
            <a:solidFill>
              <a:srgbClr val="7A5D00"/>
            </a:solidFill>
            <a:prstDash val="solid"/>
          </a:ln>
          <a:effectLst>
            <a:outerShdw blurRad="88900" dist="25400" dir="5400000" algn="bl" rotWithShape="0">
              <a:srgbClr val="000000">
                <a:alpha val="10000"/>
              </a:srgbClr>
            </a:outerShdw>
          </a:effectLst>
        </p:spPr>
      </p:sp>
      <p:sp>
        <p:nvSpPr>
          <p:cNvPr id="12" name="Text 10"/>
          <p:cNvSpPr/>
          <p:nvPr/>
        </p:nvSpPr>
        <p:spPr>
          <a:xfrm>
            <a:off x="621792" y="2587752"/>
            <a:ext cx="3657600" cy="292608"/>
          </a:xfrm>
          <a:prstGeom prst="rect">
            <a:avLst/>
          </a:prstGeom>
          <a:noFill/>
          <a:ln/>
        </p:spPr>
        <p:txBody>
          <a:bodyPr wrap="square" lIns="0" tIns="0" rIns="0" bIns="0" rtlCol="0" anchor="ctr"/>
          <a:lstStyle/>
          <a:p>
            <a:pPr marL="0" indent="0">
              <a:buNone/>
            </a:pPr>
            <a:r>
              <a:rPr lang="en-US" sz="1600" b="1" dirty="0">
                <a:solidFill>
                  <a:srgbClr val="16243F"/>
                </a:solidFill>
                <a:latin typeface="Cambria" pitchFamily="34" charset="0"/>
                <a:ea typeface="Cambria" pitchFamily="34" charset="-122"/>
                <a:cs typeface="Cambria" pitchFamily="34" charset="-120"/>
              </a:rPr>
              <a:t>Zakotwiczenie</a:t>
            </a:r>
            <a:endParaRPr lang="en-US" sz="1600" dirty="0"/>
          </a:p>
        </p:txBody>
      </p:sp>
      <p:sp>
        <p:nvSpPr>
          <p:cNvPr id="13" name="Text 11"/>
          <p:cNvSpPr/>
          <p:nvPr/>
        </p:nvSpPr>
        <p:spPr>
          <a:xfrm>
            <a:off x="621792" y="2880360"/>
            <a:ext cx="3657600" cy="530352"/>
          </a:xfrm>
          <a:prstGeom prst="rect">
            <a:avLst/>
          </a:prstGeom>
          <a:noFill/>
          <a:ln/>
        </p:spPr>
        <p:txBody>
          <a:bodyPr wrap="square" lIns="0" tIns="0" rIns="0" bIns="0" rtlCol="0" anchor="ctr"/>
          <a:lstStyle/>
          <a:p>
            <a:pPr marL="0" indent="0">
              <a:buNone/>
            </a:pPr>
            <a:r>
              <a:rPr lang="pl-PL" sz="1200" dirty="0" smtClean="0">
                <a:solidFill>
                  <a:schemeClr val="tx2">
                    <a:lumMod val="50000"/>
                  </a:schemeClr>
                </a:solidFill>
                <a:latin typeface="Calibri" pitchFamily="34" charset="0"/>
                <a:ea typeface="Calibri" pitchFamily="34" charset="-122"/>
                <a:cs typeface="Calibri" pitchFamily="34" charset="-120"/>
              </a:rPr>
              <a:t>pierwsza napotkana liczba nieproporcjonalnie wpływa na końcowy szacunek</a:t>
            </a:r>
            <a:endParaRPr lang="pl-PL" sz="1200" dirty="0">
              <a:solidFill>
                <a:schemeClr val="tx2">
                  <a:lumMod val="50000"/>
                </a:schemeClr>
              </a:solidFill>
            </a:endParaRPr>
          </a:p>
        </p:txBody>
      </p:sp>
      <p:sp>
        <p:nvSpPr>
          <p:cNvPr id="14" name="Shape 12"/>
          <p:cNvSpPr/>
          <p:nvPr/>
        </p:nvSpPr>
        <p:spPr>
          <a:xfrm>
            <a:off x="4681728" y="2496312"/>
            <a:ext cx="4023360" cy="960120"/>
          </a:xfrm>
          <a:prstGeom prst="roundRect">
            <a:avLst>
              <a:gd name="adj" fmla="val 5714"/>
            </a:avLst>
          </a:prstGeom>
          <a:solidFill>
            <a:srgbClr val="FFFFFF"/>
          </a:solidFill>
          <a:ln w="12700">
            <a:solidFill>
              <a:schemeClr val="accent2">
                <a:lumMod val="50000"/>
              </a:schemeClr>
            </a:solidFill>
            <a:prstDash val="solid"/>
          </a:ln>
          <a:effectLst>
            <a:outerShdw blurRad="88900" dist="25400" dir="5400000" algn="bl" rotWithShape="0">
              <a:srgbClr val="000000">
                <a:alpha val="10000"/>
              </a:srgbClr>
            </a:outerShdw>
          </a:effectLst>
        </p:spPr>
      </p:sp>
      <p:sp>
        <p:nvSpPr>
          <p:cNvPr id="15" name="Text 13"/>
          <p:cNvSpPr/>
          <p:nvPr/>
        </p:nvSpPr>
        <p:spPr>
          <a:xfrm>
            <a:off x="4846320" y="2587752"/>
            <a:ext cx="3657600" cy="292608"/>
          </a:xfrm>
          <a:prstGeom prst="rect">
            <a:avLst/>
          </a:prstGeom>
          <a:noFill/>
          <a:ln/>
        </p:spPr>
        <p:txBody>
          <a:bodyPr wrap="square" lIns="0" tIns="0" rIns="0" bIns="0" rtlCol="0" anchor="ctr"/>
          <a:lstStyle/>
          <a:p>
            <a:pPr marL="0" indent="0">
              <a:buNone/>
            </a:pPr>
            <a:r>
              <a:rPr lang="en-US" sz="1600" b="1" dirty="0">
                <a:solidFill>
                  <a:srgbClr val="16243F"/>
                </a:solidFill>
                <a:latin typeface="Cambria" pitchFamily="34" charset="0"/>
                <a:ea typeface="Cambria" pitchFamily="34" charset="-122"/>
                <a:cs typeface="Cambria" pitchFamily="34" charset="-120"/>
              </a:rPr>
              <a:t>Ograniczenia pamięci roboczej</a:t>
            </a:r>
            <a:endParaRPr lang="en-US" sz="1600" dirty="0"/>
          </a:p>
        </p:txBody>
      </p:sp>
      <p:sp>
        <p:nvSpPr>
          <p:cNvPr id="16" name="Text 14"/>
          <p:cNvSpPr/>
          <p:nvPr/>
        </p:nvSpPr>
        <p:spPr>
          <a:xfrm>
            <a:off x="4846320" y="2880360"/>
            <a:ext cx="3657600" cy="530352"/>
          </a:xfrm>
          <a:prstGeom prst="rect">
            <a:avLst/>
          </a:prstGeom>
          <a:noFill/>
          <a:ln/>
        </p:spPr>
        <p:txBody>
          <a:bodyPr wrap="square" lIns="0" tIns="0" rIns="0" bIns="0" rtlCol="0" anchor="ctr"/>
          <a:lstStyle/>
          <a:p>
            <a:pPr marL="0" indent="0">
              <a:buNone/>
            </a:pPr>
            <a:r>
              <a:rPr lang="pl-PL" sz="1200" dirty="0" smtClean="0">
                <a:solidFill>
                  <a:schemeClr val="tx2">
                    <a:lumMod val="50000"/>
                  </a:schemeClr>
                </a:solidFill>
                <a:latin typeface="Calibri" pitchFamily="34" charset="0"/>
                <a:ea typeface="Calibri" pitchFamily="34" charset="-122"/>
                <a:cs typeface="Calibri" pitchFamily="34" charset="-120"/>
              </a:rPr>
              <a:t>rachunek warunkowy wymaga utrzymania wielu liczb naraz - rzadko to robimy spontanicznie</a:t>
            </a:r>
            <a:endParaRPr lang="pl-PL" sz="1200" dirty="0">
              <a:solidFill>
                <a:schemeClr val="tx2">
                  <a:lumMod val="50000"/>
                </a:schemeClr>
              </a:solidFill>
            </a:endParaRPr>
          </a:p>
        </p:txBody>
      </p:sp>
      <p:sp>
        <p:nvSpPr>
          <p:cNvPr id="17" name="Shape 15"/>
          <p:cNvSpPr/>
          <p:nvPr/>
        </p:nvSpPr>
        <p:spPr>
          <a:xfrm>
            <a:off x="457200" y="3575304"/>
            <a:ext cx="4023360" cy="960120"/>
          </a:xfrm>
          <a:prstGeom prst="roundRect">
            <a:avLst>
              <a:gd name="adj" fmla="val 5714"/>
            </a:avLst>
          </a:prstGeom>
          <a:solidFill>
            <a:srgbClr val="FFFFFF"/>
          </a:solidFill>
          <a:ln w="12700">
            <a:solidFill>
              <a:srgbClr val="3C5B19"/>
            </a:solidFill>
            <a:prstDash val="solid"/>
          </a:ln>
          <a:effectLst>
            <a:outerShdw blurRad="88900" dist="25400" dir="5400000" algn="bl" rotWithShape="0">
              <a:srgbClr val="000000">
                <a:alpha val="10000"/>
              </a:srgbClr>
            </a:outerShdw>
          </a:effectLst>
        </p:spPr>
      </p:sp>
      <p:sp>
        <p:nvSpPr>
          <p:cNvPr id="18" name="Text 16"/>
          <p:cNvSpPr/>
          <p:nvPr/>
        </p:nvSpPr>
        <p:spPr>
          <a:xfrm>
            <a:off x="621792" y="3666744"/>
            <a:ext cx="3742052" cy="292608"/>
          </a:xfrm>
          <a:prstGeom prst="rect">
            <a:avLst/>
          </a:prstGeom>
          <a:noFill/>
          <a:ln/>
        </p:spPr>
        <p:txBody>
          <a:bodyPr wrap="square" lIns="0" tIns="0" rIns="0" bIns="0" rtlCol="0" anchor="ctr"/>
          <a:lstStyle/>
          <a:p>
            <a:pPr marL="0" indent="0">
              <a:buNone/>
            </a:pPr>
            <a:r>
              <a:rPr lang="en-US" sz="1600" b="1" dirty="0">
                <a:solidFill>
                  <a:srgbClr val="16243F"/>
                </a:solidFill>
                <a:latin typeface="Cambria" pitchFamily="34" charset="0"/>
                <a:ea typeface="Cambria" pitchFamily="34" charset="-122"/>
                <a:cs typeface="Cambria" pitchFamily="34" charset="-120"/>
              </a:rPr>
              <a:t>Zastępowanie pytań </a:t>
            </a:r>
            <a:r>
              <a:rPr lang="en-US" sz="1400" dirty="0">
                <a:solidFill>
                  <a:srgbClr val="16243F"/>
                </a:solidFill>
                <a:latin typeface="Cambria" pitchFamily="34" charset="0"/>
                <a:ea typeface="Cambria" pitchFamily="34" charset="-122"/>
                <a:cs typeface="Cambria" pitchFamily="34" charset="-120"/>
              </a:rPr>
              <a:t>(attribute substitution)</a:t>
            </a:r>
            <a:endParaRPr lang="en-US" sz="1400" dirty="0"/>
          </a:p>
        </p:txBody>
      </p:sp>
      <p:sp>
        <p:nvSpPr>
          <p:cNvPr id="19" name="Text 17"/>
          <p:cNvSpPr/>
          <p:nvPr/>
        </p:nvSpPr>
        <p:spPr>
          <a:xfrm>
            <a:off x="621792" y="3959352"/>
            <a:ext cx="3657600" cy="530352"/>
          </a:xfrm>
          <a:prstGeom prst="rect">
            <a:avLst/>
          </a:prstGeom>
          <a:noFill/>
          <a:ln/>
        </p:spPr>
        <p:txBody>
          <a:bodyPr wrap="square" lIns="0" tIns="0" rIns="0" bIns="0" rtlCol="0" anchor="ctr"/>
          <a:lstStyle/>
          <a:p>
            <a:pPr marL="0" indent="0">
              <a:buNone/>
            </a:pPr>
            <a:r>
              <a:rPr lang="pl-PL" sz="1200" dirty="0" smtClean="0">
                <a:solidFill>
                  <a:schemeClr val="tx2">
                    <a:lumMod val="50000"/>
                  </a:schemeClr>
                </a:solidFill>
                <a:latin typeface="Calibri" pitchFamily="34" charset="0"/>
                <a:ea typeface="Calibri" pitchFamily="34" charset="-122"/>
                <a:cs typeface="Calibri" pitchFamily="34" charset="-120"/>
              </a:rPr>
              <a:t>trudne pytanie o prawdopodobieństwo zastępujemy łatwiejszym pytaniem o podobieństwo lub emocję</a:t>
            </a:r>
            <a:endParaRPr lang="pl-PL" sz="1200" dirty="0">
              <a:solidFill>
                <a:schemeClr val="tx2">
                  <a:lumMod val="50000"/>
                </a:schemeClr>
              </a:solidFill>
            </a:endParaRPr>
          </a:p>
        </p:txBody>
      </p:sp>
      <p:sp>
        <p:nvSpPr>
          <p:cNvPr id="20" name="Shape 18"/>
          <p:cNvSpPr/>
          <p:nvPr/>
        </p:nvSpPr>
        <p:spPr>
          <a:xfrm>
            <a:off x="4681728" y="3575304"/>
            <a:ext cx="4023360" cy="960120"/>
          </a:xfrm>
          <a:prstGeom prst="roundRect">
            <a:avLst>
              <a:gd name="adj" fmla="val 5714"/>
            </a:avLst>
          </a:prstGeom>
          <a:solidFill>
            <a:srgbClr val="FFFFFF"/>
          </a:solidFill>
          <a:ln w="12700">
            <a:solidFill>
              <a:srgbClr val="3E1B59"/>
            </a:solidFill>
            <a:prstDash val="solid"/>
          </a:ln>
          <a:effectLst>
            <a:outerShdw blurRad="88900" dist="25400" dir="5400000" algn="bl" rotWithShape="0">
              <a:srgbClr val="000000">
                <a:alpha val="10000"/>
              </a:srgbClr>
            </a:outerShdw>
          </a:effectLst>
        </p:spPr>
      </p:sp>
      <p:sp>
        <p:nvSpPr>
          <p:cNvPr id="21" name="Text 19"/>
          <p:cNvSpPr/>
          <p:nvPr/>
        </p:nvSpPr>
        <p:spPr>
          <a:xfrm>
            <a:off x="4846320" y="3666744"/>
            <a:ext cx="3657600" cy="292608"/>
          </a:xfrm>
          <a:prstGeom prst="rect">
            <a:avLst/>
          </a:prstGeom>
          <a:noFill/>
          <a:ln/>
        </p:spPr>
        <p:txBody>
          <a:bodyPr wrap="square" lIns="0" tIns="0" rIns="0" bIns="0" rtlCol="0" anchor="ctr"/>
          <a:lstStyle/>
          <a:p>
            <a:pPr marL="0" indent="0">
              <a:buNone/>
            </a:pPr>
            <a:r>
              <a:rPr lang="en-US" sz="1600" b="1" dirty="0">
                <a:solidFill>
                  <a:srgbClr val="16243F"/>
                </a:solidFill>
                <a:latin typeface="Cambria" pitchFamily="34" charset="0"/>
                <a:ea typeface="Cambria" pitchFamily="34" charset="-122"/>
                <a:cs typeface="Cambria" pitchFamily="34" charset="-120"/>
              </a:rPr>
              <a:t>Narracja i emocje</a:t>
            </a:r>
            <a:endParaRPr lang="en-US" sz="1600" dirty="0"/>
          </a:p>
        </p:txBody>
      </p:sp>
      <p:sp>
        <p:nvSpPr>
          <p:cNvPr id="22" name="Text 20"/>
          <p:cNvSpPr/>
          <p:nvPr/>
        </p:nvSpPr>
        <p:spPr>
          <a:xfrm>
            <a:off x="4846320" y="3959352"/>
            <a:ext cx="3657600" cy="530352"/>
          </a:xfrm>
          <a:prstGeom prst="rect">
            <a:avLst/>
          </a:prstGeom>
          <a:noFill/>
          <a:ln/>
        </p:spPr>
        <p:txBody>
          <a:bodyPr wrap="square" lIns="0" tIns="0" rIns="0" bIns="0" rtlCol="0" anchor="ctr"/>
          <a:lstStyle/>
          <a:p>
            <a:pPr marL="0" indent="0">
              <a:buNone/>
            </a:pPr>
            <a:r>
              <a:rPr lang="pl-PL" sz="1200" dirty="0" smtClean="0">
                <a:solidFill>
                  <a:schemeClr val="tx2">
                    <a:lumMod val="50000"/>
                  </a:schemeClr>
                </a:solidFill>
                <a:latin typeface="Calibri" pitchFamily="34" charset="0"/>
                <a:ea typeface="Calibri" pitchFamily="34" charset="-122"/>
                <a:cs typeface="Calibri" pitchFamily="34" charset="-120"/>
              </a:rPr>
              <a:t>spójna historia jest przekonująca niezależnie od jej statystycznej wiarygodności</a:t>
            </a:r>
            <a:endParaRPr lang="pl-PL" sz="1200" dirty="0">
              <a:solidFill>
                <a:schemeClr val="tx2">
                  <a:lumMod val="50000"/>
                </a:schemeClr>
              </a:solidFill>
            </a:endParaRPr>
          </a:p>
        </p:txBody>
      </p:sp>
      <p:sp>
        <p:nvSpPr>
          <p:cNvPr id="23" name="Text 21"/>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5/40   ·   Ramy teoretyczne</a:t>
            </a:r>
            <a:endParaRPr lang="en-US" sz="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6B5B95"/>
          </a:solidFill>
          <a:ln w="12700">
            <a:solidFill>
              <a:srgbClr val="6B5B9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 · LOSOWOŚĆ</a:t>
            </a:r>
            <a:endParaRPr lang="en-US" sz="900" dirty="0"/>
          </a:p>
        </p:txBody>
      </p:sp>
      <p:sp>
        <p:nvSpPr>
          <p:cNvPr id="4" name="Text 2"/>
          <p:cNvSpPr/>
          <p:nvPr/>
        </p:nvSpPr>
        <p:spPr>
          <a:xfrm>
            <a:off x="457200" y="676656"/>
            <a:ext cx="8229600" cy="565884"/>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Która sekwencja jest bardziej losowa?</a:t>
            </a:r>
            <a:endParaRPr lang="en-US" sz="2400" dirty="0"/>
          </a:p>
        </p:txBody>
      </p:sp>
      <p:sp>
        <p:nvSpPr>
          <p:cNvPr id="5" name="Shape 3"/>
          <p:cNvSpPr/>
          <p:nvPr/>
        </p:nvSpPr>
        <p:spPr>
          <a:xfrm>
            <a:off x="449766" y="1435608"/>
            <a:ext cx="4782634" cy="384048"/>
          </a:xfrm>
          <a:prstGeom prst="roundRect">
            <a:avLst>
              <a:gd name="adj" fmla="val 14286"/>
            </a:avLst>
          </a:prstGeom>
          <a:solidFill>
            <a:srgbClr val="EDF1F7"/>
          </a:solidFill>
          <a:ln w="12700">
            <a:solidFill>
              <a:srgbClr val="E1E4EA"/>
            </a:solidFill>
            <a:prstDash val="solid"/>
          </a:ln>
        </p:spPr>
      </p:sp>
      <p:sp>
        <p:nvSpPr>
          <p:cNvPr id="6" name="Text 4"/>
          <p:cNvSpPr/>
          <p:nvPr/>
        </p:nvSpPr>
        <p:spPr>
          <a:xfrm>
            <a:off x="538852" y="1435608"/>
            <a:ext cx="4693548" cy="384048"/>
          </a:xfrm>
          <a:prstGeom prst="rect">
            <a:avLst/>
          </a:prstGeom>
          <a:noFill/>
          <a:ln/>
        </p:spPr>
        <p:txBody>
          <a:bodyPr wrap="square" lIns="0" tIns="0" rIns="0" bIns="0" rtlCol="0" anchor="ctr"/>
          <a:lstStyle/>
          <a:p>
            <a:pPr marL="0" indent="0">
              <a:buNone/>
            </a:pPr>
            <a:r>
              <a:rPr lang="en-US" sz="1400" b="1" dirty="0">
                <a:solidFill>
                  <a:srgbClr val="16243F"/>
                </a:solidFill>
                <a:latin typeface="Calibri" pitchFamily="34" charset="0"/>
                <a:ea typeface="Calibri" pitchFamily="34" charset="-122"/>
                <a:cs typeface="Calibri" pitchFamily="34" charset="-120"/>
              </a:rPr>
              <a:t>Rzut monetą sześć razy. Która sekwencja jest bardziej losowa?</a:t>
            </a:r>
            <a:endParaRPr lang="en-US" sz="1400" dirty="0"/>
          </a:p>
        </p:txBody>
      </p:sp>
      <p:grpSp>
        <p:nvGrpSpPr>
          <p:cNvPr id="38" name="Grupa 37"/>
          <p:cNvGrpSpPr/>
          <p:nvPr/>
        </p:nvGrpSpPr>
        <p:grpSpPr>
          <a:xfrm>
            <a:off x="457200" y="1976552"/>
            <a:ext cx="3757961" cy="432000"/>
            <a:chOff x="457200" y="1664802"/>
            <a:chExt cx="3757961" cy="432000"/>
          </a:xfrm>
        </p:grpSpPr>
        <p:sp>
          <p:nvSpPr>
            <p:cNvPr id="7" name="Shape 5"/>
            <p:cNvSpPr/>
            <p:nvPr/>
          </p:nvSpPr>
          <p:spPr>
            <a:xfrm>
              <a:off x="457200" y="1664802"/>
              <a:ext cx="3757961" cy="432000"/>
            </a:xfrm>
            <a:prstGeom prst="roundRect">
              <a:avLst>
                <a:gd name="adj" fmla="val 10714"/>
              </a:avLst>
            </a:prstGeom>
            <a:solidFill>
              <a:srgbClr val="FFFFFF"/>
            </a:solidFill>
            <a:ln w="12700">
              <a:solidFill>
                <a:srgbClr val="D0D4DA"/>
              </a:solidFill>
              <a:prstDash val="solid"/>
            </a:ln>
            <a:effectLst>
              <a:outerShdw blurRad="25400" dist="12700" dir="2700000" algn="tl" rotWithShape="0">
                <a:prstClr val="black">
                  <a:alpha val="20000"/>
                </a:prstClr>
              </a:outerShdw>
            </a:effectLst>
          </p:spPr>
        </p:sp>
        <p:sp>
          <p:nvSpPr>
            <p:cNvPr id="8" name="Shape 6"/>
            <p:cNvSpPr/>
            <p:nvPr/>
          </p:nvSpPr>
          <p:spPr>
            <a:xfrm>
              <a:off x="548640" y="1764792"/>
              <a:ext cx="237744" cy="237744"/>
            </a:xfrm>
            <a:prstGeom prst="ellipse">
              <a:avLst/>
            </a:prstGeom>
            <a:solidFill>
              <a:srgbClr val="EDF1F7"/>
            </a:solidFill>
            <a:ln w="12700">
              <a:solidFill>
                <a:srgbClr val="16243F"/>
              </a:solidFill>
              <a:prstDash val="solid"/>
            </a:ln>
          </p:spPr>
        </p:sp>
        <p:sp>
          <p:nvSpPr>
            <p:cNvPr id="9" name="Text 7"/>
            <p:cNvSpPr/>
            <p:nvPr/>
          </p:nvSpPr>
          <p:spPr>
            <a:xfrm>
              <a:off x="548640" y="1764792"/>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0" name="Text 8"/>
            <p:cNvSpPr/>
            <p:nvPr/>
          </p:nvSpPr>
          <p:spPr>
            <a:xfrm>
              <a:off x="859536" y="1664802"/>
              <a:ext cx="3266415" cy="432000"/>
            </a:xfrm>
            <a:prstGeom prst="rect">
              <a:avLst/>
            </a:prstGeom>
            <a:noFill/>
            <a:ln/>
          </p:spPr>
          <p:txBody>
            <a:bodyPr wrap="square" lIns="0" tIns="0" rIns="0" bIns="0" rtlCol="0" anchor="ctr"/>
            <a:lstStyle/>
            <a:p>
              <a:pPr marL="0" indent="0">
                <a:buNone/>
              </a:pPr>
              <a:r>
                <a:rPr lang="en-US" sz="1400" dirty="0">
                  <a:solidFill>
                    <a:srgbClr val="2B2D33"/>
                  </a:solidFill>
                  <a:latin typeface="Calibri" pitchFamily="34" charset="0"/>
                  <a:ea typeface="Calibri" pitchFamily="34" charset="-122"/>
                  <a:cs typeface="Calibri" pitchFamily="34" charset="-120"/>
                </a:rPr>
                <a:t>O R O R R O</a:t>
              </a:r>
              <a:endParaRPr lang="en-US" sz="1400" dirty="0"/>
            </a:p>
          </p:txBody>
        </p:sp>
      </p:grpSp>
      <p:grpSp>
        <p:nvGrpSpPr>
          <p:cNvPr id="39" name="Grupa 38"/>
          <p:cNvGrpSpPr/>
          <p:nvPr/>
        </p:nvGrpSpPr>
        <p:grpSpPr>
          <a:xfrm>
            <a:off x="449766" y="2476980"/>
            <a:ext cx="3765395" cy="432000"/>
            <a:chOff x="457200" y="2268306"/>
            <a:chExt cx="3765395" cy="432000"/>
          </a:xfrm>
        </p:grpSpPr>
        <p:sp>
          <p:nvSpPr>
            <p:cNvPr id="11" name="Shape 9"/>
            <p:cNvSpPr/>
            <p:nvPr/>
          </p:nvSpPr>
          <p:spPr>
            <a:xfrm>
              <a:off x="457200" y="2268306"/>
              <a:ext cx="3765395" cy="432000"/>
            </a:xfrm>
            <a:prstGeom prst="roundRect">
              <a:avLst>
                <a:gd name="adj" fmla="val 10714"/>
              </a:avLst>
            </a:prstGeom>
            <a:solidFill>
              <a:srgbClr val="FFFFFF"/>
            </a:solidFill>
            <a:ln w="12700">
              <a:solidFill>
                <a:srgbClr val="D0D4DA"/>
              </a:solidFill>
              <a:prstDash val="solid"/>
            </a:ln>
            <a:effectLst>
              <a:outerShdw blurRad="25400" dist="12700" dir="2700000" algn="tl" rotWithShape="0">
                <a:prstClr val="black">
                  <a:alpha val="20000"/>
                </a:prstClr>
              </a:outerShdw>
            </a:effectLst>
          </p:spPr>
        </p:sp>
        <p:sp>
          <p:nvSpPr>
            <p:cNvPr id="12" name="Shape 10"/>
            <p:cNvSpPr/>
            <p:nvPr/>
          </p:nvSpPr>
          <p:spPr>
            <a:xfrm>
              <a:off x="548640" y="2368296"/>
              <a:ext cx="237744" cy="237744"/>
            </a:xfrm>
            <a:prstGeom prst="ellipse">
              <a:avLst/>
            </a:prstGeom>
            <a:solidFill>
              <a:srgbClr val="EDF1F7"/>
            </a:solidFill>
            <a:ln w="12700">
              <a:solidFill>
                <a:srgbClr val="16243F"/>
              </a:solidFill>
              <a:prstDash val="solid"/>
            </a:ln>
          </p:spPr>
        </p:sp>
        <p:sp>
          <p:nvSpPr>
            <p:cNvPr id="13" name="Text 11"/>
            <p:cNvSpPr/>
            <p:nvPr/>
          </p:nvSpPr>
          <p:spPr>
            <a:xfrm>
              <a:off x="548640" y="2368296"/>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4" name="Text 12"/>
            <p:cNvSpPr/>
            <p:nvPr/>
          </p:nvSpPr>
          <p:spPr>
            <a:xfrm>
              <a:off x="859536" y="2268306"/>
              <a:ext cx="3273849" cy="432000"/>
            </a:xfrm>
            <a:prstGeom prst="rect">
              <a:avLst/>
            </a:prstGeom>
            <a:noFill/>
            <a:ln/>
          </p:spPr>
          <p:txBody>
            <a:bodyPr wrap="square" lIns="0" tIns="0" rIns="0" bIns="0" rtlCol="0" anchor="ctr"/>
            <a:lstStyle/>
            <a:p>
              <a:pPr marL="0" indent="0">
                <a:buNone/>
              </a:pPr>
              <a:r>
                <a:rPr lang="en-US" sz="1400" dirty="0">
                  <a:solidFill>
                    <a:srgbClr val="2B2D33"/>
                  </a:solidFill>
                  <a:latin typeface="Calibri" pitchFamily="34" charset="0"/>
                  <a:ea typeface="Calibri" pitchFamily="34" charset="-122"/>
                  <a:cs typeface="Calibri" pitchFamily="34" charset="-120"/>
                </a:rPr>
                <a:t>O O O R R R</a:t>
              </a:r>
              <a:endParaRPr lang="en-US" sz="1400" dirty="0"/>
            </a:p>
          </p:txBody>
        </p:sp>
      </p:grpSp>
      <p:grpSp>
        <p:nvGrpSpPr>
          <p:cNvPr id="40" name="Grupa 39"/>
          <p:cNvGrpSpPr/>
          <p:nvPr/>
        </p:nvGrpSpPr>
        <p:grpSpPr>
          <a:xfrm>
            <a:off x="457200" y="2976147"/>
            <a:ext cx="3757961" cy="432000"/>
            <a:chOff x="457200" y="2871810"/>
            <a:chExt cx="3757961" cy="432000"/>
          </a:xfrm>
        </p:grpSpPr>
        <p:sp>
          <p:nvSpPr>
            <p:cNvPr id="15" name="Shape 13"/>
            <p:cNvSpPr/>
            <p:nvPr/>
          </p:nvSpPr>
          <p:spPr>
            <a:xfrm>
              <a:off x="457200" y="2871810"/>
              <a:ext cx="3757961" cy="432000"/>
            </a:xfrm>
            <a:prstGeom prst="roundRect">
              <a:avLst>
                <a:gd name="adj" fmla="val 10714"/>
              </a:avLst>
            </a:prstGeom>
            <a:solidFill>
              <a:srgbClr val="FFFFFF"/>
            </a:solidFill>
            <a:ln w="12700">
              <a:solidFill>
                <a:srgbClr val="D0D4DA"/>
              </a:solidFill>
              <a:prstDash val="solid"/>
            </a:ln>
            <a:effectLst>
              <a:outerShdw blurRad="25400" dist="12700" dir="2700000" algn="tl" rotWithShape="0">
                <a:prstClr val="black">
                  <a:alpha val="20000"/>
                </a:prstClr>
              </a:outerShdw>
            </a:effectLst>
          </p:spPr>
        </p:sp>
        <p:sp>
          <p:nvSpPr>
            <p:cNvPr id="16" name="Shape 14"/>
            <p:cNvSpPr/>
            <p:nvPr/>
          </p:nvSpPr>
          <p:spPr>
            <a:xfrm>
              <a:off x="548640" y="2971800"/>
              <a:ext cx="237744" cy="237744"/>
            </a:xfrm>
            <a:prstGeom prst="ellipse">
              <a:avLst/>
            </a:prstGeom>
            <a:solidFill>
              <a:srgbClr val="EDF1F7"/>
            </a:solidFill>
            <a:ln w="12700">
              <a:solidFill>
                <a:srgbClr val="16243F"/>
              </a:solidFill>
              <a:prstDash val="solid"/>
            </a:ln>
          </p:spPr>
        </p:sp>
        <p:sp>
          <p:nvSpPr>
            <p:cNvPr id="17" name="Text 15"/>
            <p:cNvSpPr/>
            <p:nvPr/>
          </p:nvSpPr>
          <p:spPr>
            <a:xfrm>
              <a:off x="548640" y="2971800"/>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C</a:t>
              </a:r>
              <a:endParaRPr lang="en-US" sz="1000" dirty="0"/>
            </a:p>
          </p:txBody>
        </p:sp>
        <p:sp>
          <p:nvSpPr>
            <p:cNvPr id="18" name="Text 16"/>
            <p:cNvSpPr/>
            <p:nvPr/>
          </p:nvSpPr>
          <p:spPr>
            <a:xfrm>
              <a:off x="859535" y="2871810"/>
              <a:ext cx="3266415" cy="432000"/>
            </a:xfrm>
            <a:prstGeom prst="rect">
              <a:avLst/>
            </a:prstGeom>
            <a:noFill/>
            <a:ln/>
          </p:spPr>
          <p:txBody>
            <a:bodyPr wrap="square" lIns="0" tIns="0" rIns="0" bIns="0" rtlCol="0" anchor="ctr"/>
            <a:lstStyle/>
            <a:p>
              <a:pPr marL="0" indent="0">
                <a:buNone/>
              </a:pPr>
              <a:r>
                <a:rPr lang="en-US" sz="1400" dirty="0">
                  <a:solidFill>
                    <a:srgbClr val="2B2D33"/>
                  </a:solidFill>
                  <a:latin typeface="Calibri" pitchFamily="34" charset="0"/>
                  <a:ea typeface="Calibri" pitchFamily="34" charset="-122"/>
                  <a:cs typeface="Calibri" pitchFamily="34" charset="-120"/>
                </a:rPr>
                <a:t>O O O O O O</a:t>
              </a:r>
              <a:endParaRPr lang="en-US" sz="1400" dirty="0"/>
            </a:p>
          </p:txBody>
        </p:sp>
      </p:grpSp>
      <p:grpSp>
        <p:nvGrpSpPr>
          <p:cNvPr id="41" name="Grupa 40"/>
          <p:cNvGrpSpPr/>
          <p:nvPr/>
        </p:nvGrpSpPr>
        <p:grpSpPr>
          <a:xfrm>
            <a:off x="457200" y="3475314"/>
            <a:ext cx="3757961" cy="432000"/>
            <a:chOff x="457200" y="3475314"/>
            <a:chExt cx="3757961" cy="432000"/>
          </a:xfrm>
        </p:grpSpPr>
        <p:sp>
          <p:nvSpPr>
            <p:cNvPr id="19" name="Shape 17"/>
            <p:cNvSpPr/>
            <p:nvPr/>
          </p:nvSpPr>
          <p:spPr>
            <a:xfrm>
              <a:off x="457200" y="3475314"/>
              <a:ext cx="3757961" cy="432000"/>
            </a:xfrm>
            <a:prstGeom prst="roundRect">
              <a:avLst>
                <a:gd name="adj" fmla="val 10714"/>
              </a:avLst>
            </a:prstGeom>
            <a:solidFill>
              <a:srgbClr val="FFFFFF"/>
            </a:solidFill>
            <a:ln w="12700">
              <a:solidFill>
                <a:srgbClr val="D0D4DA"/>
              </a:solidFill>
              <a:prstDash val="solid"/>
            </a:ln>
            <a:effectLst>
              <a:outerShdw blurRad="25400" dist="12700" dir="2700000" algn="tl" rotWithShape="0">
                <a:prstClr val="black">
                  <a:alpha val="20000"/>
                </a:prstClr>
              </a:outerShdw>
            </a:effectLst>
          </p:spPr>
        </p:sp>
        <p:sp>
          <p:nvSpPr>
            <p:cNvPr id="20" name="Shape 18"/>
            <p:cNvSpPr/>
            <p:nvPr/>
          </p:nvSpPr>
          <p:spPr>
            <a:xfrm>
              <a:off x="548640" y="3575304"/>
              <a:ext cx="237744" cy="237744"/>
            </a:xfrm>
            <a:prstGeom prst="ellipse">
              <a:avLst/>
            </a:prstGeom>
            <a:solidFill>
              <a:srgbClr val="EDF1F7"/>
            </a:solidFill>
            <a:ln w="12700">
              <a:solidFill>
                <a:srgbClr val="16243F"/>
              </a:solidFill>
              <a:prstDash val="solid"/>
            </a:ln>
          </p:spPr>
        </p:sp>
        <p:sp>
          <p:nvSpPr>
            <p:cNvPr id="21" name="Text 19"/>
            <p:cNvSpPr/>
            <p:nvPr/>
          </p:nvSpPr>
          <p:spPr>
            <a:xfrm>
              <a:off x="548640" y="3575304"/>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D</a:t>
              </a:r>
              <a:endParaRPr lang="en-US" sz="1000" dirty="0"/>
            </a:p>
          </p:txBody>
        </p:sp>
        <p:sp>
          <p:nvSpPr>
            <p:cNvPr id="22" name="Text 20"/>
            <p:cNvSpPr/>
            <p:nvPr/>
          </p:nvSpPr>
          <p:spPr>
            <a:xfrm>
              <a:off x="859536" y="3475314"/>
              <a:ext cx="3355625" cy="432000"/>
            </a:xfrm>
            <a:prstGeom prst="rect">
              <a:avLst/>
            </a:prstGeom>
            <a:noFill/>
            <a:ln/>
          </p:spPr>
          <p:txBody>
            <a:bodyPr wrap="square" lIns="0" tIns="0" rIns="0" bIns="0" rtlCol="0" anchor="ctr"/>
            <a:lstStyle/>
            <a:p>
              <a:r>
                <a:rPr lang="pl-PL" sz="1200" dirty="0">
                  <a:solidFill>
                    <a:srgbClr val="2B2D33"/>
                  </a:solidFill>
                  <a:latin typeface="Calibri" pitchFamily="34" charset="0"/>
                  <a:ea typeface="Calibri" pitchFamily="34" charset="-122"/>
                  <a:cs typeface="Calibri" pitchFamily="34" charset="-120"/>
                </a:rPr>
                <a:t>Wszystkie sekwencje są jednakowo prawdopodobne</a:t>
              </a:r>
              <a:endParaRPr lang="pl-PL" sz="1200" dirty="0">
                <a:solidFill>
                  <a:srgbClr val="2B2D33"/>
                </a:solidFill>
                <a:latin typeface="Calibri" pitchFamily="34" charset="0"/>
                <a:ea typeface="Calibri" pitchFamily="34" charset="-122"/>
                <a:cs typeface="Calibri" pitchFamily="34" charset="-120"/>
              </a:endParaRPr>
            </a:p>
          </p:txBody>
        </p:sp>
      </p:grpSp>
      <p:sp>
        <p:nvSpPr>
          <p:cNvPr id="25" name="Shape 23"/>
          <p:cNvSpPr/>
          <p:nvPr/>
        </p:nvSpPr>
        <p:spPr>
          <a:xfrm>
            <a:off x="7406640" y="4034214"/>
            <a:ext cx="1280160" cy="777908"/>
          </a:xfrm>
          <a:prstGeom prst="roundRect">
            <a:avLst>
              <a:gd name="adj" fmla="val 6000"/>
            </a:avLst>
          </a:prstGeom>
          <a:solidFill>
            <a:srgbClr val="EDF1F7"/>
          </a:solidFill>
          <a:ln w="12700">
            <a:solidFill>
              <a:srgbClr val="E1E4EA"/>
            </a:solidFill>
            <a:prstDash val="solid"/>
          </a:ln>
        </p:spPr>
      </p:sp>
      <p:sp>
        <p:nvSpPr>
          <p:cNvPr id="26" name="Shape 24"/>
          <p:cNvSpPr/>
          <p:nvPr/>
        </p:nvSpPr>
        <p:spPr>
          <a:xfrm>
            <a:off x="7516368" y="4133088"/>
            <a:ext cx="365760" cy="365760"/>
          </a:xfrm>
          <a:prstGeom prst="rect">
            <a:avLst/>
          </a:prstGeom>
          <a:solidFill>
            <a:srgbClr val="FFFFFF"/>
          </a:solidFill>
          <a:ln w="19050">
            <a:solidFill>
              <a:srgbClr val="16243F"/>
            </a:solidFill>
            <a:prstDash val="solid"/>
          </a:ln>
        </p:spPr>
      </p:sp>
      <p:sp>
        <p:nvSpPr>
          <p:cNvPr id="27" name="Shape 25"/>
          <p:cNvSpPr/>
          <p:nvPr/>
        </p:nvSpPr>
        <p:spPr>
          <a:xfrm>
            <a:off x="7543800" y="4160520"/>
            <a:ext cx="82296" cy="82296"/>
          </a:xfrm>
          <a:prstGeom prst="rect">
            <a:avLst/>
          </a:prstGeom>
          <a:solidFill>
            <a:srgbClr val="16243F"/>
          </a:solidFill>
          <a:ln w="12700">
            <a:solidFill>
              <a:srgbClr val="16243F"/>
            </a:solidFill>
            <a:prstDash val="solid"/>
          </a:ln>
        </p:spPr>
      </p:sp>
      <p:sp>
        <p:nvSpPr>
          <p:cNvPr id="28" name="Shape 26"/>
          <p:cNvSpPr/>
          <p:nvPr/>
        </p:nvSpPr>
        <p:spPr>
          <a:xfrm>
            <a:off x="7543800" y="4361688"/>
            <a:ext cx="82296" cy="82296"/>
          </a:xfrm>
          <a:prstGeom prst="rect">
            <a:avLst/>
          </a:prstGeom>
          <a:solidFill>
            <a:srgbClr val="16243F"/>
          </a:solidFill>
          <a:ln w="12700">
            <a:solidFill>
              <a:srgbClr val="16243F"/>
            </a:solidFill>
            <a:prstDash val="solid"/>
          </a:ln>
        </p:spPr>
      </p:sp>
      <p:sp>
        <p:nvSpPr>
          <p:cNvPr id="29" name="Shape 27"/>
          <p:cNvSpPr/>
          <p:nvPr/>
        </p:nvSpPr>
        <p:spPr>
          <a:xfrm>
            <a:off x="7644384" y="4261104"/>
            <a:ext cx="82296" cy="82296"/>
          </a:xfrm>
          <a:prstGeom prst="rect">
            <a:avLst/>
          </a:prstGeom>
          <a:solidFill>
            <a:srgbClr val="16243F"/>
          </a:solidFill>
          <a:ln w="12700">
            <a:solidFill>
              <a:srgbClr val="16243F"/>
            </a:solidFill>
            <a:prstDash val="solid"/>
          </a:ln>
        </p:spPr>
      </p:sp>
      <p:sp>
        <p:nvSpPr>
          <p:cNvPr id="30" name="Shape 28"/>
          <p:cNvSpPr/>
          <p:nvPr/>
        </p:nvSpPr>
        <p:spPr>
          <a:xfrm>
            <a:off x="7744968" y="4160520"/>
            <a:ext cx="82296" cy="82296"/>
          </a:xfrm>
          <a:prstGeom prst="rect">
            <a:avLst/>
          </a:prstGeom>
          <a:solidFill>
            <a:srgbClr val="16243F"/>
          </a:solidFill>
          <a:ln w="12700">
            <a:solidFill>
              <a:srgbClr val="16243F"/>
            </a:solidFill>
            <a:prstDash val="solid"/>
          </a:ln>
        </p:spPr>
      </p:sp>
      <p:sp>
        <p:nvSpPr>
          <p:cNvPr id="31" name="Shape 29"/>
          <p:cNvSpPr/>
          <p:nvPr/>
        </p:nvSpPr>
        <p:spPr>
          <a:xfrm>
            <a:off x="7744968" y="4361688"/>
            <a:ext cx="82296" cy="82296"/>
          </a:xfrm>
          <a:prstGeom prst="rect">
            <a:avLst/>
          </a:prstGeom>
          <a:solidFill>
            <a:srgbClr val="16243F"/>
          </a:solidFill>
          <a:ln w="12700">
            <a:solidFill>
              <a:srgbClr val="16243F"/>
            </a:solidFill>
            <a:prstDash val="solid"/>
          </a:ln>
        </p:spPr>
      </p:sp>
      <p:sp>
        <p:nvSpPr>
          <p:cNvPr id="32" name="Text 30"/>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33" name="Text 31"/>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42" name="Grupa 41"/>
          <p:cNvGrpSpPr/>
          <p:nvPr/>
        </p:nvGrpSpPr>
        <p:grpSpPr>
          <a:xfrm>
            <a:off x="4953626" y="2130040"/>
            <a:ext cx="3738186" cy="1776158"/>
            <a:chOff x="4926312" y="1956816"/>
            <a:chExt cx="3738186" cy="1776158"/>
          </a:xfrm>
        </p:grpSpPr>
        <p:sp>
          <p:nvSpPr>
            <p:cNvPr id="34" name="Shape 32"/>
            <p:cNvSpPr/>
            <p:nvPr/>
          </p:nvSpPr>
          <p:spPr>
            <a:xfrm>
              <a:off x="4926312" y="1956816"/>
              <a:ext cx="3738186" cy="1776158"/>
            </a:xfrm>
            <a:prstGeom prst="roundRect">
              <a:avLst>
                <a:gd name="adj" fmla="val 2449"/>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35" name="Text 33"/>
            <p:cNvSpPr/>
            <p:nvPr/>
          </p:nvSpPr>
          <p:spPr>
            <a:xfrm>
              <a:off x="5043352" y="2011558"/>
              <a:ext cx="3502152"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mc:AlternateContent xmlns:mc="http://schemas.openxmlformats.org/markup-compatibility/2006">
          <mc:Choice xmlns:a14="http://schemas.microsoft.com/office/drawing/2010/main" Requires="a14">
            <p:sp>
              <p:nvSpPr>
                <p:cNvPr id="36" name="Text 34"/>
                <p:cNvSpPr/>
                <p:nvPr/>
              </p:nvSpPr>
              <p:spPr>
                <a:xfrm>
                  <a:off x="5043352" y="2286424"/>
                  <a:ext cx="3502152" cy="1446550"/>
                </a:xfrm>
                <a:prstGeom prst="rect">
                  <a:avLst/>
                </a:prstGeom>
                <a:noFill/>
                <a:ln/>
              </p:spPr>
              <p:txBody>
                <a:bodyPr wrap="square" lIns="0" tIns="0" rIns="0" bIns="0" rtlCol="0" anchor="t">
                  <a:spAutoFit/>
                </a:bodyPr>
                <a:lstStyle/>
                <a:p>
                  <a:pPr marL="0" indent="0">
                    <a:buNone/>
                  </a:pPr>
                  <a:r>
                    <a:rPr lang="en-US" sz="1200" dirty="0">
                      <a:solidFill>
                        <a:srgbClr val="16243F"/>
                      </a:solidFill>
                      <a:latin typeface="Calibri" pitchFamily="34" charset="0"/>
                      <a:ea typeface="Calibri" pitchFamily="34" charset="-122"/>
                      <a:cs typeface="Calibri" pitchFamily="34" charset="-120"/>
                    </a:rPr>
                    <a:t>Każda konkretna sekwencja sześciu rzutów ma identyczne prawdopodobieństwo:</a:t>
                  </a:r>
                  <a:endParaRPr lang="en-US" sz="1200" dirty="0"/>
                </a:p>
                <a:p>
                  <a:pPr marL="0" indent="0">
                    <a:buNone/>
                  </a:pPr>
                  <a:endParaRPr lang="en-US" sz="300" dirty="0"/>
                </a:p>
                <a:p>
                  <a:pPr marL="0" indent="0">
                    <a:buNone/>
                  </a:pPr>
                  <a14:m>
                    <m:oMathPara xmlns:m="http://schemas.openxmlformats.org/officeDocument/2006/math">
                      <m:oMathParaPr>
                        <m:jc m:val="centerGroup"/>
                      </m:oMathParaPr>
                      <m:oMath xmlns:m="http://schemas.openxmlformats.org/officeDocument/2006/math">
                        <m:r>
                          <a:rPr lang="en-US" sz="1200" i="1" dirty="0" smtClean="0">
                            <a:solidFill>
                              <a:srgbClr val="16243F"/>
                            </a:solidFill>
                            <a:latin typeface="Cambria Math" panose="02040503050406030204" pitchFamily="18" charset="0"/>
                            <a:ea typeface="Cambria Math" panose="02040503050406030204" pitchFamily="18" charset="0"/>
                            <a:cs typeface="Calibri" pitchFamily="34" charset="-120"/>
                          </a:rPr>
                          <m:t>𝑃</m:t>
                        </m:r>
                        <m:r>
                          <a:rPr lang="en-US" sz="1200" i="1" dirty="0" smtClean="0">
                            <a:solidFill>
                              <a:srgbClr val="16243F"/>
                            </a:solidFill>
                            <a:latin typeface="Cambria Math" panose="02040503050406030204" pitchFamily="18" charset="0"/>
                            <a:ea typeface="Cambria Math" panose="02040503050406030204" pitchFamily="18" charset="0"/>
                            <a:cs typeface="Calibri" pitchFamily="34" charset="-120"/>
                          </a:rPr>
                          <m:t> = (1/2)^6 = 1/64 ≈ 1,56%</m:t>
                        </m:r>
                      </m:oMath>
                    </m:oMathPara>
                  </a14:m>
                  <a:endParaRPr lang="en-US" sz="1200" i="1" dirty="0">
                    <a:latin typeface="Cambria Math" panose="02040503050406030204" pitchFamily="18" charset="0"/>
                    <a:ea typeface="Cambria Math" panose="02040503050406030204" pitchFamily="18" charset="0"/>
                  </a:endParaRPr>
                </a:p>
                <a:p>
                  <a:pPr marL="0" indent="0">
                    <a:buNone/>
                  </a:pPr>
                  <a:endParaRPr lang="en-US" sz="400" dirty="0"/>
                </a:p>
                <a:p>
                  <a:r>
                    <a:rPr lang="pl-PL" sz="1200" dirty="0">
                      <a:solidFill>
                        <a:srgbClr val="16243F"/>
                      </a:solidFill>
                      <a:latin typeface="Calibri" pitchFamily="34" charset="0"/>
                      <a:ea typeface="Calibri" pitchFamily="34" charset="-122"/>
                      <a:cs typeface="Calibri" pitchFamily="34" charset="-120"/>
                    </a:rPr>
                    <a:t>Intuicja myli częstość pojedynczej sekwencji z częstością klasy sekwencji (np. „3 orły i 3 reszki w jakimkolwiek porządku”, a to inny, szerszy zbiór zdarzeń). </a:t>
                  </a:r>
                </a:p>
                <a:p>
                  <a:pPr marL="0" indent="0">
                    <a:buNone/>
                  </a:pPr>
                  <a:r>
                    <a:rPr lang="pl-PL" sz="1200" b="1" dirty="0" smtClean="0">
                      <a:solidFill>
                        <a:srgbClr val="16243F"/>
                      </a:solidFill>
                      <a:latin typeface="Calibri" pitchFamily="34" charset="0"/>
                      <a:ea typeface="Calibri" pitchFamily="34" charset="-122"/>
                      <a:cs typeface="Calibri" pitchFamily="34" charset="-120"/>
                    </a:rPr>
                    <a:t>Odpowiedź D jest matematycznie poprawna.</a:t>
                  </a:r>
                  <a:endParaRPr lang="pl-PL" sz="1200" b="1" dirty="0"/>
                </a:p>
              </p:txBody>
            </p:sp>
          </mc:Choice>
          <mc:Fallback>
            <p:sp>
              <p:nvSpPr>
                <p:cNvPr id="36" name="Text 34"/>
                <p:cNvSpPr>
                  <a:spLocks noRot="1" noChangeAspect="1" noMove="1" noResize="1" noEditPoints="1" noAdjustHandles="1" noChangeArrowheads="1" noChangeShapeType="1" noTextEdit="1"/>
                </p:cNvSpPr>
                <p:nvPr/>
              </p:nvSpPr>
              <p:spPr>
                <a:xfrm>
                  <a:off x="5043352" y="2286424"/>
                  <a:ext cx="3502152" cy="1446550"/>
                </a:xfrm>
                <a:prstGeom prst="rect">
                  <a:avLst/>
                </a:prstGeom>
                <a:blipFill>
                  <a:blip r:embed="rId3"/>
                  <a:stretch>
                    <a:fillRect l="-2787" t="-3361" r="-2439" b="-2521"/>
                  </a:stretch>
                </a:blipFill>
                <a:ln/>
              </p:spPr>
              <p:txBody>
                <a:bodyPr/>
                <a:lstStyle/>
                <a:p>
                  <a:r>
                    <a:rPr lang="pl-PL">
                      <a:noFill/>
                    </a:rPr>
                    <a:t> </a:t>
                  </a:r>
                </a:p>
              </p:txBody>
            </p:sp>
          </mc:Fallback>
        </mc:AlternateContent>
      </p:grpSp>
      <p:sp>
        <p:nvSpPr>
          <p:cNvPr id="37" name="Text 35"/>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6/40   ·   Blok I</a:t>
            </a:r>
            <a:endParaRPr lang="en-US" sz="800" dirty="0"/>
          </a:p>
        </p:txBody>
      </p:sp>
      <p:sp>
        <p:nvSpPr>
          <p:cNvPr id="43" name="Shape 13"/>
          <p:cNvSpPr/>
          <p:nvPr/>
        </p:nvSpPr>
        <p:spPr>
          <a:xfrm>
            <a:off x="4959537" y="1969687"/>
            <a:ext cx="3733174" cy="100584"/>
          </a:xfrm>
          <a:prstGeom prst="roundRect">
            <a:avLst>
              <a:gd name="adj" fmla="val 17647"/>
            </a:avLst>
          </a:prstGeom>
          <a:solidFill>
            <a:srgbClr val="C07A35"/>
          </a:solidFill>
          <a:ln w="12700">
            <a:solidFill>
              <a:srgbClr val="C07A35"/>
            </a:solidFill>
            <a:prstDash val="solid"/>
          </a:ln>
        </p:spPr>
        <p:txBody>
          <a:bodyPr anchor="ctr"/>
          <a:lstStyle/>
          <a:p>
            <a:pPr algn="ctr"/>
            <a:r>
              <a:rPr lang="en-US" sz="900" b="1" dirty="0">
                <a:solidFill>
                  <a:srgbClr val="FFFFFF"/>
                </a:solidFill>
                <a:latin typeface="Calibri" pitchFamily="34" charset="0"/>
                <a:ea typeface="Calibri" pitchFamily="34" charset="-122"/>
                <a:cs typeface="Calibri" pitchFamily="34" charset="-120"/>
              </a:rPr>
              <a:t>ZAGŁOSUJ PRZED UJAWNIENIEM </a:t>
            </a:r>
            <a:r>
              <a:rPr lang="en-US" sz="900" b="1" dirty="0" smtClean="0">
                <a:solidFill>
                  <a:srgbClr val="FFFFFF"/>
                </a:solidFill>
                <a:latin typeface="Calibri" pitchFamily="34" charset="0"/>
                <a:ea typeface="Calibri" pitchFamily="34" charset="-122"/>
                <a:cs typeface="Calibri" pitchFamily="34" charset="-120"/>
              </a:rPr>
              <a:t>ROZWIĄZANIA</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anim calcmode="lin" valueType="num">
                                      <p:cBhvr>
                                        <p:cTn id="8" dur="500" fill="hold"/>
                                        <p:tgtEl>
                                          <p:spTgt spid="43"/>
                                        </p:tgtEl>
                                        <p:attrNameLst>
                                          <p:attrName>ppt_x</p:attrName>
                                        </p:attrNameLst>
                                      </p:cBhvr>
                                      <p:tavLst>
                                        <p:tav tm="0">
                                          <p:val>
                                            <p:strVal val="#ppt_x"/>
                                          </p:val>
                                        </p:tav>
                                        <p:tav tm="100000">
                                          <p:val>
                                            <p:strVal val="#ppt_x"/>
                                          </p:val>
                                        </p:tav>
                                      </p:tavLst>
                                    </p:anim>
                                    <p:anim calcmode="lin" valueType="num">
                                      <p:cBhvr>
                                        <p:cTn id="9" dur="5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2"/>
                                        </p:tgtEl>
                                        <p:attrNameLst>
                                          <p:attrName>style.visibility</p:attrName>
                                        </p:attrNameLst>
                                      </p:cBhvr>
                                      <p:to>
                                        <p:strVal val="visible"/>
                                      </p:to>
                                    </p:set>
                                    <p:animEffect transition="in" filter="fade">
                                      <p:cBhvr>
                                        <p:cTn id="14" dur="500"/>
                                        <p:tgtEl>
                                          <p:spTgt spid="42"/>
                                        </p:tgtEl>
                                      </p:cBhvr>
                                    </p:animEffect>
                                    <p:anim calcmode="lin" valueType="num">
                                      <p:cBhvr>
                                        <p:cTn id="15" dur="500" fill="hold"/>
                                        <p:tgtEl>
                                          <p:spTgt spid="42"/>
                                        </p:tgtEl>
                                        <p:attrNameLst>
                                          <p:attrName>ppt_x</p:attrName>
                                        </p:attrNameLst>
                                      </p:cBhvr>
                                      <p:tavLst>
                                        <p:tav tm="0">
                                          <p:val>
                                            <p:strVal val="#ppt_x"/>
                                          </p:val>
                                        </p:tav>
                                        <p:tav tm="100000">
                                          <p:val>
                                            <p:strVal val="#ppt_x"/>
                                          </p:val>
                                        </p:tav>
                                      </p:tavLst>
                                    </p:anim>
                                    <p:anim calcmode="lin" valueType="num">
                                      <p:cBhvr>
                                        <p:cTn id="16" dur="5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6B5B95"/>
          </a:solidFill>
          <a:ln w="12700">
            <a:solidFill>
              <a:srgbClr val="6B5B9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 · LOSOWOŚĆ</a:t>
            </a:r>
            <a:endParaRPr lang="en-US" sz="900" dirty="0"/>
          </a:p>
        </p:txBody>
      </p:sp>
      <p:sp>
        <p:nvSpPr>
          <p:cNvPr id="4" name="Text 2"/>
          <p:cNvSpPr/>
          <p:nvPr/>
        </p:nvSpPr>
        <p:spPr>
          <a:xfrm>
            <a:off x="457200" y="676656"/>
            <a:ext cx="8229600" cy="59436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Błąd hazardzisty </a:t>
            </a:r>
            <a:r>
              <a:rPr lang="en-US" sz="2400" dirty="0">
                <a:solidFill>
                  <a:srgbClr val="16243F"/>
                </a:solidFill>
                <a:latin typeface="Cambria" pitchFamily="34" charset="0"/>
                <a:ea typeface="Cambria" pitchFamily="34" charset="-122"/>
                <a:cs typeface="Cambria" pitchFamily="34" charset="-120"/>
              </a:rPr>
              <a:t>(gambler's fallacy)</a:t>
            </a:r>
            <a:endParaRPr lang="en-US" sz="2400" dirty="0"/>
          </a:p>
        </p:txBody>
      </p:sp>
      <p:sp>
        <p:nvSpPr>
          <p:cNvPr id="5" name="Shape 3"/>
          <p:cNvSpPr/>
          <p:nvPr/>
        </p:nvSpPr>
        <p:spPr>
          <a:xfrm>
            <a:off x="457200" y="1453896"/>
            <a:ext cx="3832302" cy="432000"/>
          </a:xfrm>
          <a:prstGeom prst="roundRect">
            <a:avLst>
              <a:gd name="adj" fmla="val 14286"/>
            </a:avLst>
          </a:prstGeom>
          <a:solidFill>
            <a:srgbClr val="EDF1F7"/>
          </a:solidFill>
          <a:ln w="12700">
            <a:solidFill>
              <a:srgbClr val="E1E4EA"/>
            </a:solidFill>
            <a:prstDash val="solid"/>
          </a:ln>
        </p:spPr>
        <p:txBody>
          <a:bodyPr anchor="ctr"/>
          <a:lstStyle/>
          <a:p>
            <a:r>
              <a:rPr lang="pl-PL" sz="1150" b="1" dirty="0" smtClean="0">
                <a:solidFill>
                  <a:srgbClr val="16243F"/>
                </a:solidFill>
                <a:latin typeface="Calibri" pitchFamily="34" charset="0"/>
                <a:ea typeface="Calibri" pitchFamily="34" charset="-122"/>
                <a:cs typeface="Calibri" pitchFamily="34" charset="-120"/>
              </a:rPr>
              <a:t>W ruletce pięć razy z rzędu wypadło czerwone. </a:t>
            </a:r>
          </a:p>
          <a:p>
            <a:r>
              <a:rPr lang="pl-PL" sz="1150" b="1" dirty="0" smtClean="0">
                <a:solidFill>
                  <a:srgbClr val="16243F"/>
                </a:solidFill>
                <a:latin typeface="Calibri" pitchFamily="34" charset="0"/>
                <a:ea typeface="Calibri" pitchFamily="34" charset="-122"/>
                <a:cs typeface="Calibri" pitchFamily="34" charset="-120"/>
              </a:rPr>
              <a:t>Co jest najbardziej prawdopodobne w następnym obrocie?</a:t>
            </a:r>
            <a:endParaRPr lang="pl-PL" sz="1150" b="1" dirty="0"/>
          </a:p>
        </p:txBody>
      </p:sp>
      <p:grpSp>
        <p:nvGrpSpPr>
          <p:cNvPr id="38" name="Grupa 37"/>
          <p:cNvGrpSpPr/>
          <p:nvPr/>
        </p:nvGrpSpPr>
        <p:grpSpPr>
          <a:xfrm>
            <a:off x="457200" y="2041452"/>
            <a:ext cx="3832302" cy="432000"/>
            <a:chOff x="457200" y="1672236"/>
            <a:chExt cx="3832302" cy="432000"/>
          </a:xfrm>
        </p:grpSpPr>
        <p:sp>
          <p:nvSpPr>
            <p:cNvPr id="7" name="Shape 5"/>
            <p:cNvSpPr/>
            <p:nvPr/>
          </p:nvSpPr>
          <p:spPr>
            <a:xfrm>
              <a:off x="457200" y="1672236"/>
              <a:ext cx="3832302" cy="432000"/>
            </a:xfrm>
            <a:prstGeom prst="roundRect">
              <a:avLst>
                <a:gd name="adj" fmla="val 10714"/>
              </a:avLst>
            </a:prstGeom>
            <a:solidFill>
              <a:srgbClr val="FFFFFF"/>
            </a:solidFill>
            <a:ln w="12700">
              <a:solidFill>
                <a:srgbClr val="D0D4DA"/>
              </a:solidFill>
              <a:prstDash val="solid"/>
            </a:ln>
          </p:spPr>
        </p:sp>
        <p:sp>
          <p:nvSpPr>
            <p:cNvPr id="8" name="Shape 6"/>
            <p:cNvSpPr/>
            <p:nvPr/>
          </p:nvSpPr>
          <p:spPr>
            <a:xfrm>
              <a:off x="548640" y="1764792"/>
              <a:ext cx="237744" cy="237744"/>
            </a:xfrm>
            <a:prstGeom prst="ellipse">
              <a:avLst/>
            </a:prstGeom>
            <a:solidFill>
              <a:srgbClr val="EDF1F7"/>
            </a:solidFill>
            <a:ln w="12700">
              <a:solidFill>
                <a:srgbClr val="16243F"/>
              </a:solidFill>
              <a:prstDash val="solid"/>
            </a:ln>
          </p:spPr>
        </p:sp>
        <p:sp>
          <p:nvSpPr>
            <p:cNvPr id="9" name="Text 7"/>
            <p:cNvSpPr/>
            <p:nvPr/>
          </p:nvSpPr>
          <p:spPr>
            <a:xfrm>
              <a:off x="548640" y="1764792"/>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0" name="Text 8"/>
            <p:cNvSpPr/>
            <p:nvPr/>
          </p:nvSpPr>
          <p:spPr>
            <a:xfrm>
              <a:off x="859536" y="1672236"/>
              <a:ext cx="3365761" cy="4320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Czerwone</a:t>
              </a:r>
              <a:endParaRPr lang="en-US" sz="1200" dirty="0"/>
            </a:p>
          </p:txBody>
        </p:sp>
      </p:grpSp>
      <p:grpSp>
        <p:nvGrpSpPr>
          <p:cNvPr id="39" name="Grupa 38"/>
          <p:cNvGrpSpPr/>
          <p:nvPr/>
        </p:nvGrpSpPr>
        <p:grpSpPr>
          <a:xfrm>
            <a:off x="457200" y="2515266"/>
            <a:ext cx="3832302" cy="432000"/>
            <a:chOff x="457200" y="2275740"/>
            <a:chExt cx="3832302" cy="432000"/>
          </a:xfrm>
        </p:grpSpPr>
        <p:sp>
          <p:nvSpPr>
            <p:cNvPr id="11" name="Shape 9"/>
            <p:cNvSpPr/>
            <p:nvPr/>
          </p:nvSpPr>
          <p:spPr>
            <a:xfrm>
              <a:off x="457200" y="2275740"/>
              <a:ext cx="3832302" cy="432000"/>
            </a:xfrm>
            <a:prstGeom prst="roundRect">
              <a:avLst>
                <a:gd name="adj" fmla="val 10714"/>
              </a:avLst>
            </a:prstGeom>
            <a:solidFill>
              <a:srgbClr val="FFFFFF"/>
            </a:solidFill>
            <a:ln w="12700">
              <a:solidFill>
                <a:srgbClr val="D0D4DA"/>
              </a:solidFill>
              <a:prstDash val="solid"/>
            </a:ln>
          </p:spPr>
        </p:sp>
        <p:sp>
          <p:nvSpPr>
            <p:cNvPr id="12" name="Shape 10"/>
            <p:cNvSpPr/>
            <p:nvPr/>
          </p:nvSpPr>
          <p:spPr>
            <a:xfrm>
              <a:off x="548640" y="2368296"/>
              <a:ext cx="237744" cy="237744"/>
            </a:xfrm>
            <a:prstGeom prst="ellipse">
              <a:avLst/>
            </a:prstGeom>
            <a:solidFill>
              <a:srgbClr val="EDF1F7"/>
            </a:solidFill>
            <a:ln w="12700">
              <a:solidFill>
                <a:srgbClr val="16243F"/>
              </a:solidFill>
              <a:prstDash val="solid"/>
            </a:ln>
          </p:spPr>
        </p:sp>
        <p:sp>
          <p:nvSpPr>
            <p:cNvPr id="13" name="Text 11"/>
            <p:cNvSpPr/>
            <p:nvPr/>
          </p:nvSpPr>
          <p:spPr>
            <a:xfrm>
              <a:off x="548640" y="2368296"/>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4" name="Text 12"/>
            <p:cNvSpPr/>
            <p:nvPr/>
          </p:nvSpPr>
          <p:spPr>
            <a:xfrm>
              <a:off x="859536" y="2275740"/>
              <a:ext cx="3365761" cy="4320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Czarne</a:t>
              </a:r>
              <a:endParaRPr lang="en-US" sz="1200" dirty="0"/>
            </a:p>
          </p:txBody>
        </p:sp>
      </p:grpSp>
      <p:grpSp>
        <p:nvGrpSpPr>
          <p:cNvPr id="40" name="Grupa 39"/>
          <p:cNvGrpSpPr/>
          <p:nvPr/>
        </p:nvGrpSpPr>
        <p:grpSpPr>
          <a:xfrm>
            <a:off x="457200" y="2993544"/>
            <a:ext cx="3832302" cy="432000"/>
            <a:chOff x="457200" y="2879244"/>
            <a:chExt cx="3832302" cy="432000"/>
          </a:xfrm>
        </p:grpSpPr>
        <p:sp>
          <p:nvSpPr>
            <p:cNvPr id="15" name="Shape 13"/>
            <p:cNvSpPr/>
            <p:nvPr/>
          </p:nvSpPr>
          <p:spPr>
            <a:xfrm>
              <a:off x="457200" y="2879244"/>
              <a:ext cx="3832302" cy="432000"/>
            </a:xfrm>
            <a:prstGeom prst="roundRect">
              <a:avLst>
                <a:gd name="adj" fmla="val 10714"/>
              </a:avLst>
            </a:prstGeom>
            <a:solidFill>
              <a:srgbClr val="FFFFFF"/>
            </a:solidFill>
            <a:ln w="12700">
              <a:solidFill>
                <a:srgbClr val="D0D4DA"/>
              </a:solidFill>
              <a:prstDash val="solid"/>
            </a:ln>
          </p:spPr>
        </p:sp>
        <p:sp>
          <p:nvSpPr>
            <p:cNvPr id="16" name="Shape 14"/>
            <p:cNvSpPr/>
            <p:nvPr/>
          </p:nvSpPr>
          <p:spPr>
            <a:xfrm>
              <a:off x="548640" y="2971800"/>
              <a:ext cx="237744" cy="237744"/>
            </a:xfrm>
            <a:prstGeom prst="ellipse">
              <a:avLst/>
            </a:prstGeom>
            <a:solidFill>
              <a:srgbClr val="EDF1F7"/>
            </a:solidFill>
            <a:ln w="12700">
              <a:solidFill>
                <a:srgbClr val="16243F"/>
              </a:solidFill>
              <a:prstDash val="solid"/>
            </a:ln>
          </p:spPr>
        </p:sp>
        <p:sp>
          <p:nvSpPr>
            <p:cNvPr id="17" name="Text 15"/>
            <p:cNvSpPr/>
            <p:nvPr/>
          </p:nvSpPr>
          <p:spPr>
            <a:xfrm>
              <a:off x="548640" y="2971800"/>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C</a:t>
              </a:r>
              <a:endParaRPr lang="en-US" sz="1000" dirty="0"/>
            </a:p>
          </p:txBody>
        </p:sp>
        <p:sp>
          <p:nvSpPr>
            <p:cNvPr id="18" name="Text 16"/>
            <p:cNvSpPr/>
            <p:nvPr/>
          </p:nvSpPr>
          <p:spPr>
            <a:xfrm>
              <a:off x="859536" y="2879244"/>
              <a:ext cx="3365761" cy="4320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Oba wyniki są równie prawdopodobne</a:t>
              </a:r>
              <a:endParaRPr lang="en-US" sz="1200" dirty="0"/>
            </a:p>
          </p:txBody>
        </p:sp>
      </p:grpSp>
      <p:grpSp>
        <p:nvGrpSpPr>
          <p:cNvPr id="41" name="Grupa 40"/>
          <p:cNvGrpSpPr/>
          <p:nvPr/>
        </p:nvGrpSpPr>
        <p:grpSpPr>
          <a:xfrm>
            <a:off x="457200" y="3471822"/>
            <a:ext cx="3832302" cy="432000"/>
            <a:chOff x="457200" y="3482748"/>
            <a:chExt cx="3832302" cy="432000"/>
          </a:xfrm>
        </p:grpSpPr>
        <p:sp>
          <p:nvSpPr>
            <p:cNvPr id="19" name="Shape 17"/>
            <p:cNvSpPr/>
            <p:nvPr/>
          </p:nvSpPr>
          <p:spPr>
            <a:xfrm>
              <a:off x="457200" y="3482748"/>
              <a:ext cx="3832302" cy="432000"/>
            </a:xfrm>
            <a:prstGeom prst="roundRect">
              <a:avLst>
                <a:gd name="adj" fmla="val 10714"/>
              </a:avLst>
            </a:prstGeom>
            <a:solidFill>
              <a:srgbClr val="FFFFFF"/>
            </a:solidFill>
            <a:ln w="12700">
              <a:solidFill>
                <a:srgbClr val="D0D4DA"/>
              </a:solidFill>
              <a:prstDash val="solid"/>
            </a:ln>
          </p:spPr>
        </p:sp>
        <p:sp>
          <p:nvSpPr>
            <p:cNvPr id="20" name="Shape 18"/>
            <p:cNvSpPr/>
            <p:nvPr/>
          </p:nvSpPr>
          <p:spPr>
            <a:xfrm>
              <a:off x="548640" y="3575304"/>
              <a:ext cx="237744" cy="237744"/>
            </a:xfrm>
            <a:prstGeom prst="ellipse">
              <a:avLst/>
            </a:prstGeom>
            <a:solidFill>
              <a:srgbClr val="EDF1F7"/>
            </a:solidFill>
            <a:ln w="12700">
              <a:solidFill>
                <a:srgbClr val="16243F"/>
              </a:solidFill>
              <a:prstDash val="solid"/>
            </a:ln>
          </p:spPr>
        </p:sp>
        <p:sp>
          <p:nvSpPr>
            <p:cNvPr id="21" name="Text 19"/>
            <p:cNvSpPr/>
            <p:nvPr/>
          </p:nvSpPr>
          <p:spPr>
            <a:xfrm>
              <a:off x="548640" y="3575304"/>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D</a:t>
              </a:r>
              <a:endParaRPr lang="en-US" sz="1000" dirty="0"/>
            </a:p>
          </p:txBody>
        </p:sp>
        <p:sp>
          <p:nvSpPr>
            <p:cNvPr id="22" name="Text 20"/>
            <p:cNvSpPr/>
            <p:nvPr/>
          </p:nvSpPr>
          <p:spPr>
            <a:xfrm>
              <a:off x="859536" y="3482748"/>
              <a:ext cx="3365761" cy="4320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Zależy od długości poprzedniej serii</a:t>
              </a:r>
              <a:endParaRPr lang="en-US" sz="1200" dirty="0"/>
            </a:p>
          </p:txBody>
        </p:sp>
      </p:grpSp>
      <p:grpSp>
        <p:nvGrpSpPr>
          <p:cNvPr id="43" name="Grupa 42"/>
          <p:cNvGrpSpPr/>
          <p:nvPr/>
        </p:nvGrpSpPr>
        <p:grpSpPr>
          <a:xfrm>
            <a:off x="4476133" y="1918269"/>
            <a:ext cx="4196576" cy="133147"/>
            <a:chOff x="4490224" y="1453896"/>
            <a:chExt cx="4196576" cy="310896"/>
          </a:xfrm>
        </p:grpSpPr>
        <p:sp>
          <p:nvSpPr>
            <p:cNvPr id="23" name="Shape 21"/>
            <p:cNvSpPr/>
            <p:nvPr/>
          </p:nvSpPr>
          <p:spPr>
            <a:xfrm>
              <a:off x="4490224" y="1453896"/>
              <a:ext cx="4196576" cy="310896"/>
            </a:xfrm>
            <a:prstGeom prst="roundRect">
              <a:avLst>
                <a:gd name="adj" fmla="val 17647"/>
              </a:avLst>
            </a:prstGeom>
            <a:solidFill>
              <a:srgbClr val="C07A35"/>
            </a:solidFill>
            <a:ln w="12700">
              <a:solidFill>
                <a:srgbClr val="C07A35"/>
              </a:solidFill>
              <a:prstDash val="solid"/>
            </a:ln>
          </p:spPr>
        </p:sp>
        <p:sp>
          <p:nvSpPr>
            <p:cNvPr id="24" name="Text 22"/>
            <p:cNvSpPr/>
            <p:nvPr/>
          </p:nvSpPr>
          <p:spPr>
            <a:xfrm>
              <a:off x="4490224" y="1453896"/>
              <a:ext cx="4196576"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ZAGŁOSUJ PRZED UJAWNIENIEM ROZWIĄZANIA</a:t>
              </a:r>
              <a:endParaRPr lang="en-US" sz="850" dirty="0"/>
            </a:p>
          </p:txBody>
        </p:sp>
      </p:grpSp>
      <p:sp>
        <p:nvSpPr>
          <p:cNvPr id="25" name="Shape 23"/>
          <p:cNvSpPr/>
          <p:nvPr/>
        </p:nvSpPr>
        <p:spPr>
          <a:xfrm>
            <a:off x="7406640" y="4026780"/>
            <a:ext cx="1280160" cy="775679"/>
          </a:xfrm>
          <a:prstGeom prst="roundRect">
            <a:avLst>
              <a:gd name="adj" fmla="val 6000"/>
            </a:avLst>
          </a:prstGeom>
          <a:solidFill>
            <a:srgbClr val="EDF1F7"/>
          </a:solidFill>
          <a:ln w="12700">
            <a:solidFill>
              <a:srgbClr val="E1E4EA"/>
            </a:solidFill>
            <a:prstDash val="solid"/>
          </a:ln>
        </p:spPr>
      </p:sp>
      <p:sp>
        <p:nvSpPr>
          <p:cNvPr id="26" name="Shape 24"/>
          <p:cNvSpPr/>
          <p:nvPr/>
        </p:nvSpPr>
        <p:spPr>
          <a:xfrm>
            <a:off x="7516368" y="4133088"/>
            <a:ext cx="365760" cy="365760"/>
          </a:xfrm>
          <a:prstGeom prst="rect">
            <a:avLst/>
          </a:prstGeom>
          <a:solidFill>
            <a:srgbClr val="FFFFFF"/>
          </a:solidFill>
          <a:ln w="19050">
            <a:solidFill>
              <a:srgbClr val="16243F"/>
            </a:solidFill>
            <a:prstDash val="solid"/>
          </a:ln>
        </p:spPr>
      </p:sp>
      <p:sp>
        <p:nvSpPr>
          <p:cNvPr id="27" name="Shape 25"/>
          <p:cNvSpPr/>
          <p:nvPr/>
        </p:nvSpPr>
        <p:spPr>
          <a:xfrm>
            <a:off x="7543800" y="4160520"/>
            <a:ext cx="82296" cy="82296"/>
          </a:xfrm>
          <a:prstGeom prst="rect">
            <a:avLst/>
          </a:prstGeom>
          <a:solidFill>
            <a:srgbClr val="16243F"/>
          </a:solidFill>
          <a:ln w="12700">
            <a:solidFill>
              <a:srgbClr val="16243F"/>
            </a:solidFill>
            <a:prstDash val="solid"/>
          </a:ln>
        </p:spPr>
      </p:sp>
      <p:sp>
        <p:nvSpPr>
          <p:cNvPr id="28" name="Shape 26"/>
          <p:cNvSpPr/>
          <p:nvPr/>
        </p:nvSpPr>
        <p:spPr>
          <a:xfrm>
            <a:off x="7543800" y="4361688"/>
            <a:ext cx="82296" cy="82296"/>
          </a:xfrm>
          <a:prstGeom prst="rect">
            <a:avLst/>
          </a:prstGeom>
          <a:solidFill>
            <a:srgbClr val="16243F"/>
          </a:solidFill>
          <a:ln w="12700">
            <a:solidFill>
              <a:srgbClr val="16243F"/>
            </a:solidFill>
            <a:prstDash val="solid"/>
          </a:ln>
        </p:spPr>
      </p:sp>
      <p:sp>
        <p:nvSpPr>
          <p:cNvPr id="29" name="Shape 27"/>
          <p:cNvSpPr/>
          <p:nvPr/>
        </p:nvSpPr>
        <p:spPr>
          <a:xfrm>
            <a:off x="7644384" y="4261104"/>
            <a:ext cx="82296" cy="82296"/>
          </a:xfrm>
          <a:prstGeom prst="rect">
            <a:avLst/>
          </a:prstGeom>
          <a:solidFill>
            <a:srgbClr val="16243F"/>
          </a:solidFill>
          <a:ln w="12700">
            <a:solidFill>
              <a:srgbClr val="16243F"/>
            </a:solidFill>
            <a:prstDash val="solid"/>
          </a:ln>
        </p:spPr>
      </p:sp>
      <p:sp>
        <p:nvSpPr>
          <p:cNvPr id="30" name="Shape 28"/>
          <p:cNvSpPr/>
          <p:nvPr/>
        </p:nvSpPr>
        <p:spPr>
          <a:xfrm>
            <a:off x="7744968" y="4160520"/>
            <a:ext cx="82296" cy="82296"/>
          </a:xfrm>
          <a:prstGeom prst="rect">
            <a:avLst/>
          </a:prstGeom>
          <a:solidFill>
            <a:srgbClr val="16243F"/>
          </a:solidFill>
          <a:ln w="12700">
            <a:solidFill>
              <a:srgbClr val="16243F"/>
            </a:solidFill>
            <a:prstDash val="solid"/>
          </a:ln>
        </p:spPr>
      </p:sp>
      <p:sp>
        <p:nvSpPr>
          <p:cNvPr id="31" name="Shape 29"/>
          <p:cNvSpPr/>
          <p:nvPr/>
        </p:nvSpPr>
        <p:spPr>
          <a:xfrm>
            <a:off x="7744968" y="4361688"/>
            <a:ext cx="82296" cy="82296"/>
          </a:xfrm>
          <a:prstGeom prst="rect">
            <a:avLst/>
          </a:prstGeom>
          <a:solidFill>
            <a:srgbClr val="16243F"/>
          </a:solidFill>
          <a:ln w="12700">
            <a:solidFill>
              <a:srgbClr val="16243F"/>
            </a:solidFill>
            <a:prstDash val="solid"/>
          </a:ln>
        </p:spPr>
      </p:sp>
      <p:sp>
        <p:nvSpPr>
          <p:cNvPr id="32" name="Text 30"/>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33" name="Text 31"/>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42" name="Grupa 41"/>
          <p:cNvGrpSpPr/>
          <p:nvPr/>
        </p:nvGrpSpPr>
        <p:grpSpPr>
          <a:xfrm>
            <a:off x="4490224" y="2122596"/>
            <a:ext cx="4196576" cy="1826460"/>
            <a:chOff x="4490224" y="2041452"/>
            <a:chExt cx="4196576" cy="1826460"/>
          </a:xfrm>
        </p:grpSpPr>
        <p:sp>
          <p:nvSpPr>
            <p:cNvPr id="34" name="Shape 32"/>
            <p:cNvSpPr/>
            <p:nvPr/>
          </p:nvSpPr>
          <p:spPr>
            <a:xfrm>
              <a:off x="4490224" y="2041452"/>
              <a:ext cx="4196576" cy="1802448"/>
            </a:xfrm>
            <a:prstGeom prst="roundRect">
              <a:avLst>
                <a:gd name="adj" fmla="val 2449"/>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35" name="Text 33"/>
            <p:cNvSpPr/>
            <p:nvPr/>
          </p:nvSpPr>
          <p:spPr>
            <a:xfrm>
              <a:off x="4627633" y="2080819"/>
              <a:ext cx="3912863"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p:sp>
          <p:nvSpPr>
            <p:cNvPr id="36" name="Text 34"/>
            <p:cNvSpPr/>
            <p:nvPr/>
          </p:nvSpPr>
          <p:spPr>
            <a:xfrm>
              <a:off x="4627633" y="2368296"/>
              <a:ext cx="3912863" cy="1499616"/>
            </a:xfrm>
            <a:prstGeom prst="rect">
              <a:avLst/>
            </a:prstGeom>
            <a:noFill/>
            <a:ln/>
          </p:spPr>
          <p:txBody>
            <a:bodyPr wrap="square" lIns="0" tIns="0" rIns="0" bIns="0" rtlCol="0" anchor="t"/>
            <a:lstStyle/>
            <a:p>
              <a:pPr marL="0" indent="0">
                <a:buNone/>
              </a:pPr>
              <a:r>
                <a:rPr lang="pl-PL" sz="1200" dirty="0" smtClean="0">
                  <a:solidFill>
                    <a:srgbClr val="16243F"/>
                  </a:solidFill>
                  <a:latin typeface="Calibri" pitchFamily="34" charset="0"/>
                  <a:ea typeface="Calibri" pitchFamily="34" charset="-122"/>
                  <a:cs typeface="Calibri" pitchFamily="34" charset="-120"/>
                </a:rPr>
                <a:t>Koło ruletki nie ma pamięci. Każdy obrót jest niezależny, </a:t>
              </a:r>
              <a:br>
                <a:rPr lang="pl-PL" sz="1200" dirty="0" smtClean="0">
                  <a:solidFill>
                    <a:srgbClr val="16243F"/>
                  </a:solidFill>
                  <a:latin typeface="Calibri" pitchFamily="34" charset="0"/>
                  <a:ea typeface="Calibri" pitchFamily="34" charset="-122"/>
                  <a:cs typeface="Calibri" pitchFamily="34" charset="-120"/>
                </a:rPr>
              </a:br>
              <a:r>
                <a:rPr lang="pl-PL" sz="1200" dirty="0" smtClean="0">
                  <a:solidFill>
                    <a:srgbClr val="16243F"/>
                  </a:solidFill>
                  <a:latin typeface="Calibri" pitchFamily="34" charset="0"/>
                  <a:ea typeface="Calibri" pitchFamily="34" charset="-122"/>
                  <a:cs typeface="Calibri" pitchFamily="34" charset="-120"/>
                </a:rPr>
                <a:t>np.: </a:t>
              </a:r>
              <a:r>
                <a:rPr lang="pl-PL" sz="1200" b="1" dirty="0" smtClean="0">
                  <a:solidFill>
                    <a:srgbClr val="16243F"/>
                  </a:solidFill>
                  <a:latin typeface="Calibri" pitchFamily="34" charset="0"/>
                  <a:ea typeface="Calibri" pitchFamily="34" charset="-122"/>
                  <a:cs typeface="Calibri" pitchFamily="34" charset="-120"/>
                </a:rPr>
                <a:t>P(czerwone) ≈ 18/37 </a:t>
              </a:r>
              <a:r>
                <a:rPr lang="pl-PL" sz="1200" dirty="0" smtClean="0">
                  <a:solidFill>
                    <a:srgbClr val="16243F"/>
                  </a:solidFill>
                  <a:latin typeface="Calibri" pitchFamily="34" charset="0"/>
                  <a:ea typeface="Calibri" pitchFamily="34" charset="-122"/>
                  <a:cs typeface="Calibri" pitchFamily="34" charset="-120"/>
                </a:rPr>
                <a:t>niezależnie od historii.</a:t>
              </a:r>
              <a:endParaRPr lang="pl-PL" sz="1200" dirty="0" smtClean="0"/>
            </a:p>
            <a:p>
              <a:pPr marL="0" indent="0">
                <a:buNone/>
              </a:pPr>
              <a:endParaRPr lang="pl-PL" sz="800" dirty="0" smtClean="0"/>
            </a:p>
            <a:p>
              <a:pPr marL="0" indent="0" algn="just">
                <a:buNone/>
              </a:pPr>
              <a:r>
                <a:rPr lang="pl-PL" sz="1200" b="1" dirty="0" smtClean="0">
                  <a:solidFill>
                    <a:srgbClr val="16243F"/>
                  </a:solidFill>
                  <a:latin typeface="Calibri" pitchFamily="34" charset="0"/>
                  <a:ea typeface="Calibri" pitchFamily="34" charset="-122"/>
                  <a:cs typeface="Calibri" pitchFamily="34" charset="-120"/>
                </a:rPr>
                <a:t>Odpowiedź C jest poprawna</a:t>
              </a:r>
              <a:r>
                <a:rPr lang="pl-PL" sz="1200" dirty="0" smtClean="0">
                  <a:solidFill>
                    <a:srgbClr val="16243F"/>
                  </a:solidFill>
                  <a:latin typeface="Calibri" pitchFamily="34" charset="0"/>
                  <a:ea typeface="Calibri" pitchFamily="34" charset="-122"/>
                  <a:cs typeface="Calibri" pitchFamily="34" charset="-120"/>
                </a:rPr>
                <a:t> </a:t>
              </a:r>
            </a:p>
            <a:p>
              <a:pPr marL="0" indent="0" algn="just">
                <a:buNone/>
              </a:pPr>
              <a:r>
                <a:rPr lang="pl-PL" sz="1200" dirty="0" smtClean="0">
                  <a:solidFill>
                    <a:srgbClr val="16243F"/>
                  </a:solidFill>
                  <a:latin typeface="Calibri" pitchFamily="34" charset="0"/>
                  <a:ea typeface="Calibri" pitchFamily="34" charset="-122"/>
                  <a:cs typeface="Calibri" pitchFamily="34" charset="-120"/>
                </a:rPr>
                <a:t>Błąd hazardzisty wynika z </a:t>
              </a:r>
              <a:r>
                <a:rPr lang="pl-PL" sz="1200" u="sng" dirty="0" smtClean="0">
                  <a:solidFill>
                    <a:srgbClr val="16243F"/>
                  </a:solidFill>
                  <a:latin typeface="Calibri" pitchFamily="34" charset="0"/>
                  <a:ea typeface="Calibri" pitchFamily="34" charset="-122"/>
                  <a:cs typeface="Calibri" pitchFamily="34" charset="-120"/>
                </a:rPr>
                <a:t>heurystyki reprezentatywności</a:t>
              </a:r>
              <a:r>
                <a:rPr lang="pl-PL" sz="1200" dirty="0" smtClean="0">
                  <a:solidFill>
                    <a:srgbClr val="16243F"/>
                  </a:solidFill>
                  <a:latin typeface="Calibri" pitchFamily="34" charset="0"/>
                  <a:ea typeface="Calibri" pitchFamily="34" charset="-122"/>
                  <a:cs typeface="Calibri" pitchFamily="34" charset="-120"/>
                </a:rPr>
                <a:t>: oczekujemy, że krótka seria „wyrówna się”, bo długie ciągi jednego koloru wydają się nietypowe dla procesu losowego, choć statystycznie są w pełni zgodne z niezależnością zdarzeń.</a:t>
              </a:r>
              <a:endParaRPr lang="pl-PL" sz="1200" dirty="0"/>
            </a:p>
          </p:txBody>
        </p:sp>
      </p:grpSp>
      <p:sp>
        <p:nvSpPr>
          <p:cNvPr id="37" name="Text 35"/>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7/40   ·   Blok I</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anim calcmode="lin" valueType="num">
                                      <p:cBhvr>
                                        <p:cTn id="8" dur="500" fill="hold"/>
                                        <p:tgtEl>
                                          <p:spTgt spid="43"/>
                                        </p:tgtEl>
                                        <p:attrNameLst>
                                          <p:attrName>ppt_x</p:attrName>
                                        </p:attrNameLst>
                                      </p:cBhvr>
                                      <p:tavLst>
                                        <p:tav tm="0">
                                          <p:val>
                                            <p:strVal val="#ppt_x"/>
                                          </p:val>
                                        </p:tav>
                                        <p:tav tm="100000">
                                          <p:val>
                                            <p:strVal val="#ppt_x"/>
                                          </p:val>
                                        </p:tav>
                                      </p:tavLst>
                                    </p:anim>
                                    <p:anim calcmode="lin" valueType="num">
                                      <p:cBhvr>
                                        <p:cTn id="9" dur="5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2"/>
                                        </p:tgtEl>
                                        <p:attrNameLst>
                                          <p:attrName>style.visibility</p:attrName>
                                        </p:attrNameLst>
                                      </p:cBhvr>
                                      <p:to>
                                        <p:strVal val="visible"/>
                                      </p:to>
                                    </p:set>
                                    <p:animEffect transition="in" filter="fade">
                                      <p:cBhvr>
                                        <p:cTn id="14" dur="500"/>
                                        <p:tgtEl>
                                          <p:spTgt spid="42"/>
                                        </p:tgtEl>
                                      </p:cBhvr>
                                    </p:animEffect>
                                    <p:anim calcmode="lin" valueType="num">
                                      <p:cBhvr>
                                        <p:cTn id="15" dur="500" fill="hold"/>
                                        <p:tgtEl>
                                          <p:spTgt spid="42"/>
                                        </p:tgtEl>
                                        <p:attrNameLst>
                                          <p:attrName>ppt_x</p:attrName>
                                        </p:attrNameLst>
                                      </p:cBhvr>
                                      <p:tavLst>
                                        <p:tav tm="0">
                                          <p:val>
                                            <p:strVal val="#ppt_x"/>
                                          </p:val>
                                        </p:tav>
                                        <p:tav tm="100000">
                                          <p:val>
                                            <p:strVal val="#ppt_x"/>
                                          </p:val>
                                        </p:tav>
                                      </p:tavLst>
                                    </p:anim>
                                    <p:anim calcmode="lin" valueType="num">
                                      <p:cBhvr>
                                        <p:cTn id="16" dur="5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6B5B95"/>
          </a:solidFill>
          <a:ln w="12700">
            <a:solidFill>
              <a:srgbClr val="6B5B9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 · LOSOWOŚĆ</a:t>
            </a:r>
            <a:endParaRPr lang="en-US" sz="900" dirty="0"/>
          </a:p>
        </p:txBody>
      </p:sp>
      <p:sp>
        <p:nvSpPr>
          <p:cNvPr id="4" name="Text 2"/>
          <p:cNvSpPr/>
          <p:nvPr/>
        </p:nvSpPr>
        <p:spPr>
          <a:xfrm>
            <a:off x="457200" y="676656"/>
            <a:ext cx="4260850" cy="5486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Paradoks Monte Carlo </a:t>
            </a:r>
            <a:r>
              <a:rPr lang="en-US" sz="2400" dirty="0">
                <a:solidFill>
                  <a:srgbClr val="16243F"/>
                </a:solidFill>
                <a:latin typeface="Cambria" pitchFamily="34" charset="0"/>
                <a:ea typeface="Cambria" pitchFamily="34" charset="-122"/>
                <a:cs typeface="Cambria" pitchFamily="34" charset="-120"/>
              </a:rPr>
              <a:t>(1913)</a:t>
            </a:r>
            <a:endParaRPr lang="en-US" sz="2400" dirty="0"/>
          </a:p>
        </p:txBody>
      </p:sp>
      <p:sp>
        <p:nvSpPr>
          <p:cNvPr id="5" name="Text 3"/>
          <p:cNvSpPr/>
          <p:nvPr/>
        </p:nvSpPr>
        <p:spPr>
          <a:xfrm>
            <a:off x="457200" y="1298448"/>
            <a:ext cx="8229600" cy="475488"/>
          </a:xfrm>
          <a:prstGeom prst="rect">
            <a:avLst/>
          </a:prstGeom>
          <a:noFill/>
          <a:ln/>
        </p:spPr>
        <p:txBody>
          <a:bodyPr wrap="square" lIns="0" tIns="0" rIns="0" bIns="0" rtlCol="0" anchor="ctr"/>
          <a:lstStyle/>
          <a:p>
            <a:pPr marL="0" indent="0">
              <a:buNone/>
            </a:pPr>
            <a:r>
              <a:rPr lang="en-US" sz="1400" dirty="0">
                <a:solidFill>
                  <a:srgbClr val="2B2D33"/>
                </a:solidFill>
                <a:latin typeface="Calibri" pitchFamily="34" charset="0"/>
                <a:ea typeface="Calibri" pitchFamily="34" charset="-122"/>
                <a:cs typeface="Calibri" pitchFamily="34" charset="-120"/>
              </a:rPr>
              <a:t>18 sierpnia 1913, kasyno Monte Carlo: czarne wypadło 26 razy z rzędu. Gracze przegrywali miliony franków, dokładając stawki na czerwone, przekonani, że seria „musi się skończyć”.</a:t>
            </a:r>
            <a:endParaRPr lang="en-US" sz="1400" dirty="0"/>
          </a:p>
        </p:txBody>
      </p:sp>
      <p:sp>
        <p:nvSpPr>
          <p:cNvPr id="6" name="Shape 4"/>
          <p:cNvSpPr/>
          <p:nvPr/>
        </p:nvSpPr>
        <p:spPr>
          <a:xfrm>
            <a:off x="457200" y="1967461"/>
            <a:ext cx="8229600" cy="432000"/>
          </a:xfrm>
          <a:prstGeom prst="roundRect">
            <a:avLst>
              <a:gd name="adj" fmla="val 13636"/>
            </a:avLst>
          </a:prstGeom>
          <a:solidFill>
            <a:srgbClr val="EDF1F7"/>
          </a:solidFill>
          <a:ln w="12700">
            <a:solidFill>
              <a:srgbClr val="E1E4EA"/>
            </a:solidFill>
            <a:prstDash val="solid"/>
          </a:ln>
        </p:spPr>
        <p:txBody>
          <a:bodyPr anchor="ctr"/>
          <a:lstStyle/>
          <a:p>
            <a:r>
              <a:rPr lang="pl-PL" sz="1400" b="1" dirty="0" smtClean="0">
                <a:solidFill>
                  <a:srgbClr val="16243F"/>
                </a:solidFill>
                <a:latin typeface="Calibri" pitchFamily="34" charset="0"/>
                <a:ea typeface="Calibri" pitchFamily="34" charset="-122"/>
                <a:cs typeface="Calibri" pitchFamily="34" charset="-120"/>
              </a:rPr>
              <a:t>Jak bardzo seria 10 takich samych wyników zmienia prawdopodobieństwo kolejnego wyniku?</a:t>
            </a:r>
            <a:endParaRPr lang="pl-PL" sz="1400" dirty="0"/>
          </a:p>
        </p:txBody>
      </p:sp>
      <p:sp>
        <p:nvSpPr>
          <p:cNvPr id="8" name="Text 6"/>
          <p:cNvSpPr/>
          <p:nvPr/>
        </p:nvSpPr>
        <p:spPr>
          <a:xfrm>
            <a:off x="457200" y="2441439"/>
            <a:ext cx="8229600" cy="205573"/>
          </a:xfrm>
          <a:prstGeom prst="rect">
            <a:avLst/>
          </a:prstGeom>
          <a:noFill/>
          <a:ln/>
        </p:spPr>
        <p:txBody>
          <a:bodyPr wrap="square" lIns="0" tIns="0" rIns="0" bIns="0" rtlCol="0" anchor="ctr"/>
          <a:lstStyle/>
          <a:p>
            <a:pPr algn="ctr">
              <a:lnSpc>
                <a:spcPts val="1000"/>
              </a:lnSpc>
            </a:pPr>
            <a:r>
              <a:rPr lang="pl-PL" sz="1050" i="1" dirty="0" smtClean="0">
                <a:solidFill>
                  <a:srgbClr val="5B6472"/>
                </a:solidFill>
                <a:latin typeface="Calibri" pitchFamily="34" charset="0"/>
                <a:ea typeface="Calibri" pitchFamily="34" charset="-122"/>
                <a:cs typeface="Calibri" pitchFamily="34" charset="-120"/>
              </a:rPr>
              <a:t>Wybierz przedział </a:t>
            </a:r>
            <a:r>
              <a:rPr lang="pl-PL" sz="1050" i="1" dirty="0" smtClean="0">
                <a:solidFill>
                  <a:srgbClr val="5B6472"/>
                </a:solidFill>
                <a:latin typeface="Calibri" pitchFamily="34" charset="0"/>
                <a:ea typeface="Calibri" pitchFamily="34" charset="-122"/>
                <a:cs typeface="Calibri" pitchFamily="34" charset="-120"/>
              </a:rPr>
              <a:t>0–100% (0 = nie zmienia wcale, 100 = całkowicie zmienia):</a:t>
            </a:r>
            <a:endParaRPr lang="pl-PL" sz="1050" dirty="0"/>
          </a:p>
        </p:txBody>
      </p:sp>
      <p:grpSp>
        <p:nvGrpSpPr>
          <p:cNvPr id="39" name="Grupa 38"/>
          <p:cNvGrpSpPr/>
          <p:nvPr/>
        </p:nvGrpSpPr>
        <p:grpSpPr>
          <a:xfrm>
            <a:off x="457200" y="2719782"/>
            <a:ext cx="1947672" cy="351636"/>
            <a:chOff x="882650" y="2720948"/>
            <a:chExt cx="1947672" cy="512064"/>
          </a:xfrm>
        </p:grpSpPr>
        <p:sp>
          <p:nvSpPr>
            <p:cNvPr id="9" name="Shape 7"/>
            <p:cNvSpPr/>
            <p:nvPr/>
          </p:nvSpPr>
          <p:spPr>
            <a:xfrm>
              <a:off x="882650" y="2720948"/>
              <a:ext cx="1947672" cy="512064"/>
            </a:xfrm>
            <a:prstGeom prst="roundRect">
              <a:avLst>
                <a:gd name="adj" fmla="val 10714"/>
              </a:avLst>
            </a:prstGeom>
            <a:solidFill>
              <a:srgbClr val="FFFFFF"/>
            </a:solidFill>
            <a:ln w="12700">
              <a:solidFill>
                <a:srgbClr val="D0D4DA"/>
              </a:solidFill>
              <a:prstDash val="solid"/>
            </a:ln>
          </p:spPr>
        </p:sp>
        <p:sp>
          <p:nvSpPr>
            <p:cNvPr id="10" name="Text 8"/>
            <p:cNvSpPr/>
            <p:nvPr/>
          </p:nvSpPr>
          <p:spPr>
            <a:xfrm>
              <a:off x="882650" y="2720948"/>
              <a:ext cx="1947672" cy="512064"/>
            </a:xfrm>
            <a:prstGeom prst="rect">
              <a:avLst/>
            </a:prstGeom>
            <a:noFill/>
            <a:ln/>
          </p:spPr>
          <p:txBody>
            <a:bodyPr wrap="square" lIns="0" tIns="0" rIns="0" bIns="0" rtlCol="0" anchor="ctr"/>
            <a:lstStyle/>
            <a:p>
              <a:pPr marL="0" indent="0" algn="ctr">
                <a:buNone/>
              </a:pPr>
              <a:r>
                <a:rPr lang="en-US" sz="1600" dirty="0">
                  <a:solidFill>
                    <a:srgbClr val="16243F"/>
                  </a:solidFill>
                  <a:latin typeface="Calibri" pitchFamily="34" charset="0"/>
                  <a:ea typeface="Calibri" pitchFamily="34" charset="-122"/>
                  <a:cs typeface="Calibri" pitchFamily="34" charset="-120"/>
                </a:rPr>
                <a:t>A.  </a:t>
              </a:r>
              <a:r>
                <a:rPr lang="en-US" sz="1600" b="1" dirty="0">
                  <a:solidFill>
                    <a:srgbClr val="16243F"/>
                  </a:solidFill>
                  <a:latin typeface="Calibri" pitchFamily="34" charset="0"/>
                  <a:ea typeface="Calibri" pitchFamily="34" charset="-122"/>
                  <a:cs typeface="Calibri" pitchFamily="34" charset="-120"/>
                </a:rPr>
                <a:t>0–10%</a:t>
              </a:r>
              <a:endParaRPr lang="en-US" sz="1600" dirty="0"/>
            </a:p>
          </p:txBody>
        </p:sp>
      </p:grpSp>
      <p:grpSp>
        <p:nvGrpSpPr>
          <p:cNvPr id="36" name="Grupa 35"/>
          <p:cNvGrpSpPr/>
          <p:nvPr/>
        </p:nvGrpSpPr>
        <p:grpSpPr>
          <a:xfrm>
            <a:off x="457200" y="3116942"/>
            <a:ext cx="1947672" cy="351636"/>
            <a:chOff x="457200" y="3307896"/>
            <a:chExt cx="1947672" cy="512064"/>
          </a:xfrm>
        </p:grpSpPr>
        <p:sp>
          <p:nvSpPr>
            <p:cNvPr id="11" name="Shape 9"/>
            <p:cNvSpPr/>
            <p:nvPr/>
          </p:nvSpPr>
          <p:spPr>
            <a:xfrm>
              <a:off x="457200" y="3307896"/>
              <a:ext cx="1947672" cy="512064"/>
            </a:xfrm>
            <a:prstGeom prst="roundRect">
              <a:avLst>
                <a:gd name="adj" fmla="val 10714"/>
              </a:avLst>
            </a:prstGeom>
            <a:solidFill>
              <a:srgbClr val="FFFFFF"/>
            </a:solidFill>
            <a:ln w="12700">
              <a:solidFill>
                <a:srgbClr val="D0D4DA"/>
              </a:solidFill>
              <a:prstDash val="solid"/>
            </a:ln>
          </p:spPr>
        </p:sp>
        <p:sp>
          <p:nvSpPr>
            <p:cNvPr id="12" name="Text 10"/>
            <p:cNvSpPr/>
            <p:nvPr/>
          </p:nvSpPr>
          <p:spPr>
            <a:xfrm>
              <a:off x="457200" y="3307896"/>
              <a:ext cx="1947672" cy="512064"/>
            </a:xfrm>
            <a:prstGeom prst="rect">
              <a:avLst/>
            </a:prstGeom>
            <a:noFill/>
            <a:ln/>
          </p:spPr>
          <p:txBody>
            <a:bodyPr wrap="square" lIns="0" tIns="0" rIns="0" bIns="0" rtlCol="0" anchor="ctr"/>
            <a:lstStyle/>
            <a:p>
              <a:pPr marL="0" indent="0" algn="ctr">
                <a:buNone/>
              </a:pPr>
              <a:r>
                <a:rPr lang="en-US" sz="1600" dirty="0">
                  <a:solidFill>
                    <a:srgbClr val="16243F"/>
                  </a:solidFill>
                  <a:latin typeface="Calibri" pitchFamily="34" charset="0"/>
                  <a:ea typeface="Calibri" pitchFamily="34" charset="-122"/>
                  <a:cs typeface="Calibri" pitchFamily="34" charset="-120"/>
                </a:rPr>
                <a:t>B.  </a:t>
              </a:r>
              <a:r>
                <a:rPr lang="en-US" sz="1600" b="1" dirty="0">
                  <a:solidFill>
                    <a:srgbClr val="16243F"/>
                  </a:solidFill>
                  <a:latin typeface="Calibri" pitchFamily="34" charset="0"/>
                  <a:ea typeface="Calibri" pitchFamily="34" charset="-122"/>
                  <a:cs typeface="Calibri" pitchFamily="34" charset="-120"/>
                </a:rPr>
                <a:t>11–40%</a:t>
              </a:r>
              <a:endParaRPr lang="en-US" sz="1600" dirty="0"/>
            </a:p>
          </p:txBody>
        </p:sp>
      </p:grpSp>
      <p:grpSp>
        <p:nvGrpSpPr>
          <p:cNvPr id="37" name="Grupa 36"/>
          <p:cNvGrpSpPr/>
          <p:nvPr/>
        </p:nvGrpSpPr>
        <p:grpSpPr>
          <a:xfrm>
            <a:off x="457200" y="3514448"/>
            <a:ext cx="1947672" cy="351636"/>
            <a:chOff x="4626864" y="2688336"/>
            <a:chExt cx="1947672" cy="512064"/>
          </a:xfrm>
        </p:grpSpPr>
        <p:sp>
          <p:nvSpPr>
            <p:cNvPr id="13" name="Shape 11"/>
            <p:cNvSpPr/>
            <p:nvPr/>
          </p:nvSpPr>
          <p:spPr>
            <a:xfrm>
              <a:off x="4626864" y="2688336"/>
              <a:ext cx="1947672" cy="512064"/>
            </a:xfrm>
            <a:prstGeom prst="roundRect">
              <a:avLst>
                <a:gd name="adj" fmla="val 10714"/>
              </a:avLst>
            </a:prstGeom>
            <a:solidFill>
              <a:srgbClr val="FFFFFF"/>
            </a:solidFill>
            <a:ln w="12700">
              <a:solidFill>
                <a:srgbClr val="D0D4DA"/>
              </a:solidFill>
              <a:prstDash val="solid"/>
            </a:ln>
          </p:spPr>
        </p:sp>
        <p:sp>
          <p:nvSpPr>
            <p:cNvPr id="14" name="Text 12"/>
            <p:cNvSpPr/>
            <p:nvPr/>
          </p:nvSpPr>
          <p:spPr>
            <a:xfrm>
              <a:off x="4626864" y="2688336"/>
              <a:ext cx="1947672" cy="512064"/>
            </a:xfrm>
            <a:prstGeom prst="rect">
              <a:avLst/>
            </a:prstGeom>
            <a:noFill/>
            <a:ln/>
          </p:spPr>
          <p:txBody>
            <a:bodyPr wrap="square" lIns="0" tIns="0" rIns="0" bIns="0" rtlCol="0" anchor="ctr"/>
            <a:lstStyle/>
            <a:p>
              <a:pPr marL="0" indent="0" algn="ctr">
                <a:buNone/>
              </a:pPr>
              <a:r>
                <a:rPr lang="en-US" sz="1600" dirty="0">
                  <a:solidFill>
                    <a:srgbClr val="16243F"/>
                  </a:solidFill>
                  <a:latin typeface="Calibri" pitchFamily="34" charset="0"/>
                  <a:ea typeface="Calibri" pitchFamily="34" charset="-122"/>
                  <a:cs typeface="Calibri" pitchFamily="34" charset="-120"/>
                </a:rPr>
                <a:t>C.  </a:t>
              </a:r>
              <a:r>
                <a:rPr lang="en-US" sz="1600" b="1" dirty="0">
                  <a:solidFill>
                    <a:srgbClr val="16243F"/>
                  </a:solidFill>
                  <a:latin typeface="Calibri" pitchFamily="34" charset="0"/>
                  <a:ea typeface="Calibri" pitchFamily="34" charset="-122"/>
                  <a:cs typeface="Calibri" pitchFamily="34" charset="-120"/>
                </a:rPr>
                <a:t>41–70%</a:t>
              </a:r>
              <a:endParaRPr lang="en-US" sz="1600" dirty="0"/>
            </a:p>
          </p:txBody>
        </p:sp>
      </p:grpSp>
      <p:grpSp>
        <p:nvGrpSpPr>
          <p:cNvPr id="38" name="Grupa 37"/>
          <p:cNvGrpSpPr/>
          <p:nvPr/>
        </p:nvGrpSpPr>
        <p:grpSpPr>
          <a:xfrm>
            <a:off x="457200" y="3916530"/>
            <a:ext cx="1947672" cy="351636"/>
            <a:chOff x="6711696" y="2688336"/>
            <a:chExt cx="1947672" cy="512064"/>
          </a:xfrm>
        </p:grpSpPr>
        <p:sp>
          <p:nvSpPr>
            <p:cNvPr id="15" name="Shape 13"/>
            <p:cNvSpPr/>
            <p:nvPr/>
          </p:nvSpPr>
          <p:spPr>
            <a:xfrm>
              <a:off x="6711696" y="2688336"/>
              <a:ext cx="1947672" cy="512064"/>
            </a:xfrm>
            <a:prstGeom prst="roundRect">
              <a:avLst>
                <a:gd name="adj" fmla="val 10714"/>
              </a:avLst>
            </a:prstGeom>
            <a:solidFill>
              <a:srgbClr val="FFFFFF"/>
            </a:solidFill>
            <a:ln w="12700">
              <a:solidFill>
                <a:srgbClr val="D0D4DA"/>
              </a:solidFill>
              <a:prstDash val="solid"/>
            </a:ln>
          </p:spPr>
        </p:sp>
        <p:sp>
          <p:nvSpPr>
            <p:cNvPr id="16" name="Text 14"/>
            <p:cNvSpPr/>
            <p:nvPr/>
          </p:nvSpPr>
          <p:spPr>
            <a:xfrm>
              <a:off x="6711696" y="2688336"/>
              <a:ext cx="1947672" cy="512064"/>
            </a:xfrm>
            <a:prstGeom prst="rect">
              <a:avLst/>
            </a:prstGeom>
            <a:noFill/>
            <a:ln/>
          </p:spPr>
          <p:txBody>
            <a:bodyPr wrap="square" lIns="0" tIns="0" rIns="0" bIns="0" rtlCol="0" anchor="ctr"/>
            <a:lstStyle/>
            <a:p>
              <a:pPr marL="0" indent="0" algn="ctr">
                <a:buNone/>
              </a:pPr>
              <a:r>
                <a:rPr lang="en-US" sz="1600" dirty="0">
                  <a:solidFill>
                    <a:srgbClr val="16243F"/>
                  </a:solidFill>
                  <a:latin typeface="Calibri" pitchFamily="34" charset="0"/>
                  <a:ea typeface="Calibri" pitchFamily="34" charset="-122"/>
                  <a:cs typeface="Calibri" pitchFamily="34" charset="-120"/>
                </a:rPr>
                <a:t>D.  </a:t>
              </a:r>
              <a:r>
                <a:rPr lang="en-US" sz="1600" b="1" dirty="0">
                  <a:solidFill>
                    <a:srgbClr val="16243F"/>
                  </a:solidFill>
                  <a:latin typeface="Calibri" pitchFamily="34" charset="0"/>
                  <a:ea typeface="Calibri" pitchFamily="34" charset="-122"/>
                  <a:cs typeface="Calibri" pitchFamily="34" charset="-120"/>
                </a:rPr>
                <a:t>71–100%</a:t>
              </a:r>
              <a:endParaRPr lang="en-US" sz="1600" dirty="0"/>
            </a:p>
          </p:txBody>
        </p:sp>
      </p:grpSp>
      <p:sp>
        <p:nvSpPr>
          <p:cNvPr id="21" name="Shape 19"/>
          <p:cNvSpPr/>
          <p:nvPr/>
        </p:nvSpPr>
        <p:spPr>
          <a:xfrm>
            <a:off x="7406640" y="4041648"/>
            <a:ext cx="1280160" cy="797981"/>
          </a:xfrm>
          <a:prstGeom prst="roundRect">
            <a:avLst>
              <a:gd name="adj" fmla="val 6000"/>
            </a:avLst>
          </a:prstGeom>
          <a:solidFill>
            <a:srgbClr val="EDF1F7"/>
          </a:solidFill>
          <a:ln w="12700">
            <a:solidFill>
              <a:srgbClr val="E1E4EA"/>
            </a:solidFill>
            <a:prstDash val="solid"/>
          </a:ln>
        </p:spPr>
      </p:sp>
      <p:sp>
        <p:nvSpPr>
          <p:cNvPr id="22" name="Shape 20"/>
          <p:cNvSpPr/>
          <p:nvPr/>
        </p:nvSpPr>
        <p:spPr>
          <a:xfrm>
            <a:off x="7516368" y="4133088"/>
            <a:ext cx="365760" cy="365760"/>
          </a:xfrm>
          <a:prstGeom prst="rect">
            <a:avLst/>
          </a:prstGeom>
          <a:solidFill>
            <a:srgbClr val="FFFFFF"/>
          </a:solidFill>
          <a:ln w="19050">
            <a:solidFill>
              <a:srgbClr val="16243F"/>
            </a:solidFill>
            <a:prstDash val="solid"/>
          </a:ln>
        </p:spPr>
      </p:sp>
      <p:sp>
        <p:nvSpPr>
          <p:cNvPr id="23" name="Shape 21"/>
          <p:cNvSpPr/>
          <p:nvPr/>
        </p:nvSpPr>
        <p:spPr>
          <a:xfrm>
            <a:off x="7543800" y="4160520"/>
            <a:ext cx="82296" cy="82296"/>
          </a:xfrm>
          <a:prstGeom prst="rect">
            <a:avLst/>
          </a:prstGeom>
          <a:solidFill>
            <a:srgbClr val="16243F"/>
          </a:solidFill>
          <a:ln w="12700">
            <a:solidFill>
              <a:srgbClr val="16243F"/>
            </a:solidFill>
            <a:prstDash val="solid"/>
          </a:ln>
        </p:spPr>
      </p:sp>
      <p:sp>
        <p:nvSpPr>
          <p:cNvPr id="24" name="Shape 22"/>
          <p:cNvSpPr/>
          <p:nvPr/>
        </p:nvSpPr>
        <p:spPr>
          <a:xfrm>
            <a:off x="7543800" y="4361688"/>
            <a:ext cx="82296" cy="82296"/>
          </a:xfrm>
          <a:prstGeom prst="rect">
            <a:avLst/>
          </a:prstGeom>
          <a:solidFill>
            <a:srgbClr val="16243F"/>
          </a:solidFill>
          <a:ln w="12700">
            <a:solidFill>
              <a:srgbClr val="16243F"/>
            </a:solidFill>
            <a:prstDash val="solid"/>
          </a:ln>
        </p:spPr>
      </p:sp>
      <p:sp>
        <p:nvSpPr>
          <p:cNvPr id="25" name="Shape 23"/>
          <p:cNvSpPr/>
          <p:nvPr/>
        </p:nvSpPr>
        <p:spPr>
          <a:xfrm>
            <a:off x="7644384" y="4261104"/>
            <a:ext cx="82296" cy="82296"/>
          </a:xfrm>
          <a:prstGeom prst="rect">
            <a:avLst/>
          </a:prstGeom>
          <a:solidFill>
            <a:srgbClr val="16243F"/>
          </a:solidFill>
          <a:ln w="12700">
            <a:solidFill>
              <a:srgbClr val="16243F"/>
            </a:solidFill>
            <a:prstDash val="solid"/>
          </a:ln>
        </p:spPr>
      </p:sp>
      <p:sp>
        <p:nvSpPr>
          <p:cNvPr id="26" name="Shape 24"/>
          <p:cNvSpPr/>
          <p:nvPr/>
        </p:nvSpPr>
        <p:spPr>
          <a:xfrm>
            <a:off x="7744968" y="4160520"/>
            <a:ext cx="82296" cy="82296"/>
          </a:xfrm>
          <a:prstGeom prst="rect">
            <a:avLst/>
          </a:prstGeom>
          <a:solidFill>
            <a:srgbClr val="16243F"/>
          </a:solidFill>
          <a:ln w="12700">
            <a:solidFill>
              <a:srgbClr val="16243F"/>
            </a:solidFill>
            <a:prstDash val="solid"/>
          </a:ln>
        </p:spPr>
      </p:sp>
      <p:sp>
        <p:nvSpPr>
          <p:cNvPr id="27" name="Shape 25"/>
          <p:cNvSpPr/>
          <p:nvPr/>
        </p:nvSpPr>
        <p:spPr>
          <a:xfrm>
            <a:off x="7744968" y="4361688"/>
            <a:ext cx="82296" cy="82296"/>
          </a:xfrm>
          <a:prstGeom prst="rect">
            <a:avLst/>
          </a:prstGeom>
          <a:solidFill>
            <a:srgbClr val="16243F"/>
          </a:solidFill>
          <a:ln w="12700">
            <a:solidFill>
              <a:srgbClr val="16243F"/>
            </a:solidFill>
            <a:prstDash val="solid"/>
          </a:ln>
        </p:spPr>
      </p:sp>
      <p:sp>
        <p:nvSpPr>
          <p:cNvPr id="28" name="Text 26"/>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29" name="Text 27"/>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sp>
        <p:nvSpPr>
          <p:cNvPr id="30" name="Text 28"/>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8/40   ·   Blok I</a:t>
            </a:r>
            <a:endParaRPr lang="en-US" sz="800" dirty="0"/>
          </a:p>
        </p:txBody>
      </p:sp>
      <p:grpSp>
        <p:nvGrpSpPr>
          <p:cNvPr id="32" name="Grupa 31"/>
          <p:cNvGrpSpPr/>
          <p:nvPr/>
        </p:nvGrpSpPr>
        <p:grpSpPr>
          <a:xfrm>
            <a:off x="4795024" y="221965"/>
            <a:ext cx="4196576" cy="741726"/>
            <a:chOff x="4490224" y="2041452"/>
            <a:chExt cx="4196576" cy="741726"/>
          </a:xfrm>
        </p:grpSpPr>
        <p:sp>
          <p:nvSpPr>
            <p:cNvPr id="33" name="Shape 32"/>
            <p:cNvSpPr/>
            <p:nvPr/>
          </p:nvSpPr>
          <p:spPr>
            <a:xfrm>
              <a:off x="4490224" y="2041452"/>
              <a:ext cx="4196576" cy="741726"/>
            </a:xfrm>
            <a:prstGeom prst="roundRect">
              <a:avLst>
                <a:gd name="adj" fmla="val 2449"/>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34" name="Text 33"/>
            <p:cNvSpPr/>
            <p:nvPr/>
          </p:nvSpPr>
          <p:spPr>
            <a:xfrm>
              <a:off x="4627633" y="2080819"/>
              <a:ext cx="3912863"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p:sp>
          <p:nvSpPr>
            <p:cNvPr id="35" name="Text 34"/>
            <p:cNvSpPr/>
            <p:nvPr/>
          </p:nvSpPr>
          <p:spPr>
            <a:xfrm>
              <a:off x="4627633" y="2336547"/>
              <a:ext cx="3912863" cy="414881"/>
            </a:xfrm>
            <a:prstGeom prst="rect">
              <a:avLst/>
            </a:prstGeom>
            <a:noFill/>
            <a:ln/>
          </p:spPr>
          <p:txBody>
            <a:bodyPr wrap="square" lIns="0" tIns="0" rIns="0" bIns="0" rtlCol="0" anchor="t"/>
            <a:lstStyle/>
            <a:p>
              <a:r>
                <a:rPr lang="pl-PL" sz="1200" b="1" dirty="0" smtClean="0">
                  <a:solidFill>
                    <a:srgbClr val="16243F"/>
                  </a:solidFill>
                  <a:latin typeface="Calibri" pitchFamily="34" charset="0"/>
                  <a:ea typeface="Calibri" pitchFamily="34" charset="-122"/>
                  <a:cs typeface="Calibri" pitchFamily="34" charset="-120"/>
                </a:rPr>
                <a:t>Poprawna odpowiedź to </a:t>
              </a:r>
              <a:r>
                <a:rPr lang="pl-PL" sz="1200" b="1" dirty="0">
                  <a:solidFill>
                    <a:srgbClr val="16243F"/>
                  </a:solidFill>
                  <a:latin typeface="Calibri" pitchFamily="34" charset="0"/>
                  <a:ea typeface="Calibri" pitchFamily="34" charset="-122"/>
                  <a:cs typeface="Calibri" pitchFamily="34" charset="-120"/>
                </a:rPr>
                <a:t>0</a:t>
              </a:r>
              <a:r>
                <a:rPr lang="pl-PL" sz="1200" b="1" dirty="0" smtClean="0">
                  <a:solidFill>
                    <a:srgbClr val="16243F"/>
                  </a:solidFill>
                  <a:latin typeface="Calibri" pitchFamily="34" charset="0"/>
                  <a:ea typeface="Calibri" pitchFamily="34" charset="-122"/>
                  <a:cs typeface="Calibri" pitchFamily="34" charset="-120"/>
                </a:rPr>
                <a:t>%</a:t>
              </a:r>
              <a:r>
                <a:rPr lang="pl-PL" sz="1200" dirty="0" smtClean="0">
                  <a:solidFill>
                    <a:srgbClr val="16243F"/>
                  </a:solidFill>
                  <a:latin typeface="Calibri" pitchFamily="34" charset="0"/>
                  <a:ea typeface="Calibri" pitchFamily="34" charset="-122"/>
                  <a:cs typeface="Calibri" pitchFamily="34" charset="-120"/>
                </a:rPr>
                <a:t>. Zdarzenia </a:t>
              </a:r>
              <a:r>
                <a:rPr lang="pl-PL" sz="1200" dirty="0">
                  <a:solidFill>
                    <a:srgbClr val="16243F"/>
                  </a:solidFill>
                  <a:latin typeface="Calibri" pitchFamily="34" charset="0"/>
                  <a:ea typeface="Calibri" pitchFamily="34" charset="-122"/>
                  <a:cs typeface="Calibri" pitchFamily="34" charset="-120"/>
                </a:rPr>
                <a:t>są </a:t>
              </a:r>
              <a:r>
                <a:rPr lang="pl-PL" sz="1200" dirty="0" smtClean="0">
                  <a:solidFill>
                    <a:srgbClr val="16243F"/>
                  </a:solidFill>
                  <a:latin typeface="Calibri" pitchFamily="34" charset="0"/>
                  <a:ea typeface="Calibri" pitchFamily="34" charset="-122"/>
                  <a:cs typeface="Calibri" pitchFamily="34" charset="-120"/>
                </a:rPr>
                <a:t>przecież niezależne. Historia </a:t>
              </a:r>
              <a:r>
                <a:rPr lang="pl-PL" sz="1200" dirty="0">
                  <a:solidFill>
                    <a:srgbClr val="16243F"/>
                  </a:solidFill>
                  <a:latin typeface="Calibri" pitchFamily="34" charset="0"/>
                  <a:ea typeface="Calibri" pitchFamily="34" charset="-122"/>
                  <a:cs typeface="Calibri" pitchFamily="34" charset="-120"/>
                </a:rPr>
                <a:t>serii nie wpływa na rozkład następnego wyniku.</a:t>
              </a:r>
            </a:p>
          </p:txBody>
        </p:sp>
      </p:grpSp>
      <p:sp>
        <p:nvSpPr>
          <p:cNvPr id="40" name="Shape 13"/>
          <p:cNvSpPr/>
          <p:nvPr/>
        </p:nvSpPr>
        <p:spPr>
          <a:xfrm>
            <a:off x="4795024" y="58617"/>
            <a:ext cx="4196576" cy="108484"/>
          </a:xfrm>
          <a:prstGeom prst="roundRect">
            <a:avLst>
              <a:gd name="adj" fmla="val 17647"/>
            </a:avLst>
          </a:prstGeom>
          <a:solidFill>
            <a:srgbClr val="C07A35"/>
          </a:solidFill>
          <a:ln w="12700">
            <a:solidFill>
              <a:srgbClr val="C07A35"/>
            </a:solidFill>
            <a:prstDash val="solid"/>
          </a:ln>
        </p:spPr>
        <p:txBody>
          <a:bodyPr anchor="ctr"/>
          <a:lstStyle/>
          <a:p>
            <a:pPr algn="ctr"/>
            <a:r>
              <a:rPr lang="en-US" sz="900" b="1" dirty="0">
                <a:solidFill>
                  <a:srgbClr val="FFFFFF"/>
                </a:solidFill>
                <a:latin typeface="Calibri" pitchFamily="34" charset="0"/>
                <a:ea typeface="Calibri" pitchFamily="34" charset="-122"/>
                <a:cs typeface="Calibri" pitchFamily="34" charset="-120"/>
              </a:rPr>
              <a:t>ZAGŁOSUJ PRZED UJAWNIENIEM </a:t>
            </a:r>
            <a:r>
              <a:rPr lang="en-US" sz="900" b="1" dirty="0" smtClean="0">
                <a:solidFill>
                  <a:srgbClr val="FFFFFF"/>
                </a:solidFill>
                <a:latin typeface="Calibri" pitchFamily="34" charset="0"/>
                <a:ea typeface="Calibri" pitchFamily="34" charset="-122"/>
                <a:cs typeface="Calibri" pitchFamily="34" charset="-120"/>
              </a:rPr>
              <a:t>ROZWIĄZANIA</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anim calcmode="lin" valueType="num">
                                      <p:cBhvr>
                                        <p:cTn id="8" dur="500" fill="hold"/>
                                        <p:tgtEl>
                                          <p:spTgt spid="40"/>
                                        </p:tgtEl>
                                        <p:attrNameLst>
                                          <p:attrName>ppt_x</p:attrName>
                                        </p:attrNameLst>
                                      </p:cBhvr>
                                      <p:tavLst>
                                        <p:tav tm="0">
                                          <p:val>
                                            <p:strVal val="#ppt_x"/>
                                          </p:val>
                                        </p:tav>
                                        <p:tav tm="100000">
                                          <p:val>
                                            <p:strVal val="#ppt_x"/>
                                          </p:val>
                                        </p:tav>
                                      </p:tavLst>
                                    </p:anim>
                                    <p:anim calcmode="lin" valueType="num">
                                      <p:cBhvr>
                                        <p:cTn id="9" dur="5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500"/>
                                        <p:tgtEl>
                                          <p:spTgt spid="32"/>
                                        </p:tgtEl>
                                      </p:cBhvr>
                                    </p:animEffect>
                                    <p:anim calcmode="lin" valueType="num">
                                      <p:cBhvr>
                                        <p:cTn id="15" dur="500" fill="hold"/>
                                        <p:tgtEl>
                                          <p:spTgt spid="32"/>
                                        </p:tgtEl>
                                        <p:attrNameLst>
                                          <p:attrName>ppt_x</p:attrName>
                                        </p:attrNameLst>
                                      </p:cBhvr>
                                      <p:tavLst>
                                        <p:tav tm="0">
                                          <p:val>
                                            <p:strVal val="#ppt_x"/>
                                          </p:val>
                                        </p:tav>
                                        <p:tav tm="100000">
                                          <p:val>
                                            <p:strVal val="#ppt_x"/>
                                          </p:val>
                                        </p:tav>
                                      </p:tavLst>
                                    </p:anim>
                                    <p:anim calcmode="lin" valueType="num">
                                      <p:cBhvr>
                                        <p:cTn id="16" dur="5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6B5B95"/>
          </a:solidFill>
          <a:ln w="12700">
            <a:solidFill>
              <a:srgbClr val="6B5B9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 · LOSOWOŚĆ</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Efekt gorącej ręki </a:t>
            </a:r>
            <a:r>
              <a:rPr lang="en-US" sz="2400" dirty="0">
                <a:solidFill>
                  <a:srgbClr val="16243F"/>
                </a:solidFill>
                <a:latin typeface="Cambria" pitchFamily="34" charset="0"/>
                <a:ea typeface="Cambria" pitchFamily="34" charset="-122"/>
                <a:cs typeface="Cambria" pitchFamily="34" charset="-120"/>
              </a:rPr>
              <a:t>(hot hand)</a:t>
            </a:r>
            <a:endParaRPr lang="en-US" sz="2400" dirty="0"/>
          </a:p>
        </p:txBody>
      </p:sp>
      <p:sp>
        <p:nvSpPr>
          <p:cNvPr id="5" name="Shape 3"/>
          <p:cNvSpPr/>
          <p:nvPr/>
        </p:nvSpPr>
        <p:spPr>
          <a:xfrm>
            <a:off x="449021" y="1530599"/>
            <a:ext cx="8245211" cy="359531"/>
          </a:xfrm>
          <a:prstGeom prst="roundRect">
            <a:avLst>
              <a:gd name="adj" fmla="val 14286"/>
            </a:avLst>
          </a:prstGeom>
          <a:solidFill>
            <a:srgbClr val="EDF1F7"/>
          </a:solidFill>
          <a:ln w="12700">
            <a:solidFill>
              <a:srgbClr val="E1E4EA"/>
            </a:solidFill>
            <a:prstDash val="solid"/>
          </a:ln>
        </p:spPr>
        <p:txBody>
          <a:bodyPr anchor="ctr"/>
          <a:lstStyle/>
          <a:p>
            <a:r>
              <a:rPr lang="pl-PL" sz="1400" b="1" dirty="0" smtClean="0">
                <a:solidFill>
                  <a:srgbClr val="16243F"/>
                </a:solidFill>
                <a:latin typeface="Calibri" pitchFamily="34" charset="0"/>
                <a:ea typeface="Calibri" pitchFamily="34" charset="-122"/>
                <a:cs typeface="Calibri" pitchFamily="34" charset="-120"/>
              </a:rPr>
              <a:t>Czy koszykarz po trzech trafieniach z rzędu ma większą szansę trafić kolejny rzut?</a:t>
            </a:r>
            <a:endParaRPr lang="pl-PL" sz="1400" dirty="0"/>
          </a:p>
        </p:txBody>
      </p:sp>
      <p:grpSp>
        <p:nvGrpSpPr>
          <p:cNvPr id="38" name="Grupa 37"/>
          <p:cNvGrpSpPr/>
          <p:nvPr/>
        </p:nvGrpSpPr>
        <p:grpSpPr>
          <a:xfrm>
            <a:off x="457200" y="1987334"/>
            <a:ext cx="2962507" cy="432000"/>
            <a:chOff x="457200" y="1672236"/>
            <a:chExt cx="3245278" cy="432000"/>
          </a:xfrm>
        </p:grpSpPr>
        <p:sp>
          <p:nvSpPr>
            <p:cNvPr id="7" name="Shape 5"/>
            <p:cNvSpPr/>
            <p:nvPr/>
          </p:nvSpPr>
          <p:spPr>
            <a:xfrm>
              <a:off x="457200" y="1672236"/>
              <a:ext cx="3245278" cy="432000"/>
            </a:xfrm>
            <a:prstGeom prst="roundRect">
              <a:avLst>
                <a:gd name="adj" fmla="val 10714"/>
              </a:avLst>
            </a:prstGeom>
            <a:solidFill>
              <a:srgbClr val="FFFFFF"/>
            </a:solidFill>
            <a:ln w="12700">
              <a:solidFill>
                <a:srgbClr val="E1E4EA"/>
              </a:solidFill>
              <a:prstDash val="solid"/>
            </a:ln>
          </p:spPr>
        </p:sp>
        <p:sp>
          <p:nvSpPr>
            <p:cNvPr id="8" name="Shape 6"/>
            <p:cNvSpPr/>
            <p:nvPr/>
          </p:nvSpPr>
          <p:spPr>
            <a:xfrm>
              <a:off x="548641" y="1779660"/>
              <a:ext cx="237744" cy="216000"/>
            </a:xfrm>
            <a:prstGeom prst="ellipse">
              <a:avLst/>
            </a:prstGeom>
            <a:solidFill>
              <a:srgbClr val="EDF1F7"/>
            </a:solidFill>
            <a:ln w="12700">
              <a:solidFill>
                <a:srgbClr val="16243F"/>
              </a:solidFill>
              <a:prstDash val="solid"/>
            </a:ln>
          </p:spPr>
          <p:txBody>
            <a:bodyPr/>
            <a:lstStyle/>
            <a:p>
              <a:endParaRPr lang="pl-PL" dirty="0"/>
            </a:p>
          </p:txBody>
        </p:sp>
        <p:sp>
          <p:nvSpPr>
            <p:cNvPr id="9" name="Text 7"/>
            <p:cNvSpPr/>
            <p:nvPr/>
          </p:nvSpPr>
          <p:spPr>
            <a:xfrm>
              <a:off x="548640" y="1764792"/>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0" name="Text 8"/>
            <p:cNvSpPr/>
            <p:nvPr/>
          </p:nvSpPr>
          <p:spPr>
            <a:xfrm>
              <a:off x="859537" y="1672236"/>
              <a:ext cx="2737074" cy="424566"/>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Zdecydowanie tak</a:t>
              </a:r>
              <a:endParaRPr lang="en-US" sz="1200" dirty="0"/>
            </a:p>
          </p:txBody>
        </p:sp>
      </p:grpSp>
      <p:grpSp>
        <p:nvGrpSpPr>
          <p:cNvPr id="39" name="Grupa 38"/>
          <p:cNvGrpSpPr/>
          <p:nvPr/>
        </p:nvGrpSpPr>
        <p:grpSpPr>
          <a:xfrm>
            <a:off x="457200" y="2491740"/>
            <a:ext cx="2962507" cy="432000"/>
            <a:chOff x="457200" y="2275740"/>
            <a:chExt cx="3197767" cy="432000"/>
          </a:xfrm>
        </p:grpSpPr>
        <p:sp>
          <p:nvSpPr>
            <p:cNvPr id="11" name="Shape 9"/>
            <p:cNvSpPr/>
            <p:nvPr/>
          </p:nvSpPr>
          <p:spPr>
            <a:xfrm>
              <a:off x="457200" y="2275740"/>
              <a:ext cx="3197767" cy="432000"/>
            </a:xfrm>
            <a:prstGeom prst="roundRect">
              <a:avLst>
                <a:gd name="adj" fmla="val 10714"/>
              </a:avLst>
            </a:prstGeom>
            <a:solidFill>
              <a:srgbClr val="FFFFFF"/>
            </a:solidFill>
            <a:ln w="12700">
              <a:solidFill>
                <a:srgbClr val="E1E4EA"/>
              </a:solidFill>
              <a:prstDash val="solid"/>
            </a:ln>
          </p:spPr>
        </p:sp>
        <p:sp>
          <p:nvSpPr>
            <p:cNvPr id="12" name="Shape 10"/>
            <p:cNvSpPr/>
            <p:nvPr/>
          </p:nvSpPr>
          <p:spPr>
            <a:xfrm>
              <a:off x="548641" y="2375730"/>
              <a:ext cx="237744" cy="216000"/>
            </a:xfrm>
            <a:prstGeom prst="ellipse">
              <a:avLst/>
            </a:prstGeom>
            <a:solidFill>
              <a:srgbClr val="EDF1F7"/>
            </a:solidFill>
            <a:ln w="12700">
              <a:solidFill>
                <a:srgbClr val="16243F"/>
              </a:solidFill>
              <a:prstDash val="solid"/>
            </a:ln>
          </p:spPr>
        </p:sp>
        <p:sp>
          <p:nvSpPr>
            <p:cNvPr id="13" name="Text 11"/>
            <p:cNvSpPr/>
            <p:nvPr/>
          </p:nvSpPr>
          <p:spPr>
            <a:xfrm>
              <a:off x="548640" y="2368296"/>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4" name="Text 12"/>
            <p:cNvSpPr/>
            <p:nvPr/>
          </p:nvSpPr>
          <p:spPr>
            <a:xfrm>
              <a:off x="859536" y="2283174"/>
              <a:ext cx="2691112" cy="417132"/>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Raczej tak</a:t>
              </a:r>
              <a:endParaRPr lang="en-US" sz="1200" dirty="0"/>
            </a:p>
          </p:txBody>
        </p:sp>
      </p:grpSp>
      <p:grpSp>
        <p:nvGrpSpPr>
          <p:cNvPr id="40" name="Grupa 39"/>
          <p:cNvGrpSpPr/>
          <p:nvPr/>
        </p:nvGrpSpPr>
        <p:grpSpPr>
          <a:xfrm>
            <a:off x="457200" y="2989827"/>
            <a:ext cx="2962507" cy="439434"/>
            <a:chOff x="457200" y="2879244"/>
            <a:chExt cx="3245278" cy="439434"/>
          </a:xfrm>
        </p:grpSpPr>
        <p:sp>
          <p:nvSpPr>
            <p:cNvPr id="15" name="Shape 13"/>
            <p:cNvSpPr/>
            <p:nvPr/>
          </p:nvSpPr>
          <p:spPr>
            <a:xfrm>
              <a:off x="457200" y="2879244"/>
              <a:ext cx="3245278" cy="432000"/>
            </a:xfrm>
            <a:prstGeom prst="roundRect">
              <a:avLst>
                <a:gd name="adj" fmla="val 10714"/>
              </a:avLst>
            </a:prstGeom>
            <a:solidFill>
              <a:srgbClr val="FFFFFF"/>
            </a:solidFill>
            <a:ln w="12700">
              <a:solidFill>
                <a:srgbClr val="E1E4EA"/>
              </a:solidFill>
              <a:prstDash val="solid"/>
            </a:ln>
          </p:spPr>
        </p:sp>
        <p:sp>
          <p:nvSpPr>
            <p:cNvPr id="16" name="Shape 14"/>
            <p:cNvSpPr/>
            <p:nvPr/>
          </p:nvSpPr>
          <p:spPr>
            <a:xfrm>
              <a:off x="548641" y="2979234"/>
              <a:ext cx="237744" cy="216000"/>
            </a:xfrm>
            <a:prstGeom prst="ellipse">
              <a:avLst/>
            </a:prstGeom>
            <a:solidFill>
              <a:srgbClr val="EDF1F7"/>
            </a:solidFill>
            <a:ln w="12700">
              <a:solidFill>
                <a:srgbClr val="16243F"/>
              </a:solidFill>
              <a:prstDash val="solid"/>
            </a:ln>
          </p:spPr>
        </p:sp>
        <p:sp>
          <p:nvSpPr>
            <p:cNvPr id="17" name="Text 15"/>
            <p:cNvSpPr/>
            <p:nvPr/>
          </p:nvSpPr>
          <p:spPr>
            <a:xfrm>
              <a:off x="548640" y="2971800"/>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C</a:t>
              </a:r>
              <a:endParaRPr lang="en-US" sz="1000" dirty="0"/>
            </a:p>
          </p:txBody>
        </p:sp>
        <p:sp>
          <p:nvSpPr>
            <p:cNvPr id="18" name="Text 16"/>
            <p:cNvSpPr/>
            <p:nvPr/>
          </p:nvSpPr>
          <p:spPr>
            <a:xfrm>
              <a:off x="859537" y="2886678"/>
              <a:ext cx="2737074" cy="4320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Nie zmienia to szansy</a:t>
              </a:r>
              <a:endParaRPr lang="en-US" sz="1200" dirty="0"/>
            </a:p>
          </p:txBody>
        </p:sp>
      </p:grpSp>
      <p:grpSp>
        <p:nvGrpSpPr>
          <p:cNvPr id="41" name="Grupa 40"/>
          <p:cNvGrpSpPr/>
          <p:nvPr/>
        </p:nvGrpSpPr>
        <p:grpSpPr>
          <a:xfrm>
            <a:off x="457200" y="3490182"/>
            <a:ext cx="2962507" cy="432000"/>
            <a:chOff x="457200" y="3490182"/>
            <a:chExt cx="3245278" cy="432000"/>
          </a:xfrm>
        </p:grpSpPr>
        <p:sp>
          <p:nvSpPr>
            <p:cNvPr id="19" name="Shape 17"/>
            <p:cNvSpPr/>
            <p:nvPr/>
          </p:nvSpPr>
          <p:spPr>
            <a:xfrm>
              <a:off x="457200" y="3490182"/>
              <a:ext cx="3245278" cy="432000"/>
            </a:xfrm>
            <a:prstGeom prst="roundRect">
              <a:avLst>
                <a:gd name="adj" fmla="val 10714"/>
              </a:avLst>
            </a:prstGeom>
            <a:solidFill>
              <a:srgbClr val="FFFFFF"/>
            </a:solidFill>
            <a:ln w="12700">
              <a:solidFill>
                <a:srgbClr val="E1E4EA"/>
              </a:solidFill>
              <a:prstDash val="solid"/>
            </a:ln>
          </p:spPr>
        </p:sp>
        <p:sp>
          <p:nvSpPr>
            <p:cNvPr id="20" name="Shape 18"/>
            <p:cNvSpPr/>
            <p:nvPr/>
          </p:nvSpPr>
          <p:spPr>
            <a:xfrm>
              <a:off x="548641" y="3590172"/>
              <a:ext cx="237744" cy="216000"/>
            </a:xfrm>
            <a:prstGeom prst="ellipse">
              <a:avLst/>
            </a:prstGeom>
            <a:solidFill>
              <a:srgbClr val="EDF1F7"/>
            </a:solidFill>
            <a:ln w="12700">
              <a:solidFill>
                <a:srgbClr val="16243F"/>
              </a:solidFill>
              <a:prstDash val="solid"/>
            </a:ln>
          </p:spPr>
        </p:sp>
        <p:sp>
          <p:nvSpPr>
            <p:cNvPr id="21" name="Text 19"/>
            <p:cNvSpPr/>
            <p:nvPr/>
          </p:nvSpPr>
          <p:spPr>
            <a:xfrm>
              <a:off x="548640" y="3575304"/>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D</a:t>
              </a:r>
              <a:endParaRPr lang="en-US" sz="1000" dirty="0"/>
            </a:p>
          </p:txBody>
        </p:sp>
        <p:sp>
          <p:nvSpPr>
            <p:cNvPr id="22" name="Text 20"/>
            <p:cNvSpPr/>
            <p:nvPr/>
          </p:nvSpPr>
          <p:spPr>
            <a:xfrm>
              <a:off x="859537" y="3490182"/>
              <a:ext cx="2737074" cy="4320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Raczej zmniejsza szansę</a:t>
              </a:r>
              <a:endParaRPr lang="en-US" sz="1200" dirty="0"/>
            </a:p>
          </p:txBody>
        </p:sp>
      </p:grpSp>
      <p:sp>
        <p:nvSpPr>
          <p:cNvPr id="25" name="Shape 23"/>
          <p:cNvSpPr/>
          <p:nvPr/>
        </p:nvSpPr>
        <p:spPr>
          <a:xfrm>
            <a:off x="7406640" y="4041648"/>
            <a:ext cx="1280160" cy="914400"/>
          </a:xfrm>
          <a:prstGeom prst="roundRect">
            <a:avLst>
              <a:gd name="adj" fmla="val 6000"/>
            </a:avLst>
          </a:prstGeom>
          <a:solidFill>
            <a:srgbClr val="EDF1F7"/>
          </a:solidFill>
          <a:ln w="12700">
            <a:solidFill>
              <a:srgbClr val="E1E4EA"/>
            </a:solidFill>
            <a:prstDash val="solid"/>
          </a:ln>
        </p:spPr>
      </p:sp>
      <p:sp>
        <p:nvSpPr>
          <p:cNvPr id="26" name="Shape 24"/>
          <p:cNvSpPr/>
          <p:nvPr/>
        </p:nvSpPr>
        <p:spPr>
          <a:xfrm>
            <a:off x="7516368" y="4133088"/>
            <a:ext cx="365760" cy="365760"/>
          </a:xfrm>
          <a:prstGeom prst="rect">
            <a:avLst/>
          </a:prstGeom>
          <a:solidFill>
            <a:srgbClr val="FFFFFF"/>
          </a:solidFill>
          <a:ln w="19050">
            <a:solidFill>
              <a:srgbClr val="16243F"/>
            </a:solidFill>
            <a:prstDash val="solid"/>
          </a:ln>
        </p:spPr>
      </p:sp>
      <p:sp>
        <p:nvSpPr>
          <p:cNvPr id="27" name="Shape 25"/>
          <p:cNvSpPr/>
          <p:nvPr/>
        </p:nvSpPr>
        <p:spPr>
          <a:xfrm>
            <a:off x="7543800" y="4160520"/>
            <a:ext cx="82296" cy="82296"/>
          </a:xfrm>
          <a:prstGeom prst="rect">
            <a:avLst/>
          </a:prstGeom>
          <a:solidFill>
            <a:srgbClr val="16243F"/>
          </a:solidFill>
          <a:ln w="12700">
            <a:solidFill>
              <a:srgbClr val="16243F"/>
            </a:solidFill>
            <a:prstDash val="solid"/>
          </a:ln>
        </p:spPr>
      </p:sp>
      <p:sp>
        <p:nvSpPr>
          <p:cNvPr id="28" name="Shape 26"/>
          <p:cNvSpPr/>
          <p:nvPr/>
        </p:nvSpPr>
        <p:spPr>
          <a:xfrm>
            <a:off x="7543800" y="4361688"/>
            <a:ext cx="82296" cy="82296"/>
          </a:xfrm>
          <a:prstGeom prst="rect">
            <a:avLst/>
          </a:prstGeom>
          <a:solidFill>
            <a:srgbClr val="16243F"/>
          </a:solidFill>
          <a:ln w="12700">
            <a:solidFill>
              <a:srgbClr val="16243F"/>
            </a:solidFill>
            <a:prstDash val="solid"/>
          </a:ln>
        </p:spPr>
      </p:sp>
      <p:sp>
        <p:nvSpPr>
          <p:cNvPr id="29" name="Shape 27"/>
          <p:cNvSpPr/>
          <p:nvPr/>
        </p:nvSpPr>
        <p:spPr>
          <a:xfrm>
            <a:off x="7644384" y="4261104"/>
            <a:ext cx="82296" cy="82296"/>
          </a:xfrm>
          <a:prstGeom prst="rect">
            <a:avLst/>
          </a:prstGeom>
          <a:solidFill>
            <a:srgbClr val="16243F"/>
          </a:solidFill>
          <a:ln w="12700">
            <a:solidFill>
              <a:srgbClr val="16243F"/>
            </a:solidFill>
            <a:prstDash val="solid"/>
          </a:ln>
        </p:spPr>
      </p:sp>
      <p:sp>
        <p:nvSpPr>
          <p:cNvPr id="30" name="Shape 28"/>
          <p:cNvSpPr/>
          <p:nvPr/>
        </p:nvSpPr>
        <p:spPr>
          <a:xfrm>
            <a:off x="7744968" y="4160520"/>
            <a:ext cx="82296" cy="82296"/>
          </a:xfrm>
          <a:prstGeom prst="rect">
            <a:avLst/>
          </a:prstGeom>
          <a:solidFill>
            <a:srgbClr val="16243F"/>
          </a:solidFill>
          <a:ln w="12700">
            <a:solidFill>
              <a:srgbClr val="16243F"/>
            </a:solidFill>
            <a:prstDash val="solid"/>
          </a:ln>
        </p:spPr>
      </p:sp>
      <p:sp>
        <p:nvSpPr>
          <p:cNvPr id="31" name="Shape 29"/>
          <p:cNvSpPr/>
          <p:nvPr/>
        </p:nvSpPr>
        <p:spPr>
          <a:xfrm>
            <a:off x="7744968" y="4361688"/>
            <a:ext cx="82296" cy="82296"/>
          </a:xfrm>
          <a:prstGeom prst="rect">
            <a:avLst/>
          </a:prstGeom>
          <a:solidFill>
            <a:srgbClr val="16243F"/>
          </a:solidFill>
          <a:ln w="12700">
            <a:solidFill>
              <a:srgbClr val="16243F"/>
            </a:solidFill>
            <a:prstDash val="solid"/>
          </a:ln>
        </p:spPr>
      </p:sp>
      <p:sp>
        <p:nvSpPr>
          <p:cNvPr id="32" name="Text 30"/>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33" name="Text 31"/>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42" name="Grupa 41"/>
          <p:cNvGrpSpPr/>
          <p:nvPr/>
        </p:nvGrpSpPr>
        <p:grpSpPr>
          <a:xfrm>
            <a:off x="4007004" y="2232820"/>
            <a:ext cx="4687229" cy="1713994"/>
            <a:chOff x="4007004" y="2045579"/>
            <a:chExt cx="4687229" cy="1713994"/>
          </a:xfrm>
        </p:grpSpPr>
        <p:sp>
          <p:nvSpPr>
            <p:cNvPr id="34" name="Shape 32"/>
            <p:cNvSpPr/>
            <p:nvPr/>
          </p:nvSpPr>
          <p:spPr>
            <a:xfrm>
              <a:off x="4007004" y="2045579"/>
              <a:ext cx="4687229" cy="1713994"/>
            </a:xfrm>
            <a:prstGeom prst="roundRect">
              <a:avLst>
                <a:gd name="adj" fmla="val 2449"/>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35" name="Text 33"/>
            <p:cNvSpPr/>
            <p:nvPr/>
          </p:nvSpPr>
          <p:spPr>
            <a:xfrm>
              <a:off x="4177990" y="2122283"/>
              <a:ext cx="4198857"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p:sp>
          <p:nvSpPr>
            <p:cNvPr id="36" name="Text 34"/>
            <p:cNvSpPr/>
            <p:nvPr/>
          </p:nvSpPr>
          <p:spPr>
            <a:xfrm>
              <a:off x="4177990" y="2409761"/>
              <a:ext cx="4378712" cy="1231106"/>
            </a:xfrm>
            <a:prstGeom prst="rect">
              <a:avLst/>
            </a:prstGeom>
            <a:noFill/>
            <a:ln/>
          </p:spPr>
          <p:txBody>
            <a:bodyPr wrap="square" lIns="0" tIns="0" rIns="0" bIns="0" rtlCol="0" anchor="t">
              <a:spAutoFit/>
            </a:bodyPr>
            <a:lstStyle/>
            <a:p>
              <a:r>
                <a:rPr lang="pl-PL" sz="1200" dirty="0" err="1">
                  <a:solidFill>
                    <a:srgbClr val="16243F"/>
                  </a:solidFill>
                  <a:latin typeface="Calibri" pitchFamily="34" charset="0"/>
                  <a:ea typeface="Calibri" pitchFamily="34" charset="-122"/>
                  <a:cs typeface="Calibri" pitchFamily="34" charset="-120"/>
                </a:rPr>
                <a:t>Gilovich</a:t>
              </a:r>
              <a:r>
                <a:rPr lang="pl-PL" sz="1200" dirty="0">
                  <a:solidFill>
                    <a:srgbClr val="16243F"/>
                  </a:solidFill>
                  <a:latin typeface="Calibri" pitchFamily="34" charset="0"/>
                  <a:ea typeface="Calibri" pitchFamily="34" charset="-122"/>
                  <a:cs typeface="Calibri" pitchFamily="34" charset="-120"/>
                </a:rPr>
                <a:t>, </a:t>
              </a:r>
              <a:r>
                <a:rPr lang="pl-PL" sz="1200" dirty="0" err="1">
                  <a:solidFill>
                    <a:srgbClr val="16243F"/>
                  </a:solidFill>
                  <a:latin typeface="Calibri" pitchFamily="34" charset="0"/>
                  <a:ea typeface="Calibri" pitchFamily="34" charset="-122"/>
                  <a:cs typeface="Calibri" pitchFamily="34" charset="-120"/>
                </a:rPr>
                <a:t>Vallone</a:t>
              </a:r>
              <a:r>
                <a:rPr lang="pl-PL" sz="1200" dirty="0">
                  <a:solidFill>
                    <a:srgbClr val="16243F"/>
                  </a:solidFill>
                  <a:latin typeface="Calibri" pitchFamily="34" charset="0"/>
                  <a:ea typeface="Calibri" pitchFamily="34" charset="-122"/>
                  <a:cs typeface="Calibri" pitchFamily="34" charset="-120"/>
                </a:rPr>
                <a:t> i </a:t>
              </a:r>
              <a:r>
                <a:rPr lang="pl-PL" sz="1200" dirty="0" err="1">
                  <a:solidFill>
                    <a:srgbClr val="16243F"/>
                  </a:solidFill>
                  <a:latin typeface="Calibri" pitchFamily="34" charset="0"/>
                  <a:ea typeface="Calibri" pitchFamily="34" charset="-122"/>
                  <a:cs typeface="Calibri" pitchFamily="34" charset="-120"/>
                </a:rPr>
                <a:t>Tversky</a:t>
              </a:r>
              <a:r>
                <a:rPr lang="pl-PL" sz="1200" dirty="0">
                  <a:solidFill>
                    <a:srgbClr val="16243F"/>
                  </a:solidFill>
                  <a:latin typeface="Calibri" pitchFamily="34" charset="0"/>
                  <a:ea typeface="Calibri" pitchFamily="34" charset="-122"/>
                  <a:cs typeface="Calibri" pitchFamily="34" charset="-120"/>
                </a:rPr>
                <a:t> (1985) nie znaleźli dowodów </a:t>
              </a:r>
              <a:r>
                <a:rPr lang="pl-PL" sz="1200" dirty="0" smtClean="0">
                  <a:solidFill>
                    <a:srgbClr val="16243F"/>
                  </a:solidFill>
                  <a:latin typeface="Calibri" pitchFamily="34" charset="0"/>
                  <a:ea typeface="Calibri" pitchFamily="34" charset="-122"/>
                  <a:cs typeface="Calibri" pitchFamily="34" charset="-120"/>
                </a:rPr>
                <a:t>na </a:t>
              </a:r>
              <a:r>
                <a:rPr lang="pl-PL" sz="1200" dirty="0">
                  <a:solidFill>
                    <a:srgbClr val="16243F"/>
                  </a:solidFill>
                  <a:latin typeface="Calibri" pitchFamily="34" charset="0"/>
                  <a:ea typeface="Calibri" pitchFamily="34" charset="-122"/>
                  <a:cs typeface="Calibri" pitchFamily="34" charset="-120"/>
                </a:rPr>
                <a:t>gorącą rękę </a:t>
              </a:r>
              <a:r>
                <a:rPr lang="pl-PL" sz="1200" dirty="0" smtClean="0">
                  <a:solidFill>
                    <a:srgbClr val="16243F"/>
                  </a:solidFill>
                  <a:latin typeface="Calibri" pitchFamily="34" charset="0"/>
                  <a:ea typeface="Calibri" pitchFamily="34" charset="-122"/>
                  <a:cs typeface="Calibri" pitchFamily="34" charset="-120"/>
                </a:rPr>
                <a:t>w </a:t>
              </a:r>
              <a:r>
                <a:rPr lang="pl-PL" sz="1200" dirty="0">
                  <a:solidFill>
                    <a:srgbClr val="16243F"/>
                  </a:solidFill>
                  <a:latin typeface="Calibri" pitchFamily="34" charset="0"/>
                  <a:ea typeface="Calibri" pitchFamily="34" charset="-122"/>
                  <a:cs typeface="Calibri" pitchFamily="34" charset="-120"/>
                </a:rPr>
                <a:t>danych </a:t>
              </a:r>
              <a:r>
                <a:rPr lang="pl-PL" sz="1200" dirty="0" smtClean="0">
                  <a:solidFill>
                    <a:srgbClr val="16243F"/>
                  </a:solidFill>
                  <a:latin typeface="Calibri" pitchFamily="34" charset="0"/>
                  <a:ea typeface="Calibri" pitchFamily="34" charset="-122"/>
                  <a:cs typeface="Calibri" pitchFamily="34" charset="-120"/>
                </a:rPr>
                <a:t>NBA. Wynik </a:t>
              </a:r>
              <a:r>
                <a:rPr lang="pl-PL" sz="1200" dirty="0">
                  <a:solidFill>
                    <a:srgbClr val="16243F"/>
                  </a:solidFill>
                  <a:latin typeface="Calibri" pitchFamily="34" charset="0"/>
                  <a:ea typeface="Calibri" pitchFamily="34" charset="-122"/>
                  <a:cs typeface="Calibri" pitchFamily="34" charset="-120"/>
                </a:rPr>
                <a:t>uznany za klasyczny przykład iluzji.</a:t>
              </a:r>
            </a:p>
            <a:p>
              <a:endParaRPr lang="pl-PL" sz="800" dirty="0">
                <a:solidFill>
                  <a:srgbClr val="16243F"/>
                </a:solidFill>
                <a:latin typeface="Calibri" pitchFamily="34" charset="0"/>
                <a:ea typeface="Calibri" pitchFamily="34" charset="-122"/>
                <a:cs typeface="Calibri" pitchFamily="34" charset="-120"/>
              </a:endParaRPr>
            </a:p>
            <a:p>
              <a:r>
                <a:rPr lang="pl-PL" sz="1200" dirty="0">
                  <a:solidFill>
                    <a:srgbClr val="16243F"/>
                  </a:solidFill>
                  <a:latin typeface="Calibri" pitchFamily="34" charset="0"/>
                  <a:ea typeface="Calibri" pitchFamily="34" charset="-122"/>
                  <a:cs typeface="Calibri" pitchFamily="34" charset="-120"/>
                </a:rPr>
                <a:t>Miller i </a:t>
              </a:r>
              <a:r>
                <a:rPr lang="pl-PL" sz="1200" dirty="0" err="1">
                  <a:solidFill>
                    <a:srgbClr val="16243F"/>
                  </a:solidFill>
                  <a:latin typeface="Calibri" pitchFamily="34" charset="0"/>
                  <a:ea typeface="Calibri" pitchFamily="34" charset="-122"/>
                  <a:cs typeface="Calibri" pitchFamily="34" charset="-120"/>
                </a:rPr>
                <a:t>Sanjurjo</a:t>
              </a:r>
              <a:r>
                <a:rPr lang="pl-PL" sz="1200" dirty="0">
                  <a:solidFill>
                    <a:srgbClr val="16243F"/>
                  </a:solidFill>
                  <a:latin typeface="Calibri" pitchFamily="34" charset="0"/>
                  <a:ea typeface="Calibri" pitchFamily="34" charset="-122"/>
                  <a:cs typeface="Calibri" pitchFamily="34" charset="-120"/>
                </a:rPr>
                <a:t> (2018) wykazali błąd metodologiczny </a:t>
              </a:r>
              <a:r>
                <a:rPr lang="pl-PL" sz="1200" dirty="0" smtClean="0">
                  <a:solidFill>
                    <a:srgbClr val="16243F"/>
                  </a:solidFill>
                  <a:latin typeface="Calibri" pitchFamily="34" charset="0"/>
                  <a:ea typeface="Calibri" pitchFamily="34" charset="-122"/>
                  <a:cs typeface="Calibri" pitchFamily="34" charset="-120"/>
                </a:rPr>
                <a:t>w </a:t>
              </a:r>
              <a:r>
                <a:rPr lang="pl-PL" sz="1200" dirty="0">
                  <a:solidFill>
                    <a:srgbClr val="16243F"/>
                  </a:solidFill>
                  <a:latin typeface="Calibri" pitchFamily="34" charset="0"/>
                  <a:ea typeface="Calibri" pitchFamily="34" charset="-122"/>
                  <a:cs typeface="Calibri" pitchFamily="34" charset="-120"/>
                </a:rPr>
                <a:t>analizie warunkowych częstości w małych próbach: </a:t>
              </a:r>
              <a:r>
                <a:rPr lang="pl-PL" sz="1200" dirty="0" smtClean="0">
                  <a:solidFill>
                    <a:srgbClr val="16243F"/>
                  </a:solidFill>
                  <a:latin typeface="Calibri" pitchFamily="34" charset="0"/>
                  <a:ea typeface="Calibri" pitchFamily="34" charset="-122"/>
                  <a:cs typeface="Calibri" pitchFamily="34" charset="-120"/>
                </a:rPr>
                <a:t>po </a:t>
              </a:r>
              <a:r>
                <a:rPr lang="pl-PL" sz="1200" dirty="0">
                  <a:solidFill>
                    <a:srgbClr val="16243F"/>
                  </a:solidFill>
                  <a:latin typeface="Calibri" pitchFamily="34" charset="0"/>
                  <a:ea typeface="Calibri" pitchFamily="34" charset="-122"/>
                  <a:cs typeface="Calibri" pitchFamily="34" charset="-120"/>
                </a:rPr>
                <a:t>korekcie statystycznej dowody na słaby, lecz realny efekt gorącej ręki pojawiają się. </a:t>
              </a:r>
              <a:r>
                <a:rPr lang="pl-PL" sz="1200" dirty="0" smtClean="0">
                  <a:solidFill>
                    <a:srgbClr val="16243F"/>
                  </a:solidFill>
                  <a:latin typeface="Calibri" pitchFamily="34" charset="0"/>
                  <a:ea typeface="Calibri" pitchFamily="34" charset="-122"/>
                  <a:cs typeface="Calibri" pitchFamily="34" charset="-120"/>
                </a:rPr>
                <a:t>Debata trwa, a </a:t>
              </a:r>
              <a:r>
                <a:rPr lang="pl-PL" sz="1200" dirty="0">
                  <a:solidFill>
                    <a:srgbClr val="16243F"/>
                  </a:solidFill>
                  <a:latin typeface="Calibri" pitchFamily="34" charset="0"/>
                  <a:ea typeface="Calibri" pitchFamily="34" charset="-122"/>
                  <a:cs typeface="Calibri" pitchFamily="34" charset="-120"/>
                </a:rPr>
                <a:t>to dobry przykład samokrytycznej nauki.</a:t>
              </a:r>
              <a:endParaRPr lang="pl-PL" sz="1200" dirty="0">
                <a:solidFill>
                  <a:srgbClr val="16243F"/>
                </a:solidFill>
                <a:latin typeface="Calibri" pitchFamily="34" charset="0"/>
                <a:ea typeface="Calibri" pitchFamily="34" charset="-122"/>
                <a:cs typeface="Calibri" pitchFamily="34" charset="-120"/>
              </a:endParaRPr>
            </a:p>
          </p:txBody>
        </p:sp>
      </p:grpSp>
      <p:sp>
        <p:nvSpPr>
          <p:cNvPr id="37" name="Text 35"/>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9/40   ·   Blok I</a:t>
            </a:r>
            <a:endParaRPr lang="en-US" sz="800" dirty="0"/>
          </a:p>
        </p:txBody>
      </p:sp>
      <p:sp>
        <p:nvSpPr>
          <p:cNvPr id="44" name="Shape 13"/>
          <p:cNvSpPr/>
          <p:nvPr/>
        </p:nvSpPr>
        <p:spPr>
          <a:xfrm>
            <a:off x="4007004" y="2014171"/>
            <a:ext cx="4679796" cy="139905"/>
          </a:xfrm>
          <a:prstGeom prst="roundRect">
            <a:avLst>
              <a:gd name="adj" fmla="val 17647"/>
            </a:avLst>
          </a:prstGeom>
          <a:solidFill>
            <a:srgbClr val="C07A35"/>
          </a:solidFill>
          <a:ln w="12700">
            <a:solidFill>
              <a:srgbClr val="C07A35"/>
            </a:solidFill>
            <a:prstDash val="solid"/>
          </a:ln>
        </p:spPr>
        <p:txBody>
          <a:bodyPr anchor="ctr"/>
          <a:lstStyle/>
          <a:p>
            <a:pPr algn="ctr"/>
            <a:r>
              <a:rPr lang="en-US" sz="900" b="1" dirty="0">
                <a:solidFill>
                  <a:srgbClr val="FFFFFF"/>
                </a:solidFill>
                <a:latin typeface="Calibri" pitchFamily="34" charset="0"/>
                <a:ea typeface="Calibri" pitchFamily="34" charset="-122"/>
                <a:cs typeface="Calibri" pitchFamily="34" charset="-120"/>
              </a:rPr>
              <a:t>ZAGŁOSUJ PRZED UJAWNIENIEM </a:t>
            </a:r>
            <a:r>
              <a:rPr lang="en-US" sz="900" b="1" dirty="0" smtClean="0">
                <a:solidFill>
                  <a:srgbClr val="FFFFFF"/>
                </a:solidFill>
                <a:latin typeface="Calibri" pitchFamily="34" charset="0"/>
                <a:ea typeface="Calibri" pitchFamily="34" charset="-122"/>
                <a:cs typeface="Calibri" pitchFamily="34" charset="-120"/>
              </a:rPr>
              <a:t>ROZWIĄZANIA</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anim calcmode="lin" valueType="num">
                                      <p:cBhvr>
                                        <p:cTn id="8" dur="500" fill="hold"/>
                                        <p:tgtEl>
                                          <p:spTgt spid="44"/>
                                        </p:tgtEl>
                                        <p:attrNameLst>
                                          <p:attrName>ppt_x</p:attrName>
                                        </p:attrNameLst>
                                      </p:cBhvr>
                                      <p:tavLst>
                                        <p:tav tm="0">
                                          <p:val>
                                            <p:strVal val="#ppt_x"/>
                                          </p:val>
                                        </p:tav>
                                        <p:tav tm="100000">
                                          <p:val>
                                            <p:strVal val="#ppt_x"/>
                                          </p:val>
                                        </p:tav>
                                      </p:tavLst>
                                    </p:anim>
                                    <p:anim calcmode="lin" valueType="num">
                                      <p:cBhvr>
                                        <p:cTn id="9" dur="5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2"/>
                                        </p:tgtEl>
                                        <p:attrNameLst>
                                          <p:attrName>style.visibility</p:attrName>
                                        </p:attrNameLst>
                                      </p:cBhvr>
                                      <p:to>
                                        <p:strVal val="visible"/>
                                      </p:to>
                                    </p:set>
                                    <p:animEffect transition="in" filter="fade">
                                      <p:cBhvr>
                                        <p:cTn id="14" dur="500"/>
                                        <p:tgtEl>
                                          <p:spTgt spid="42"/>
                                        </p:tgtEl>
                                      </p:cBhvr>
                                    </p:animEffect>
                                    <p:anim calcmode="lin" valueType="num">
                                      <p:cBhvr>
                                        <p:cTn id="15" dur="500" fill="hold"/>
                                        <p:tgtEl>
                                          <p:spTgt spid="42"/>
                                        </p:tgtEl>
                                        <p:attrNameLst>
                                          <p:attrName>ppt_x</p:attrName>
                                        </p:attrNameLst>
                                      </p:cBhvr>
                                      <p:tavLst>
                                        <p:tav tm="0">
                                          <p:val>
                                            <p:strVal val="#ppt_x"/>
                                          </p:val>
                                        </p:tav>
                                        <p:tav tm="100000">
                                          <p:val>
                                            <p:strVal val="#ppt_x"/>
                                          </p:val>
                                        </p:tav>
                                      </p:tavLst>
                                    </p:anim>
                                    <p:anim calcmode="lin" valueType="num">
                                      <p:cBhvr>
                                        <p:cTn id="16" dur="5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6B5B95"/>
          </a:solidFill>
          <a:ln w="12700">
            <a:solidFill>
              <a:srgbClr val="6B5B9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 · LOSOWOŚĆ</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Prawo małych liczb </a:t>
            </a:r>
            <a:r>
              <a:rPr lang="en-US" sz="2400" dirty="0">
                <a:solidFill>
                  <a:srgbClr val="16243F"/>
                </a:solidFill>
                <a:latin typeface="Cambria" pitchFamily="34" charset="0"/>
                <a:ea typeface="Cambria" pitchFamily="34" charset="-122"/>
                <a:cs typeface="Cambria" pitchFamily="34" charset="-120"/>
              </a:rPr>
              <a:t>(Tversky i Kahneman, 1971)</a:t>
            </a:r>
            <a:endParaRPr lang="en-US" sz="2400" dirty="0"/>
          </a:p>
        </p:txBody>
      </p:sp>
      <p:sp>
        <p:nvSpPr>
          <p:cNvPr id="5" name="Shape 3"/>
          <p:cNvSpPr/>
          <p:nvPr/>
        </p:nvSpPr>
        <p:spPr>
          <a:xfrm>
            <a:off x="457200" y="1453896"/>
            <a:ext cx="4206240" cy="591930"/>
          </a:xfrm>
          <a:prstGeom prst="roundRect">
            <a:avLst>
              <a:gd name="adj" fmla="val 10000"/>
            </a:avLst>
          </a:prstGeom>
          <a:solidFill>
            <a:srgbClr val="EDF1F7"/>
          </a:solidFill>
          <a:ln w="12700">
            <a:solidFill>
              <a:srgbClr val="E1E4EA"/>
            </a:solidFill>
            <a:prstDash val="solid"/>
          </a:ln>
        </p:spPr>
        <p:txBody>
          <a:bodyPr anchor="ctr"/>
          <a:lstStyle/>
          <a:p>
            <a:r>
              <a:rPr lang="pl-PL" sz="1200" b="1" dirty="0" smtClean="0">
                <a:solidFill>
                  <a:srgbClr val="16243F"/>
                </a:solidFill>
                <a:latin typeface="Calibri" pitchFamily="34" charset="0"/>
                <a:ea typeface="Calibri" pitchFamily="34" charset="-122"/>
                <a:cs typeface="Calibri" pitchFamily="34" charset="-120"/>
              </a:rPr>
              <a:t>Która próba najczęściej wygeneruje ekstremalny wynik procentowy </a:t>
            </a:r>
            <a:r>
              <a:rPr lang="pl-PL" sz="1200" dirty="0" smtClean="0">
                <a:solidFill>
                  <a:srgbClr val="16243F"/>
                </a:solidFill>
                <a:latin typeface="Calibri" pitchFamily="34" charset="0"/>
                <a:ea typeface="Calibri" pitchFamily="34" charset="-122"/>
                <a:cs typeface="Calibri" pitchFamily="34" charset="-120"/>
              </a:rPr>
              <a:t>(np. &gt;70% jednej kategorii)?</a:t>
            </a:r>
            <a:endParaRPr lang="pl-PL" sz="1200" dirty="0"/>
          </a:p>
        </p:txBody>
      </p:sp>
      <p:grpSp>
        <p:nvGrpSpPr>
          <p:cNvPr id="34" name="Grupa 33"/>
          <p:cNvGrpSpPr/>
          <p:nvPr/>
        </p:nvGrpSpPr>
        <p:grpSpPr>
          <a:xfrm>
            <a:off x="457200" y="2099942"/>
            <a:ext cx="4206240" cy="512064"/>
            <a:chOff x="457200" y="1874520"/>
            <a:chExt cx="4206240" cy="512064"/>
          </a:xfrm>
        </p:grpSpPr>
        <p:sp>
          <p:nvSpPr>
            <p:cNvPr id="7" name="Shape 5"/>
            <p:cNvSpPr/>
            <p:nvPr/>
          </p:nvSpPr>
          <p:spPr>
            <a:xfrm>
              <a:off x="457200" y="1915786"/>
              <a:ext cx="4206240" cy="432000"/>
            </a:xfrm>
            <a:prstGeom prst="roundRect">
              <a:avLst>
                <a:gd name="adj" fmla="val 10714"/>
              </a:avLst>
            </a:prstGeom>
            <a:solidFill>
              <a:srgbClr val="FFFFFF"/>
            </a:solidFill>
            <a:ln w="12700">
              <a:solidFill>
                <a:srgbClr val="E1E4EA"/>
              </a:solidFill>
              <a:prstDash val="solid"/>
            </a:ln>
          </p:spPr>
        </p:sp>
        <p:sp>
          <p:nvSpPr>
            <p:cNvPr id="8" name="Shape 6"/>
            <p:cNvSpPr/>
            <p:nvPr/>
          </p:nvSpPr>
          <p:spPr>
            <a:xfrm>
              <a:off x="548640" y="2011680"/>
              <a:ext cx="237744" cy="237744"/>
            </a:xfrm>
            <a:prstGeom prst="ellipse">
              <a:avLst/>
            </a:prstGeom>
            <a:solidFill>
              <a:srgbClr val="EDF1F7"/>
            </a:solidFill>
            <a:ln w="12700">
              <a:solidFill>
                <a:srgbClr val="16243F"/>
              </a:solidFill>
              <a:prstDash val="solid"/>
            </a:ln>
          </p:spPr>
        </p:sp>
        <p:sp>
          <p:nvSpPr>
            <p:cNvPr id="9" name="Text 7"/>
            <p:cNvSpPr/>
            <p:nvPr/>
          </p:nvSpPr>
          <p:spPr>
            <a:xfrm>
              <a:off x="548640" y="2011680"/>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0" name="Text 8"/>
            <p:cNvSpPr/>
            <p:nvPr/>
          </p:nvSpPr>
          <p:spPr>
            <a:xfrm>
              <a:off x="859536" y="1874520"/>
              <a:ext cx="3694176" cy="512064"/>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Próba n = 5</a:t>
              </a:r>
              <a:endParaRPr lang="en-US" sz="1200" dirty="0"/>
            </a:p>
          </p:txBody>
        </p:sp>
      </p:grpSp>
      <p:grpSp>
        <p:nvGrpSpPr>
          <p:cNvPr id="35" name="Grupa 34"/>
          <p:cNvGrpSpPr/>
          <p:nvPr/>
        </p:nvGrpSpPr>
        <p:grpSpPr>
          <a:xfrm>
            <a:off x="457200" y="2577861"/>
            <a:ext cx="4206240" cy="512064"/>
            <a:chOff x="457200" y="2478024"/>
            <a:chExt cx="4206240" cy="512064"/>
          </a:xfrm>
        </p:grpSpPr>
        <p:sp>
          <p:nvSpPr>
            <p:cNvPr id="11" name="Shape 9"/>
            <p:cNvSpPr/>
            <p:nvPr/>
          </p:nvSpPr>
          <p:spPr>
            <a:xfrm>
              <a:off x="457200" y="2516310"/>
              <a:ext cx="4206240" cy="432000"/>
            </a:xfrm>
            <a:prstGeom prst="roundRect">
              <a:avLst>
                <a:gd name="adj" fmla="val 10714"/>
              </a:avLst>
            </a:prstGeom>
            <a:solidFill>
              <a:srgbClr val="FFFFFF"/>
            </a:solidFill>
            <a:ln w="12700">
              <a:solidFill>
                <a:srgbClr val="E1E4EA"/>
              </a:solidFill>
              <a:prstDash val="solid"/>
            </a:ln>
          </p:spPr>
        </p:sp>
        <p:sp>
          <p:nvSpPr>
            <p:cNvPr id="12" name="Shape 10"/>
            <p:cNvSpPr/>
            <p:nvPr/>
          </p:nvSpPr>
          <p:spPr>
            <a:xfrm>
              <a:off x="548640" y="2615184"/>
              <a:ext cx="237744" cy="237744"/>
            </a:xfrm>
            <a:prstGeom prst="ellipse">
              <a:avLst/>
            </a:prstGeom>
            <a:solidFill>
              <a:srgbClr val="EDF1F7"/>
            </a:solidFill>
            <a:ln w="12700">
              <a:solidFill>
                <a:srgbClr val="16243F"/>
              </a:solidFill>
              <a:prstDash val="solid"/>
            </a:ln>
          </p:spPr>
        </p:sp>
        <p:sp>
          <p:nvSpPr>
            <p:cNvPr id="13" name="Text 11"/>
            <p:cNvSpPr/>
            <p:nvPr/>
          </p:nvSpPr>
          <p:spPr>
            <a:xfrm>
              <a:off x="548640" y="2615184"/>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4" name="Text 12"/>
            <p:cNvSpPr/>
            <p:nvPr/>
          </p:nvSpPr>
          <p:spPr>
            <a:xfrm>
              <a:off x="859536" y="2478024"/>
              <a:ext cx="3694176" cy="512064"/>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Próba n = 30</a:t>
              </a:r>
              <a:endParaRPr lang="en-US" sz="1200" dirty="0"/>
            </a:p>
          </p:txBody>
        </p:sp>
      </p:grpSp>
      <p:grpSp>
        <p:nvGrpSpPr>
          <p:cNvPr id="37" name="Grupa 36"/>
          <p:cNvGrpSpPr/>
          <p:nvPr/>
        </p:nvGrpSpPr>
        <p:grpSpPr>
          <a:xfrm>
            <a:off x="457200" y="3048147"/>
            <a:ext cx="4206240" cy="512064"/>
            <a:chOff x="457200" y="3081528"/>
            <a:chExt cx="4206240" cy="512064"/>
          </a:xfrm>
        </p:grpSpPr>
        <p:sp>
          <p:nvSpPr>
            <p:cNvPr id="15" name="Shape 13"/>
            <p:cNvSpPr/>
            <p:nvPr/>
          </p:nvSpPr>
          <p:spPr>
            <a:xfrm>
              <a:off x="457200" y="3127248"/>
              <a:ext cx="4206240" cy="432000"/>
            </a:xfrm>
            <a:prstGeom prst="roundRect">
              <a:avLst>
                <a:gd name="adj" fmla="val 10714"/>
              </a:avLst>
            </a:prstGeom>
            <a:solidFill>
              <a:srgbClr val="FFFFFF"/>
            </a:solidFill>
            <a:ln w="12700">
              <a:solidFill>
                <a:srgbClr val="E1E4EA"/>
              </a:solidFill>
              <a:prstDash val="solid"/>
            </a:ln>
          </p:spPr>
        </p:sp>
        <p:sp>
          <p:nvSpPr>
            <p:cNvPr id="16" name="Shape 14"/>
            <p:cNvSpPr/>
            <p:nvPr/>
          </p:nvSpPr>
          <p:spPr>
            <a:xfrm>
              <a:off x="548640" y="3218688"/>
              <a:ext cx="237744" cy="237744"/>
            </a:xfrm>
            <a:prstGeom prst="ellipse">
              <a:avLst/>
            </a:prstGeom>
            <a:solidFill>
              <a:srgbClr val="EDF1F7"/>
            </a:solidFill>
            <a:ln w="12700">
              <a:solidFill>
                <a:srgbClr val="16243F"/>
              </a:solidFill>
              <a:prstDash val="solid"/>
            </a:ln>
          </p:spPr>
        </p:sp>
        <p:sp>
          <p:nvSpPr>
            <p:cNvPr id="17" name="Text 15"/>
            <p:cNvSpPr/>
            <p:nvPr/>
          </p:nvSpPr>
          <p:spPr>
            <a:xfrm>
              <a:off x="548640" y="3218688"/>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C</a:t>
              </a:r>
              <a:endParaRPr lang="en-US" sz="1000" dirty="0"/>
            </a:p>
          </p:txBody>
        </p:sp>
        <p:sp>
          <p:nvSpPr>
            <p:cNvPr id="18" name="Text 16"/>
            <p:cNvSpPr/>
            <p:nvPr/>
          </p:nvSpPr>
          <p:spPr>
            <a:xfrm>
              <a:off x="859536" y="3081528"/>
              <a:ext cx="3694176" cy="512064"/>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Próba n = 200</a:t>
              </a:r>
              <a:endParaRPr lang="en-US" sz="1200" dirty="0"/>
            </a:p>
          </p:txBody>
        </p:sp>
      </p:grpSp>
      <p:sp>
        <p:nvSpPr>
          <p:cNvPr id="19" name="Shape 17"/>
          <p:cNvSpPr/>
          <p:nvPr/>
        </p:nvSpPr>
        <p:spPr>
          <a:xfrm>
            <a:off x="457200" y="3617306"/>
            <a:ext cx="4206240" cy="287181"/>
          </a:xfrm>
          <a:prstGeom prst="roundRect">
            <a:avLst>
              <a:gd name="adj" fmla="val 17647"/>
            </a:avLst>
          </a:prstGeom>
          <a:solidFill>
            <a:srgbClr val="C07A35"/>
          </a:solidFill>
          <a:ln w="12700">
            <a:solidFill>
              <a:srgbClr val="C07A35"/>
            </a:solidFill>
            <a:prstDash val="solid"/>
          </a:ln>
        </p:spPr>
        <p:txBody>
          <a:bodyPr anchor="ctr"/>
          <a:lstStyle/>
          <a:p>
            <a:pPr algn="ctr"/>
            <a:r>
              <a:rPr lang="en-US" sz="1000" b="1" dirty="0">
                <a:solidFill>
                  <a:srgbClr val="FFFFFF"/>
                </a:solidFill>
                <a:latin typeface="Calibri" pitchFamily="34" charset="0"/>
                <a:ea typeface="Calibri" pitchFamily="34" charset="-122"/>
                <a:cs typeface="Calibri" pitchFamily="34" charset="-120"/>
              </a:rPr>
              <a:t>ZAGŁOSUJ PRZED UJAWNIENIEM </a:t>
            </a:r>
            <a:r>
              <a:rPr lang="en-US" sz="1000" b="1" dirty="0" smtClean="0">
                <a:solidFill>
                  <a:srgbClr val="FFFFFF"/>
                </a:solidFill>
                <a:latin typeface="Calibri" pitchFamily="34" charset="0"/>
                <a:ea typeface="Calibri" pitchFamily="34" charset="-122"/>
                <a:cs typeface="Calibri" pitchFamily="34" charset="-120"/>
              </a:rPr>
              <a:t>ROZWIĄZANIA</a:t>
            </a:r>
            <a:endParaRPr lang="en-US" sz="1000" dirty="0"/>
          </a:p>
        </p:txBody>
      </p:sp>
      <p:sp>
        <p:nvSpPr>
          <p:cNvPr id="21" name="Shape 19"/>
          <p:cNvSpPr/>
          <p:nvPr/>
        </p:nvSpPr>
        <p:spPr>
          <a:xfrm>
            <a:off x="7406640" y="4041648"/>
            <a:ext cx="1280160" cy="704088"/>
          </a:xfrm>
          <a:prstGeom prst="roundRect">
            <a:avLst>
              <a:gd name="adj" fmla="val 6000"/>
            </a:avLst>
          </a:prstGeom>
          <a:solidFill>
            <a:srgbClr val="EDF1F7"/>
          </a:solidFill>
          <a:ln w="12700">
            <a:solidFill>
              <a:srgbClr val="E1E4EA"/>
            </a:solidFill>
            <a:prstDash val="solid"/>
          </a:ln>
        </p:spPr>
      </p:sp>
      <p:sp>
        <p:nvSpPr>
          <p:cNvPr id="22" name="Shape 20"/>
          <p:cNvSpPr/>
          <p:nvPr/>
        </p:nvSpPr>
        <p:spPr>
          <a:xfrm>
            <a:off x="7516368" y="4133088"/>
            <a:ext cx="365760" cy="365760"/>
          </a:xfrm>
          <a:prstGeom prst="rect">
            <a:avLst/>
          </a:prstGeom>
          <a:solidFill>
            <a:srgbClr val="FFFFFF"/>
          </a:solidFill>
          <a:ln w="19050">
            <a:solidFill>
              <a:srgbClr val="16243F"/>
            </a:solidFill>
            <a:prstDash val="solid"/>
          </a:ln>
        </p:spPr>
      </p:sp>
      <p:sp>
        <p:nvSpPr>
          <p:cNvPr id="23" name="Shape 21"/>
          <p:cNvSpPr/>
          <p:nvPr/>
        </p:nvSpPr>
        <p:spPr>
          <a:xfrm>
            <a:off x="7543800" y="4160520"/>
            <a:ext cx="82296" cy="82296"/>
          </a:xfrm>
          <a:prstGeom prst="rect">
            <a:avLst/>
          </a:prstGeom>
          <a:solidFill>
            <a:srgbClr val="16243F"/>
          </a:solidFill>
          <a:ln w="12700">
            <a:solidFill>
              <a:srgbClr val="16243F"/>
            </a:solidFill>
            <a:prstDash val="solid"/>
          </a:ln>
        </p:spPr>
      </p:sp>
      <p:sp>
        <p:nvSpPr>
          <p:cNvPr id="24" name="Shape 22"/>
          <p:cNvSpPr/>
          <p:nvPr/>
        </p:nvSpPr>
        <p:spPr>
          <a:xfrm>
            <a:off x="7543800" y="4361688"/>
            <a:ext cx="82296" cy="82296"/>
          </a:xfrm>
          <a:prstGeom prst="rect">
            <a:avLst/>
          </a:prstGeom>
          <a:solidFill>
            <a:srgbClr val="16243F"/>
          </a:solidFill>
          <a:ln w="12700">
            <a:solidFill>
              <a:srgbClr val="16243F"/>
            </a:solidFill>
            <a:prstDash val="solid"/>
          </a:ln>
        </p:spPr>
      </p:sp>
      <p:sp>
        <p:nvSpPr>
          <p:cNvPr id="25" name="Shape 23"/>
          <p:cNvSpPr/>
          <p:nvPr/>
        </p:nvSpPr>
        <p:spPr>
          <a:xfrm>
            <a:off x="7644384" y="4261104"/>
            <a:ext cx="82296" cy="82296"/>
          </a:xfrm>
          <a:prstGeom prst="rect">
            <a:avLst/>
          </a:prstGeom>
          <a:solidFill>
            <a:srgbClr val="16243F"/>
          </a:solidFill>
          <a:ln w="12700">
            <a:solidFill>
              <a:srgbClr val="16243F"/>
            </a:solidFill>
            <a:prstDash val="solid"/>
          </a:ln>
        </p:spPr>
      </p:sp>
      <p:sp>
        <p:nvSpPr>
          <p:cNvPr id="26" name="Shape 24"/>
          <p:cNvSpPr/>
          <p:nvPr/>
        </p:nvSpPr>
        <p:spPr>
          <a:xfrm>
            <a:off x="7744968" y="4160520"/>
            <a:ext cx="82296" cy="82296"/>
          </a:xfrm>
          <a:prstGeom prst="rect">
            <a:avLst/>
          </a:prstGeom>
          <a:solidFill>
            <a:srgbClr val="16243F"/>
          </a:solidFill>
          <a:ln w="12700">
            <a:solidFill>
              <a:srgbClr val="16243F"/>
            </a:solidFill>
            <a:prstDash val="solid"/>
          </a:ln>
        </p:spPr>
      </p:sp>
      <p:sp>
        <p:nvSpPr>
          <p:cNvPr id="27" name="Shape 25"/>
          <p:cNvSpPr/>
          <p:nvPr/>
        </p:nvSpPr>
        <p:spPr>
          <a:xfrm>
            <a:off x="7744968" y="4361688"/>
            <a:ext cx="82296" cy="82296"/>
          </a:xfrm>
          <a:prstGeom prst="rect">
            <a:avLst/>
          </a:prstGeom>
          <a:solidFill>
            <a:srgbClr val="16243F"/>
          </a:solidFill>
          <a:ln w="12700">
            <a:solidFill>
              <a:srgbClr val="16243F"/>
            </a:solidFill>
            <a:prstDash val="solid"/>
          </a:ln>
        </p:spPr>
      </p:sp>
      <p:sp>
        <p:nvSpPr>
          <p:cNvPr id="28" name="Text 26"/>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29" name="Text 27"/>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38" name="Grupa 37"/>
          <p:cNvGrpSpPr/>
          <p:nvPr/>
        </p:nvGrpSpPr>
        <p:grpSpPr>
          <a:xfrm>
            <a:off x="4892040" y="1453896"/>
            <a:ext cx="3794760" cy="2450592"/>
            <a:chOff x="4892040" y="1453896"/>
            <a:chExt cx="3794760" cy="2450592"/>
          </a:xfrm>
        </p:grpSpPr>
        <p:sp>
          <p:nvSpPr>
            <p:cNvPr id="30" name="Shape 28"/>
            <p:cNvSpPr/>
            <p:nvPr/>
          </p:nvSpPr>
          <p:spPr>
            <a:xfrm>
              <a:off x="4892040" y="1453896"/>
              <a:ext cx="3794760" cy="2450592"/>
            </a:xfrm>
            <a:prstGeom prst="roundRect">
              <a:avLst>
                <a:gd name="adj" fmla="val 2034"/>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31" name="Text 29"/>
            <p:cNvSpPr/>
            <p:nvPr/>
          </p:nvSpPr>
          <p:spPr>
            <a:xfrm>
              <a:off x="5001768" y="1508760"/>
              <a:ext cx="3520440" cy="228600"/>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p:graphicFrame>
          <p:nvGraphicFramePr>
            <p:cNvPr id="32" name="Chart 0"/>
            <p:cNvGraphicFramePr/>
            <p:nvPr>
              <p:extLst>
                <p:ext uri="{D42A27DB-BD31-4B8C-83A1-F6EECF244321}">
                  <p14:modId xmlns:p14="http://schemas.microsoft.com/office/powerpoint/2010/main" val="1911887858"/>
                </p:ext>
              </p:extLst>
            </p:nvPr>
          </p:nvGraphicFramePr>
          <p:xfrm>
            <a:off x="5029200" y="1719072"/>
            <a:ext cx="3520440" cy="2167128"/>
          </p:xfrm>
          <a:graphic>
            <a:graphicData uri="http://schemas.openxmlformats.org/drawingml/2006/chart">
              <c:chart xmlns:c="http://schemas.openxmlformats.org/drawingml/2006/chart" xmlns:r="http://schemas.openxmlformats.org/officeDocument/2006/relationships" r:id="rId3"/>
            </a:graphicData>
          </a:graphic>
        </p:graphicFrame>
      </p:grpSp>
      <p:sp>
        <p:nvSpPr>
          <p:cNvPr id="33" name="Text 30"/>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10/40   ·   Blok I</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6B5B95"/>
          </a:solidFill>
          <a:ln w="12700">
            <a:solidFill>
              <a:srgbClr val="6B5B9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 · LOSOWOŚĆ</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Problem dwóch szpitali</a:t>
            </a:r>
            <a:endParaRPr lang="en-US" sz="2400" dirty="0"/>
          </a:p>
        </p:txBody>
      </p:sp>
      <p:sp>
        <p:nvSpPr>
          <p:cNvPr id="5" name="Text 3"/>
          <p:cNvSpPr/>
          <p:nvPr/>
        </p:nvSpPr>
        <p:spPr>
          <a:xfrm>
            <a:off x="457200" y="1417320"/>
            <a:ext cx="5245100" cy="548640"/>
          </a:xfrm>
          <a:prstGeom prst="rect">
            <a:avLst/>
          </a:prstGeom>
          <a:noFill/>
          <a:ln/>
        </p:spPr>
        <p:txBody>
          <a:bodyPr wrap="square" lIns="0" tIns="0" rIns="0" bIns="0" rtlCol="0" anchor="ctr"/>
          <a:lstStyle/>
          <a:p>
            <a:pPr marL="0" indent="0">
              <a:buNone/>
            </a:pPr>
            <a:r>
              <a:rPr lang="en-US" sz="1400" dirty="0">
                <a:solidFill>
                  <a:srgbClr val="2B2D33"/>
                </a:solidFill>
                <a:latin typeface="Calibri" pitchFamily="34" charset="0"/>
                <a:ea typeface="Calibri" pitchFamily="34" charset="-122"/>
                <a:cs typeface="Calibri" pitchFamily="34" charset="-120"/>
              </a:rPr>
              <a:t>Szpital A: ok. 45 urodzeń dziennie. Szpital B: ok. 15 urodzeń dziennie. Rejestrowano dni, w których ponad 60% urodzonych dzieci to chłopcy.</a:t>
            </a:r>
            <a:endParaRPr lang="en-US" sz="1400" dirty="0"/>
          </a:p>
        </p:txBody>
      </p:sp>
      <p:grpSp>
        <p:nvGrpSpPr>
          <p:cNvPr id="36" name="Grupa 35"/>
          <p:cNvGrpSpPr/>
          <p:nvPr/>
        </p:nvGrpSpPr>
        <p:grpSpPr>
          <a:xfrm>
            <a:off x="457200" y="2057400"/>
            <a:ext cx="4206240" cy="384048"/>
            <a:chOff x="457200" y="2057400"/>
            <a:chExt cx="4206240" cy="384048"/>
          </a:xfrm>
        </p:grpSpPr>
        <p:sp>
          <p:nvSpPr>
            <p:cNvPr id="6" name="Shape 4"/>
            <p:cNvSpPr/>
            <p:nvPr/>
          </p:nvSpPr>
          <p:spPr>
            <a:xfrm>
              <a:off x="457200" y="2057400"/>
              <a:ext cx="4206240" cy="384048"/>
            </a:xfrm>
            <a:prstGeom prst="roundRect">
              <a:avLst>
                <a:gd name="adj" fmla="val 14286"/>
              </a:avLst>
            </a:prstGeom>
            <a:solidFill>
              <a:srgbClr val="EDF1F7"/>
            </a:solidFill>
            <a:ln w="12700">
              <a:solidFill>
                <a:srgbClr val="E1E4EA"/>
              </a:solidFill>
              <a:prstDash val="solid"/>
            </a:ln>
          </p:spPr>
        </p:sp>
        <p:sp>
          <p:nvSpPr>
            <p:cNvPr id="7" name="Text 5"/>
            <p:cNvSpPr/>
            <p:nvPr/>
          </p:nvSpPr>
          <p:spPr>
            <a:xfrm>
              <a:off x="594360" y="2057400"/>
              <a:ext cx="3959352" cy="384048"/>
            </a:xfrm>
            <a:prstGeom prst="rect">
              <a:avLst/>
            </a:prstGeom>
            <a:noFill/>
            <a:ln/>
          </p:spPr>
          <p:txBody>
            <a:bodyPr wrap="square" lIns="0" tIns="0" rIns="0" bIns="0" rtlCol="0" anchor="ctr"/>
            <a:lstStyle/>
            <a:p>
              <a:pPr marL="0" indent="0">
                <a:buNone/>
              </a:pPr>
              <a:r>
                <a:rPr lang="en-US" sz="1200" b="1" dirty="0">
                  <a:solidFill>
                    <a:srgbClr val="16243F"/>
                  </a:solidFill>
                  <a:latin typeface="Calibri" pitchFamily="34" charset="0"/>
                  <a:ea typeface="Calibri" pitchFamily="34" charset="-122"/>
                  <a:cs typeface="Calibri" pitchFamily="34" charset="-120"/>
                </a:rPr>
                <a:t>Który szpital odnotował więcej takich dni w ciągu roku?</a:t>
              </a:r>
              <a:endParaRPr lang="en-US" sz="1200" dirty="0"/>
            </a:p>
          </p:txBody>
        </p:sp>
      </p:grpSp>
      <p:grpSp>
        <p:nvGrpSpPr>
          <p:cNvPr id="37" name="Grupa 36"/>
          <p:cNvGrpSpPr/>
          <p:nvPr/>
        </p:nvGrpSpPr>
        <p:grpSpPr>
          <a:xfrm>
            <a:off x="457200" y="2514600"/>
            <a:ext cx="4206240" cy="420624"/>
            <a:chOff x="457200" y="2514600"/>
            <a:chExt cx="4206240" cy="420624"/>
          </a:xfrm>
        </p:grpSpPr>
        <p:sp>
          <p:nvSpPr>
            <p:cNvPr id="8" name="Shape 6"/>
            <p:cNvSpPr/>
            <p:nvPr/>
          </p:nvSpPr>
          <p:spPr>
            <a:xfrm>
              <a:off x="457200" y="2514600"/>
              <a:ext cx="4206240" cy="420624"/>
            </a:xfrm>
            <a:prstGeom prst="roundRect">
              <a:avLst>
                <a:gd name="adj" fmla="val 13043"/>
              </a:avLst>
            </a:prstGeom>
            <a:solidFill>
              <a:srgbClr val="FFFFFF"/>
            </a:solidFill>
            <a:ln w="12700">
              <a:solidFill>
                <a:srgbClr val="E1E4EA"/>
              </a:solidFill>
              <a:prstDash val="solid"/>
            </a:ln>
          </p:spPr>
        </p:sp>
        <p:sp>
          <p:nvSpPr>
            <p:cNvPr id="9" name="Shape 7"/>
            <p:cNvSpPr/>
            <p:nvPr/>
          </p:nvSpPr>
          <p:spPr>
            <a:xfrm>
              <a:off x="548640" y="2606040"/>
              <a:ext cx="237744" cy="237744"/>
            </a:xfrm>
            <a:prstGeom prst="ellipse">
              <a:avLst/>
            </a:prstGeom>
            <a:solidFill>
              <a:srgbClr val="EDF1F7"/>
            </a:solidFill>
            <a:ln w="12700">
              <a:solidFill>
                <a:srgbClr val="16243F"/>
              </a:solidFill>
              <a:prstDash val="solid"/>
            </a:ln>
          </p:spPr>
        </p:sp>
        <p:sp>
          <p:nvSpPr>
            <p:cNvPr id="10" name="Text 8"/>
            <p:cNvSpPr/>
            <p:nvPr/>
          </p:nvSpPr>
          <p:spPr>
            <a:xfrm>
              <a:off x="548640" y="2606040"/>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1" name="Text 9"/>
            <p:cNvSpPr/>
            <p:nvPr/>
          </p:nvSpPr>
          <p:spPr>
            <a:xfrm>
              <a:off x="859536" y="2514600"/>
              <a:ext cx="3694176" cy="420624"/>
            </a:xfrm>
            <a:prstGeom prst="rect">
              <a:avLst/>
            </a:prstGeom>
            <a:noFill/>
            <a:ln/>
          </p:spPr>
          <p:txBody>
            <a:bodyPr wrap="square" lIns="0" tIns="0" rIns="0" bIns="0" rtlCol="0" anchor="ctr"/>
            <a:lstStyle/>
            <a:p>
              <a:pPr marL="0" indent="0">
                <a:buNone/>
              </a:pPr>
              <a:r>
                <a:rPr lang="en-US" sz="1030" dirty="0">
                  <a:solidFill>
                    <a:srgbClr val="2B2D33"/>
                  </a:solidFill>
                  <a:latin typeface="Calibri" pitchFamily="34" charset="0"/>
                  <a:ea typeface="Calibri" pitchFamily="34" charset="-122"/>
                  <a:cs typeface="Calibri" pitchFamily="34" charset="-120"/>
                </a:rPr>
                <a:t>Szpital A (duży)</a:t>
              </a:r>
              <a:endParaRPr lang="en-US" sz="1030" dirty="0"/>
            </a:p>
          </p:txBody>
        </p:sp>
      </p:grpSp>
      <p:grpSp>
        <p:nvGrpSpPr>
          <p:cNvPr id="38" name="Grupa 37"/>
          <p:cNvGrpSpPr/>
          <p:nvPr/>
        </p:nvGrpSpPr>
        <p:grpSpPr>
          <a:xfrm>
            <a:off x="457200" y="2978404"/>
            <a:ext cx="4206240" cy="420624"/>
            <a:chOff x="457200" y="3026664"/>
            <a:chExt cx="4206240" cy="420624"/>
          </a:xfrm>
        </p:grpSpPr>
        <p:sp>
          <p:nvSpPr>
            <p:cNvPr id="12" name="Shape 10"/>
            <p:cNvSpPr/>
            <p:nvPr/>
          </p:nvSpPr>
          <p:spPr>
            <a:xfrm>
              <a:off x="457200" y="3026664"/>
              <a:ext cx="4206240" cy="420624"/>
            </a:xfrm>
            <a:prstGeom prst="roundRect">
              <a:avLst>
                <a:gd name="adj" fmla="val 13043"/>
              </a:avLst>
            </a:prstGeom>
            <a:solidFill>
              <a:srgbClr val="FFFFFF"/>
            </a:solidFill>
            <a:ln w="12700">
              <a:solidFill>
                <a:srgbClr val="E1E4EA"/>
              </a:solidFill>
              <a:prstDash val="solid"/>
            </a:ln>
          </p:spPr>
        </p:sp>
        <p:sp>
          <p:nvSpPr>
            <p:cNvPr id="13" name="Shape 11"/>
            <p:cNvSpPr/>
            <p:nvPr/>
          </p:nvSpPr>
          <p:spPr>
            <a:xfrm>
              <a:off x="548640" y="3118104"/>
              <a:ext cx="237744" cy="237744"/>
            </a:xfrm>
            <a:prstGeom prst="ellipse">
              <a:avLst/>
            </a:prstGeom>
            <a:solidFill>
              <a:srgbClr val="EDF1F7"/>
            </a:solidFill>
            <a:ln w="12700">
              <a:solidFill>
                <a:srgbClr val="16243F"/>
              </a:solidFill>
              <a:prstDash val="solid"/>
            </a:ln>
          </p:spPr>
        </p:sp>
        <p:sp>
          <p:nvSpPr>
            <p:cNvPr id="14" name="Text 12"/>
            <p:cNvSpPr/>
            <p:nvPr/>
          </p:nvSpPr>
          <p:spPr>
            <a:xfrm>
              <a:off x="548640" y="3118104"/>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5" name="Text 13"/>
            <p:cNvSpPr/>
            <p:nvPr/>
          </p:nvSpPr>
          <p:spPr>
            <a:xfrm>
              <a:off x="859536" y="3026664"/>
              <a:ext cx="3694176" cy="420624"/>
            </a:xfrm>
            <a:prstGeom prst="rect">
              <a:avLst/>
            </a:prstGeom>
            <a:noFill/>
            <a:ln/>
          </p:spPr>
          <p:txBody>
            <a:bodyPr wrap="square" lIns="0" tIns="0" rIns="0" bIns="0" rtlCol="0" anchor="ctr"/>
            <a:lstStyle/>
            <a:p>
              <a:pPr marL="0" indent="0">
                <a:buNone/>
              </a:pPr>
              <a:r>
                <a:rPr lang="en-US" sz="1030" dirty="0">
                  <a:solidFill>
                    <a:srgbClr val="2B2D33"/>
                  </a:solidFill>
                  <a:latin typeface="Calibri" pitchFamily="34" charset="0"/>
                  <a:ea typeface="Calibri" pitchFamily="34" charset="-122"/>
                  <a:cs typeface="Calibri" pitchFamily="34" charset="-120"/>
                </a:rPr>
                <a:t>Szpital B (mały)</a:t>
              </a:r>
              <a:endParaRPr lang="en-US" sz="1030" dirty="0"/>
            </a:p>
          </p:txBody>
        </p:sp>
      </p:grpSp>
      <p:grpSp>
        <p:nvGrpSpPr>
          <p:cNvPr id="39" name="Grupa 38"/>
          <p:cNvGrpSpPr/>
          <p:nvPr/>
        </p:nvGrpSpPr>
        <p:grpSpPr>
          <a:xfrm>
            <a:off x="457200" y="3442208"/>
            <a:ext cx="4206240" cy="420624"/>
            <a:chOff x="457200" y="3538728"/>
            <a:chExt cx="4206240" cy="420624"/>
          </a:xfrm>
        </p:grpSpPr>
        <p:sp>
          <p:nvSpPr>
            <p:cNvPr id="16" name="Shape 14"/>
            <p:cNvSpPr/>
            <p:nvPr/>
          </p:nvSpPr>
          <p:spPr>
            <a:xfrm>
              <a:off x="457200" y="3538728"/>
              <a:ext cx="4206240" cy="420624"/>
            </a:xfrm>
            <a:prstGeom prst="roundRect">
              <a:avLst>
                <a:gd name="adj" fmla="val 13043"/>
              </a:avLst>
            </a:prstGeom>
            <a:solidFill>
              <a:srgbClr val="FFFFFF"/>
            </a:solidFill>
            <a:ln w="12700">
              <a:solidFill>
                <a:srgbClr val="E1E4EA"/>
              </a:solidFill>
              <a:prstDash val="solid"/>
            </a:ln>
          </p:spPr>
        </p:sp>
        <p:sp>
          <p:nvSpPr>
            <p:cNvPr id="17" name="Shape 15"/>
            <p:cNvSpPr/>
            <p:nvPr/>
          </p:nvSpPr>
          <p:spPr>
            <a:xfrm>
              <a:off x="548640" y="3630168"/>
              <a:ext cx="237744" cy="237744"/>
            </a:xfrm>
            <a:prstGeom prst="ellipse">
              <a:avLst/>
            </a:prstGeom>
            <a:solidFill>
              <a:srgbClr val="EDF1F7"/>
            </a:solidFill>
            <a:ln w="12700">
              <a:solidFill>
                <a:srgbClr val="16243F"/>
              </a:solidFill>
              <a:prstDash val="solid"/>
            </a:ln>
          </p:spPr>
        </p:sp>
        <p:sp>
          <p:nvSpPr>
            <p:cNvPr id="18" name="Text 16"/>
            <p:cNvSpPr/>
            <p:nvPr/>
          </p:nvSpPr>
          <p:spPr>
            <a:xfrm>
              <a:off x="548640" y="3630168"/>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C</a:t>
              </a:r>
              <a:endParaRPr lang="en-US" sz="1000" dirty="0"/>
            </a:p>
          </p:txBody>
        </p:sp>
        <p:sp>
          <p:nvSpPr>
            <p:cNvPr id="19" name="Text 17"/>
            <p:cNvSpPr/>
            <p:nvPr/>
          </p:nvSpPr>
          <p:spPr>
            <a:xfrm>
              <a:off x="859536" y="3538728"/>
              <a:ext cx="3694176" cy="420624"/>
            </a:xfrm>
            <a:prstGeom prst="rect">
              <a:avLst/>
            </a:prstGeom>
            <a:noFill/>
            <a:ln/>
          </p:spPr>
          <p:txBody>
            <a:bodyPr wrap="square" lIns="0" tIns="0" rIns="0" bIns="0" rtlCol="0" anchor="ctr"/>
            <a:lstStyle/>
            <a:p>
              <a:pPr marL="0" indent="0">
                <a:buNone/>
              </a:pPr>
              <a:r>
                <a:rPr lang="en-US" sz="1030" dirty="0">
                  <a:solidFill>
                    <a:srgbClr val="2B2D33"/>
                  </a:solidFill>
                  <a:latin typeface="Calibri" pitchFamily="34" charset="0"/>
                  <a:ea typeface="Calibri" pitchFamily="34" charset="-122"/>
                  <a:cs typeface="Calibri" pitchFamily="34" charset="-120"/>
                </a:rPr>
                <a:t>Podobna liczba w obu szpitalach</a:t>
              </a:r>
              <a:endParaRPr lang="en-US" sz="1030" dirty="0"/>
            </a:p>
          </p:txBody>
        </p:sp>
      </p:grpSp>
      <p:sp>
        <p:nvSpPr>
          <p:cNvPr id="20" name="Shape 18"/>
          <p:cNvSpPr/>
          <p:nvPr/>
        </p:nvSpPr>
        <p:spPr>
          <a:xfrm>
            <a:off x="4928616" y="2053844"/>
            <a:ext cx="3758184" cy="134874"/>
          </a:xfrm>
          <a:prstGeom prst="roundRect">
            <a:avLst>
              <a:gd name="adj" fmla="val 17647"/>
            </a:avLst>
          </a:prstGeom>
          <a:solidFill>
            <a:srgbClr val="C07A35"/>
          </a:solidFill>
          <a:ln w="12700">
            <a:solidFill>
              <a:srgbClr val="C07A35"/>
            </a:solidFill>
            <a:prstDash val="solid"/>
          </a:ln>
        </p:spPr>
      </p:sp>
      <p:sp>
        <p:nvSpPr>
          <p:cNvPr id="21" name="Text 19"/>
          <p:cNvSpPr/>
          <p:nvPr/>
        </p:nvSpPr>
        <p:spPr>
          <a:xfrm>
            <a:off x="4928616" y="2053844"/>
            <a:ext cx="3758184" cy="13487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ZAGŁOSUJ PRZED UJAWNIENIEM ROZWIĄZANIA</a:t>
            </a:r>
            <a:endParaRPr lang="en-US" sz="850" dirty="0"/>
          </a:p>
        </p:txBody>
      </p:sp>
      <p:sp>
        <p:nvSpPr>
          <p:cNvPr id="22" name="Shape 20"/>
          <p:cNvSpPr/>
          <p:nvPr/>
        </p:nvSpPr>
        <p:spPr>
          <a:xfrm>
            <a:off x="7406640" y="4041648"/>
            <a:ext cx="1280160" cy="914400"/>
          </a:xfrm>
          <a:prstGeom prst="roundRect">
            <a:avLst>
              <a:gd name="adj" fmla="val 6000"/>
            </a:avLst>
          </a:prstGeom>
          <a:solidFill>
            <a:srgbClr val="EDF1F7"/>
          </a:solidFill>
          <a:ln w="12700">
            <a:solidFill>
              <a:srgbClr val="E1E4EA"/>
            </a:solidFill>
            <a:prstDash val="solid"/>
          </a:ln>
        </p:spPr>
      </p:sp>
      <p:sp>
        <p:nvSpPr>
          <p:cNvPr id="23" name="Shape 21"/>
          <p:cNvSpPr/>
          <p:nvPr/>
        </p:nvSpPr>
        <p:spPr>
          <a:xfrm>
            <a:off x="7516368" y="4133088"/>
            <a:ext cx="365760" cy="365760"/>
          </a:xfrm>
          <a:prstGeom prst="rect">
            <a:avLst/>
          </a:prstGeom>
          <a:solidFill>
            <a:srgbClr val="FFFFFF"/>
          </a:solidFill>
          <a:ln w="19050">
            <a:solidFill>
              <a:srgbClr val="16243F"/>
            </a:solidFill>
            <a:prstDash val="solid"/>
          </a:ln>
        </p:spPr>
      </p:sp>
      <p:sp>
        <p:nvSpPr>
          <p:cNvPr id="24" name="Shape 22"/>
          <p:cNvSpPr/>
          <p:nvPr/>
        </p:nvSpPr>
        <p:spPr>
          <a:xfrm>
            <a:off x="7543800" y="4160520"/>
            <a:ext cx="82296" cy="82296"/>
          </a:xfrm>
          <a:prstGeom prst="rect">
            <a:avLst/>
          </a:prstGeom>
          <a:solidFill>
            <a:srgbClr val="16243F"/>
          </a:solidFill>
          <a:ln w="12700">
            <a:solidFill>
              <a:srgbClr val="16243F"/>
            </a:solidFill>
            <a:prstDash val="solid"/>
          </a:ln>
        </p:spPr>
      </p:sp>
      <p:sp>
        <p:nvSpPr>
          <p:cNvPr id="25" name="Shape 23"/>
          <p:cNvSpPr/>
          <p:nvPr/>
        </p:nvSpPr>
        <p:spPr>
          <a:xfrm>
            <a:off x="7543800" y="4361688"/>
            <a:ext cx="82296" cy="82296"/>
          </a:xfrm>
          <a:prstGeom prst="rect">
            <a:avLst/>
          </a:prstGeom>
          <a:solidFill>
            <a:srgbClr val="16243F"/>
          </a:solidFill>
          <a:ln w="12700">
            <a:solidFill>
              <a:srgbClr val="16243F"/>
            </a:solidFill>
            <a:prstDash val="solid"/>
          </a:ln>
        </p:spPr>
      </p:sp>
      <p:sp>
        <p:nvSpPr>
          <p:cNvPr id="26" name="Shape 24"/>
          <p:cNvSpPr/>
          <p:nvPr/>
        </p:nvSpPr>
        <p:spPr>
          <a:xfrm>
            <a:off x="7644384" y="4261104"/>
            <a:ext cx="82296" cy="82296"/>
          </a:xfrm>
          <a:prstGeom prst="rect">
            <a:avLst/>
          </a:prstGeom>
          <a:solidFill>
            <a:srgbClr val="16243F"/>
          </a:solidFill>
          <a:ln w="12700">
            <a:solidFill>
              <a:srgbClr val="16243F"/>
            </a:solidFill>
            <a:prstDash val="solid"/>
          </a:ln>
        </p:spPr>
      </p:sp>
      <p:sp>
        <p:nvSpPr>
          <p:cNvPr id="27" name="Shape 25"/>
          <p:cNvSpPr/>
          <p:nvPr/>
        </p:nvSpPr>
        <p:spPr>
          <a:xfrm>
            <a:off x="7744968" y="4160520"/>
            <a:ext cx="82296" cy="82296"/>
          </a:xfrm>
          <a:prstGeom prst="rect">
            <a:avLst/>
          </a:prstGeom>
          <a:solidFill>
            <a:srgbClr val="16243F"/>
          </a:solidFill>
          <a:ln w="12700">
            <a:solidFill>
              <a:srgbClr val="16243F"/>
            </a:solidFill>
            <a:prstDash val="solid"/>
          </a:ln>
        </p:spPr>
      </p:sp>
      <p:sp>
        <p:nvSpPr>
          <p:cNvPr id="28" name="Shape 26"/>
          <p:cNvSpPr/>
          <p:nvPr/>
        </p:nvSpPr>
        <p:spPr>
          <a:xfrm>
            <a:off x="7744968" y="4361688"/>
            <a:ext cx="82296" cy="82296"/>
          </a:xfrm>
          <a:prstGeom prst="rect">
            <a:avLst/>
          </a:prstGeom>
          <a:solidFill>
            <a:srgbClr val="16243F"/>
          </a:solidFill>
          <a:ln w="12700">
            <a:solidFill>
              <a:srgbClr val="16243F"/>
            </a:solidFill>
            <a:prstDash val="solid"/>
          </a:ln>
        </p:spPr>
      </p:sp>
      <p:sp>
        <p:nvSpPr>
          <p:cNvPr id="29" name="Text 27"/>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30" name="Text 28"/>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35" name="Grupa 34"/>
          <p:cNvGrpSpPr/>
          <p:nvPr/>
        </p:nvGrpSpPr>
        <p:grpSpPr>
          <a:xfrm>
            <a:off x="4928616" y="2260346"/>
            <a:ext cx="3758184" cy="1607566"/>
            <a:chOff x="4892040" y="2057400"/>
            <a:chExt cx="3758184" cy="1607566"/>
          </a:xfrm>
        </p:grpSpPr>
        <p:sp>
          <p:nvSpPr>
            <p:cNvPr id="31" name="Shape 29"/>
            <p:cNvSpPr/>
            <p:nvPr/>
          </p:nvSpPr>
          <p:spPr>
            <a:xfrm>
              <a:off x="4892040" y="2057400"/>
              <a:ext cx="3758184" cy="1607566"/>
            </a:xfrm>
            <a:prstGeom prst="roundRect">
              <a:avLst>
                <a:gd name="adj" fmla="val 3896"/>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32" name="Text 30"/>
            <p:cNvSpPr/>
            <p:nvPr/>
          </p:nvSpPr>
          <p:spPr>
            <a:xfrm>
              <a:off x="5012944" y="2104898"/>
              <a:ext cx="3502152"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p:sp>
          <p:nvSpPr>
            <p:cNvPr id="33" name="Text 31"/>
            <p:cNvSpPr/>
            <p:nvPr/>
          </p:nvSpPr>
          <p:spPr>
            <a:xfrm>
              <a:off x="5012944" y="2391664"/>
              <a:ext cx="3502152" cy="1238504"/>
            </a:xfrm>
            <a:prstGeom prst="rect">
              <a:avLst/>
            </a:prstGeom>
            <a:noFill/>
            <a:ln/>
          </p:spPr>
          <p:txBody>
            <a:bodyPr wrap="square" lIns="0" tIns="0" rIns="0" bIns="0" rtlCol="0" anchor="t"/>
            <a:lstStyle/>
            <a:p>
              <a:r>
                <a:rPr lang="pl-PL" sz="1200" dirty="0" smtClean="0">
                  <a:solidFill>
                    <a:srgbClr val="16243F"/>
                  </a:solidFill>
                  <a:latin typeface="Calibri" pitchFamily="34" charset="0"/>
                  <a:ea typeface="Calibri" pitchFamily="34" charset="-122"/>
                  <a:cs typeface="Calibri" pitchFamily="34" charset="-120"/>
                </a:rPr>
                <a:t>Odpowiedź prawidłowa to</a:t>
              </a:r>
              <a:r>
                <a:rPr lang="pl-PL" sz="1200" b="1" dirty="0" smtClean="0">
                  <a:solidFill>
                    <a:srgbClr val="16243F"/>
                  </a:solidFill>
                  <a:latin typeface="Calibri" pitchFamily="34" charset="0"/>
                  <a:ea typeface="Calibri" pitchFamily="34" charset="-122"/>
                  <a:cs typeface="Calibri" pitchFamily="34" charset="-120"/>
                </a:rPr>
                <a:t> </a:t>
              </a:r>
              <a:r>
                <a:rPr lang="pl-PL" sz="1200" b="1" dirty="0">
                  <a:solidFill>
                    <a:srgbClr val="16243F"/>
                  </a:solidFill>
                  <a:latin typeface="Calibri" pitchFamily="34" charset="0"/>
                  <a:ea typeface="Calibri" pitchFamily="34" charset="-122"/>
                  <a:cs typeface="Calibri" pitchFamily="34" charset="-120"/>
                </a:rPr>
                <a:t>szpital B (mały</a:t>
              </a:r>
              <a:r>
                <a:rPr lang="pl-PL" sz="1200" b="1" dirty="0" smtClean="0">
                  <a:solidFill>
                    <a:srgbClr val="16243F"/>
                  </a:solidFill>
                  <a:latin typeface="Calibri" pitchFamily="34" charset="0"/>
                  <a:ea typeface="Calibri" pitchFamily="34" charset="-122"/>
                  <a:cs typeface="Calibri" pitchFamily="34" charset="-120"/>
                </a:rPr>
                <a:t>)</a:t>
              </a:r>
              <a:endParaRPr lang="pl-PL" sz="1200" b="1" dirty="0">
                <a:solidFill>
                  <a:srgbClr val="16243F"/>
                </a:solidFill>
                <a:latin typeface="Calibri" pitchFamily="34" charset="0"/>
                <a:ea typeface="Calibri" pitchFamily="34" charset="-122"/>
                <a:cs typeface="Calibri" pitchFamily="34" charset="-120"/>
              </a:endParaRPr>
            </a:p>
            <a:p>
              <a:endParaRPr lang="pl-PL" sz="400" dirty="0">
                <a:solidFill>
                  <a:srgbClr val="16243F"/>
                </a:solidFill>
                <a:latin typeface="Calibri" pitchFamily="34" charset="0"/>
                <a:ea typeface="Calibri" pitchFamily="34" charset="-122"/>
                <a:cs typeface="Calibri" pitchFamily="34" charset="-120"/>
              </a:endParaRPr>
            </a:p>
            <a:p>
              <a:pPr algn="just"/>
              <a:r>
                <a:rPr lang="pl-PL" sz="1200" dirty="0">
                  <a:solidFill>
                    <a:srgbClr val="16243F"/>
                  </a:solidFill>
                  <a:latin typeface="Calibri" pitchFamily="34" charset="0"/>
                  <a:ea typeface="Calibri" pitchFamily="34" charset="-122"/>
                  <a:cs typeface="Calibri" pitchFamily="34" charset="-120"/>
                </a:rPr>
                <a:t>Mniejsza próba dzienna ma większą wariancję proporcji wokół 50% - to ten sam mechanizm, co prawo małych liczb (slajd 10). </a:t>
              </a:r>
              <a:r>
                <a:rPr lang="pl-PL" sz="1200" dirty="0" err="1">
                  <a:solidFill>
                    <a:srgbClr val="16243F"/>
                  </a:solidFill>
                  <a:latin typeface="Calibri" pitchFamily="34" charset="0"/>
                  <a:ea typeface="Calibri" pitchFamily="34" charset="-122"/>
                  <a:cs typeface="Calibri" pitchFamily="34" charset="-120"/>
                </a:rPr>
                <a:t>Kahneman</a:t>
              </a:r>
              <a:r>
                <a:rPr lang="pl-PL" sz="1200" dirty="0">
                  <a:solidFill>
                    <a:srgbClr val="16243F"/>
                  </a:solidFill>
                  <a:latin typeface="Calibri" pitchFamily="34" charset="0"/>
                  <a:ea typeface="Calibri" pitchFamily="34" charset="-122"/>
                  <a:cs typeface="Calibri" pitchFamily="34" charset="-120"/>
                </a:rPr>
                <a:t> i </a:t>
              </a:r>
              <a:r>
                <a:rPr lang="pl-PL" sz="1200" dirty="0" err="1">
                  <a:solidFill>
                    <a:srgbClr val="16243F"/>
                  </a:solidFill>
                  <a:latin typeface="Calibri" pitchFamily="34" charset="0"/>
                  <a:ea typeface="Calibri" pitchFamily="34" charset="-122"/>
                  <a:cs typeface="Calibri" pitchFamily="34" charset="-120"/>
                </a:rPr>
                <a:t>Tversky</a:t>
              </a:r>
              <a:r>
                <a:rPr lang="pl-PL" sz="1200" dirty="0">
                  <a:solidFill>
                    <a:srgbClr val="16243F"/>
                  </a:solidFill>
                  <a:latin typeface="Calibri" pitchFamily="34" charset="0"/>
                  <a:ea typeface="Calibri" pitchFamily="34" charset="-122"/>
                  <a:cs typeface="Calibri" pitchFamily="34" charset="-120"/>
                </a:rPr>
                <a:t> (1972) wykazali, </a:t>
              </a:r>
              <a:br>
                <a:rPr lang="pl-PL" sz="1200" dirty="0">
                  <a:solidFill>
                    <a:srgbClr val="16243F"/>
                  </a:solidFill>
                  <a:latin typeface="Calibri" pitchFamily="34" charset="0"/>
                  <a:ea typeface="Calibri" pitchFamily="34" charset="-122"/>
                  <a:cs typeface="Calibri" pitchFamily="34" charset="-120"/>
                </a:rPr>
              </a:br>
              <a:r>
                <a:rPr lang="pl-PL" sz="1200" dirty="0">
                  <a:solidFill>
                    <a:srgbClr val="16243F"/>
                  </a:solidFill>
                  <a:latin typeface="Calibri" pitchFamily="34" charset="0"/>
                  <a:ea typeface="Calibri" pitchFamily="34" charset="-122"/>
                  <a:cs typeface="Calibri" pitchFamily="34" charset="-120"/>
                </a:rPr>
                <a:t>że większość badanych ignoruje wpływ wielkości próby </a:t>
              </a:r>
              <a:br>
                <a:rPr lang="pl-PL" sz="1200" dirty="0">
                  <a:solidFill>
                    <a:srgbClr val="16243F"/>
                  </a:solidFill>
                  <a:latin typeface="Calibri" pitchFamily="34" charset="0"/>
                  <a:ea typeface="Calibri" pitchFamily="34" charset="-122"/>
                  <a:cs typeface="Calibri" pitchFamily="34" charset="-120"/>
                </a:rPr>
              </a:br>
              <a:r>
                <a:rPr lang="pl-PL" sz="1200" dirty="0">
                  <a:solidFill>
                    <a:srgbClr val="16243F"/>
                  </a:solidFill>
                  <a:latin typeface="Calibri" pitchFamily="34" charset="0"/>
                  <a:ea typeface="Calibri" pitchFamily="34" charset="-122"/>
                  <a:cs typeface="Calibri" pitchFamily="34" charset="-120"/>
                </a:rPr>
                <a:t>i wskazuje 'podobną liczbę' jako odpowiedź najczęstszą.</a:t>
              </a:r>
              <a:endParaRPr lang="pl-PL" sz="1200" dirty="0">
                <a:solidFill>
                  <a:srgbClr val="16243F"/>
                </a:solidFill>
                <a:latin typeface="Calibri" pitchFamily="34" charset="0"/>
                <a:ea typeface="Calibri" pitchFamily="34" charset="-122"/>
                <a:cs typeface="Calibri" pitchFamily="34" charset="-120"/>
              </a:endParaRPr>
            </a:p>
          </p:txBody>
        </p:sp>
      </p:grpSp>
      <p:sp>
        <p:nvSpPr>
          <p:cNvPr id="34" name="Text 32"/>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11/40   ·   Blok I</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1000"/>
                                        <p:tgtEl>
                                          <p:spTgt spid="35"/>
                                        </p:tgtEl>
                                      </p:cBhvr>
                                    </p:animEffect>
                                    <p:anim calcmode="lin" valueType="num">
                                      <p:cBhvr>
                                        <p:cTn id="15" dur="1000" fill="hold"/>
                                        <p:tgtEl>
                                          <p:spTgt spid="35"/>
                                        </p:tgtEl>
                                        <p:attrNameLst>
                                          <p:attrName>ppt_x</p:attrName>
                                        </p:attrNameLst>
                                      </p:cBhvr>
                                      <p:tavLst>
                                        <p:tav tm="0">
                                          <p:val>
                                            <p:strVal val="#ppt_x"/>
                                          </p:val>
                                        </p:tav>
                                        <p:tav tm="100000">
                                          <p:val>
                                            <p:strVal val="#ppt_x"/>
                                          </p:val>
                                        </p:tav>
                                      </p:tavLst>
                                    </p:anim>
                                    <p:anim calcmode="lin" valueType="num">
                                      <p:cBhvr>
                                        <p:cTn id="16"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6B5B95"/>
          </a:solidFill>
          <a:ln w="12700">
            <a:solidFill>
              <a:srgbClr val="6B5B9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 · LOSOWOŚĆ</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Regresja do średniej</a:t>
            </a:r>
            <a:endParaRPr lang="en-US" sz="2400" dirty="0"/>
          </a:p>
        </p:txBody>
      </p:sp>
      <p:sp>
        <p:nvSpPr>
          <p:cNvPr id="5" name="Text 3"/>
          <p:cNvSpPr/>
          <p:nvPr/>
        </p:nvSpPr>
        <p:spPr>
          <a:xfrm>
            <a:off x="457199" y="1325880"/>
            <a:ext cx="8441473" cy="669036"/>
          </a:xfrm>
          <a:prstGeom prst="rect">
            <a:avLst/>
          </a:prstGeom>
          <a:noFill/>
          <a:ln/>
        </p:spPr>
        <p:txBody>
          <a:bodyPr wrap="square" lIns="0" tIns="0" rIns="0" bIns="0" rtlCol="0" anchor="ctr"/>
          <a:lstStyle/>
          <a:p>
            <a:pPr marL="180000" indent="-180000">
              <a:buSzPct val="100000"/>
              <a:buChar char="–"/>
            </a:pPr>
            <a:r>
              <a:rPr lang="pl-PL" sz="1400" spc="-30" dirty="0" smtClean="0">
                <a:solidFill>
                  <a:srgbClr val="2B2D33"/>
                </a:solidFill>
                <a:latin typeface="+mj-lt"/>
                <a:ea typeface="Calibri" pitchFamily="34" charset="-122"/>
                <a:cs typeface="Calibri" pitchFamily="34" charset="-120"/>
              </a:rPr>
              <a:t>Sportowiec po wyjątkowo słabym sezonie wraca do swojej zwykłej formy - niezależnie od tego, czy zmienił trenera.</a:t>
            </a:r>
            <a:endParaRPr lang="pl-PL" sz="1400" spc="-30" dirty="0" smtClean="0">
              <a:latin typeface="+mj-lt"/>
            </a:endParaRPr>
          </a:p>
          <a:p>
            <a:pPr marL="180000" indent="-180000">
              <a:buSzPct val="100000"/>
              <a:buChar char="–"/>
            </a:pPr>
            <a:r>
              <a:rPr lang="pl-PL" sz="1400" spc="-30" dirty="0" smtClean="0">
                <a:solidFill>
                  <a:srgbClr val="2B2D33"/>
                </a:solidFill>
                <a:latin typeface="+mj-lt"/>
                <a:ea typeface="Calibri" pitchFamily="34" charset="-122"/>
                <a:cs typeface="Calibri" pitchFamily="34" charset="-120"/>
              </a:rPr>
              <a:t>Student po bardzo niskim wyniku egzaminu zwykle uzyskuje wyższy wynik przy ponownym podejściu.</a:t>
            </a:r>
            <a:endParaRPr lang="pl-PL" sz="1400" spc="-30" dirty="0" smtClean="0">
              <a:latin typeface="+mj-lt"/>
            </a:endParaRPr>
          </a:p>
          <a:p>
            <a:pPr marL="180000" indent="-180000">
              <a:buSzPct val="100000"/>
              <a:buChar char="–"/>
            </a:pPr>
            <a:r>
              <a:rPr lang="pl-PL" sz="1400" spc="-30" dirty="0" smtClean="0">
                <a:solidFill>
                  <a:srgbClr val="2B2D33"/>
                </a:solidFill>
                <a:latin typeface="+mj-lt"/>
                <a:ea typeface="Calibri" pitchFamily="34" charset="-122"/>
                <a:cs typeface="Calibri" pitchFamily="34" charset="-120"/>
              </a:rPr>
              <a:t>Pacjent zgłaszający się z bólem w szczytowym natężeniu zwykle czuje się lepiej po jakiejkolwiek interwencji, także placebo.</a:t>
            </a:r>
            <a:endParaRPr lang="pl-PL" sz="1400" spc="-30" dirty="0">
              <a:latin typeface="+mj-lt"/>
            </a:endParaRPr>
          </a:p>
        </p:txBody>
      </p:sp>
      <p:sp>
        <p:nvSpPr>
          <p:cNvPr id="6" name="Shape 4"/>
          <p:cNvSpPr/>
          <p:nvPr/>
        </p:nvSpPr>
        <p:spPr>
          <a:xfrm>
            <a:off x="457200" y="2181660"/>
            <a:ext cx="8229600" cy="384048"/>
          </a:xfrm>
          <a:prstGeom prst="roundRect">
            <a:avLst>
              <a:gd name="adj" fmla="val 14286"/>
            </a:avLst>
          </a:prstGeom>
          <a:solidFill>
            <a:srgbClr val="EDF1F7"/>
          </a:solidFill>
          <a:ln w="12700">
            <a:solidFill>
              <a:srgbClr val="E1E4EA"/>
            </a:solidFill>
            <a:prstDash val="solid"/>
          </a:ln>
        </p:spPr>
        <p:txBody>
          <a:bodyPr anchor="ctr"/>
          <a:lstStyle/>
          <a:p>
            <a:r>
              <a:rPr lang="pl-PL" sz="1200" b="1" dirty="0" smtClean="0">
                <a:solidFill>
                  <a:srgbClr val="16243F"/>
                </a:solidFill>
                <a:latin typeface="Calibri" pitchFamily="34" charset="0"/>
                <a:ea typeface="Calibri" pitchFamily="34" charset="-122"/>
                <a:cs typeface="Calibri" pitchFamily="34" charset="-120"/>
              </a:rPr>
              <a:t>Czy poprawa po wyjątkowo słabym wyniku dowodzi skuteczności zastosowanej interwencji?</a:t>
            </a:r>
            <a:endParaRPr lang="pl-PL" sz="1200" dirty="0"/>
          </a:p>
        </p:txBody>
      </p:sp>
      <p:grpSp>
        <p:nvGrpSpPr>
          <p:cNvPr id="28" name="Grupa 27"/>
          <p:cNvGrpSpPr/>
          <p:nvPr/>
        </p:nvGrpSpPr>
        <p:grpSpPr>
          <a:xfrm>
            <a:off x="457200" y="2659026"/>
            <a:ext cx="4206240" cy="432000"/>
            <a:chOff x="457200" y="2761706"/>
            <a:chExt cx="4206240" cy="432000"/>
          </a:xfrm>
        </p:grpSpPr>
        <p:sp>
          <p:nvSpPr>
            <p:cNvPr id="8" name="Shape 6"/>
            <p:cNvSpPr/>
            <p:nvPr/>
          </p:nvSpPr>
          <p:spPr>
            <a:xfrm>
              <a:off x="457200" y="2761706"/>
              <a:ext cx="4206240" cy="432000"/>
            </a:xfrm>
            <a:prstGeom prst="roundRect">
              <a:avLst>
                <a:gd name="adj" fmla="val 17647"/>
              </a:avLst>
            </a:prstGeom>
            <a:solidFill>
              <a:srgbClr val="FFFFFF"/>
            </a:solidFill>
            <a:ln w="12700">
              <a:solidFill>
                <a:srgbClr val="E1E4EA"/>
              </a:solidFill>
              <a:prstDash val="solid"/>
            </a:ln>
          </p:spPr>
        </p:sp>
        <p:sp>
          <p:nvSpPr>
            <p:cNvPr id="9" name="Shape 7"/>
            <p:cNvSpPr/>
            <p:nvPr/>
          </p:nvSpPr>
          <p:spPr>
            <a:xfrm>
              <a:off x="548640" y="2857754"/>
              <a:ext cx="237744" cy="237744"/>
            </a:xfrm>
            <a:prstGeom prst="ellipse">
              <a:avLst/>
            </a:prstGeom>
            <a:solidFill>
              <a:srgbClr val="EDF1F7"/>
            </a:solidFill>
            <a:ln w="12700">
              <a:solidFill>
                <a:srgbClr val="16243F"/>
              </a:solidFill>
              <a:prstDash val="solid"/>
            </a:ln>
          </p:spPr>
        </p:sp>
        <p:sp>
          <p:nvSpPr>
            <p:cNvPr id="10" name="Text 8"/>
            <p:cNvSpPr/>
            <p:nvPr/>
          </p:nvSpPr>
          <p:spPr>
            <a:xfrm>
              <a:off x="548640" y="2857754"/>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1" name="Text 9"/>
            <p:cNvSpPr/>
            <p:nvPr/>
          </p:nvSpPr>
          <p:spPr>
            <a:xfrm>
              <a:off x="859536" y="2821178"/>
              <a:ext cx="3712464" cy="310896"/>
            </a:xfrm>
            <a:prstGeom prst="rect">
              <a:avLst/>
            </a:prstGeom>
            <a:noFill/>
            <a:ln/>
          </p:spPr>
          <p:txBody>
            <a:bodyPr wrap="square" lIns="0" tIns="0" rIns="0" bIns="0" rtlCol="0" anchor="ctr"/>
            <a:lstStyle/>
            <a:p>
              <a:pPr marL="0" indent="0">
                <a:buNone/>
              </a:pPr>
              <a:r>
                <a:rPr lang="en-US" sz="1200" b="1" dirty="0">
                  <a:solidFill>
                    <a:srgbClr val="2B2D33"/>
                  </a:solidFill>
                  <a:latin typeface="Calibri" pitchFamily="34" charset="0"/>
                  <a:ea typeface="Calibri" pitchFamily="34" charset="-122"/>
                  <a:cs typeface="Calibri" pitchFamily="34" charset="-120"/>
                </a:rPr>
                <a:t>Tak</a:t>
              </a:r>
              <a:r>
                <a:rPr lang="en-US" sz="1200" dirty="0">
                  <a:solidFill>
                    <a:srgbClr val="2B2D33"/>
                  </a:solidFill>
                  <a:latin typeface="Calibri" pitchFamily="34" charset="0"/>
                  <a:ea typeface="Calibri" pitchFamily="34" charset="-122"/>
                  <a:cs typeface="Calibri" pitchFamily="34" charset="-120"/>
                </a:rPr>
                <a:t>, to dowód skuteczności</a:t>
              </a:r>
              <a:endParaRPr lang="en-US" sz="1200" dirty="0"/>
            </a:p>
          </p:txBody>
        </p:sp>
      </p:grpSp>
      <p:grpSp>
        <p:nvGrpSpPr>
          <p:cNvPr id="29" name="Grupa 28"/>
          <p:cNvGrpSpPr/>
          <p:nvPr/>
        </p:nvGrpSpPr>
        <p:grpSpPr>
          <a:xfrm>
            <a:off x="449766" y="3176324"/>
            <a:ext cx="4206240" cy="432000"/>
            <a:chOff x="457200" y="3164042"/>
            <a:chExt cx="4206240" cy="432000"/>
          </a:xfrm>
        </p:grpSpPr>
        <p:sp>
          <p:nvSpPr>
            <p:cNvPr id="12" name="Shape 10"/>
            <p:cNvSpPr/>
            <p:nvPr/>
          </p:nvSpPr>
          <p:spPr>
            <a:xfrm>
              <a:off x="457200" y="3164042"/>
              <a:ext cx="4206240" cy="432000"/>
            </a:xfrm>
            <a:prstGeom prst="roundRect">
              <a:avLst>
                <a:gd name="adj" fmla="val 17647"/>
              </a:avLst>
            </a:prstGeom>
            <a:solidFill>
              <a:srgbClr val="FFFFFF"/>
            </a:solidFill>
            <a:ln w="12700">
              <a:solidFill>
                <a:srgbClr val="E1E4EA"/>
              </a:solidFill>
              <a:prstDash val="solid"/>
            </a:ln>
          </p:spPr>
        </p:sp>
        <p:sp>
          <p:nvSpPr>
            <p:cNvPr id="13" name="Shape 11"/>
            <p:cNvSpPr/>
            <p:nvPr/>
          </p:nvSpPr>
          <p:spPr>
            <a:xfrm>
              <a:off x="548640" y="3260090"/>
              <a:ext cx="237744" cy="237744"/>
            </a:xfrm>
            <a:prstGeom prst="ellipse">
              <a:avLst/>
            </a:prstGeom>
            <a:solidFill>
              <a:srgbClr val="EDF1F7"/>
            </a:solidFill>
            <a:ln w="12700">
              <a:solidFill>
                <a:srgbClr val="16243F"/>
              </a:solidFill>
              <a:prstDash val="solid"/>
            </a:ln>
          </p:spPr>
        </p:sp>
        <p:sp>
          <p:nvSpPr>
            <p:cNvPr id="14" name="Text 12"/>
            <p:cNvSpPr/>
            <p:nvPr/>
          </p:nvSpPr>
          <p:spPr>
            <a:xfrm>
              <a:off x="548640" y="3260090"/>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5" name="Text 13"/>
            <p:cNvSpPr/>
            <p:nvPr/>
          </p:nvSpPr>
          <p:spPr>
            <a:xfrm>
              <a:off x="859536" y="3223514"/>
              <a:ext cx="3712464" cy="310896"/>
            </a:xfrm>
            <a:prstGeom prst="rect">
              <a:avLst/>
            </a:prstGeom>
            <a:noFill/>
            <a:ln/>
          </p:spPr>
          <p:txBody>
            <a:bodyPr wrap="square" lIns="0" tIns="0" rIns="0" bIns="0" rtlCol="0" anchor="ctr"/>
            <a:lstStyle/>
            <a:p>
              <a:pPr marL="0" indent="0">
                <a:buNone/>
              </a:pPr>
              <a:r>
                <a:rPr lang="en-US" sz="1200" b="1" dirty="0">
                  <a:solidFill>
                    <a:srgbClr val="2B2D33"/>
                  </a:solidFill>
                  <a:latin typeface="Calibri" pitchFamily="34" charset="0"/>
                  <a:ea typeface="Calibri" pitchFamily="34" charset="-122"/>
                  <a:cs typeface="Calibri" pitchFamily="34" charset="-120"/>
                </a:rPr>
                <a:t>Nie</a:t>
              </a:r>
              <a:r>
                <a:rPr lang="en-US" sz="1200" dirty="0">
                  <a:solidFill>
                    <a:srgbClr val="2B2D33"/>
                  </a:solidFill>
                  <a:latin typeface="Calibri" pitchFamily="34" charset="0"/>
                  <a:ea typeface="Calibri" pitchFamily="34" charset="-122"/>
                  <a:cs typeface="Calibri" pitchFamily="34" charset="-120"/>
                </a:rPr>
                <a:t>, to może być sama regresja do średniej</a:t>
              </a:r>
              <a:endParaRPr lang="en-US" sz="1200" dirty="0"/>
            </a:p>
          </p:txBody>
        </p:sp>
      </p:grpSp>
      <p:sp>
        <p:nvSpPr>
          <p:cNvPr id="16" name="Shape 14"/>
          <p:cNvSpPr/>
          <p:nvPr/>
        </p:nvSpPr>
        <p:spPr>
          <a:xfrm>
            <a:off x="4736592" y="2657148"/>
            <a:ext cx="3950208" cy="164592"/>
          </a:xfrm>
          <a:prstGeom prst="roundRect">
            <a:avLst>
              <a:gd name="adj" fmla="val 17647"/>
            </a:avLst>
          </a:prstGeom>
          <a:solidFill>
            <a:srgbClr val="C07A35"/>
          </a:solidFill>
          <a:ln w="12700">
            <a:solidFill>
              <a:srgbClr val="C07A35"/>
            </a:solidFill>
            <a:prstDash val="solid"/>
          </a:ln>
        </p:spPr>
      </p:sp>
      <p:sp>
        <p:nvSpPr>
          <p:cNvPr id="17" name="Text 15"/>
          <p:cNvSpPr/>
          <p:nvPr/>
        </p:nvSpPr>
        <p:spPr>
          <a:xfrm>
            <a:off x="4838700" y="2657148"/>
            <a:ext cx="3752850" cy="16459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ZAGŁOSUJ PRZED UJAWNIENIEM ROZWIĄZANIA</a:t>
            </a:r>
            <a:endParaRPr lang="en-US" sz="850" dirty="0"/>
          </a:p>
        </p:txBody>
      </p:sp>
      <p:sp>
        <p:nvSpPr>
          <p:cNvPr id="18" name="Shape 16"/>
          <p:cNvSpPr/>
          <p:nvPr/>
        </p:nvSpPr>
        <p:spPr>
          <a:xfrm>
            <a:off x="7406640" y="4041648"/>
            <a:ext cx="1280160" cy="768245"/>
          </a:xfrm>
          <a:prstGeom prst="roundRect">
            <a:avLst>
              <a:gd name="adj" fmla="val 6000"/>
            </a:avLst>
          </a:prstGeom>
          <a:solidFill>
            <a:srgbClr val="EDF1F7"/>
          </a:solidFill>
          <a:ln w="12700">
            <a:solidFill>
              <a:srgbClr val="E1E4EA"/>
            </a:solidFill>
            <a:prstDash val="solid"/>
          </a:ln>
        </p:spPr>
      </p:sp>
      <p:sp>
        <p:nvSpPr>
          <p:cNvPr id="19" name="Shape 17"/>
          <p:cNvSpPr/>
          <p:nvPr/>
        </p:nvSpPr>
        <p:spPr>
          <a:xfrm>
            <a:off x="7516368" y="4133088"/>
            <a:ext cx="365760" cy="365760"/>
          </a:xfrm>
          <a:prstGeom prst="rect">
            <a:avLst/>
          </a:prstGeom>
          <a:solidFill>
            <a:srgbClr val="FFFFFF"/>
          </a:solidFill>
          <a:ln w="19050">
            <a:solidFill>
              <a:srgbClr val="16243F"/>
            </a:solidFill>
            <a:prstDash val="solid"/>
          </a:ln>
        </p:spPr>
      </p:sp>
      <p:sp>
        <p:nvSpPr>
          <p:cNvPr id="20" name="Shape 18"/>
          <p:cNvSpPr/>
          <p:nvPr/>
        </p:nvSpPr>
        <p:spPr>
          <a:xfrm>
            <a:off x="7543800" y="4160520"/>
            <a:ext cx="82296" cy="82296"/>
          </a:xfrm>
          <a:prstGeom prst="rect">
            <a:avLst/>
          </a:prstGeom>
          <a:solidFill>
            <a:srgbClr val="16243F"/>
          </a:solidFill>
          <a:ln w="12700">
            <a:solidFill>
              <a:srgbClr val="16243F"/>
            </a:solidFill>
            <a:prstDash val="solid"/>
          </a:ln>
        </p:spPr>
      </p:sp>
      <p:sp>
        <p:nvSpPr>
          <p:cNvPr id="21" name="Shape 19"/>
          <p:cNvSpPr/>
          <p:nvPr/>
        </p:nvSpPr>
        <p:spPr>
          <a:xfrm>
            <a:off x="7543800" y="4361688"/>
            <a:ext cx="82296" cy="82296"/>
          </a:xfrm>
          <a:prstGeom prst="rect">
            <a:avLst/>
          </a:prstGeom>
          <a:solidFill>
            <a:srgbClr val="16243F"/>
          </a:solidFill>
          <a:ln w="12700">
            <a:solidFill>
              <a:srgbClr val="16243F"/>
            </a:solidFill>
            <a:prstDash val="solid"/>
          </a:ln>
        </p:spPr>
      </p:sp>
      <p:sp>
        <p:nvSpPr>
          <p:cNvPr id="22" name="Shape 20"/>
          <p:cNvSpPr/>
          <p:nvPr/>
        </p:nvSpPr>
        <p:spPr>
          <a:xfrm>
            <a:off x="7644384" y="4261104"/>
            <a:ext cx="82296" cy="82296"/>
          </a:xfrm>
          <a:prstGeom prst="rect">
            <a:avLst/>
          </a:prstGeom>
          <a:solidFill>
            <a:srgbClr val="16243F"/>
          </a:solidFill>
          <a:ln w="12700">
            <a:solidFill>
              <a:srgbClr val="16243F"/>
            </a:solidFill>
            <a:prstDash val="solid"/>
          </a:ln>
        </p:spPr>
      </p:sp>
      <p:sp>
        <p:nvSpPr>
          <p:cNvPr id="23" name="Shape 21"/>
          <p:cNvSpPr/>
          <p:nvPr/>
        </p:nvSpPr>
        <p:spPr>
          <a:xfrm>
            <a:off x="7744968" y="4160520"/>
            <a:ext cx="82296" cy="82296"/>
          </a:xfrm>
          <a:prstGeom prst="rect">
            <a:avLst/>
          </a:prstGeom>
          <a:solidFill>
            <a:srgbClr val="16243F"/>
          </a:solidFill>
          <a:ln w="12700">
            <a:solidFill>
              <a:srgbClr val="16243F"/>
            </a:solidFill>
            <a:prstDash val="solid"/>
          </a:ln>
        </p:spPr>
      </p:sp>
      <p:sp>
        <p:nvSpPr>
          <p:cNvPr id="24" name="Shape 22"/>
          <p:cNvSpPr/>
          <p:nvPr/>
        </p:nvSpPr>
        <p:spPr>
          <a:xfrm>
            <a:off x="7744968" y="4361688"/>
            <a:ext cx="82296" cy="82296"/>
          </a:xfrm>
          <a:prstGeom prst="rect">
            <a:avLst/>
          </a:prstGeom>
          <a:solidFill>
            <a:srgbClr val="16243F"/>
          </a:solidFill>
          <a:ln w="12700">
            <a:solidFill>
              <a:srgbClr val="16243F"/>
            </a:solidFill>
            <a:prstDash val="solid"/>
          </a:ln>
        </p:spPr>
      </p:sp>
      <p:sp>
        <p:nvSpPr>
          <p:cNvPr id="25" name="Text 23"/>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26" name="Text 24"/>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sp>
        <p:nvSpPr>
          <p:cNvPr id="27" name="Text 25"/>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12/40   ·   Blok I</a:t>
            </a:r>
            <a:endParaRPr lang="en-US" sz="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1593850" cy="292608"/>
          </a:xfrm>
          <a:prstGeom prst="roundRect">
            <a:avLst>
              <a:gd name="adj" fmla="val 18750"/>
            </a:avLst>
          </a:prstGeom>
          <a:solidFill>
            <a:srgbClr val="6B5B95"/>
          </a:solidFill>
          <a:ln w="12700">
            <a:solidFill>
              <a:srgbClr val="6B5B95"/>
            </a:solidFill>
            <a:prstDash val="solid"/>
          </a:ln>
        </p:spPr>
      </p:sp>
      <p:sp>
        <p:nvSpPr>
          <p:cNvPr id="3" name="Text 1"/>
          <p:cNvSpPr/>
          <p:nvPr/>
        </p:nvSpPr>
        <p:spPr>
          <a:xfrm>
            <a:off x="457200" y="292608"/>
            <a:ext cx="159385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 · LOSOWOŚĆ</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Iluzja skuteczności kar i nagród</a:t>
            </a:r>
            <a:endParaRPr lang="en-US" sz="2400" dirty="0"/>
          </a:p>
        </p:txBody>
      </p:sp>
      <p:sp>
        <p:nvSpPr>
          <p:cNvPr id="5" name="Shape 3"/>
          <p:cNvSpPr/>
          <p:nvPr/>
        </p:nvSpPr>
        <p:spPr>
          <a:xfrm>
            <a:off x="457200" y="1691640"/>
            <a:ext cx="4288536" cy="612846"/>
          </a:xfrm>
          <a:prstGeom prst="roundRect">
            <a:avLst>
              <a:gd name="adj" fmla="val 14286"/>
            </a:avLst>
          </a:prstGeom>
          <a:solidFill>
            <a:srgbClr val="EDF1F7"/>
          </a:solidFill>
          <a:ln w="12700">
            <a:solidFill>
              <a:srgbClr val="E1E4EA"/>
            </a:solidFill>
            <a:prstDash val="solid"/>
          </a:ln>
        </p:spPr>
        <p:txBody>
          <a:bodyPr anchor="ctr"/>
          <a:lstStyle/>
          <a:p>
            <a:r>
              <a:rPr lang="pl-PL" sz="1200" b="1" dirty="0" smtClean="0">
                <a:solidFill>
                  <a:srgbClr val="16243F"/>
                </a:solidFill>
                <a:latin typeface="Calibri" pitchFamily="34" charset="0"/>
                <a:ea typeface="Calibri" pitchFamily="34" charset="-122"/>
                <a:cs typeface="Calibri" pitchFamily="34" charset="-120"/>
              </a:rPr>
              <a:t>Pilot wykonał wyjątkowo słaby lot i otrzymał ostrą reprymendę instruktora. Następny lot był lepszy. Czy kara zadziałała?</a:t>
            </a:r>
            <a:endParaRPr lang="pl-PL" sz="1200" b="1" dirty="0"/>
          </a:p>
        </p:txBody>
      </p:sp>
      <p:grpSp>
        <p:nvGrpSpPr>
          <p:cNvPr id="32" name="Grupa 31"/>
          <p:cNvGrpSpPr/>
          <p:nvPr/>
        </p:nvGrpSpPr>
        <p:grpSpPr>
          <a:xfrm>
            <a:off x="457200" y="2395982"/>
            <a:ext cx="4206240" cy="420624"/>
            <a:chOff x="457200" y="1929384"/>
            <a:chExt cx="4206240" cy="420624"/>
          </a:xfrm>
        </p:grpSpPr>
        <p:sp>
          <p:nvSpPr>
            <p:cNvPr id="7" name="Shape 5"/>
            <p:cNvSpPr/>
            <p:nvPr/>
          </p:nvSpPr>
          <p:spPr>
            <a:xfrm>
              <a:off x="457200" y="1929384"/>
              <a:ext cx="4206240" cy="420624"/>
            </a:xfrm>
            <a:prstGeom prst="roundRect">
              <a:avLst>
                <a:gd name="adj" fmla="val 13043"/>
              </a:avLst>
            </a:prstGeom>
            <a:solidFill>
              <a:srgbClr val="FFFFFF"/>
            </a:solidFill>
            <a:ln w="12700">
              <a:solidFill>
                <a:srgbClr val="E1E4EA"/>
              </a:solidFill>
              <a:prstDash val="solid"/>
            </a:ln>
          </p:spPr>
        </p:sp>
        <p:sp>
          <p:nvSpPr>
            <p:cNvPr id="8" name="Shape 6"/>
            <p:cNvSpPr/>
            <p:nvPr/>
          </p:nvSpPr>
          <p:spPr>
            <a:xfrm>
              <a:off x="548640" y="2020824"/>
              <a:ext cx="237744" cy="237744"/>
            </a:xfrm>
            <a:prstGeom prst="ellipse">
              <a:avLst/>
            </a:prstGeom>
            <a:solidFill>
              <a:srgbClr val="EDF1F7"/>
            </a:solidFill>
            <a:ln w="12700">
              <a:solidFill>
                <a:srgbClr val="16243F"/>
              </a:solidFill>
              <a:prstDash val="solid"/>
            </a:ln>
          </p:spPr>
        </p:sp>
        <p:sp>
          <p:nvSpPr>
            <p:cNvPr id="9" name="Text 7"/>
            <p:cNvSpPr/>
            <p:nvPr/>
          </p:nvSpPr>
          <p:spPr>
            <a:xfrm>
              <a:off x="548640" y="2020824"/>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0" name="Text 8"/>
            <p:cNvSpPr/>
            <p:nvPr/>
          </p:nvSpPr>
          <p:spPr>
            <a:xfrm>
              <a:off x="859536" y="1929384"/>
              <a:ext cx="3694176" cy="420624"/>
            </a:xfrm>
            <a:prstGeom prst="rect">
              <a:avLst/>
            </a:prstGeom>
            <a:noFill/>
            <a:ln/>
          </p:spPr>
          <p:txBody>
            <a:bodyPr wrap="square" lIns="0" tIns="0" rIns="0" bIns="0" rtlCol="0" anchor="ctr"/>
            <a:lstStyle/>
            <a:p>
              <a:pPr marL="0" indent="0">
                <a:buNone/>
              </a:pPr>
              <a:r>
                <a:rPr lang="pl-PL" sz="1200" b="1" dirty="0" smtClean="0">
                  <a:solidFill>
                    <a:srgbClr val="2B2D33"/>
                  </a:solidFill>
                  <a:latin typeface="Calibri" pitchFamily="34" charset="0"/>
                  <a:ea typeface="Calibri" pitchFamily="34" charset="-122"/>
                  <a:cs typeface="Calibri" pitchFamily="34" charset="-120"/>
                </a:rPr>
                <a:t>Tak</a:t>
              </a:r>
              <a:r>
                <a:rPr lang="pl-PL" sz="1200" dirty="0" smtClean="0">
                  <a:solidFill>
                    <a:srgbClr val="2B2D33"/>
                  </a:solidFill>
                  <a:latin typeface="Calibri" pitchFamily="34" charset="0"/>
                  <a:ea typeface="Calibri" pitchFamily="34" charset="-122"/>
                  <a:cs typeface="Calibri" pitchFamily="34" charset="-120"/>
                </a:rPr>
                <a:t> - kara poprawiła wynik</a:t>
              </a:r>
              <a:endParaRPr lang="pl-PL" sz="1200" dirty="0"/>
            </a:p>
          </p:txBody>
        </p:sp>
      </p:grpSp>
      <p:grpSp>
        <p:nvGrpSpPr>
          <p:cNvPr id="31" name="Grupa 30"/>
          <p:cNvGrpSpPr/>
          <p:nvPr/>
        </p:nvGrpSpPr>
        <p:grpSpPr>
          <a:xfrm>
            <a:off x="457200" y="2897403"/>
            <a:ext cx="4206240" cy="420624"/>
            <a:chOff x="457200" y="2395728"/>
            <a:chExt cx="4206240" cy="420624"/>
          </a:xfrm>
        </p:grpSpPr>
        <p:sp>
          <p:nvSpPr>
            <p:cNvPr id="11" name="Shape 9"/>
            <p:cNvSpPr/>
            <p:nvPr/>
          </p:nvSpPr>
          <p:spPr>
            <a:xfrm>
              <a:off x="457200" y="2395728"/>
              <a:ext cx="4206240" cy="420624"/>
            </a:xfrm>
            <a:prstGeom prst="roundRect">
              <a:avLst>
                <a:gd name="adj" fmla="val 13043"/>
              </a:avLst>
            </a:prstGeom>
            <a:solidFill>
              <a:srgbClr val="FFFFFF"/>
            </a:solidFill>
            <a:ln w="12700">
              <a:solidFill>
                <a:srgbClr val="E1E4EA"/>
              </a:solidFill>
              <a:prstDash val="solid"/>
            </a:ln>
          </p:spPr>
        </p:sp>
        <p:sp>
          <p:nvSpPr>
            <p:cNvPr id="12" name="Shape 10"/>
            <p:cNvSpPr/>
            <p:nvPr/>
          </p:nvSpPr>
          <p:spPr>
            <a:xfrm>
              <a:off x="548640" y="2487168"/>
              <a:ext cx="237744" cy="237744"/>
            </a:xfrm>
            <a:prstGeom prst="ellipse">
              <a:avLst/>
            </a:prstGeom>
            <a:solidFill>
              <a:srgbClr val="EDF1F7"/>
            </a:solidFill>
            <a:ln w="12700">
              <a:solidFill>
                <a:srgbClr val="16243F"/>
              </a:solidFill>
              <a:prstDash val="solid"/>
            </a:ln>
          </p:spPr>
        </p:sp>
        <p:sp>
          <p:nvSpPr>
            <p:cNvPr id="13" name="Text 11"/>
            <p:cNvSpPr/>
            <p:nvPr/>
          </p:nvSpPr>
          <p:spPr>
            <a:xfrm>
              <a:off x="548640" y="2487168"/>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4" name="Text 12"/>
            <p:cNvSpPr/>
            <p:nvPr/>
          </p:nvSpPr>
          <p:spPr>
            <a:xfrm>
              <a:off x="859536" y="2395728"/>
              <a:ext cx="3694176" cy="420624"/>
            </a:xfrm>
            <a:prstGeom prst="rect">
              <a:avLst/>
            </a:prstGeom>
            <a:noFill/>
            <a:ln/>
          </p:spPr>
          <p:txBody>
            <a:bodyPr wrap="square" lIns="0" tIns="0" rIns="0" bIns="0" rtlCol="0" anchor="ctr"/>
            <a:lstStyle/>
            <a:p>
              <a:pPr marL="0" indent="0">
                <a:buNone/>
              </a:pPr>
              <a:r>
                <a:rPr lang="pl-PL" sz="1200" b="1" dirty="0" smtClean="0">
                  <a:solidFill>
                    <a:srgbClr val="2B2D33"/>
                  </a:solidFill>
                  <a:latin typeface="Calibri" pitchFamily="34" charset="0"/>
                  <a:ea typeface="Calibri" pitchFamily="34" charset="-122"/>
                  <a:cs typeface="Calibri" pitchFamily="34" charset="-120"/>
                </a:rPr>
                <a:t>Nie</a:t>
              </a:r>
              <a:r>
                <a:rPr lang="pl-PL" sz="1200" dirty="0" smtClean="0">
                  <a:solidFill>
                    <a:srgbClr val="2B2D33"/>
                  </a:solidFill>
                  <a:latin typeface="Calibri" pitchFamily="34" charset="0"/>
                  <a:ea typeface="Calibri" pitchFamily="34" charset="-122"/>
                  <a:cs typeface="Calibri" pitchFamily="34" charset="-120"/>
                </a:rPr>
                <a:t> - to regresja do średniej, niezależna od kary</a:t>
              </a:r>
              <a:endParaRPr lang="pl-PL" sz="1200" dirty="0"/>
            </a:p>
          </p:txBody>
        </p:sp>
      </p:grpSp>
      <p:sp>
        <p:nvSpPr>
          <p:cNvPr id="15" name="Shape 13"/>
          <p:cNvSpPr/>
          <p:nvPr/>
        </p:nvSpPr>
        <p:spPr>
          <a:xfrm>
            <a:off x="4892040" y="1490472"/>
            <a:ext cx="3794760" cy="146304"/>
          </a:xfrm>
          <a:prstGeom prst="roundRect">
            <a:avLst>
              <a:gd name="adj" fmla="val 17647"/>
            </a:avLst>
          </a:prstGeom>
          <a:solidFill>
            <a:srgbClr val="C07A35"/>
          </a:solidFill>
          <a:ln w="12700">
            <a:solidFill>
              <a:srgbClr val="C07A35"/>
            </a:solidFill>
            <a:prstDash val="solid"/>
          </a:ln>
        </p:spPr>
        <p:txBody>
          <a:bodyPr anchor="ctr"/>
          <a:lstStyle/>
          <a:p>
            <a:pPr algn="ctr"/>
            <a:r>
              <a:rPr lang="en-US" sz="900" b="1" dirty="0">
                <a:solidFill>
                  <a:srgbClr val="FFFFFF"/>
                </a:solidFill>
                <a:latin typeface="Calibri" pitchFamily="34" charset="0"/>
                <a:ea typeface="Calibri" pitchFamily="34" charset="-122"/>
                <a:cs typeface="Calibri" pitchFamily="34" charset="-120"/>
              </a:rPr>
              <a:t>ZAGŁOSUJ PRZED UJAWNIENIEM </a:t>
            </a:r>
            <a:r>
              <a:rPr lang="en-US" sz="900" b="1" dirty="0" smtClean="0">
                <a:solidFill>
                  <a:srgbClr val="FFFFFF"/>
                </a:solidFill>
                <a:latin typeface="Calibri" pitchFamily="34" charset="0"/>
                <a:ea typeface="Calibri" pitchFamily="34" charset="-122"/>
                <a:cs typeface="Calibri" pitchFamily="34" charset="-120"/>
              </a:rPr>
              <a:t>ROZWIĄZANIA</a:t>
            </a:r>
            <a:endParaRPr lang="en-US" sz="900" dirty="0"/>
          </a:p>
        </p:txBody>
      </p:sp>
      <p:sp>
        <p:nvSpPr>
          <p:cNvPr id="17" name="Shape 15"/>
          <p:cNvSpPr/>
          <p:nvPr/>
        </p:nvSpPr>
        <p:spPr>
          <a:xfrm>
            <a:off x="7406640" y="4026780"/>
            <a:ext cx="1280160" cy="740664"/>
          </a:xfrm>
          <a:prstGeom prst="roundRect">
            <a:avLst>
              <a:gd name="adj" fmla="val 6000"/>
            </a:avLst>
          </a:prstGeom>
          <a:solidFill>
            <a:srgbClr val="EDF1F7"/>
          </a:solidFill>
          <a:ln w="12700">
            <a:solidFill>
              <a:srgbClr val="E1E4EA"/>
            </a:solidFill>
            <a:prstDash val="solid"/>
          </a:ln>
        </p:spPr>
        <p:txBody>
          <a:bodyPr/>
          <a:lstStyle/>
          <a:p>
            <a:r>
              <a:rPr lang="pl-PL" dirty="0" smtClean="0"/>
              <a:t>11</a:t>
            </a:r>
            <a:endParaRPr lang="pl-PL" dirty="0"/>
          </a:p>
        </p:txBody>
      </p:sp>
      <p:sp>
        <p:nvSpPr>
          <p:cNvPr id="18" name="Shape 16"/>
          <p:cNvSpPr/>
          <p:nvPr/>
        </p:nvSpPr>
        <p:spPr>
          <a:xfrm>
            <a:off x="7516368" y="4133088"/>
            <a:ext cx="365760" cy="365760"/>
          </a:xfrm>
          <a:prstGeom prst="rect">
            <a:avLst/>
          </a:prstGeom>
          <a:solidFill>
            <a:srgbClr val="FFFFFF"/>
          </a:solidFill>
          <a:ln w="19050">
            <a:solidFill>
              <a:srgbClr val="16243F"/>
            </a:solidFill>
            <a:prstDash val="solid"/>
          </a:ln>
        </p:spPr>
      </p:sp>
      <p:sp>
        <p:nvSpPr>
          <p:cNvPr id="19" name="Shape 17"/>
          <p:cNvSpPr/>
          <p:nvPr/>
        </p:nvSpPr>
        <p:spPr>
          <a:xfrm>
            <a:off x="7543800" y="4160520"/>
            <a:ext cx="82296" cy="82296"/>
          </a:xfrm>
          <a:prstGeom prst="rect">
            <a:avLst/>
          </a:prstGeom>
          <a:solidFill>
            <a:srgbClr val="16243F"/>
          </a:solidFill>
          <a:ln w="12700">
            <a:solidFill>
              <a:srgbClr val="16243F"/>
            </a:solidFill>
            <a:prstDash val="solid"/>
          </a:ln>
        </p:spPr>
      </p:sp>
      <p:sp>
        <p:nvSpPr>
          <p:cNvPr id="20" name="Shape 18"/>
          <p:cNvSpPr/>
          <p:nvPr/>
        </p:nvSpPr>
        <p:spPr>
          <a:xfrm>
            <a:off x="7543800" y="4361688"/>
            <a:ext cx="82296" cy="82296"/>
          </a:xfrm>
          <a:prstGeom prst="rect">
            <a:avLst/>
          </a:prstGeom>
          <a:solidFill>
            <a:srgbClr val="16243F"/>
          </a:solidFill>
          <a:ln w="12700">
            <a:solidFill>
              <a:srgbClr val="16243F"/>
            </a:solidFill>
            <a:prstDash val="solid"/>
          </a:ln>
        </p:spPr>
      </p:sp>
      <p:sp>
        <p:nvSpPr>
          <p:cNvPr id="21" name="Shape 19"/>
          <p:cNvSpPr/>
          <p:nvPr/>
        </p:nvSpPr>
        <p:spPr>
          <a:xfrm>
            <a:off x="7644384" y="4261104"/>
            <a:ext cx="82296" cy="82296"/>
          </a:xfrm>
          <a:prstGeom prst="rect">
            <a:avLst/>
          </a:prstGeom>
          <a:solidFill>
            <a:srgbClr val="16243F"/>
          </a:solidFill>
          <a:ln w="12700">
            <a:solidFill>
              <a:srgbClr val="16243F"/>
            </a:solidFill>
            <a:prstDash val="solid"/>
          </a:ln>
        </p:spPr>
      </p:sp>
      <p:sp>
        <p:nvSpPr>
          <p:cNvPr id="22" name="Shape 20"/>
          <p:cNvSpPr/>
          <p:nvPr/>
        </p:nvSpPr>
        <p:spPr>
          <a:xfrm>
            <a:off x="7744968" y="4160520"/>
            <a:ext cx="82296" cy="82296"/>
          </a:xfrm>
          <a:prstGeom prst="rect">
            <a:avLst/>
          </a:prstGeom>
          <a:solidFill>
            <a:srgbClr val="16243F"/>
          </a:solidFill>
          <a:ln w="12700">
            <a:solidFill>
              <a:srgbClr val="16243F"/>
            </a:solidFill>
            <a:prstDash val="solid"/>
          </a:ln>
        </p:spPr>
      </p:sp>
      <p:sp>
        <p:nvSpPr>
          <p:cNvPr id="23" name="Shape 21"/>
          <p:cNvSpPr/>
          <p:nvPr/>
        </p:nvSpPr>
        <p:spPr>
          <a:xfrm>
            <a:off x="7744968" y="4361688"/>
            <a:ext cx="82296" cy="82296"/>
          </a:xfrm>
          <a:prstGeom prst="rect">
            <a:avLst/>
          </a:prstGeom>
          <a:solidFill>
            <a:srgbClr val="16243F"/>
          </a:solidFill>
          <a:ln w="12700">
            <a:solidFill>
              <a:srgbClr val="16243F"/>
            </a:solidFill>
            <a:prstDash val="solid"/>
          </a:ln>
        </p:spPr>
      </p:sp>
      <p:sp>
        <p:nvSpPr>
          <p:cNvPr id="24" name="Text 22"/>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25" name="Text 23"/>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30" name="Grupa 29"/>
          <p:cNvGrpSpPr/>
          <p:nvPr/>
        </p:nvGrpSpPr>
        <p:grpSpPr>
          <a:xfrm>
            <a:off x="4892040" y="1691640"/>
            <a:ext cx="3794760" cy="2028779"/>
            <a:chOff x="4892040" y="1903140"/>
            <a:chExt cx="3794760" cy="2028779"/>
          </a:xfrm>
        </p:grpSpPr>
        <p:sp>
          <p:nvSpPr>
            <p:cNvPr id="26" name="Shape 24"/>
            <p:cNvSpPr/>
            <p:nvPr/>
          </p:nvSpPr>
          <p:spPr>
            <a:xfrm>
              <a:off x="4892040" y="1903140"/>
              <a:ext cx="3794760" cy="2028779"/>
            </a:xfrm>
            <a:prstGeom prst="roundRect">
              <a:avLst>
                <a:gd name="adj" fmla="val 2449"/>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27" name="Text 25"/>
            <p:cNvSpPr/>
            <p:nvPr/>
          </p:nvSpPr>
          <p:spPr>
            <a:xfrm>
              <a:off x="5019294" y="1998418"/>
              <a:ext cx="3502152"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p:sp>
          <p:nvSpPr>
            <p:cNvPr id="28" name="Text 26"/>
            <p:cNvSpPr/>
            <p:nvPr/>
          </p:nvSpPr>
          <p:spPr>
            <a:xfrm>
              <a:off x="5019294" y="2342292"/>
              <a:ext cx="3502152" cy="1477328"/>
            </a:xfrm>
            <a:prstGeom prst="rect">
              <a:avLst/>
            </a:prstGeom>
            <a:noFill/>
            <a:ln/>
          </p:spPr>
          <p:txBody>
            <a:bodyPr wrap="square" lIns="0" tIns="0" rIns="0" bIns="0" rtlCol="0" anchor="t">
              <a:spAutoFit/>
            </a:bodyPr>
            <a:lstStyle/>
            <a:p>
              <a:pPr marL="0" indent="0">
                <a:buNone/>
              </a:pPr>
              <a:r>
                <a:rPr lang="en-US" sz="1200" dirty="0">
                  <a:solidFill>
                    <a:srgbClr val="16243F"/>
                  </a:solidFill>
                  <a:latin typeface="Calibri" pitchFamily="34" charset="0"/>
                  <a:ea typeface="Calibri" pitchFamily="34" charset="-122"/>
                  <a:cs typeface="Calibri" pitchFamily="34" charset="-120"/>
                </a:rPr>
                <a:t>Odpowiedź</a:t>
              </a:r>
              <a:r>
                <a:rPr lang="en-US" sz="1200" dirty="0" smtClean="0">
                  <a:solidFill>
                    <a:srgbClr val="16243F"/>
                  </a:solidFill>
                  <a:latin typeface="Calibri" pitchFamily="34" charset="0"/>
                  <a:ea typeface="Calibri" pitchFamily="34" charset="-122"/>
                  <a:cs typeface="Calibri" pitchFamily="34" charset="-120"/>
                </a:rPr>
                <a:t>:</a:t>
              </a:r>
              <a:endParaRPr lang="pl-PL" sz="1200" dirty="0" smtClean="0">
                <a:solidFill>
                  <a:srgbClr val="16243F"/>
                </a:solidFill>
                <a:latin typeface="Calibri" pitchFamily="34" charset="0"/>
                <a:ea typeface="Calibri" pitchFamily="34" charset="-122"/>
                <a:cs typeface="Calibri" pitchFamily="34" charset="-120"/>
              </a:endParaRPr>
            </a:p>
            <a:p>
              <a:pPr marL="0" indent="0">
                <a:buNone/>
              </a:pPr>
              <a:r>
                <a:rPr lang="pl-PL" sz="1200" b="1" dirty="0" smtClean="0">
                  <a:solidFill>
                    <a:srgbClr val="16243F"/>
                  </a:solidFill>
                  <a:latin typeface="Calibri" pitchFamily="34" charset="0"/>
                  <a:ea typeface="Calibri" pitchFamily="34" charset="-122"/>
                  <a:cs typeface="Calibri" pitchFamily="34" charset="-120"/>
                </a:rPr>
                <a:t>nie można tego stwierdzić bez grupy porównawczej</a:t>
              </a:r>
              <a:endParaRPr lang="pl-PL" sz="1200" b="1" dirty="0" smtClean="0"/>
            </a:p>
            <a:p>
              <a:pPr marL="0" indent="0">
                <a:buNone/>
              </a:pPr>
              <a:endParaRPr lang="en-US" sz="1200" dirty="0"/>
            </a:p>
            <a:p>
              <a:pPr marL="0" indent="0" algn="just">
                <a:buNone/>
              </a:pPr>
              <a:r>
                <a:rPr lang="pl-PL" sz="1200" dirty="0" smtClean="0">
                  <a:solidFill>
                    <a:srgbClr val="16243F"/>
                  </a:solidFill>
                  <a:latin typeface="Calibri" pitchFamily="34" charset="0"/>
                  <a:ea typeface="Calibri" pitchFamily="34" charset="-122"/>
                  <a:cs typeface="Calibri" pitchFamily="34" charset="-120"/>
                </a:rPr>
                <a:t>Poprawa po ekstremalnie złym wyniku jest statystycznie oczekiwana niezależnie od interwencji. Bez losowej grupy kontrolnej (niekaranej) nie da się odróżnić efektu kary od regresji do średniej - klasyczna pułapka w ocenie programów treningowych i terapeutycznych.</a:t>
              </a:r>
              <a:endParaRPr lang="pl-PL" sz="1200" dirty="0"/>
            </a:p>
          </p:txBody>
        </p:sp>
      </p:grpSp>
      <p:sp>
        <p:nvSpPr>
          <p:cNvPr id="29" name="Text 27"/>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13/40   ·   Blok I</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500"/>
                                        <p:tgtEl>
                                          <p:spTgt spid="30"/>
                                        </p:tgtEl>
                                      </p:cBhvr>
                                    </p:animEffect>
                                    <p:anim calcmode="lin" valueType="num">
                                      <p:cBhvr>
                                        <p:cTn id="15" dur="500" fill="hold"/>
                                        <p:tgtEl>
                                          <p:spTgt spid="30"/>
                                        </p:tgtEl>
                                        <p:attrNameLst>
                                          <p:attrName>ppt_x</p:attrName>
                                        </p:attrNameLst>
                                      </p:cBhvr>
                                      <p:tavLst>
                                        <p:tav tm="0">
                                          <p:val>
                                            <p:strVal val="#ppt_x"/>
                                          </p:val>
                                        </p:tav>
                                        <p:tav tm="100000">
                                          <p:val>
                                            <p:strVal val="#ppt_x"/>
                                          </p:val>
                                        </p:tav>
                                      </p:tavLst>
                                    </p:anim>
                                    <p:anim calcmode="lin" valueType="num">
                                      <p:cBhvr>
                                        <p:cTn id="16" dur="5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0F6E6E"/>
          </a:solidFill>
          <a:ln w="12700">
            <a:solidFill>
              <a:srgbClr val="0F6E6E"/>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II · KONIUNKCJA I BAYES</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Problem Lindy </a:t>
            </a:r>
            <a:r>
              <a:rPr lang="en-US" sz="2400" dirty="0">
                <a:solidFill>
                  <a:srgbClr val="16243F"/>
                </a:solidFill>
                <a:latin typeface="Cambria" pitchFamily="34" charset="0"/>
                <a:ea typeface="Cambria" pitchFamily="34" charset="-122"/>
                <a:cs typeface="Cambria" pitchFamily="34" charset="-120"/>
              </a:rPr>
              <a:t>(Tversky i Kahneman, 1983)</a:t>
            </a:r>
            <a:endParaRPr lang="en-US" sz="2400" dirty="0"/>
          </a:p>
        </p:txBody>
      </p:sp>
      <p:sp>
        <p:nvSpPr>
          <p:cNvPr id="5" name="Text 3"/>
          <p:cNvSpPr/>
          <p:nvPr/>
        </p:nvSpPr>
        <p:spPr>
          <a:xfrm>
            <a:off x="457200" y="1371600"/>
            <a:ext cx="8229600" cy="512572"/>
          </a:xfrm>
          <a:prstGeom prst="rect">
            <a:avLst/>
          </a:prstGeom>
          <a:noFill/>
          <a:ln/>
        </p:spPr>
        <p:txBody>
          <a:bodyPr wrap="square" lIns="0" tIns="0" rIns="0" bIns="0" rtlCol="0" anchor="ctr"/>
          <a:lstStyle/>
          <a:p>
            <a:r>
              <a:rPr lang="pl-PL" sz="1300" dirty="0">
                <a:solidFill>
                  <a:srgbClr val="2B2D33"/>
                </a:solidFill>
                <a:latin typeface="Calibri" pitchFamily="34" charset="0"/>
                <a:ea typeface="Calibri" pitchFamily="34" charset="-122"/>
                <a:cs typeface="Calibri" pitchFamily="34" charset="-120"/>
              </a:rPr>
              <a:t>Linda ma 31 lat, jest samotna, bezpośrednia i bardzo inteligentna. Studiowała filozofię. Jako studentka była mocno zaangażowana </a:t>
            </a:r>
            <a:r>
              <a:rPr lang="pl-PL" sz="1300" dirty="0" smtClean="0">
                <a:solidFill>
                  <a:srgbClr val="2B2D33"/>
                </a:solidFill>
                <a:latin typeface="Calibri" pitchFamily="34" charset="0"/>
                <a:ea typeface="Calibri" pitchFamily="34" charset="-122"/>
                <a:cs typeface="Calibri" pitchFamily="34" charset="-120"/>
              </a:rPr>
              <a:t>w </a:t>
            </a:r>
            <a:r>
              <a:rPr lang="pl-PL" sz="1300" dirty="0">
                <a:solidFill>
                  <a:srgbClr val="2B2D33"/>
                </a:solidFill>
                <a:latin typeface="Calibri" pitchFamily="34" charset="0"/>
                <a:ea typeface="Calibri" pitchFamily="34" charset="-122"/>
                <a:cs typeface="Calibri" pitchFamily="34" charset="-120"/>
              </a:rPr>
              <a:t>kwestie dyskryminacji i sprawiedliwości społecznej, brała też udział w demonstracjach antynuklearnych.</a:t>
            </a:r>
            <a:endParaRPr lang="pl-PL" sz="1300" dirty="0">
              <a:solidFill>
                <a:srgbClr val="2B2D33"/>
              </a:solidFill>
              <a:latin typeface="Calibri" pitchFamily="34" charset="0"/>
              <a:ea typeface="Calibri" pitchFamily="34" charset="-122"/>
              <a:cs typeface="Calibri" pitchFamily="34" charset="-120"/>
            </a:endParaRPr>
          </a:p>
        </p:txBody>
      </p:sp>
      <p:grpSp>
        <p:nvGrpSpPr>
          <p:cNvPr id="33" name="Grupa 32"/>
          <p:cNvGrpSpPr/>
          <p:nvPr/>
        </p:nvGrpSpPr>
        <p:grpSpPr>
          <a:xfrm>
            <a:off x="457200" y="2082176"/>
            <a:ext cx="4206240" cy="335512"/>
            <a:chOff x="457200" y="1974850"/>
            <a:chExt cx="4206240" cy="384048"/>
          </a:xfrm>
        </p:grpSpPr>
        <p:sp>
          <p:nvSpPr>
            <p:cNvPr id="6" name="Shape 4"/>
            <p:cNvSpPr/>
            <p:nvPr/>
          </p:nvSpPr>
          <p:spPr>
            <a:xfrm>
              <a:off x="457200" y="1974850"/>
              <a:ext cx="4206240" cy="384048"/>
            </a:xfrm>
            <a:prstGeom prst="roundRect">
              <a:avLst>
                <a:gd name="adj" fmla="val 14286"/>
              </a:avLst>
            </a:prstGeom>
            <a:solidFill>
              <a:srgbClr val="EDF1F7"/>
            </a:solidFill>
            <a:ln w="12700">
              <a:solidFill>
                <a:srgbClr val="E1E4EA"/>
              </a:solidFill>
              <a:prstDash val="solid"/>
            </a:ln>
          </p:spPr>
        </p:sp>
        <p:sp>
          <p:nvSpPr>
            <p:cNvPr id="7" name="Text 5"/>
            <p:cNvSpPr/>
            <p:nvPr/>
          </p:nvSpPr>
          <p:spPr>
            <a:xfrm>
              <a:off x="594360" y="1974850"/>
              <a:ext cx="3959352" cy="384048"/>
            </a:xfrm>
            <a:prstGeom prst="rect">
              <a:avLst/>
            </a:prstGeom>
            <a:noFill/>
            <a:ln/>
          </p:spPr>
          <p:txBody>
            <a:bodyPr wrap="square" lIns="0" tIns="0" rIns="0" bIns="0" rtlCol="0" anchor="ctr"/>
            <a:lstStyle/>
            <a:p>
              <a:pPr marL="0" indent="0">
                <a:buNone/>
              </a:pPr>
              <a:r>
                <a:rPr lang="en-US" sz="1200" b="1" dirty="0">
                  <a:solidFill>
                    <a:srgbClr val="16243F"/>
                  </a:solidFill>
                  <a:latin typeface="Calibri" pitchFamily="34" charset="0"/>
                  <a:ea typeface="Calibri" pitchFamily="34" charset="-122"/>
                  <a:cs typeface="Calibri" pitchFamily="34" charset="-120"/>
                </a:rPr>
                <a:t>Co jest bardziej prawdopodobne?</a:t>
              </a:r>
              <a:endParaRPr lang="en-US" sz="1200" dirty="0"/>
            </a:p>
          </p:txBody>
        </p:sp>
      </p:grpSp>
      <p:grpSp>
        <p:nvGrpSpPr>
          <p:cNvPr id="31" name="Grupa 30"/>
          <p:cNvGrpSpPr/>
          <p:nvPr/>
        </p:nvGrpSpPr>
        <p:grpSpPr>
          <a:xfrm>
            <a:off x="457200" y="2546862"/>
            <a:ext cx="4206240" cy="457200"/>
            <a:chOff x="457200" y="2541778"/>
            <a:chExt cx="4206240" cy="457200"/>
          </a:xfrm>
        </p:grpSpPr>
        <p:sp>
          <p:nvSpPr>
            <p:cNvPr id="8" name="Shape 6"/>
            <p:cNvSpPr/>
            <p:nvPr/>
          </p:nvSpPr>
          <p:spPr>
            <a:xfrm>
              <a:off x="457200" y="2541778"/>
              <a:ext cx="4206240" cy="457200"/>
            </a:xfrm>
            <a:prstGeom prst="roundRect">
              <a:avLst>
                <a:gd name="adj" fmla="val 12000"/>
              </a:avLst>
            </a:prstGeom>
            <a:solidFill>
              <a:srgbClr val="FFFFFF"/>
            </a:solidFill>
            <a:ln w="12700">
              <a:solidFill>
                <a:srgbClr val="E1E4EA"/>
              </a:solidFill>
              <a:prstDash val="solid"/>
            </a:ln>
          </p:spPr>
        </p:sp>
        <p:sp>
          <p:nvSpPr>
            <p:cNvPr id="9" name="Shape 7"/>
            <p:cNvSpPr/>
            <p:nvPr/>
          </p:nvSpPr>
          <p:spPr>
            <a:xfrm>
              <a:off x="548640" y="2651506"/>
              <a:ext cx="237744" cy="237744"/>
            </a:xfrm>
            <a:prstGeom prst="ellipse">
              <a:avLst/>
            </a:prstGeom>
            <a:solidFill>
              <a:srgbClr val="EDF1F7"/>
            </a:solidFill>
            <a:ln w="12700">
              <a:solidFill>
                <a:srgbClr val="16243F"/>
              </a:solidFill>
              <a:prstDash val="solid"/>
            </a:ln>
          </p:spPr>
        </p:sp>
        <p:sp>
          <p:nvSpPr>
            <p:cNvPr id="10" name="Text 8"/>
            <p:cNvSpPr/>
            <p:nvPr/>
          </p:nvSpPr>
          <p:spPr>
            <a:xfrm>
              <a:off x="548640" y="2651506"/>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1" name="Text 9"/>
            <p:cNvSpPr/>
            <p:nvPr/>
          </p:nvSpPr>
          <p:spPr>
            <a:xfrm>
              <a:off x="859536" y="2541778"/>
              <a:ext cx="3694176" cy="4572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Linda jest kasjerką bankową</a:t>
              </a:r>
              <a:endParaRPr lang="en-US" sz="1200" dirty="0"/>
            </a:p>
          </p:txBody>
        </p:sp>
      </p:grpSp>
      <p:grpSp>
        <p:nvGrpSpPr>
          <p:cNvPr id="32" name="Grupa 31"/>
          <p:cNvGrpSpPr/>
          <p:nvPr/>
        </p:nvGrpSpPr>
        <p:grpSpPr>
          <a:xfrm>
            <a:off x="457200" y="3113790"/>
            <a:ext cx="4206240" cy="457200"/>
            <a:chOff x="457200" y="3090418"/>
            <a:chExt cx="4206240" cy="457200"/>
          </a:xfrm>
        </p:grpSpPr>
        <p:sp>
          <p:nvSpPr>
            <p:cNvPr id="12" name="Shape 10"/>
            <p:cNvSpPr/>
            <p:nvPr/>
          </p:nvSpPr>
          <p:spPr>
            <a:xfrm>
              <a:off x="457200" y="3090418"/>
              <a:ext cx="4206240" cy="457200"/>
            </a:xfrm>
            <a:prstGeom prst="roundRect">
              <a:avLst>
                <a:gd name="adj" fmla="val 12000"/>
              </a:avLst>
            </a:prstGeom>
            <a:solidFill>
              <a:srgbClr val="FFFFFF"/>
            </a:solidFill>
            <a:ln w="12700">
              <a:solidFill>
                <a:srgbClr val="E1E4EA"/>
              </a:solidFill>
              <a:prstDash val="solid"/>
            </a:ln>
          </p:spPr>
        </p:sp>
        <p:sp>
          <p:nvSpPr>
            <p:cNvPr id="13" name="Shape 11"/>
            <p:cNvSpPr/>
            <p:nvPr/>
          </p:nvSpPr>
          <p:spPr>
            <a:xfrm>
              <a:off x="548640" y="3200146"/>
              <a:ext cx="237744" cy="237744"/>
            </a:xfrm>
            <a:prstGeom prst="ellipse">
              <a:avLst/>
            </a:prstGeom>
            <a:solidFill>
              <a:srgbClr val="EDF1F7"/>
            </a:solidFill>
            <a:ln w="12700">
              <a:solidFill>
                <a:srgbClr val="16243F"/>
              </a:solidFill>
              <a:prstDash val="solid"/>
            </a:ln>
          </p:spPr>
        </p:sp>
        <p:sp>
          <p:nvSpPr>
            <p:cNvPr id="14" name="Text 12"/>
            <p:cNvSpPr/>
            <p:nvPr/>
          </p:nvSpPr>
          <p:spPr>
            <a:xfrm>
              <a:off x="548640" y="3200146"/>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5" name="Text 13"/>
            <p:cNvSpPr/>
            <p:nvPr/>
          </p:nvSpPr>
          <p:spPr>
            <a:xfrm>
              <a:off x="859536" y="3090418"/>
              <a:ext cx="3694176" cy="4572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Linda jest kasjerką bankową i aktywnie działa w ruchu feministycznym</a:t>
              </a:r>
              <a:endParaRPr lang="en-US" sz="1200" dirty="0"/>
            </a:p>
          </p:txBody>
        </p:sp>
      </p:grpSp>
      <p:sp>
        <p:nvSpPr>
          <p:cNvPr id="18" name="Shape 16"/>
          <p:cNvSpPr/>
          <p:nvPr/>
        </p:nvSpPr>
        <p:spPr>
          <a:xfrm>
            <a:off x="7406640" y="4035298"/>
            <a:ext cx="1280160" cy="701337"/>
          </a:xfrm>
          <a:prstGeom prst="roundRect">
            <a:avLst>
              <a:gd name="adj" fmla="val 6000"/>
            </a:avLst>
          </a:prstGeom>
          <a:solidFill>
            <a:srgbClr val="EDF1F7"/>
          </a:solidFill>
          <a:ln w="12700">
            <a:solidFill>
              <a:srgbClr val="E1E4EA"/>
            </a:solidFill>
            <a:prstDash val="solid"/>
          </a:ln>
        </p:spPr>
      </p:sp>
      <p:sp>
        <p:nvSpPr>
          <p:cNvPr id="19" name="Shape 17"/>
          <p:cNvSpPr/>
          <p:nvPr/>
        </p:nvSpPr>
        <p:spPr>
          <a:xfrm>
            <a:off x="7516368" y="4133088"/>
            <a:ext cx="365760" cy="365760"/>
          </a:xfrm>
          <a:prstGeom prst="rect">
            <a:avLst/>
          </a:prstGeom>
          <a:solidFill>
            <a:srgbClr val="FFFFFF"/>
          </a:solidFill>
          <a:ln w="19050">
            <a:solidFill>
              <a:srgbClr val="16243F"/>
            </a:solidFill>
            <a:prstDash val="solid"/>
          </a:ln>
        </p:spPr>
      </p:sp>
      <p:sp>
        <p:nvSpPr>
          <p:cNvPr id="20" name="Shape 18"/>
          <p:cNvSpPr/>
          <p:nvPr/>
        </p:nvSpPr>
        <p:spPr>
          <a:xfrm>
            <a:off x="7543800" y="4160520"/>
            <a:ext cx="82296" cy="82296"/>
          </a:xfrm>
          <a:prstGeom prst="rect">
            <a:avLst/>
          </a:prstGeom>
          <a:solidFill>
            <a:srgbClr val="16243F"/>
          </a:solidFill>
          <a:ln w="12700">
            <a:solidFill>
              <a:srgbClr val="16243F"/>
            </a:solidFill>
            <a:prstDash val="solid"/>
          </a:ln>
        </p:spPr>
      </p:sp>
      <p:sp>
        <p:nvSpPr>
          <p:cNvPr id="21" name="Shape 19"/>
          <p:cNvSpPr/>
          <p:nvPr/>
        </p:nvSpPr>
        <p:spPr>
          <a:xfrm>
            <a:off x="7543800" y="4361688"/>
            <a:ext cx="82296" cy="82296"/>
          </a:xfrm>
          <a:prstGeom prst="rect">
            <a:avLst/>
          </a:prstGeom>
          <a:solidFill>
            <a:srgbClr val="16243F"/>
          </a:solidFill>
          <a:ln w="12700">
            <a:solidFill>
              <a:srgbClr val="16243F"/>
            </a:solidFill>
            <a:prstDash val="solid"/>
          </a:ln>
        </p:spPr>
      </p:sp>
      <p:sp>
        <p:nvSpPr>
          <p:cNvPr id="22" name="Shape 20"/>
          <p:cNvSpPr/>
          <p:nvPr/>
        </p:nvSpPr>
        <p:spPr>
          <a:xfrm>
            <a:off x="7644384" y="4261104"/>
            <a:ext cx="82296" cy="82296"/>
          </a:xfrm>
          <a:prstGeom prst="rect">
            <a:avLst/>
          </a:prstGeom>
          <a:solidFill>
            <a:srgbClr val="16243F"/>
          </a:solidFill>
          <a:ln w="12700">
            <a:solidFill>
              <a:srgbClr val="16243F"/>
            </a:solidFill>
            <a:prstDash val="solid"/>
          </a:ln>
        </p:spPr>
      </p:sp>
      <p:sp>
        <p:nvSpPr>
          <p:cNvPr id="23" name="Shape 21"/>
          <p:cNvSpPr/>
          <p:nvPr/>
        </p:nvSpPr>
        <p:spPr>
          <a:xfrm>
            <a:off x="7744968" y="4160520"/>
            <a:ext cx="82296" cy="82296"/>
          </a:xfrm>
          <a:prstGeom prst="rect">
            <a:avLst/>
          </a:prstGeom>
          <a:solidFill>
            <a:srgbClr val="16243F"/>
          </a:solidFill>
          <a:ln w="12700">
            <a:solidFill>
              <a:srgbClr val="16243F"/>
            </a:solidFill>
            <a:prstDash val="solid"/>
          </a:ln>
        </p:spPr>
      </p:sp>
      <p:sp>
        <p:nvSpPr>
          <p:cNvPr id="24" name="Shape 22"/>
          <p:cNvSpPr/>
          <p:nvPr/>
        </p:nvSpPr>
        <p:spPr>
          <a:xfrm>
            <a:off x="7744968" y="4361688"/>
            <a:ext cx="82296" cy="82296"/>
          </a:xfrm>
          <a:prstGeom prst="rect">
            <a:avLst/>
          </a:prstGeom>
          <a:solidFill>
            <a:srgbClr val="16243F"/>
          </a:solidFill>
          <a:ln w="12700">
            <a:solidFill>
              <a:srgbClr val="16243F"/>
            </a:solidFill>
            <a:prstDash val="solid"/>
          </a:ln>
        </p:spPr>
      </p:sp>
      <p:sp>
        <p:nvSpPr>
          <p:cNvPr id="25" name="Text 23"/>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26" name="Text 24"/>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34" name="Grupa 33"/>
          <p:cNvGrpSpPr/>
          <p:nvPr/>
        </p:nvGrpSpPr>
        <p:grpSpPr>
          <a:xfrm>
            <a:off x="4892040" y="2308969"/>
            <a:ext cx="3794760" cy="1609641"/>
            <a:chOff x="4892040" y="2148526"/>
            <a:chExt cx="3794760" cy="1609641"/>
          </a:xfrm>
        </p:grpSpPr>
        <p:sp>
          <p:nvSpPr>
            <p:cNvPr id="27" name="Shape 25"/>
            <p:cNvSpPr/>
            <p:nvPr/>
          </p:nvSpPr>
          <p:spPr>
            <a:xfrm>
              <a:off x="4892040" y="2148526"/>
              <a:ext cx="3794760" cy="1609641"/>
            </a:xfrm>
            <a:prstGeom prst="roundRect">
              <a:avLst>
                <a:gd name="adj" fmla="val 4444"/>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28" name="Text 26"/>
            <p:cNvSpPr/>
            <p:nvPr/>
          </p:nvSpPr>
          <p:spPr>
            <a:xfrm>
              <a:off x="5025644" y="2197453"/>
              <a:ext cx="3502152"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mc:AlternateContent xmlns:mc="http://schemas.openxmlformats.org/markup-compatibility/2006">
          <mc:Choice xmlns:a14="http://schemas.microsoft.com/office/drawing/2010/main" Requires="a14">
            <p:sp>
              <p:nvSpPr>
                <p:cNvPr id="29" name="Text 27"/>
                <p:cNvSpPr/>
                <p:nvPr/>
              </p:nvSpPr>
              <p:spPr>
                <a:xfrm>
                  <a:off x="5025644" y="2435197"/>
                  <a:ext cx="3502152" cy="1231106"/>
                </a:xfrm>
                <a:prstGeom prst="rect">
                  <a:avLst/>
                </a:prstGeom>
                <a:noFill/>
                <a:ln/>
                <a:effectLst/>
              </p:spPr>
              <p:txBody>
                <a:bodyPr wrap="square" lIns="0" tIns="0" rIns="0" bIns="0" rtlCol="0" anchor="t">
                  <a:spAutoFit/>
                </a:bodyPr>
                <a:lstStyle/>
                <a:p>
                  <a:r>
                    <a:rPr lang="en-US" sz="1200" dirty="0">
                      <a:solidFill>
                        <a:srgbClr val="16243F"/>
                      </a:solidFill>
                      <a:latin typeface="Calibri" pitchFamily="34" charset="0"/>
                      <a:ea typeface="Calibri" pitchFamily="34" charset="-122"/>
                      <a:cs typeface="Calibri" pitchFamily="34" charset="-120"/>
                    </a:rPr>
                    <a:t>Prawo koniunkcji to zawsze </a:t>
                  </a:r>
                  <a14:m>
                    <m:oMath xmlns:m="http://schemas.openxmlformats.org/officeDocument/2006/math">
                      <m:r>
                        <a:rPr lang="en-US" sz="1200" b="1" i="1" dirty="0" smtClean="0">
                          <a:solidFill>
                            <a:srgbClr val="16243F"/>
                          </a:solidFill>
                          <a:effectLst/>
                          <a:latin typeface="Cambria Math" panose="02040503050406030204" pitchFamily="18" charset="0"/>
                          <a:ea typeface="Calibri" pitchFamily="34" charset="-122"/>
                          <a:cs typeface="Calibri" pitchFamily="34" charset="-120"/>
                        </a:rPr>
                        <m:t>𝑷</m:t>
                      </m:r>
                      <m:d>
                        <m:dPr>
                          <m:ctrlPr>
                            <a:rPr lang="en-US" sz="1200" b="1" i="1" dirty="0" smtClean="0">
                              <a:solidFill>
                                <a:srgbClr val="16243F"/>
                              </a:solidFill>
                              <a:effectLst/>
                              <a:latin typeface="Cambria Math" panose="02040503050406030204" pitchFamily="18" charset="0"/>
                              <a:ea typeface="Calibri" pitchFamily="34" charset="-122"/>
                              <a:cs typeface="Calibri" pitchFamily="34" charset="-120"/>
                            </a:rPr>
                          </m:ctrlPr>
                        </m:dPr>
                        <m:e>
                          <m:r>
                            <a:rPr lang="en-US" sz="1200" b="1" i="1" dirty="0" smtClean="0">
                              <a:solidFill>
                                <a:srgbClr val="16243F"/>
                              </a:solidFill>
                              <a:effectLst/>
                              <a:latin typeface="Cambria Math" panose="02040503050406030204" pitchFamily="18" charset="0"/>
                              <a:ea typeface="Calibri" pitchFamily="34" charset="-122"/>
                              <a:cs typeface="Calibri" pitchFamily="34" charset="-120"/>
                            </a:rPr>
                            <m:t>𝑨</m:t>
                          </m:r>
                          <m:r>
                            <a:rPr lang="en-US" sz="1200" b="1" i="1" dirty="0" smtClean="0">
                              <a:solidFill>
                                <a:srgbClr val="16243F"/>
                              </a:solidFill>
                              <a:effectLst/>
                              <a:latin typeface="Cambria Math" panose="02040503050406030204" pitchFamily="18" charset="0"/>
                              <a:ea typeface="Calibri" pitchFamily="34" charset="-122"/>
                              <a:cs typeface="Calibri" pitchFamily="34" charset="-120"/>
                            </a:rPr>
                            <m:t> ∩ </m:t>
                          </m:r>
                          <m:r>
                            <a:rPr lang="en-US" sz="1200" b="1" i="1" dirty="0" smtClean="0">
                              <a:solidFill>
                                <a:srgbClr val="16243F"/>
                              </a:solidFill>
                              <a:effectLst/>
                              <a:latin typeface="Cambria Math" panose="02040503050406030204" pitchFamily="18" charset="0"/>
                              <a:ea typeface="Calibri" pitchFamily="34" charset="-122"/>
                              <a:cs typeface="Calibri" pitchFamily="34" charset="-120"/>
                            </a:rPr>
                            <m:t>𝑩</m:t>
                          </m:r>
                        </m:e>
                      </m:d>
                      <m:r>
                        <a:rPr lang="en-US" sz="1200" b="1" i="1" dirty="0" smtClean="0">
                          <a:solidFill>
                            <a:srgbClr val="16243F"/>
                          </a:solidFill>
                          <a:effectLst/>
                          <a:latin typeface="Cambria Math" panose="02040503050406030204" pitchFamily="18" charset="0"/>
                          <a:ea typeface="Calibri" pitchFamily="34" charset="-122"/>
                          <a:cs typeface="Calibri" pitchFamily="34" charset="-120"/>
                        </a:rPr>
                        <m:t>≤ </m:t>
                      </m:r>
                      <m:r>
                        <a:rPr lang="en-US" sz="1200" b="1" i="1" dirty="0" smtClean="0">
                          <a:solidFill>
                            <a:srgbClr val="16243F"/>
                          </a:solidFill>
                          <a:effectLst/>
                          <a:latin typeface="Cambria Math" panose="02040503050406030204" pitchFamily="18" charset="0"/>
                          <a:ea typeface="Calibri" pitchFamily="34" charset="-122"/>
                          <a:cs typeface="Calibri" pitchFamily="34" charset="-120"/>
                        </a:rPr>
                        <m:t>𝑷</m:t>
                      </m:r>
                      <m:d>
                        <m:dPr>
                          <m:ctrlPr>
                            <a:rPr lang="en-US" sz="1200" b="1" i="1" dirty="0" smtClean="0">
                              <a:solidFill>
                                <a:srgbClr val="16243F"/>
                              </a:solidFill>
                              <a:effectLst/>
                              <a:latin typeface="Cambria Math" panose="02040503050406030204" pitchFamily="18" charset="0"/>
                              <a:ea typeface="Calibri" pitchFamily="34" charset="-122"/>
                              <a:cs typeface="Calibri" pitchFamily="34" charset="-120"/>
                            </a:rPr>
                          </m:ctrlPr>
                        </m:dPr>
                        <m:e>
                          <m:r>
                            <a:rPr lang="en-US" sz="1200" b="1" i="1" dirty="0" smtClean="0">
                              <a:solidFill>
                                <a:srgbClr val="16243F"/>
                              </a:solidFill>
                              <a:effectLst/>
                              <a:latin typeface="Cambria Math" panose="02040503050406030204" pitchFamily="18" charset="0"/>
                              <a:ea typeface="Calibri" pitchFamily="34" charset="-122"/>
                              <a:cs typeface="Calibri" pitchFamily="34" charset="-120"/>
                            </a:rPr>
                            <m:t>𝑨</m:t>
                          </m:r>
                        </m:e>
                      </m:d>
                    </m:oMath>
                  </a14:m>
                  <a:endParaRPr lang="en-US" sz="1200" dirty="0"/>
                </a:p>
                <a:p>
                  <a:pPr marL="0" indent="0">
                    <a:buNone/>
                  </a:pPr>
                  <a:endParaRPr lang="en-US" sz="600" dirty="0"/>
                </a:p>
                <a:p>
                  <a:pPr marL="0" indent="0" algn="just">
                    <a:buNone/>
                  </a:pPr>
                  <a:r>
                    <a:rPr lang="pl-PL" sz="1200" dirty="0" smtClean="0">
                      <a:solidFill>
                        <a:srgbClr val="16243F"/>
                      </a:solidFill>
                      <a:latin typeface="Calibri" pitchFamily="34" charset="0"/>
                      <a:ea typeface="Calibri" pitchFamily="34" charset="-122"/>
                      <a:cs typeface="Calibri" pitchFamily="34" charset="-120"/>
                    </a:rPr>
                    <a:t>Szczegółowy opis (B) nigdy nie może być bardziej prawdopodobny niż sam opis ogólny (A). W oryginalnym badaniu </a:t>
                  </a:r>
                  <a:r>
                    <a:rPr lang="pl-PL" sz="1200" dirty="0" err="1" smtClean="0">
                      <a:solidFill>
                        <a:srgbClr val="16243F"/>
                      </a:solidFill>
                      <a:latin typeface="Calibri" pitchFamily="34" charset="0"/>
                      <a:ea typeface="Calibri" pitchFamily="34" charset="-122"/>
                      <a:cs typeface="Calibri" pitchFamily="34" charset="-120"/>
                    </a:rPr>
                    <a:t>Tversky'ego</a:t>
                  </a:r>
                  <a:r>
                    <a:rPr lang="pl-PL" sz="1200" dirty="0" smtClean="0">
                      <a:solidFill>
                        <a:srgbClr val="16243F"/>
                      </a:solidFill>
                      <a:latin typeface="Calibri" pitchFamily="34" charset="0"/>
                      <a:ea typeface="Calibri" pitchFamily="34" charset="-122"/>
                      <a:cs typeface="Calibri" pitchFamily="34" charset="-120"/>
                    </a:rPr>
                    <a:t> i </a:t>
                  </a:r>
                  <a:r>
                    <a:rPr lang="pl-PL" sz="1200" dirty="0" err="1" smtClean="0">
                      <a:solidFill>
                        <a:srgbClr val="16243F"/>
                      </a:solidFill>
                      <a:latin typeface="Calibri" pitchFamily="34" charset="0"/>
                      <a:ea typeface="Calibri" pitchFamily="34" charset="-122"/>
                      <a:cs typeface="Calibri" pitchFamily="34" charset="-120"/>
                    </a:rPr>
                    <a:t>Kahnemana</a:t>
                  </a:r>
                  <a:r>
                    <a:rPr lang="pl-PL" sz="1200" dirty="0" smtClean="0">
                      <a:solidFill>
                        <a:srgbClr val="16243F"/>
                      </a:solidFill>
                      <a:latin typeface="Calibri" pitchFamily="34" charset="0"/>
                      <a:ea typeface="Calibri" pitchFamily="34" charset="-122"/>
                      <a:cs typeface="Calibri" pitchFamily="34" charset="-120"/>
                    </a:rPr>
                    <a:t> (1983) ok. 85–90% badanych (w tym statystycznie przeszkolonych) wybrało opcję koniunkcyjną jako bardziej prawdopodobną.</a:t>
                  </a:r>
                  <a:endParaRPr lang="pl-PL" sz="1200" dirty="0"/>
                </a:p>
              </p:txBody>
            </p:sp>
          </mc:Choice>
          <mc:Fallback>
            <p:sp>
              <p:nvSpPr>
                <p:cNvPr id="29" name="Text 27"/>
                <p:cNvSpPr>
                  <a:spLocks noRot="1" noChangeAspect="1" noMove="1" noResize="1" noEditPoints="1" noAdjustHandles="1" noChangeArrowheads="1" noChangeShapeType="1" noTextEdit="1"/>
                </p:cNvSpPr>
                <p:nvPr/>
              </p:nvSpPr>
              <p:spPr>
                <a:xfrm>
                  <a:off x="5025644" y="2435197"/>
                  <a:ext cx="3502152" cy="1231106"/>
                </a:xfrm>
                <a:prstGeom prst="rect">
                  <a:avLst/>
                </a:prstGeom>
                <a:blipFill>
                  <a:blip r:embed="rId3"/>
                  <a:stretch>
                    <a:fillRect l="-2609" t="-3960" r="-2609" b="-3960"/>
                  </a:stretch>
                </a:blipFill>
                <a:ln/>
                <a:effectLst/>
              </p:spPr>
              <p:txBody>
                <a:bodyPr/>
                <a:lstStyle/>
                <a:p>
                  <a:r>
                    <a:rPr lang="pl-PL">
                      <a:noFill/>
                    </a:rPr>
                    <a:t> </a:t>
                  </a:r>
                </a:p>
              </p:txBody>
            </p:sp>
          </mc:Fallback>
        </mc:AlternateContent>
      </p:grpSp>
      <p:sp>
        <p:nvSpPr>
          <p:cNvPr id="30" name="Text 28"/>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14/40   ·   Blok II</a:t>
            </a:r>
            <a:endParaRPr lang="en-US" sz="800" dirty="0"/>
          </a:p>
        </p:txBody>
      </p:sp>
      <p:sp>
        <p:nvSpPr>
          <p:cNvPr id="36" name="Shape 13"/>
          <p:cNvSpPr/>
          <p:nvPr/>
        </p:nvSpPr>
        <p:spPr>
          <a:xfrm>
            <a:off x="4892040" y="2082176"/>
            <a:ext cx="3794760" cy="146304"/>
          </a:xfrm>
          <a:prstGeom prst="roundRect">
            <a:avLst>
              <a:gd name="adj" fmla="val 17647"/>
            </a:avLst>
          </a:prstGeom>
          <a:solidFill>
            <a:srgbClr val="C07A35"/>
          </a:solidFill>
          <a:ln w="12700">
            <a:solidFill>
              <a:srgbClr val="C07A35"/>
            </a:solidFill>
            <a:prstDash val="solid"/>
          </a:ln>
        </p:spPr>
        <p:txBody>
          <a:bodyPr anchor="ctr"/>
          <a:lstStyle/>
          <a:p>
            <a:pPr algn="ctr"/>
            <a:r>
              <a:rPr lang="en-US" sz="900" b="1" dirty="0">
                <a:solidFill>
                  <a:srgbClr val="FFFFFF"/>
                </a:solidFill>
                <a:latin typeface="Calibri" pitchFamily="34" charset="0"/>
                <a:ea typeface="Calibri" pitchFamily="34" charset="-122"/>
                <a:cs typeface="Calibri" pitchFamily="34" charset="-120"/>
              </a:rPr>
              <a:t>ZAGŁOSUJ PRZED UJAWNIENIEM </a:t>
            </a:r>
            <a:r>
              <a:rPr lang="en-US" sz="900" b="1" dirty="0" smtClean="0">
                <a:solidFill>
                  <a:srgbClr val="FFFFFF"/>
                </a:solidFill>
                <a:latin typeface="Calibri" pitchFamily="34" charset="0"/>
                <a:ea typeface="Calibri" pitchFamily="34" charset="-122"/>
                <a:cs typeface="Calibri" pitchFamily="34" charset="-120"/>
              </a:rPr>
              <a:t>ROZWIĄZANIA</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anim calcmode="lin" valueType="num">
                                      <p:cBhvr>
                                        <p:cTn id="8" dur="500" fill="hold"/>
                                        <p:tgtEl>
                                          <p:spTgt spid="36"/>
                                        </p:tgtEl>
                                        <p:attrNameLst>
                                          <p:attrName>ppt_x</p:attrName>
                                        </p:attrNameLst>
                                      </p:cBhvr>
                                      <p:tavLst>
                                        <p:tav tm="0">
                                          <p:val>
                                            <p:strVal val="#ppt_x"/>
                                          </p:val>
                                        </p:tav>
                                        <p:tav tm="100000">
                                          <p:val>
                                            <p:strVal val="#ppt_x"/>
                                          </p:val>
                                        </p:tav>
                                      </p:tavLst>
                                    </p:anim>
                                    <p:anim calcmode="lin" valueType="num">
                                      <p:cBhvr>
                                        <p:cTn id="9" dur="5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500"/>
                                        <p:tgtEl>
                                          <p:spTgt spid="34"/>
                                        </p:tgtEl>
                                      </p:cBhvr>
                                    </p:animEffect>
                                    <p:anim calcmode="lin" valueType="num">
                                      <p:cBhvr>
                                        <p:cTn id="15" dur="500" fill="hold"/>
                                        <p:tgtEl>
                                          <p:spTgt spid="34"/>
                                        </p:tgtEl>
                                        <p:attrNameLst>
                                          <p:attrName>ppt_x</p:attrName>
                                        </p:attrNameLst>
                                      </p:cBhvr>
                                      <p:tavLst>
                                        <p:tav tm="0">
                                          <p:val>
                                            <p:strVal val="#ppt_x"/>
                                          </p:val>
                                        </p:tav>
                                        <p:tav tm="100000">
                                          <p:val>
                                            <p:strVal val="#ppt_x"/>
                                          </p:val>
                                        </p:tav>
                                      </p:tavLst>
                                    </p:anim>
                                    <p:anim calcmode="lin" valueType="num">
                                      <p:cBhvr>
                                        <p:cTn id="16" dur="5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0F6E6E"/>
          </a:solidFill>
          <a:ln w="12700">
            <a:solidFill>
              <a:srgbClr val="0F6E6E"/>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II · KONIUNKCJA I BAYES</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Błąd koniunkcji w praktyce</a:t>
            </a:r>
            <a:endParaRPr lang="en-US" sz="2400" dirty="0"/>
          </a:p>
        </p:txBody>
      </p:sp>
      <p:sp>
        <p:nvSpPr>
          <p:cNvPr id="5" name="Shape 3"/>
          <p:cNvSpPr/>
          <p:nvPr/>
        </p:nvSpPr>
        <p:spPr>
          <a:xfrm>
            <a:off x="457200" y="1453896"/>
            <a:ext cx="6217920" cy="322834"/>
          </a:xfrm>
          <a:prstGeom prst="roundRect">
            <a:avLst>
              <a:gd name="adj" fmla="val 14286"/>
            </a:avLst>
          </a:prstGeom>
          <a:solidFill>
            <a:srgbClr val="EDF1F7"/>
          </a:solidFill>
          <a:ln w="12700">
            <a:solidFill>
              <a:srgbClr val="E1E4EA"/>
            </a:solidFill>
            <a:prstDash val="solid"/>
          </a:ln>
        </p:spPr>
        <p:txBody>
          <a:bodyPr anchor="ctr"/>
          <a:lstStyle/>
          <a:p>
            <a:r>
              <a:rPr lang="pl-PL" sz="1400" b="1" dirty="0" smtClean="0">
                <a:solidFill>
                  <a:srgbClr val="16243F"/>
                </a:solidFill>
                <a:latin typeface="Calibri" pitchFamily="34" charset="0"/>
                <a:ea typeface="Calibri" pitchFamily="34" charset="-122"/>
                <a:cs typeface="Calibri" pitchFamily="34" charset="-120"/>
              </a:rPr>
              <a:t>Który scenariusz uważasz za najbardziej prawdopodobny?</a:t>
            </a:r>
            <a:endParaRPr lang="pl-PL" sz="1400" dirty="0"/>
          </a:p>
        </p:txBody>
      </p:sp>
      <p:sp>
        <p:nvSpPr>
          <p:cNvPr id="7" name="Shape 5"/>
          <p:cNvSpPr/>
          <p:nvPr/>
        </p:nvSpPr>
        <p:spPr>
          <a:xfrm>
            <a:off x="457200" y="1877314"/>
            <a:ext cx="6217920" cy="420624"/>
          </a:xfrm>
          <a:prstGeom prst="roundRect">
            <a:avLst>
              <a:gd name="adj" fmla="val 13043"/>
            </a:avLst>
          </a:prstGeom>
          <a:solidFill>
            <a:srgbClr val="FFFFFF"/>
          </a:solidFill>
          <a:ln w="12700">
            <a:solidFill>
              <a:srgbClr val="E1E4EA"/>
            </a:solidFill>
            <a:prstDash val="solid"/>
          </a:ln>
        </p:spPr>
      </p:sp>
      <p:sp>
        <p:nvSpPr>
          <p:cNvPr id="8" name="Shape 6"/>
          <p:cNvSpPr/>
          <p:nvPr/>
        </p:nvSpPr>
        <p:spPr>
          <a:xfrm>
            <a:off x="548640" y="1968754"/>
            <a:ext cx="237744" cy="237744"/>
          </a:xfrm>
          <a:prstGeom prst="ellipse">
            <a:avLst/>
          </a:prstGeom>
          <a:solidFill>
            <a:srgbClr val="EDF1F7"/>
          </a:solidFill>
          <a:ln w="12700">
            <a:solidFill>
              <a:srgbClr val="16243F"/>
            </a:solidFill>
            <a:prstDash val="solid"/>
          </a:ln>
        </p:spPr>
      </p:sp>
      <p:sp>
        <p:nvSpPr>
          <p:cNvPr id="9" name="Text 7"/>
          <p:cNvSpPr/>
          <p:nvPr/>
        </p:nvSpPr>
        <p:spPr>
          <a:xfrm>
            <a:off x="548640" y="1968754"/>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0" name="Text 8"/>
          <p:cNvSpPr/>
          <p:nvPr/>
        </p:nvSpPr>
        <p:spPr>
          <a:xfrm>
            <a:off x="859536" y="1877314"/>
            <a:ext cx="5738114" cy="420624"/>
          </a:xfrm>
          <a:prstGeom prst="rect">
            <a:avLst/>
          </a:prstGeom>
          <a:noFill/>
          <a:ln/>
        </p:spPr>
        <p:txBody>
          <a:bodyPr wrap="square" lIns="0" tIns="0" rIns="0" bIns="0" rtlCol="0" anchor="ctr"/>
          <a:lstStyle/>
          <a:p>
            <a:pPr marL="0" indent="0">
              <a:buNone/>
            </a:pPr>
            <a:r>
              <a:rPr lang="en-US" sz="1030" b="1" dirty="0">
                <a:solidFill>
                  <a:srgbClr val="2B2D33"/>
                </a:solidFill>
                <a:latin typeface="Calibri" pitchFamily="34" charset="0"/>
                <a:ea typeface="Calibri" pitchFamily="34" charset="-122"/>
                <a:cs typeface="Calibri" pitchFamily="34" charset="-120"/>
              </a:rPr>
              <a:t>Polityczny</a:t>
            </a:r>
            <a:r>
              <a:rPr lang="en-US" sz="1030" dirty="0">
                <a:solidFill>
                  <a:srgbClr val="2B2D33"/>
                </a:solidFill>
                <a:latin typeface="Calibri" pitchFamily="34" charset="0"/>
                <a:ea typeface="Calibri" pitchFamily="34" charset="-122"/>
                <a:cs typeface="Calibri" pitchFamily="34" charset="-120"/>
              </a:rPr>
              <a:t>: kandydat przegra wybory</a:t>
            </a:r>
            <a:endParaRPr lang="en-US" sz="1030" dirty="0"/>
          </a:p>
        </p:txBody>
      </p:sp>
      <p:sp>
        <p:nvSpPr>
          <p:cNvPr id="11" name="Shape 9"/>
          <p:cNvSpPr/>
          <p:nvPr/>
        </p:nvSpPr>
        <p:spPr>
          <a:xfrm>
            <a:off x="457200" y="2389378"/>
            <a:ext cx="6217920" cy="420624"/>
          </a:xfrm>
          <a:prstGeom prst="roundRect">
            <a:avLst>
              <a:gd name="adj" fmla="val 13043"/>
            </a:avLst>
          </a:prstGeom>
          <a:solidFill>
            <a:srgbClr val="FFFFFF"/>
          </a:solidFill>
          <a:ln w="12700">
            <a:solidFill>
              <a:srgbClr val="E1E4EA"/>
            </a:solidFill>
            <a:prstDash val="solid"/>
          </a:ln>
        </p:spPr>
      </p:sp>
      <p:sp>
        <p:nvSpPr>
          <p:cNvPr id="12" name="Shape 10"/>
          <p:cNvSpPr/>
          <p:nvPr/>
        </p:nvSpPr>
        <p:spPr>
          <a:xfrm>
            <a:off x="548640" y="2480818"/>
            <a:ext cx="237744" cy="237744"/>
          </a:xfrm>
          <a:prstGeom prst="ellipse">
            <a:avLst/>
          </a:prstGeom>
          <a:solidFill>
            <a:srgbClr val="EDF1F7"/>
          </a:solidFill>
          <a:ln w="12700">
            <a:solidFill>
              <a:srgbClr val="16243F"/>
            </a:solidFill>
            <a:prstDash val="solid"/>
          </a:ln>
        </p:spPr>
      </p:sp>
      <p:sp>
        <p:nvSpPr>
          <p:cNvPr id="13" name="Text 11"/>
          <p:cNvSpPr/>
          <p:nvPr/>
        </p:nvSpPr>
        <p:spPr>
          <a:xfrm>
            <a:off x="548640" y="2480818"/>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4" name="Text 12"/>
          <p:cNvSpPr/>
          <p:nvPr/>
        </p:nvSpPr>
        <p:spPr>
          <a:xfrm>
            <a:off x="859536" y="2389378"/>
            <a:ext cx="5738114" cy="420624"/>
          </a:xfrm>
          <a:prstGeom prst="rect">
            <a:avLst/>
          </a:prstGeom>
          <a:noFill/>
          <a:ln/>
        </p:spPr>
        <p:txBody>
          <a:bodyPr wrap="square" lIns="0" tIns="0" rIns="0" bIns="0" rtlCol="0" anchor="ctr"/>
          <a:lstStyle/>
          <a:p>
            <a:pPr marL="0" indent="0">
              <a:buNone/>
            </a:pPr>
            <a:r>
              <a:rPr lang="en-US" sz="1030" b="1" dirty="0">
                <a:solidFill>
                  <a:srgbClr val="2B2D33"/>
                </a:solidFill>
                <a:latin typeface="Calibri" pitchFamily="34" charset="0"/>
                <a:ea typeface="Calibri" pitchFamily="34" charset="-122"/>
                <a:cs typeface="Calibri" pitchFamily="34" charset="-120"/>
              </a:rPr>
              <a:t>Polityczny</a:t>
            </a:r>
            <a:r>
              <a:rPr lang="en-US" sz="1030" dirty="0">
                <a:solidFill>
                  <a:srgbClr val="2B2D33"/>
                </a:solidFill>
                <a:latin typeface="Calibri" pitchFamily="34" charset="0"/>
                <a:ea typeface="Calibri" pitchFamily="34" charset="-122"/>
                <a:cs typeface="Calibri" pitchFamily="34" charset="-120"/>
              </a:rPr>
              <a:t>: kandydat przegra wybory z powodu afery korupcyjnej ujawnionej tydzień przed głosowaniem</a:t>
            </a:r>
            <a:endParaRPr lang="en-US" sz="1030" dirty="0"/>
          </a:p>
        </p:txBody>
      </p:sp>
      <p:sp>
        <p:nvSpPr>
          <p:cNvPr id="15" name="Shape 13"/>
          <p:cNvSpPr/>
          <p:nvPr/>
        </p:nvSpPr>
        <p:spPr>
          <a:xfrm>
            <a:off x="457200" y="2901442"/>
            <a:ext cx="6217920" cy="420624"/>
          </a:xfrm>
          <a:prstGeom prst="roundRect">
            <a:avLst>
              <a:gd name="adj" fmla="val 13043"/>
            </a:avLst>
          </a:prstGeom>
          <a:solidFill>
            <a:srgbClr val="FFFFFF"/>
          </a:solidFill>
          <a:ln w="12700">
            <a:solidFill>
              <a:srgbClr val="E1E4EA"/>
            </a:solidFill>
            <a:prstDash val="solid"/>
          </a:ln>
        </p:spPr>
      </p:sp>
      <p:sp>
        <p:nvSpPr>
          <p:cNvPr id="16" name="Shape 14"/>
          <p:cNvSpPr/>
          <p:nvPr/>
        </p:nvSpPr>
        <p:spPr>
          <a:xfrm>
            <a:off x="548640" y="2992882"/>
            <a:ext cx="237744" cy="237744"/>
          </a:xfrm>
          <a:prstGeom prst="ellipse">
            <a:avLst/>
          </a:prstGeom>
          <a:solidFill>
            <a:srgbClr val="EDF1F7"/>
          </a:solidFill>
          <a:ln w="12700">
            <a:solidFill>
              <a:srgbClr val="16243F"/>
            </a:solidFill>
            <a:prstDash val="solid"/>
          </a:ln>
        </p:spPr>
      </p:sp>
      <p:sp>
        <p:nvSpPr>
          <p:cNvPr id="17" name="Text 15"/>
          <p:cNvSpPr/>
          <p:nvPr/>
        </p:nvSpPr>
        <p:spPr>
          <a:xfrm>
            <a:off x="548640" y="2992882"/>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C</a:t>
            </a:r>
            <a:endParaRPr lang="en-US" sz="1000" dirty="0"/>
          </a:p>
        </p:txBody>
      </p:sp>
      <p:sp>
        <p:nvSpPr>
          <p:cNvPr id="18" name="Text 16"/>
          <p:cNvSpPr/>
          <p:nvPr/>
        </p:nvSpPr>
        <p:spPr>
          <a:xfrm>
            <a:off x="859536" y="2901442"/>
            <a:ext cx="5738114" cy="420624"/>
          </a:xfrm>
          <a:prstGeom prst="rect">
            <a:avLst/>
          </a:prstGeom>
          <a:noFill/>
          <a:ln/>
        </p:spPr>
        <p:txBody>
          <a:bodyPr wrap="square" lIns="0" tIns="0" rIns="0" bIns="0" rtlCol="0" anchor="ctr"/>
          <a:lstStyle/>
          <a:p>
            <a:pPr marL="0" indent="0">
              <a:buNone/>
            </a:pPr>
            <a:r>
              <a:rPr lang="en-US" sz="1030" b="1" dirty="0">
                <a:solidFill>
                  <a:srgbClr val="2B2D33"/>
                </a:solidFill>
                <a:latin typeface="Calibri" pitchFamily="34" charset="0"/>
                <a:ea typeface="Calibri" pitchFamily="34" charset="-122"/>
                <a:cs typeface="Calibri" pitchFamily="34" charset="-120"/>
              </a:rPr>
              <a:t>Kliniczny</a:t>
            </a:r>
            <a:r>
              <a:rPr lang="en-US" sz="1030" dirty="0">
                <a:solidFill>
                  <a:srgbClr val="2B2D33"/>
                </a:solidFill>
                <a:latin typeface="Calibri" pitchFamily="34" charset="0"/>
                <a:ea typeface="Calibri" pitchFamily="34" charset="-122"/>
                <a:cs typeface="Calibri" pitchFamily="34" charset="-120"/>
              </a:rPr>
              <a:t>: pacjent dozna nawrotu depresji w ciągu roku</a:t>
            </a:r>
            <a:endParaRPr lang="en-US" sz="1030" dirty="0"/>
          </a:p>
        </p:txBody>
      </p:sp>
      <p:sp>
        <p:nvSpPr>
          <p:cNvPr id="19" name="Shape 17"/>
          <p:cNvSpPr/>
          <p:nvPr/>
        </p:nvSpPr>
        <p:spPr>
          <a:xfrm>
            <a:off x="457200" y="3413506"/>
            <a:ext cx="6217920" cy="420624"/>
          </a:xfrm>
          <a:prstGeom prst="roundRect">
            <a:avLst>
              <a:gd name="adj" fmla="val 13043"/>
            </a:avLst>
          </a:prstGeom>
          <a:solidFill>
            <a:srgbClr val="FFFFFF"/>
          </a:solidFill>
          <a:ln w="12700">
            <a:solidFill>
              <a:srgbClr val="E1E4EA"/>
            </a:solidFill>
            <a:prstDash val="solid"/>
          </a:ln>
        </p:spPr>
      </p:sp>
      <p:sp>
        <p:nvSpPr>
          <p:cNvPr id="20" name="Shape 18"/>
          <p:cNvSpPr/>
          <p:nvPr/>
        </p:nvSpPr>
        <p:spPr>
          <a:xfrm>
            <a:off x="548640" y="3504946"/>
            <a:ext cx="237744" cy="237744"/>
          </a:xfrm>
          <a:prstGeom prst="ellipse">
            <a:avLst/>
          </a:prstGeom>
          <a:solidFill>
            <a:srgbClr val="EDF1F7"/>
          </a:solidFill>
          <a:ln w="12700">
            <a:solidFill>
              <a:srgbClr val="16243F"/>
            </a:solidFill>
            <a:prstDash val="solid"/>
          </a:ln>
        </p:spPr>
      </p:sp>
      <p:sp>
        <p:nvSpPr>
          <p:cNvPr id="21" name="Text 19"/>
          <p:cNvSpPr/>
          <p:nvPr/>
        </p:nvSpPr>
        <p:spPr>
          <a:xfrm>
            <a:off x="548640" y="3504946"/>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D</a:t>
            </a:r>
            <a:endParaRPr lang="en-US" sz="1000" dirty="0"/>
          </a:p>
        </p:txBody>
      </p:sp>
      <p:sp>
        <p:nvSpPr>
          <p:cNvPr id="22" name="Text 20"/>
          <p:cNvSpPr/>
          <p:nvPr/>
        </p:nvSpPr>
        <p:spPr>
          <a:xfrm>
            <a:off x="859536" y="3413506"/>
            <a:ext cx="5738114" cy="420624"/>
          </a:xfrm>
          <a:prstGeom prst="rect">
            <a:avLst/>
          </a:prstGeom>
          <a:noFill/>
          <a:ln/>
        </p:spPr>
        <p:txBody>
          <a:bodyPr wrap="square" lIns="0" tIns="0" rIns="0" bIns="0" rtlCol="0" anchor="ctr"/>
          <a:lstStyle/>
          <a:p>
            <a:pPr marL="0" indent="0">
              <a:buNone/>
            </a:pPr>
            <a:r>
              <a:rPr lang="en-US" sz="1030" b="1" dirty="0">
                <a:solidFill>
                  <a:srgbClr val="2B2D33"/>
                </a:solidFill>
                <a:latin typeface="Calibri" pitchFamily="34" charset="0"/>
                <a:ea typeface="Calibri" pitchFamily="34" charset="-122"/>
                <a:cs typeface="Calibri" pitchFamily="34" charset="-120"/>
              </a:rPr>
              <a:t>Kliniczny</a:t>
            </a:r>
            <a:r>
              <a:rPr lang="en-US" sz="1030" dirty="0">
                <a:solidFill>
                  <a:srgbClr val="2B2D33"/>
                </a:solidFill>
                <a:latin typeface="Calibri" pitchFamily="34" charset="0"/>
                <a:ea typeface="Calibri" pitchFamily="34" charset="-122"/>
                <a:cs typeface="Calibri" pitchFamily="34" charset="-120"/>
              </a:rPr>
              <a:t>: pacjent dozna nawrotu depresji w ciągu roku po utracie pracy i rozwodzie</a:t>
            </a:r>
            <a:endParaRPr lang="en-US" sz="1030" dirty="0"/>
          </a:p>
        </p:txBody>
      </p:sp>
      <p:sp>
        <p:nvSpPr>
          <p:cNvPr id="23" name="Shape 21"/>
          <p:cNvSpPr/>
          <p:nvPr/>
        </p:nvSpPr>
        <p:spPr>
          <a:xfrm>
            <a:off x="457200" y="4041648"/>
            <a:ext cx="4206240" cy="310896"/>
          </a:xfrm>
          <a:prstGeom prst="roundRect">
            <a:avLst>
              <a:gd name="adj" fmla="val 17647"/>
            </a:avLst>
          </a:prstGeom>
          <a:solidFill>
            <a:srgbClr val="C07A35"/>
          </a:solidFill>
          <a:ln w="12700">
            <a:solidFill>
              <a:srgbClr val="C07A35"/>
            </a:solidFill>
            <a:prstDash val="solid"/>
          </a:ln>
        </p:spPr>
      </p:sp>
      <p:sp>
        <p:nvSpPr>
          <p:cNvPr id="24" name="Text 22"/>
          <p:cNvSpPr/>
          <p:nvPr/>
        </p:nvSpPr>
        <p:spPr>
          <a:xfrm>
            <a:off x="457200" y="4041648"/>
            <a:ext cx="420624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ZAGŁOSUJ PRZED UJAWNIENIEM ROZWIĄZANIA</a:t>
            </a:r>
            <a:endParaRPr lang="en-US" sz="850" dirty="0"/>
          </a:p>
        </p:txBody>
      </p:sp>
      <p:sp>
        <p:nvSpPr>
          <p:cNvPr id="25" name="Shape 23"/>
          <p:cNvSpPr/>
          <p:nvPr/>
        </p:nvSpPr>
        <p:spPr>
          <a:xfrm>
            <a:off x="7406640" y="4041648"/>
            <a:ext cx="1280160" cy="746252"/>
          </a:xfrm>
          <a:prstGeom prst="roundRect">
            <a:avLst>
              <a:gd name="adj" fmla="val 6000"/>
            </a:avLst>
          </a:prstGeom>
          <a:solidFill>
            <a:srgbClr val="EDF1F7"/>
          </a:solidFill>
          <a:ln w="12700">
            <a:solidFill>
              <a:srgbClr val="E1E4EA"/>
            </a:solidFill>
            <a:prstDash val="solid"/>
          </a:ln>
        </p:spPr>
      </p:sp>
      <p:sp>
        <p:nvSpPr>
          <p:cNvPr id="26" name="Shape 24"/>
          <p:cNvSpPr/>
          <p:nvPr/>
        </p:nvSpPr>
        <p:spPr>
          <a:xfrm>
            <a:off x="7516368" y="4133088"/>
            <a:ext cx="365760" cy="365760"/>
          </a:xfrm>
          <a:prstGeom prst="rect">
            <a:avLst/>
          </a:prstGeom>
          <a:solidFill>
            <a:srgbClr val="FFFFFF"/>
          </a:solidFill>
          <a:ln w="19050">
            <a:solidFill>
              <a:srgbClr val="16243F"/>
            </a:solidFill>
            <a:prstDash val="solid"/>
          </a:ln>
        </p:spPr>
      </p:sp>
      <p:sp>
        <p:nvSpPr>
          <p:cNvPr id="27" name="Shape 25"/>
          <p:cNvSpPr/>
          <p:nvPr/>
        </p:nvSpPr>
        <p:spPr>
          <a:xfrm>
            <a:off x="7543800" y="4160520"/>
            <a:ext cx="82296" cy="82296"/>
          </a:xfrm>
          <a:prstGeom prst="rect">
            <a:avLst/>
          </a:prstGeom>
          <a:solidFill>
            <a:srgbClr val="16243F"/>
          </a:solidFill>
          <a:ln w="12700">
            <a:solidFill>
              <a:srgbClr val="16243F"/>
            </a:solidFill>
            <a:prstDash val="solid"/>
          </a:ln>
        </p:spPr>
      </p:sp>
      <p:sp>
        <p:nvSpPr>
          <p:cNvPr id="28" name="Shape 26"/>
          <p:cNvSpPr/>
          <p:nvPr/>
        </p:nvSpPr>
        <p:spPr>
          <a:xfrm>
            <a:off x="7543800" y="4361688"/>
            <a:ext cx="82296" cy="82296"/>
          </a:xfrm>
          <a:prstGeom prst="rect">
            <a:avLst/>
          </a:prstGeom>
          <a:solidFill>
            <a:srgbClr val="16243F"/>
          </a:solidFill>
          <a:ln w="12700">
            <a:solidFill>
              <a:srgbClr val="16243F"/>
            </a:solidFill>
            <a:prstDash val="solid"/>
          </a:ln>
        </p:spPr>
      </p:sp>
      <p:sp>
        <p:nvSpPr>
          <p:cNvPr id="29" name="Shape 27"/>
          <p:cNvSpPr/>
          <p:nvPr/>
        </p:nvSpPr>
        <p:spPr>
          <a:xfrm>
            <a:off x="7644384" y="4261104"/>
            <a:ext cx="82296" cy="82296"/>
          </a:xfrm>
          <a:prstGeom prst="rect">
            <a:avLst/>
          </a:prstGeom>
          <a:solidFill>
            <a:srgbClr val="16243F"/>
          </a:solidFill>
          <a:ln w="12700">
            <a:solidFill>
              <a:srgbClr val="16243F"/>
            </a:solidFill>
            <a:prstDash val="solid"/>
          </a:ln>
        </p:spPr>
      </p:sp>
      <p:sp>
        <p:nvSpPr>
          <p:cNvPr id="30" name="Shape 28"/>
          <p:cNvSpPr/>
          <p:nvPr/>
        </p:nvSpPr>
        <p:spPr>
          <a:xfrm>
            <a:off x="7744968" y="4160520"/>
            <a:ext cx="82296" cy="82296"/>
          </a:xfrm>
          <a:prstGeom prst="rect">
            <a:avLst/>
          </a:prstGeom>
          <a:solidFill>
            <a:srgbClr val="16243F"/>
          </a:solidFill>
          <a:ln w="12700">
            <a:solidFill>
              <a:srgbClr val="16243F"/>
            </a:solidFill>
            <a:prstDash val="solid"/>
          </a:ln>
        </p:spPr>
      </p:sp>
      <p:sp>
        <p:nvSpPr>
          <p:cNvPr id="31" name="Shape 29"/>
          <p:cNvSpPr/>
          <p:nvPr/>
        </p:nvSpPr>
        <p:spPr>
          <a:xfrm>
            <a:off x="7744968" y="4361688"/>
            <a:ext cx="82296" cy="82296"/>
          </a:xfrm>
          <a:prstGeom prst="rect">
            <a:avLst/>
          </a:prstGeom>
          <a:solidFill>
            <a:srgbClr val="16243F"/>
          </a:solidFill>
          <a:ln w="12700">
            <a:solidFill>
              <a:srgbClr val="16243F"/>
            </a:solidFill>
            <a:prstDash val="solid"/>
          </a:ln>
        </p:spPr>
      </p:sp>
      <p:sp>
        <p:nvSpPr>
          <p:cNvPr id="32" name="Text 30"/>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33" name="Text 31"/>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sp>
        <p:nvSpPr>
          <p:cNvPr id="34" name="Text 32"/>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15/40   ·   Blok II</a:t>
            </a:r>
            <a:endParaRPr lang="en-US" sz="8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0F6E6E"/>
          </a:solidFill>
          <a:ln w="12700">
            <a:solidFill>
              <a:srgbClr val="0F6E6E"/>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II · KONIUNKCJA I BAYES</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Zaniedbywanie częstości bazowej</a:t>
            </a:r>
            <a:endParaRPr lang="en-US" sz="2400" dirty="0"/>
          </a:p>
        </p:txBody>
      </p:sp>
      <p:sp>
        <p:nvSpPr>
          <p:cNvPr id="5" name="Text 3"/>
          <p:cNvSpPr/>
          <p:nvPr/>
        </p:nvSpPr>
        <p:spPr>
          <a:xfrm>
            <a:off x="457200" y="1371600"/>
            <a:ext cx="8229600" cy="502920"/>
          </a:xfrm>
          <a:prstGeom prst="rect">
            <a:avLst/>
          </a:prstGeom>
          <a:noFill/>
          <a:ln/>
        </p:spPr>
        <p:txBody>
          <a:bodyPr wrap="square" lIns="0" tIns="0" rIns="0" bIns="0" rtlCol="0" anchor="ctr"/>
          <a:lstStyle/>
          <a:p>
            <a:r>
              <a:rPr lang="pl-PL" sz="1400" dirty="0">
                <a:solidFill>
                  <a:srgbClr val="2B2D33"/>
                </a:solidFill>
                <a:latin typeface="Calibri" pitchFamily="34" charset="0"/>
                <a:ea typeface="Calibri" pitchFamily="34" charset="-122"/>
                <a:cs typeface="Calibri" pitchFamily="34" charset="-120"/>
              </a:rPr>
              <a:t>Populacja: 5% prawników i 95% inżynierów. Losowo wybrany opis: „Jack, 45 lat, żonaty, czworo dzieci, </a:t>
            </a:r>
            <a:br>
              <a:rPr lang="pl-PL" sz="1400" dirty="0">
                <a:solidFill>
                  <a:srgbClr val="2B2D33"/>
                </a:solidFill>
                <a:latin typeface="Calibri" pitchFamily="34" charset="0"/>
                <a:ea typeface="Calibri" pitchFamily="34" charset="-122"/>
                <a:cs typeface="Calibri" pitchFamily="34" charset="-120"/>
              </a:rPr>
            </a:br>
            <a:r>
              <a:rPr lang="pl-PL" sz="1400" dirty="0">
                <a:solidFill>
                  <a:srgbClr val="2B2D33"/>
                </a:solidFill>
                <a:latin typeface="Calibri" pitchFamily="34" charset="0"/>
                <a:ea typeface="Calibri" pitchFamily="34" charset="-122"/>
                <a:cs typeface="Calibri" pitchFamily="34" charset="-120"/>
              </a:rPr>
              <a:t>konserwatywny, nie interesuje się polityką, lubi żeglarstwo i łamigłówki matematyczne”.</a:t>
            </a:r>
            <a:endParaRPr lang="pl-PL" sz="1400" dirty="0">
              <a:solidFill>
                <a:srgbClr val="2B2D33"/>
              </a:solidFill>
              <a:latin typeface="Calibri" pitchFamily="34" charset="0"/>
              <a:ea typeface="Calibri" pitchFamily="34" charset="-122"/>
              <a:cs typeface="Calibri" pitchFamily="34" charset="-120"/>
            </a:endParaRPr>
          </a:p>
        </p:txBody>
      </p:sp>
      <p:grpSp>
        <p:nvGrpSpPr>
          <p:cNvPr id="35" name="Grupa 34"/>
          <p:cNvGrpSpPr/>
          <p:nvPr/>
        </p:nvGrpSpPr>
        <p:grpSpPr>
          <a:xfrm>
            <a:off x="457200" y="2084832"/>
            <a:ext cx="4206240" cy="384048"/>
            <a:chOff x="457200" y="2148840"/>
            <a:chExt cx="4206240" cy="384048"/>
          </a:xfrm>
        </p:grpSpPr>
        <p:sp>
          <p:nvSpPr>
            <p:cNvPr id="6" name="Shape 4"/>
            <p:cNvSpPr/>
            <p:nvPr/>
          </p:nvSpPr>
          <p:spPr>
            <a:xfrm>
              <a:off x="457200" y="2148840"/>
              <a:ext cx="4206240" cy="384048"/>
            </a:xfrm>
            <a:prstGeom prst="roundRect">
              <a:avLst>
                <a:gd name="adj" fmla="val 14286"/>
              </a:avLst>
            </a:prstGeom>
            <a:solidFill>
              <a:srgbClr val="EDF1F7"/>
            </a:solidFill>
            <a:ln w="12700">
              <a:solidFill>
                <a:srgbClr val="E1E4EA"/>
              </a:solidFill>
              <a:prstDash val="solid"/>
            </a:ln>
          </p:spPr>
        </p:sp>
        <p:sp>
          <p:nvSpPr>
            <p:cNvPr id="7" name="Text 5"/>
            <p:cNvSpPr/>
            <p:nvPr/>
          </p:nvSpPr>
          <p:spPr>
            <a:xfrm>
              <a:off x="594360" y="2148840"/>
              <a:ext cx="3959352" cy="384048"/>
            </a:xfrm>
            <a:prstGeom prst="rect">
              <a:avLst/>
            </a:prstGeom>
            <a:noFill/>
            <a:ln/>
          </p:spPr>
          <p:txBody>
            <a:bodyPr wrap="square" lIns="0" tIns="0" rIns="0" bIns="0" rtlCol="0" anchor="ctr"/>
            <a:lstStyle/>
            <a:p>
              <a:pPr marL="0" indent="0">
                <a:buNone/>
              </a:pPr>
              <a:r>
                <a:rPr lang="en-US" sz="1200" b="1" dirty="0">
                  <a:solidFill>
                    <a:srgbClr val="16243F"/>
                  </a:solidFill>
                  <a:latin typeface="Calibri" pitchFamily="34" charset="0"/>
                  <a:ea typeface="Calibri" pitchFamily="34" charset="-122"/>
                  <a:cs typeface="Calibri" pitchFamily="34" charset="-120"/>
                </a:rPr>
                <a:t>Jakie jest prawdopodobieństwo, że Jack jest prawnikiem?</a:t>
              </a:r>
              <a:endParaRPr lang="en-US" sz="1200" dirty="0"/>
            </a:p>
          </p:txBody>
        </p:sp>
      </p:grpSp>
      <p:sp>
        <p:nvSpPr>
          <p:cNvPr id="8" name="Shape 6"/>
          <p:cNvSpPr/>
          <p:nvPr/>
        </p:nvSpPr>
        <p:spPr>
          <a:xfrm>
            <a:off x="457200" y="2606040"/>
            <a:ext cx="4206240" cy="384048"/>
          </a:xfrm>
          <a:prstGeom prst="roundRect">
            <a:avLst>
              <a:gd name="adj" fmla="val 14286"/>
            </a:avLst>
          </a:prstGeom>
          <a:solidFill>
            <a:srgbClr val="FFFFFF"/>
          </a:solidFill>
          <a:ln w="12700">
            <a:solidFill>
              <a:srgbClr val="E1E4EA"/>
            </a:solidFill>
            <a:prstDash val="solid"/>
          </a:ln>
        </p:spPr>
      </p:sp>
      <p:sp>
        <p:nvSpPr>
          <p:cNvPr id="9" name="Shape 7"/>
          <p:cNvSpPr/>
          <p:nvPr/>
        </p:nvSpPr>
        <p:spPr>
          <a:xfrm>
            <a:off x="548640" y="2679192"/>
            <a:ext cx="237744" cy="237744"/>
          </a:xfrm>
          <a:prstGeom prst="ellipse">
            <a:avLst/>
          </a:prstGeom>
          <a:solidFill>
            <a:srgbClr val="EDF1F7"/>
          </a:solidFill>
          <a:ln w="12700">
            <a:solidFill>
              <a:srgbClr val="16243F"/>
            </a:solidFill>
            <a:prstDash val="solid"/>
          </a:ln>
        </p:spPr>
      </p:sp>
      <p:sp>
        <p:nvSpPr>
          <p:cNvPr id="10" name="Text 8"/>
          <p:cNvSpPr/>
          <p:nvPr/>
        </p:nvSpPr>
        <p:spPr>
          <a:xfrm>
            <a:off x="548640" y="2679192"/>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1" name="Text 9"/>
          <p:cNvSpPr/>
          <p:nvPr/>
        </p:nvSpPr>
        <p:spPr>
          <a:xfrm>
            <a:off x="859536" y="2606040"/>
            <a:ext cx="3694176" cy="384048"/>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Bliskie 5% (zgodnie z częstością bazową)</a:t>
            </a:r>
            <a:endParaRPr lang="en-US" sz="1200" dirty="0"/>
          </a:p>
        </p:txBody>
      </p:sp>
      <p:sp>
        <p:nvSpPr>
          <p:cNvPr id="12" name="Shape 10"/>
          <p:cNvSpPr/>
          <p:nvPr/>
        </p:nvSpPr>
        <p:spPr>
          <a:xfrm>
            <a:off x="457200" y="3081528"/>
            <a:ext cx="4206240" cy="384048"/>
          </a:xfrm>
          <a:prstGeom prst="roundRect">
            <a:avLst>
              <a:gd name="adj" fmla="val 14286"/>
            </a:avLst>
          </a:prstGeom>
          <a:solidFill>
            <a:srgbClr val="FFFFFF"/>
          </a:solidFill>
          <a:ln w="12700">
            <a:solidFill>
              <a:srgbClr val="E1E4EA"/>
            </a:solidFill>
            <a:prstDash val="solid"/>
          </a:ln>
        </p:spPr>
      </p:sp>
      <p:sp>
        <p:nvSpPr>
          <p:cNvPr id="13" name="Shape 11"/>
          <p:cNvSpPr/>
          <p:nvPr/>
        </p:nvSpPr>
        <p:spPr>
          <a:xfrm>
            <a:off x="548640" y="3154680"/>
            <a:ext cx="237744" cy="237744"/>
          </a:xfrm>
          <a:prstGeom prst="ellipse">
            <a:avLst/>
          </a:prstGeom>
          <a:solidFill>
            <a:srgbClr val="EDF1F7"/>
          </a:solidFill>
          <a:ln w="12700">
            <a:solidFill>
              <a:srgbClr val="16243F"/>
            </a:solidFill>
            <a:prstDash val="solid"/>
          </a:ln>
        </p:spPr>
      </p:sp>
      <p:sp>
        <p:nvSpPr>
          <p:cNvPr id="14" name="Text 12"/>
          <p:cNvSpPr/>
          <p:nvPr/>
        </p:nvSpPr>
        <p:spPr>
          <a:xfrm>
            <a:off x="548640" y="3154680"/>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5" name="Text 13"/>
          <p:cNvSpPr/>
          <p:nvPr/>
        </p:nvSpPr>
        <p:spPr>
          <a:xfrm>
            <a:off x="859536" y="3081528"/>
            <a:ext cx="3694176" cy="384048"/>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Ok. 30–50%</a:t>
            </a:r>
            <a:endParaRPr lang="en-US" sz="1200" dirty="0"/>
          </a:p>
        </p:txBody>
      </p:sp>
      <p:sp>
        <p:nvSpPr>
          <p:cNvPr id="16" name="Shape 14"/>
          <p:cNvSpPr/>
          <p:nvPr/>
        </p:nvSpPr>
        <p:spPr>
          <a:xfrm>
            <a:off x="457200" y="3557016"/>
            <a:ext cx="4206240" cy="384048"/>
          </a:xfrm>
          <a:prstGeom prst="roundRect">
            <a:avLst>
              <a:gd name="adj" fmla="val 14286"/>
            </a:avLst>
          </a:prstGeom>
          <a:solidFill>
            <a:srgbClr val="FFFFFF"/>
          </a:solidFill>
          <a:ln w="12700">
            <a:solidFill>
              <a:srgbClr val="E1E4EA"/>
            </a:solidFill>
            <a:prstDash val="solid"/>
          </a:ln>
        </p:spPr>
      </p:sp>
      <p:sp>
        <p:nvSpPr>
          <p:cNvPr id="17" name="Shape 15"/>
          <p:cNvSpPr/>
          <p:nvPr/>
        </p:nvSpPr>
        <p:spPr>
          <a:xfrm>
            <a:off x="548640" y="3630168"/>
            <a:ext cx="237744" cy="237744"/>
          </a:xfrm>
          <a:prstGeom prst="ellipse">
            <a:avLst/>
          </a:prstGeom>
          <a:solidFill>
            <a:srgbClr val="EDF1F7"/>
          </a:solidFill>
          <a:ln w="12700">
            <a:solidFill>
              <a:srgbClr val="16243F"/>
            </a:solidFill>
            <a:prstDash val="solid"/>
          </a:ln>
        </p:spPr>
      </p:sp>
      <p:sp>
        <p:nvSpPr>
          <p:cNvPr id="18" name="Text 16"/>
          <p:cNvSpPr/>
          <p:nvPr/>
        </p:nvSpPr>
        <p:spPr>
          <a:xfrm>
            <a:off x="548640" y="3630168"/>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C</a:t>
            </a:r>
            <a:endParaRPr lang="en-US" sz="1000" dirty="0"/>
          </a:p>
        </p:txBody>
      </p:sp>
      <p:sp>
        <p:nvSpPr>
          <p:cNvPr id="19" name="Text 17"/>
          <p:cNvSpPr/>
          <p:nvPr/>
        </p:nvSpPr>
        <p:spPr>
          <a:xfrm>
            <a:off x="859536" y="3557016"/>
            <a:ext cx="3694176" cy="384048"/>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Bliskie 90% (opis pasuje do inżyniera)</a:t>
            </a:r>
            <a:endParaRPr lang="en-US" sz="1200" dirty="0"/>
          </a:p>
        </p:txBody>
      </p:sp>
      <p:sp>
        <p:nvSpPr>
          <p:cNvPr id="22" name="Shape 20"/>
          <p:cNvSpPr/>
          <p:nvPr/>
        </p:nvSpPr>
        <p:spPr>
          <a:xfrm>
            <a:off x="7406640" y="4041648"/>
            <a:ext cx="1280160" cy="914400"/>
          </a:xfrm>
          <a:prstGeom prst="roundRect">
            <a:avLst>
              <a:gd name="adj" fmla="val 6000"/>
            </a:avLst>
          </a:prstGeom>
          <a:solidFill>
            <a:srgbClr val="EDF1F7"/>
          </a:solidFill>
          <a:ln w="12700">
            <a:solidFill>
              <a:srgbClr val="E1E4EA"/>
            </a:solidFill>
            <a:prstDash val="solid"/>
          </a:ln>
        </p:spPr>
      </p:sp>
      <p:sp>
        <p:nvSpPr>
          <p:cNvPr id="23" name="Shape 21"/>
          <p:cNvSpPr/>
          <p:nvPr/>
        </p:nvSpPr>
        <p:spPr>
          <a:xfrm>
            <a:off x="7516368" y="4133088"/>
            <a:ext cx="365760" cy="365760"/>
          </a:xfrm>
          <a:prstGeom prst="rect">
            <a:avLst/>
          </a:prstGeom>
          <a:solidFill>
            <a:srgbClr val="FFFFFF"/>
          </a:solidFill>
          <a:ln w="19050">
            <a:solidFill>
              <a:srgbClr val="16243F"/>
            </a:solidFill>
            <a:prstDash val="solid"/>
          </a:ln>
        </p:spPr>
      </p:sp>
      <p:sp>
        <p:nvSpPr>
          <p:cNvPr id="24" name="Shape 22"/>
          <p:cNvSpPr/>
          <p:nvPr/>
        </p:nvSpPr>
        <p:spPr>
          <a:xfrm>
            <a:off x="7543800" y="4160520"/>
            <a:ext cx="82296" cy="82296"/>
          </a:xfrm>
          <a:prstGeom prst="rect">
            <a:avLst/>
          </a:prstGeom>
          <a:solidFill>
            <a:srgbClr val="16243F"/>
          </a:solidFill>
          <a:ln w="12700">
            <a:solidFill>
              <a:srgbClr val="16243F"/>
            </a:solidFill>
            <a:prstDash val="solid"/>
          </a:ln>
        </p:spPr>
      </p:sp>
      <p:sp>
        <p:nvSpPr>
          <p:cNvPr id="25" name="Shape 23"/>
          <p:cNvSpPr/>
          <p:nvPr/>
        </p:nvSpPr>
        <p:spPr>
          <a:xfrm>
            <a:off x="7543800" y="4361688"/>
            <a:ext cx="82296" cy="82296"/>
          </a:xfrm>
          <a:prstGeom prst="rect">
            <a:avLst/>
          </a:prstGeom>
          <a:solidFill>
            <a:srgbClr val="16243F"/>
          </a:solidFill>
          <a:ln w="12700">
            <a:solidFill>
              <a:srgbClr val="16243F"/>
            </a:solidFill>
            <a:prstDash val="solid"/>
          </a:ln>
        </p:spPr>
      </p:sp>
      <p:sp>
        <p:nvSpPr>
          <p:cNvPr id="26" name="Shape 24"/>
          <p:cNvSpPr/>
          <p:nvPr/>
        </p:nvSpPr>
        <p:spPr>
          <a:xfrm>
            <a:off x="7644384" y="4261104"/>
            <a:ext cx="82296" cy="82296"/>
          </a:xfrm>
          <a:prstGeom prst="rect">
            <a:avLst/>
          </a:prstGeom>
          <a:solidFill>
            <a:srgbClr val="16243F"/>
          </a:solidFill>
          <a:ln w="12700">
            <a:solidFill>
              <a:srgbClr val="16243F"/>
            </a:solidFill>
            <a:prstDash val="solid"/>
          </a:ln>
        </p:spPr>
      </p:sp>
      <p:sp>
        <p:nvSpPr>
          <p:cNvPr id="27" name="Shape 25"/>
          <p:cNvSpPr/>
          <p:nvPr/>
        </p:nvSpPr>
        <p:spPr>
          <a:xfrm>
            <a:off x="7744968" y="4160520"/>
            <a:ext cx="82296" cy="82296"/>
          </a:xfrm>
          <a:prstGeom prst="rect">
            <a:avLst/>
          </a:prstGeom>
          <a:solidFill>
            <a:srgbClr val="16243F"/>
          </a:solidFill>
          <a:ln w="12700">
            <a:solidFill>
              <a:srgbClr val="16243F"/>
            </a:solidFill>
            <a:prstDash val="solid"/>
          </a:ln>
        </p:spPr>
      </p:sp>
      <p:sp>
        <p:nvSpPr>
          <p:cNvPr id="28" name="Shape 26"/>
          <p:cNvSpPr/>
          <p:nvPr/>
        </p:nvSpPr>
        <p:spPr>
          <a:xfrm>
            <a:off x="7744968" y="4361688"/>
            <a:ext cx="82296" cy="82296"/>
          </a:xfrm>
          <a:prstGeom prst="rect">
            <a:avLst/>
          </a:prstGeom>
          <a:solidFill>
            <a:srgbClr val="16243F"/>
          </a:solidFill>
          <a:ln w="12700">
            <a:solidFill>
              <a:srgbClr val="16243F"/>
            </a:solidFill>
            <a:prstDash val="solid"/>
          </a:ln>
        </p:spPr>
      </p:sp>
      <p:sp>
        <p:nvSpPr>
          <p:cNvPr id="29" name="Text 27"/>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30" name="Text 28"/>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36" name="Grupa 35"/>
          <p:cNvGrpSpPr/>
          <p:nvPr/>
        </p:nvGrpSpPr>
        <p:grpSpPr>
          <a:xfrm>
            <a:off x="4855464" y="2325370"/>
            <a:ext cx="3831336" cy="1629918"/>
            <a:chOff x="4855464" y="2084832"/>
            <a:chExt cx="3831336" cy="1629918"/>
          </a:xfrm>
        </p:grpSpPr>
        <p:sp>
          <p:nvSpPr>
            <p:cNvPr id="31" name="Shape 29"/>
            <p:cNvSpPr/>
            <p:nvPr/>
          </p:nvSpPr>
          <p:spPr>
            <a:xfrm>
              <a:off x="4855464" y="2084832"/>
              <a:ext cx="3831336" cy="1629918"/>
            </a:xfrm>
            <a:prstGeom prst="roundRect">
              <a:avLst>
                <a:gd name="adj" fmla="val 4286"/>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32" name="Text 30"/>
            <p:cNvSpPr/>
            <p:nvPr/>
          </p:nvSpPr>
          <p:spPr>
            <a:xfrm>
              <a:off x="4970018" y="2138172"/>
              <a:ext cx="3502152" cy="237744"/>
            </a:xfrm>
            <a:prstGeom prst="rect">
              <a:avLst/>
            </a:prstGeom>
            <a:noFill/>
            <a:ln/>
          </p:spPr>
          <p:txBody>
            <a:bodyPr wrap="square" lIns="0" tIns="0" rIns="0" bIns="0" rtlCol="0" anchor="ctr"/>
            <a:lstStyle/>
            <a:p>
              <a:pPr marL="0" indent="0">
                <a:buNone/>
              </a:pPr>
              <a:r>
                <a:rPr lang="pl-PL" sz="1200" b="1" dirty="0" smtClean="0">
                  <a:solidFill>
                    <a:srgbClr val="0F6E6E"/>
                  </a:solidFill>
                  <a:latin typeface="Calibri" pitchFamily="34" charset="0"/>
                  <a:ea typeface="Calibri" pitchFamily="34" charset="-122"/>
                  <a:cs typeface="Calibri" pitchFamily="34" charset="-120"/>
                </a:rPr>
                <a:t>PO ZAMKNIĘCIU GŁOSOWANIA</a:t>
              </a:r>
              <a:endParaRPr lang="pl-PL" sz="1200" dirty="0"/>
            </a:p>
          </p:txBody>
        </p:sp>
        <p:sp>
          <p:nvSpPr>
            <p:cNvPr id="33" name="Text 31"/>
            <p:cNvSpPr/>
            <p:nvPr/>
          </p:nvSpPr>
          <p:spPr>
            <a:xfrm>
              <a:off x="4965192" y="2393442"/>
              <a:ext cx="3626358" cy="1232408"/>
            </a:xfrm>
            <a:prstGeom prst="rect">
              <a:avLst/>
            </a:prstGeom>
            <a:noFill/>
            <a:ln/>
          </p:spPr>
          <p:txBody>
            <a:bodyPr wrap="square" lIns="0" tIns="0" rIns="0" bIns="0" rtlCol="0" anchor="t"/>
            <a:lstStyle/>
            <a:p>
              <a:pPr marL="0" indent="0">
                <a:buNone/>
              </a:pPr>
              <a:r>
                <a:rPr lang="pl-PL" sz="1200" dirty="0" smtClean="0">
                  <a:solidFill>
                    <a:srgbClr val="16243F"/>
                  </a:solidFill>
                  <a:latin typeface="Calibri" pitchFamily="34" charset="0"/>
                  <a:ea typeface="Calibri" pitchFamily="34" charset="-122"/>
                  <a:cs typeface="Calibri" pitchFamily="34" charset="-120"/>
                </a:rPr>
                <a:t>Poprawna odpowiedź uwzględnia częstość bazową: bez dodatkowej, diagnostycznej informacji rozsądny szacunek pozostaje bliski 5%.</a:t>
              </a:r>
              <a:endParaRPr lang="pl-PL" sz="1200" dirty="0" smtClean="0"/>
            </a:p>
            <a:p>
              <a:pPr marL="0" indent="0">
                <a:buNone/>
              </a:pPr>
              <a:endParaRPr lang="pl-PL" sz="600" dirty="0" smtClean="0"/>
            </a:p>
            <a:p>
              <a:pPr marL="0" indent="0">
                <a:buNone/>
              </a:pPr>
              <a:r>
                <a:rPr lang="pl-PL" sz="1200" dirty="0" err="1" smtClean="0">
                  <a:solidFill>
                    <a:srgbClr val="16243F"/>
                  </a:solidFill>
                  <a:latin typeface="Calibri" pitchFamily="34" charset="0"/>
                  <a:ea typeface="Calibri" pitchFamily="34" charset="-122"/>
                  <a:cs typeface="Calibri" pitchFamily="34" charset="-120"/>
                </a:rPr>
                <a:t>Kahneman</a:t>
              </a:r>
              <a:r>
                <a:rPr lang="pl-PL" sz="1200" dirty="0" smtClean="0">
                  <a:solidFill>
                    <a:srgbClr val="16243F"/>
                  </a:solidFill>
                  <a:latin typeface="Calibri" pitchFamily="34" charset="0"/>
                  <a:ea typeface="Calibri" pitchFamily="34" charset="-122"/>
                  <a:cs typeface="Calibri" pitchFamily="34" charset="-120"/>
                </a:rPr>
                <a:t> i </a:t>
              </a:r>
              <a:r>
                <a:rPr lang="pl-PL" sz="1200" dirty="0" err="1" smtClean="0">
                  <a:solidFill>
                    <a:srgbClr val="16243F"/>
                  </a:solidFill>
                  <a:latin typeface="Calibri" pitchFamily="34" charset="0"/>
                  <a:ea typeface="Calibri" pitchFamily="34" charset="-122"/>
                  <a:cs typeface="Calibri" pitchFamily="34" charset="-120"/>
                </a:rPr>
                <a:t>Tversky</a:t>
              </a:r>
              <a:r>
                <a:rPr lang="pl-PL" sz="1200" dirty="0" smtClean="0">
                  <a:solidFill>
                    <a:srgbClr val="16243F"/>
                  </a:solidFill>
                  <a:latin typeface="Calibri" pitchFamily="34" charset="0"/>
                  <a:ea typeface="Calibri" pitchFamily="34" charset="-122"/>
                  <a:cs typeface="Calibri" pitchFamily="34" charset="-120"/>
                </a:rPr>
                <a:t> (1973) wykazali, że badani niemal całkowicie ignorują częstość bazową, opierając ocenę wyłącznie na podobieństwie opisu do stereotypu zawodu.</a:t>
              </a:r>
              <a:endParaRPr lang="pl-PL" sz="1200" dirty="0"/>
            </a:p>
          </p:txBody>
        </p:sp>
      </p:grpSp>
      <p:sp>
        <p:nvSpPr>
          <p:cNvPr id="34" name="Text 32"/>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16/40   ·   Blok II</a:t>
            </a:r>
            <a:endParaRPr lang="en-US" sz="800" dirty="0"/>
          </a:p>
        </p:txBody>
      </p:sp>
      <p:sp>
        <p:nvSpPr>
          <p:cNvPr id="37" name="Shape 13"/>
          <p:cNvSpPr/>
          <p:nvPr/>
        </p:nvSpPr>
        <p:spPr>
          <a:xfrm>
            <a:off x="4855464" y="2086678"/>
            <a:ext cx="3831336" cy="183828"/>
          </a:xfrm>
          <a:prstGeom prst="roundRect">
            <a:avLst>
              <a:gd name="adj" fmla="val 17647"/>
            </a:avLst>
          </a:prstGeom>
          <a:solidFill>
            <a:srgbClr val="C07A35"/>
          </a:solidFill>
          <a:ln w="12700">
            <a:solidFill>
              <a:srgbClr val="C07A35"/>
            </a:solidFill>
            <a:prstDash val="solid"/>
          </a:ln>
        </p:spPr>
        <p:txBody>
          <a:bodyPr anchor="ctr"/>
          <a:lstStyle/>
          <a:p>
            <a:pPr algn="ctr"/>
            <a:r>
              <a:rPr lang="en-US" sz="900" b="1" dirty="0">
                <a:solidFill>
                  <a:srgbClr val="FFFFFF"/>
                </a:solidFill>
                <a:latin typeface="Calibri" pitchFamily="34" charset="0"/>
                <a:ea typeface="Calibri" pitchFamily="34" charset="-122"/>
                <a:cs typeface="Calibri" pitchFamily="34" charset="-120"/>
              </a:rPr>
              <a:t>ZAGŁOSUJ PRZED UJAWNIENIEM </a:t>
            </a:r>
            <a:r>
              <a:rPr lang="en-US" sz="900" b="1" dirty="0" smtClean="0">
                <a:solidFill>
                  <a:srgbClr val="FFFFFF"/>
                </a:solidFill>
                <a:latin typeface="Calibri" pitchFamily="34" charset="0"/>
                <a:ea typeface="Calibri" pitchFamily="34" charset="-122"/>
                <a:cs typeface="Calibri" pitchFamily="34" charset="-120"/>
              </a:rPr>
              <a:t>ROZWIĄZANIA</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anim calcmode="lin" valueType="num">
                                      <p:cBhvr>
                                        <p:cTn id="8" dur="500" fill="hold"/>
                                        <p:tgtEl>
                                          <p:spTgt spid="37"/>
                                        </p:tgtEl>
                                        <p:attrNameLst>
                                          <p:attrName>ppt_x</p:attrName>
                                        </p:attrNameLst>
                                      </p:cBhvr>
                                      <p:tavLst>
                                        <p:tav tm="0">
                                          <p:val>
                                            <p:strVal val="#ppt_x"/>
                                          </p:val>
                                        </p:tav>
                                        <p:tav tm="100000">
                                          <p:val>
                                            <p:strVal val="#ppt_x"/>
                                          </p:val>
                                        </p:tav>
                                      </p:tavLst>
                                    </p:anim>
                                    <p:anim calcmode="lin" valueType="num">
                                      <p:cBhvr>
                                        <p:cTn id="9" dur="5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fade">
                                      <p:cBhvr>
                                        <p:cTn id="14" dur="500"/>
                                        <p:tgtEl>
                                          <p:spTgt spid="36"/>
                                        </p:tgtEl>
                                      </p:cBhvr>
                                    </p:animEffect>
                                    <p:anim calcmode="lin" valueType="num">
                                      <p:cBhvr>
                                        <p:cTn id="15" dur="500" fill="hold"/>
                                        <p:tgtEl>
                                          <p:spTgt spid="36"/>
                                        </p:tgtEl>
                                        <p:attrNameLst>
                                          <p:attrName>ppt_x</p:attrName>
                                        </p:attrNameLst>
                                      </p:cBhvr>
                                      <p:tavLst>
                                        <p:tav tm="0">
                                          <p:val>
                                            <p:strVal val="#ppt_x"/>
                                          </p:val>
                                        </p:tav>
                                        <p:tav tm="100000">
                                          <p:val>
                                            <p:strVal val="#ppt_x"/>
                                          </p:val>
                                        </p:tav>
                                      </p:tavLst>
                                    </p:anim>
                                    <p:anim calcmode="lin" valueType="num">
                                      <p:cBhvr>
                                        <p:cTn id="16" dur="5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0F6E6E"/>
          </a:solidFill>
          <a:ln w="12700">
            <a:solidFill>
              <a:srgbClr val="0F6E6E"/>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II · KONIUNKCJA I BAYES</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Paradoks testu medycznego</a:t>
            </a:r>
            <a:endParaRPr lang="en-US" sz="2400" dirty="0"/>
          </a:p>
        </p:txBody>
      </p:sp>
      <p:sp>
        <p:nvSpPr>
          <p:cNvPr id="5" name="Text 3"/>
          <p:cNvSpPr/>
          <p:nvPr/>
        </p:nvSpPr>
        <p:spPr>
          <a:xfrm>
            <a:off x="457200" y="1371600"/>
            <a:ext cx="5632450" cy="356616"/>
          </a:xfrm>
          <a:prstGeom prst="rect">
            <a:avLst/>
          </a:prstGeom>
          <a:noFill/>
          <a:ln/>
        </p:spPr>
        <p:txBody>
          <a:bodyPr wrap="square" lIns="0" tIns="0" rIns="0" bIns="0" rtlCol="0" anchor="ctr"/>
          <a:lstStyle/>
          <a:p>
            <a:r>
              <a:rPr lang="pl-PL" sz="1400" dirty="0">
                <a:solidFill>
                  <a:srgbClr val="2B2D33"/>
                </a:solidFill>
                <a:latin typeface="Calibri" pitchFamily="34" charset="0"/>
                <a:ea typeface="Calibri" pitchFamily="34" charset="-122"/>
                <a:cs typeface="Calibri" pitchFamily="34" charset="-120"/>
              </a:rPr>
              <a:t>Częstość choroby w populacji: 1%. Czułość testu: 95%. Swoistość testu: 95%. </a:t>
            </a:r>
          </a:p>
          <a:p>
            <a:pPr marL="0" indent="0">
              <a:buNone/>
            </a:pPr>
            <a:r>
              <a:rPr lang="pl-PL" sz="1400" dirty="0" smtClean="0">
                <a:solidFill>
                  <a:srgbClr val="2B2D33"/>
                </a:solidFill>
                <a:latin typeface="Calibri" pitchFamily="34" charset="0"/>
                <a:ea typeface="Calibri" pitchFamily="34" charset="-122"/>
                <a:cs typeface="Calibri" pitchFamily="34" charset="-120"/>
              </a:rPr>
              <a:t>Osoba losowo przebadana otrzymuje wynik dodatni.</a:t>
            </a:r>
            <a:endParaRPr lang="pl-PL" sz="1400" dirty="0"/>
          </a:p>
        </p:txBody>
      </p:sp>
      <p:sp>
        <p:nvSpPr>
          <p:cNvPr id="6" name="Shape 4"/>
          <p:cNvSpPr/>
          <p:nvPr/>
        </p:nvSpPr>
        <p:spPr>
          <a:xfrm>
            <a:off x="457200" y="1965960"/>
            <a:ext cx="4432300" cy="301752"/>
          </a:xfrm>
          <a:prstGeom prst="roundRect">
            <a:avLst>
              <a:gd name="adj" fmla="val 14286"/>
            </a:avLst>
          </a:prstGeom>
          <a:solidFill>
            <a:srgbClr val="EDF1F7"/>
          </a:solidFill>
          <a:ln w="12700">
            <a:solidFill>
              <a:srgbClr val="E1E4EA"/>
            </a:solidFill>
            <a:prstDash val="solid"/>
          </a:ln>
        </p:spPr>
        <p:txBody>
          <a:bodyPr anchor="ctr"/>
          <a:lstStyle/>
          <a:p>
            <a:r>
              <a:rPr lang="pl-PL" sz="1200" b="1" spc="-20" dirty="0">
                <a:solidFill>
                  <a:srgbClr val="16243F"/>
                </a:solidFill>
                <a:latin typeface="Calibri" pitchFamily="34" charset="0"/>
                <a:ea typeface="Calibri" pitchFamily="34" charset="-122"/>
                <a:cs typeface="Calibri" pitchFamily="34" charset="-120"/>
              </a:rPr>
              <a:t>Jakie jest prawdopodobieństwo, że ta osoba rzeczywiście jest chora?</a:t>
            </a:r>
            <a:endParaRPr lang="pl-PL" sz="1200" b="1" spc="-20" dirty="0"/>
          </a:p>
        </p:txBody>
      </p:sp>
      <p:sp>
        <p:nvSpPr>
          <p:cNvPr id="8" name="Shape 6"/>
          <p:cNvSpPr/>
          <p:nvPr/>
        </p:nvSpPr>
        <p:spPr>
          <a:xfrm>
            <a:off x="457200" y="2377440"/>
            <a:ext cx="4432300" cy="329184"/>
          </a:xfrm>
          <a:prstGeom prst="roundRect">
            <a:avLst>
              <a:gd name="adj" fmla="val 16667"/>
            </a:avLst>
          </a:prstGeom>
          <a:solidFill>
            <a:srgbClr val="FFFFFF"/>
          </a:solidFill>
          <a:ln w="12700">
            <a:solidFill>
              <a:srgbClr val="E1E4EA"/>
            </a:solidFill>
            <a:prstDash val="solid"/>
          </a:ln>
        </p:spPr>
      </p:sp>
      <p:sp>
        <p:nvSpPr>
          <p:cNvPr id="9" name="Shape 7"/>
          <p:cNvSpPr/>
          <p:nvPr/>
        </p:nvSpPr>
        <p:spPr>
          <a:xfrm>
            <a:off x="548640" y="2423160"/>
            <a:ext cx="237744" cy="237744"/>
          </a:xfrm>
          <a:prstGeom prst="ellipse">
            <a:avLst/>
          </a:prstGeom>
          <a:solidFill>
            <a:srgbClr val="EDF1F7"/>
          </a:solidFill>
          <a:ln w="12700">
            <a:solidFill>
              <a:srgbClr val="16243F"/>
            </a:solidFill>
            <a:prstDash val="solid"/>
          </a:ln>
        </p:spPr>
      </p:sp>
      <p:sp>
        <p:nvSpPr>
          <p:cNvPr id="10" name="Text 8"/>
          <p:cNvSpPr/>
          <p:nvPr/>
        </p:nvSpPr>
        <p:spPr>
          <a:xfrm>
            <a:off x="548640" y="2423160"/>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1" name="Text 9"/>
          <p:cNvSpPr/>
          <p:nvPr/>
        </p:nvSpPr>
        <p:spPr>
          <a:xfrm>
            <a:off x="859536" y="2377440"/>
            <a:ext cx="3694176" cy="329184"/>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Około 95%</a:t>
            </a:r>
            <a:endParaRPr lang="en-US" sz="1200" dirty="0"/>
          </a:p>
        </p:txBody>
      </p:sp>
      <p:sp>
        <p:nvSpPr>
          <p:cNvPr id="12" name="Shape 10"/>
          <p:cNvSpPr/>
          <p:nvPr/>
        </p:nvSpPr>
        <p:spPr>
          <a:xfrm>
            <a:off x="457200" y="2798064"/>
            <a:ext cx="4432300" cy="329184"/>
          </a:xfrm>
          <a:prstGeom prst="roundRect">
            <a:avLst>
              <a:gd name="adj" fmla="val 16667"/>
            </a:avLst>
          </a:prstGeom>
          <a:solidFill>
            <a:srgbClr val="FFFFFF"/>
          </a:solidFill>
          <a:ln w="12700">
            <a:solidFill>
              <a:srgbClr val="E1E4EA"/>
            </a:solidFill>
            <a:prstDash val="solid"/>
          </a:ln>
        </p:spPr>
      </p:sp>
      <p:sp>
        <p:nvSpPr>
          <p:cNvPr id="13" name="Shape 11"/>
          <p:cNvSpPr/>
          <p:nvPr/>
        </p:nvSpPr>
        <p:spPr>
          <a:xfrm>
            <a:off x="548640" y="2843784"/>
            <a:ext cx="237744" cy="237744"/>
          </a:xfrm>
          <a:prstGeom prst="ellipse">
            <a:avLst/>
          </a:prstGeom>
          <a:solidFill>
            <a:srgbClr val="EDF1F7"/>
          </a:solidFill>
          <a:ln w="12700">
            <a:solidFill>
              <a:srgbClr val="16243F"/>
            </a:solidFill>
            <a:prstDash val="solid"/>
          </a:ln>
        </p:spPr>
      </p:sp>
      <p:sp>
        <p:nvSpPr>
          <p:cNvPr id="14" name="Text 12"/>
          <p:cNvSpPr/>
          <p:nvPr/>
        </p:nvSpPr>
        <p:spPr>
          <a:xfrm>
            <a:off x="548640" y="2843784"/>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5" name="Text 13"/>
          <p:cNvSpPr/>
          <p:nvPr/>
        </p:nvSpPr>
        <p:spPr>
          <a:xfrm>
            <a:off x="859536" y="2798064"/>
            <a:ext cx="3694176" cy="329184"/>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Około 75%</a:t>
            </a:r>
            <a:endParaRPr lang="en-US" sz="1200" dirty="0"/>
          </a:p>
        </p:txBody>
      </p:sp>
      <p:sp>
        <p:nvSpPr>
          <p:cNvPr id="16" name="Shape 14"/>
          <p:cNvSpPr/>
          <p:nvPr/>
        </p:nvSpPr>
        <p:spPr>
          <a:xfrm>
            <a:off x="457200" y="3218688"/>
            <a:ext cx="4432300" cy="329184"/>
          </a:xfrm>
          <a:prstGeom prst="roundRect">
            <a:avLst>
              <a:gd name="adj" fmla="val 16667"/>
            </a:avLst>
          </a:prstGeom>
          <a:solidFill>
            <a:srgbClr val="FFFFFF"/>
          </a:solidFill>
          <a:ln w="12700">
            <a:solidFill>
              <a:srgbClr val="E1E4EA"/>
            </a:solidFill>
            <a:prstDash val="solid"/>
          </a:ln>
        </p:spPr>
      </p:sp>
      <p:sp>
        <p:nvSpPr>
          <p:cNvPr id="17" name="Shape 15"/>
          <p:cNvSpPr/>
          <p:nvPr/>
        </p:nvSpPr>
        <p:spPr>
          <a:xfrm>
            <a:off x="548640" y="3264408"/>
            <a:ext cx="237744" cy="237744"/>
          </a:xfrm>
          <a:prstGeom prst="ellipse">
            <a:avLst/>
          </a:prstGeom>
          <a:solidFill>
            <a:srgbClr val="EDF1F7"/>
          </a:solidFill>
          <a:ln w="12700">
            <a:solidFill>
              <a:srgbClr val="16243F"/>
            </a:solidFill>
            <a:prstDash val="solid"/>
          </a:ln>
        </p:spPr>
      </p:sp>
      <p:sp>
        <p:nvSpPr>
          <p:cNvPr id="18" name="Text 16"/>
          <p:cNvSpPr/>
          <p:nvPr/>
        </p:nvSpPr>
        <p:spPr>
          <a:xfrm>
            <a:off x="548640" y="3264408"/>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C</a:t>
            </a:r>
            <a:endParaRPr lang="en-US" sz="1000" dirty="0"/>
          </a:p>
        </p:txBody>
      </p:sp>
      <p:sp>
        <p:nvSpPr>
          <p:cNvPr id="19" name="Text 17"/>
          <p:cNvSpPr/>
          <p:nvPr/>
        </p:nvSpPr>
        <p:spPr>
          <a:xfrm>
            <a:off x="859536" y="3218688"/>
            <a:ext cx="3694176" cy="329184"/>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Około 50%</a:t>
            </a:r>
            <a:endParaRPr lang="en-US" sz="1200" dirty="0"/>
          </a:p>
        </p:txBody>
      </p:sp>
      <p:sp>
        <p:nvSpPr>
          <p:cNvPr id="20" name="Shape 18"/>
          <p:cNvSpPr/>
          <p:nvPr/>
        </p:nvSpPr>
        <p:spPr>
          <a:xfrm>
            <a:off x="457200" y="3639312"/>
            <a:ext cx="4432300" cy="329184"/>
          </a:xfrm>
          <a:prstGeom prst="roundRect">
            <a:avLst>
              <a:gd name="adj" fmla="val 16667"/>
            </a:avLst>
          </a:prstGeom>
          <a:solidFill>
            <a:srgbClr val="FFFFFF"/>
          </a:solidFill>
          <a:ln w="12700">
            <a:solidFill>
              <a:srgbClr val="E1E4EA"/>
            </a:solidFill>
            <a:prstDash val="solid"/>
          </a:ln>
        </p:spPr>
      </p:sp>
      <p:sp>
        <p:nvSpPr>
          <p:cNvPr id="21" name="Shape 19"/>
          <p:cNvSpPr/>
          <p:nvPr/>
        </p:nvSpPr>
        <p:spPr>
          <a:xfrm>
            <a:off x="548640" y="3685032"/>
            <a:ext cx="237744" cy="237744"/>
          </a:xfrm>
          <a:prstGeom prst="ellipse">
            <a:avLst/>
          </a:prstGeom>
          <a:solidFill>
            <a:srgbClr val="EDF1F7"/>
          </a:solidFill>
          <a:ln w="12700">
            <a:solidFill>
              <a:srgbClr val="16243F"/>
            </a:solidFill>
            <a:prstDash val="solid"/>
          </a:ln>
        </p:spPr>
      </p:sp>
      <p:sp>
        <p:nvSpPr>
          <p:cNvPr id="22" name="Text 20"/>
          <p:cNvSpPr/>
          <p:nvPr/>
        </p:nvSpPr>
        <p:spPr>
          <a:xfrm>
            <a:off x="548640" y="3685032"/>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D</a:t>
            </a:r>
            <a:endParaRPr lang="en-US" sz="1000" dirty="0"/>
          </a:p>
        </p:txBody>
      </p:sp>
      <p:sp>
        <p:nvSpPr>
          <p:cNvPr id="23" name="Text 21"/>
          <p:cNvSpPr/>
          <p:nvPr/>
        </p:nvSpPr>
        <p:spPr>
          <a:xfrm>
            <a:off x="859536" y="3639312"/>
            <a:ext cx="3694176" cy="329184"/>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Około 16%</a:t>
            </a:r>
            <a:endParaRPr lang="en-US" sz="1200" dirty="0"/>
          </a:p>
        </p:txBody>
      </p:sp>
      <p:sp>
        <p:nvSpPr>
          <p:cNvPr id="26" name="Shape 24"/>
          <p:cNvSpPr/>
          <p:nvPr/>
        </p:nvSpPr>
        <p:spPr>
          <a:xfrm>
            <a:off x="7406640" y="4041648"/>
            <a:ext cx="1280160" cy="749808"/>
          </a:xfrm>
          <a:prstGeom prst="roundRect">
            <a:avLst>
              <a:gd name="adj" fmla="val 6000"/>
            </a:avLst>
          </a:prstGeom>
          <a:solidFill>
            <a:srgbClr val="EDF1F7"/>
          </a:solidFill>
          <a:ln w="12700">
            <a:solidFill>
              <a:srgbClr val="E1E4EA"/>
            </a:solidFill>
            <a:prstDash val="solid"/>
          </a:ln>
        </p:spPr>
      </p:sp>
      <p:sp>
        <p:nvSpPr>
          <p:cNvPr id="27" name="Shape 25"/>
          <p:cNvSpPr/>
          <p:nvPr/>
        </p:nvSpPr>
        <p:spPr>
          <a:xfrm>
            <a:off x="7516368" y="4133088"/>
            <a:ext cx="365760" cy="365760"/>
          </a:xfrm>
          <a:prstGeom prst="rect">
            <a:avLst/>
          </a:prstGeom>
          <a:solidFill>
            <a:srgbClr val="FFFFFF"/>
          </a:solidFill>
          <a:ln w="19050">
            <a:solidFill>
              <a:srgbClr val="16243F"/>
            </a:solidFill>
            <a:prstDash val="solid"/>
          </a:ln>
        </p:spPr>
      </p:sp>
      <p:sp>
        <p:nvSpPr>
          <p:cNvPr id="28" name="Shape 26"/>
          <p:cNvSpPr/>
          <p:nvPr/>
        </p:nvSpPr>
        <p:spPr>
          <a:xfrm>
            <a:off x="7543800" y="4160520"/>
            <a:ext cx="82296" cy="82296"/>
          </a:xfrm>
          <a:prstGeom prst="rect">
            <a:avLst/>
          </a:prstGeom>
          <a:solidFill>
            <a:srgbClr val="16243F"/>
          </a:solidFill>
          <a:ln w="12700">
            <a:solidFill>
              <a:srgbClr val="16243F"/>
            </a:solidFill>
            <a:prstDash val="solid"/>
          </a:ln>
        </p:spPr>
      </p:sp>
      <p:sp>
        <p:nvSpPr>
          <p:cNvPr id="29" name="Shape 27"/>
          <p:cNvSpPr/>
          <p:nvPr/>
        </p:nvSpPr>
        <p:spPr>
          <a:xfrm>
            <a:off x="7543800" y="4361688"/>
            <a:ext cx="82296" cy="82296"/>
          </a:xfrm>
          <a:prstGeom prst="rect">
            <a:avLst/>
          </a:prstGeom>
          <a:solidFill>
            <a:srgbClr val="16243F"/>
          </a:solidFill>
          <a:ln w="12700">
            <a:solidFill>
              <a:srgbClr val="16243F"/>
            </a:solidFill>
            <a:prstDash val="solid"/>
          </a:ln>
        </p:spPr>
      </p:sp>
      <p:sp>
        <p:nvSpPr>
          <p:cNvPr id="30" name="Shape 28"/>
          <p:cNvSpPr/>
          <p:nvPr/>
        </p:nvSpPr>
        <p:spPr>
          <a:xfrm>
            <a:off x="7644384" y="4261104"/>
            <a:ext cx="82296" cy="82296"/>
          </a:xfrm>
          <a:prstGeom prst="rect">
            <a:avLst/>
          </a:prstGeom>
          <a:solidFill>
            <a:srgbClr val="16243F"/>
          </a:solidFill>
          <a:ln w="12700">
            <a:solidFill>
              <a:srgbClr val="16243F"/>
            </a:solidFill>
            <a:prstDash val="solid"/>
          </a:ln>
        </p:spPr>
      </p:sp>
      <p:sp>
        <p:nvSpPr>
          <p:cNvPr id="31" name="Shape 29"/>
          <p:cNvSpPr/>
          <p:nvPr/>
        </p:nvSpPr>
        <p:spPr>
          <a:xfrm>
            <a:off x="7744968" y="4160520"/>
            <a:ext cx="82296" cy="82296"/>
          </a:xfrm>
          <a:prstGeom prst="rect">
            <a:avLst/>
          </a:prstGeom>
          <a:solidFill>
            <a:srgbClr val="16243F"/>
          </a:solidFill>
          <a:ln w="12700">
            <a:solidFill>
              <a:srgbClr val="16243F"/>
            </a:solidFill>
            <a:prstDash val="solid"/>
          </a:ln>
        </p:spPr>
      </p:sp>
      <p:sp>
        <p:nvSpPr>
          <p:cNvPr id="32" name="Shape 30"/>
          <p:cNvSpPr/>
          <p:nvPr/>
        </p:nvSpPr>
        <p:spPr>
          <a:xfrm>
            <a:off x="7744968" y="4361688"/>
            <a:ext cx="82296" cy="82296"/>
          </a:xfrm>
          <a:prstGeom prst="rect">
            <a:avLst/>
          </a:prstGeom>
          <a:solidFill>
            <a:srgbClr val="16243F"/>
          </a:solidFill>
          <a:ln w="12700">
            <a:solidFill>
              <a:srgbClr val="16243F"/>
            </a:solidFill>
            <a:prstDash val="solid"/>
          </a:ln>
        </p:spPr>
      </p:sp>
      <p:sp>
        <p:nvSpPr>
          <p:cNvPr id="33" name="Text 31"/>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34" name="Text 32"/>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39" name="Grupa 38"/>
          <p:cNvGrpSpPr/>
          <p:nvPr/>
        </p:nvGrpSpPr>
        <p:grpSpPr>
          <a:xfrm>
            <a:off x="5065776" y="2174848"/>
            <a:ext cx="3621024" cy="1789076"/>
            <a:chOff x="5065776" y="1965960"/>
            <a:chExt cx="3621024" cy="1789076"/>
          </a:xfrm>
        </p:grpSpPr>
        <p:sp>
          <p:nvSpPr>
            <p:cNvPr id="35" name="Shape 33"/>
            <p:cNvSpPr/>
            <p:nvPr/>
          </p:nvSpPr>
          <p:spPr>
            <a:xfrm>
              <a:off x="5065776" y="1965960"/>
              <a:ext cx="3621024" cy="1789076"/>
            </a:xfrm>
            <a:prstGeom prst="roundRect">
              <a:avLst>
                <a:gd name="adj" fmla="val 3750"/>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36" name="Text 34"/>
            <p:cNvSpPr/>
            <p:nvPr/>
          </p:nvSpPr>
          <p:spPr>
            <a:xfrm>
              <a:off x="5173218" y="2057400"/>
              <a:ext cx="3426206"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mc:AlternateContent xmlns:mc="http://schemas.openxmlformats.org/markup-compatibility/2006">
          <mc:Choice xmlns:a14="http://schemas.microsoft.com/office/drawing/2010/main" Requires="a14">
            <p:sp>
              <p:nvSpPr>
                <p:cNvPr id="37" name="Text 35"/>
                <p:cNvSpPr/>
                <p:nvPr/>
              </p:nvSpPr>
              <p:spPr>
                <a:xfrm>
                  <a:off x="5173218" y="2301740"/>
                  <a:ext cx="3426206" cy="1423316"/>
                </a:xfrm>
                <a:prstGeom prst="rect">
                  <a:avLst/>
                </a:prstGeom>
                <a:noFill/>
                <a:ln/>
              </p:spPr>
              <p:txBody>
                <a:bodyPr wrap="square" lIns="0" tIns="0" rIns="0" bIns="0" rtlCol="0" anchor="t"/>
                <a:lstStyle/>
                <a:p>
                  <a:r>
                    <a:rPr lang="pl-PL" sz="1200" dirty="0" smtClean="0">
                      <a:solidFill>
                        <a:srgbClr val="16243F"/>
                      </a:solidFill>
                      <a:latin typeface="Calibri" pitchFamily="34" charset="0"/>
                      <a:ea typeface="Calibri" pitchFamily="34" charset="-122"/>
                      <a:cs typeface="Calibri" pitchFamily="34" charset="-120"/>
                    </a:rPr>
                    <a:t>Twierdzenie</a:t>
                  </a:r>
                  <a:r>
                    <a:rPr lang="en-US" sz="1200" dirty="0" smtClean="0">
                      <a:solidFill>
                        <a:srgbClr val="16243F"/>
                      </a:solidFill>
                      <a:latin typeface="Calibri" pitchFamily="34" charset="0"/>
                      <a:ea typeface="Calibri" pitchFamily="34" charset="-122"/>
                      <a:cs typeface="Calibri" pitchFamily="34" charset="-120"/>
                    </a:rPr>
                    <a:t> </a:t>
                  </a:r>
                  <a:r>
                    <a:rPr lang="en-US" sz="1200" dirty="0" err="1">
                      <a:solidFill>
                        <a:srgbClr val="16243F"/>
                      </a:solidFill>
                      <a:latin typeface="Calibri" pitchFamily="34" charset="0"/>
                      <a:ea typeface="Calibri" pitchFamily="34" charset="-122"/>
                      <a:cs typeface="Calibri" pitchFamily="34" charset="-120"/>
                    </a:rPr>
                    <a:t>Bayesa</a:t>
                  </a:r>
                  <a:r>
                    <a:rPr lang="en-US" sz="1200" dirty="0" smtClean="0">
                      <a:solidFill>
                        <a:srgbClr val="16243F"/>
                      </a:solidFill>
                      <a:latin typeface="Calibri" pitchFamily="34" charset="0"/>
                      <a:ea typeface="Calibri" pitchFamily="34" charset="-122"/>
                      <a:cs typeface="Calibri" pitchFamily="34" charset="-120"/>
                    </a:rPr>
                    <a:t>:</a:t>
                  </a:r>
                  <a:r>
                    <a:rPr lang="pl-PL" sz="1200" dirty="0" smtClean="0">
                      <a:solidFill>
                        <a:srgbClr val="16243F"/>
                      </a:solidFill>
                      <a:latin typeface="Calibri" pitchFamily="34" charset="0"/>
                      <a:ea typeface="Calibri" pitchFamily="34" charset="-122"/>
                      <a:cs typeface="Calibri" pitchFamily="34" charset="-120"/>
                    </a:rPr>
                    <a:t>    </a:t>
                  </a:r>
                  <a14:m>
                    <m:oMath xmlns:m="http://schemas.openxmlformats.org/officeDocument/2006/math">
                      <m:r>
                        <a:rPr lang="en-US" sz="1200" b="1" i="1" dirty="0" smtClean="0">
                          <a:solidFill>
                            <a:schemeClr val="tx2">
                              <a:lumMod val="50000"/>
                            </a:schemeClr>
                          </a:solidFill>
                          <a:latin typeface="Cambria Math" panose="02040503050406030204" pitchFamily="18" charset="0"/>
                          <a:ea typeface="Calibri" pitchFamily="34" charset="-122"/>
                          <a:cs typeface="Calibri" pitchFamily="34" charset="-120"/>
                        </a:rPr>
                        <m:t>𝑷</m:t>
                      </m:r>
                      <m:d>
                        <m:dPr>
                          <m:ctrlPr>
                            <a:rPr lang="en-US" sz="1200" b="1" i="1" dirty="0" smtClean="0">
                              <a:solidFill>
                                <a:schemeClr val="tx2">
                                  <a:lumMod val="50000"/>
                                </a:schemeClr>
                              </a:solidFill>
                              <a:latin typeface="Cambria Math" panose="02040503050406030204" pitchFamily="18" charset="0"/>
                              <a:ea typeface="Calibri" pitchFamily="34" charset="-122"/>
                              <a:cs typeface="Calibri" pitchFamily="34" charset="-120"/>
                            </a:rPr>
                          </m:ctrlPr>
                        </m:dPr>
                        <m:e>
                          <m:r>
                            <a:rPr lang="en-US" sz="1200" b="1" i="1" dirty="0" smtClean="0">
                              <a:solidFill>
                                <a:schemeClr val="tx2">
                                  <a:lumMod val="50000"/>
                                </a:schemeClr>
                              </a:solidFill>
                              <a:latin typeface="Cambria Math" panose="02040503050406030204" pitchFamily="18" charset="0"/>
                              <a:ea typeface="Calibri" pitchFamily="34" charset="-122"/>
                              <a:cs typeface="Calibri" pitchFamily="34" charset="-120"/>
                            </a:rPr>
                            <m:t>𝑫</m:t>
                          </m:r>
                        </m:e>
                        <m:e>
                          <m:r>
                            <a:rPr lang="en-US" sz="1200" b="1" i="1" dirty="0">
                              <a:solidFill>
                                <a:schemeClr val="tx2">
                                  <a:lumMod val="50000"/>
                                </a:schemeClr>
                              </a:solidFill>
                              <a:latin typeface="Cambria Math" panose="02040503050406030204" pitchFamily="18" charset="0"/>
                              <a:ea typeface="Calibri" pitchFamily="34" charset="-122"/>
                              <a:cs typeface="Calibri" pitchFamily="34" charset="-120"/>
                            </a:rPr>
                            <m:t>+</m:t>
                          </m:r>
                        </m:e>
                      </m:d>
                      <m:r>
                        <a:rPr lang="en-US" sz="1200" b="1" i="1" dirty="0">
                          <a:solidFill>
                            <a:schemeClr val="tx2">
                              <a:lumMod val="50000"/>
                            </a:schemeClr>
                          </a:solidFill>
                          <a:latin typeface="Cambria Math" panose="02040503050406030204" pitchFamily="18" charset="0"/>
                          <a:ea typeface="Calibri" pitchFamily="34" charset="-122"/>
                          <a:cs typeface="Calibri" pitchFamily="34" charset="-120"/>
                        </a:rPr>
                        <m:t>=</m:t>
                      </m:r>
                      <m:r>
                        <a:rPr lang="pl-PL" sz="1200" b="1" i="1" dirty="0" smtClean="0">
                          <a:solidFill>
                            <a:schemeClr val="tx2">
                              <a:lumMod val="50000"/>
                            </a:schemeClr>
                          </a:solidFill>
                          <a:latin typeface="Cambria Math" panose="02040503050406030204" pitchFamily="18" charset="0"/>
                          <a:ea typeface="Calibri" pitchFamily="34" charset="-122"/>
                          <a:cs typeface="Calibri" pitchFamily="34" charset="-120"/>
                        </a:rPr>
                        <m:t> </m:t>
                      </m:r>
                      <m:f>
                        <m:fPr>
                          <m:ctrlPr>
                            <a:rPr lang="en-US" sz="1200" b="1" i="1" dirty="0">
                              <a:solidFill>
                                <a:schemeClr val="tx2">
                                  <a:lumMod val="50000"/>
                                </a:schemeClr>
                              </a:solidFill>
                              <a:latin typeface="Cambria Math" panose="02040503050406030204" pitchFamily="18" charset="0"/>
                              <a:ea typeface="Calibri" pitchFamily="34" charset="-122"/>
                              <a:cs typeface="Calibri" pitchFamily="34" charset="-120"/>
                            </a:rPr>
                          </m:ctrlPr>
                        </m:fPr>
                        <m:num>
                          <m:r>
                            <a:rPr lang="pl-PL" sz="1200" b="1" i="1" dirty="0">
                              <a:solidFill>
                                <a:schemeClr val="tx2">
                                  <a:lumMod val="50000"/>
                                </a:schemeClr>
                              </a:solidFill>
                              <a:latin typeface="Cambria Math" panose="02040503050406030204" pitchFamily="18" charset="0"/>
                              <a:ea typeface="Calibri" pitchFamily="34" charset="-122"/>
                              <a:cs typeface="Calibri" pitchFamily="34" charset="-120"/>
                            </a:rPr>
                            <m:t>−</m:t>
                          </m:r>
                          <m:r>
                            <a:rPr lang="en-US" sz="1200" b="1" i="1" dirty="0">
                              <a:solidFill>
                                <a:schemeClr val="tx2">
                                  <a:lumMod val="50000"/>
                                </a:schemeClr>
                              </a:solidFill>
                              <a:latin typeface="Cambria Math" panose="02040503050406030204" pitchFamily="18" charset="0"/>
                              <a:ea typeface="Calibri" pitchFamily="34" charset="-122"/>
                              <a:cs typeface="Calibri" pitchFamily="34" charset="-120"/>
                            </a:rPr>
                            <m:t>𝑷</m:t>
                          </m:r>
                          <m:d>
                            <m:dPr>
                              <m:ctrlPr>
                                <a:rPr lang="en-US" sz="1200" b="1" i="1" dirty="0">
                                  <a:solidFill>
                                    <a:schemeClr val="tx2">
                                      <a:lumMod val="50000"/>
                                    </a:schemeClr>
                                  </a:solidFill>
                                  <a:latin typeface="Cambria Math" panose="02040503050406030204" pitchFamily="18" charset="0"/>
                                  <a:ea typeface="Calibri" pitchFamily="34" charset="-122"/>
                                  <a:cs typeface="Calibri" pitchFamily="34" charset="-120"/>
                                </a:rPr>
                              </m:ctrlPr>
                            </m:dPr>
                            <m:e>
                              <m:r>
                                <a:rPr lang="pl-PL" sz="1200" b="1" i="1" dirty="0">
                                  <a:solidFill>
                                    <a:schemeClr val="tx2">
                                      <a:lumMod val="50000"/>
                                    </a:schemeClr>
                                  </a:solidFill>
                                  <a:latin typeface="Cambria Math" panose="02040503050406030204" pitchFamily="18" charset="0"/>
                                  <a:ea typeface="Calibri" pitchFamily="34" charset="-122"/>
                                  <a:cs typeface="Calibri" pitchFamily="34" charset="-120"/>
                                </a:rPr>
                                <m:t>+|</m:t>
                              </m:r>
                              <m:r>
                                <a:rPr lang="pl-PL" sz="1200" b="1" i="1" dirty="0">
                                  <a:solidFill>
                                    <a:schemeClr val="tx2">
                                      <a:lumMod val="50000"/>
                                    </a:schemeClr>
                                  </a:solidFill>
                                  <a:latin typeface="Cambria Math" panose="02040503050406030204" pitchFamily="18" charset="0"/>
                                  <a:ea typeface="Calibri" pitchFamily="34" charset="-122"/>
                                  <a:cs typeface="Calibri" pitchFamily="34" charset="-120"/>
                                </a:rPr>
                                <m:t>𝑫</m:t>
                              </m:r>
                            </m:e>
                          </m:d>
                          <m:r>
                            <a:rPr lang="en-US" sz="1200" b="1" i="1" dirty="0">
                              <a:solidFill>
                                <a:schemeClr val="tx2">
                                  <a:lumMod val="50000"/>
                                </a:schemeClr>
                              </a:solidFill>
                              <a:latin typeface="Cambria Math" panose="02040503050406030204" pitchFamily="18" charset="0"/>
                              <a:ea typeface="Calibri" pitchFamily="34" charset="-122"/>
                              <a:cs typeface="Calibri" pitchFamily="34" charset="-120"/>
                            </a:rPr>
                            <m:t>·</m:t>
                          </m:r>
                          <m:r>
                            <a:rPr lang="en-US" sz="1200" b="1" i="1" dirty="0">
                              <a:solidFill>
                                <a:schemeClr val="tx2">
                                  <a:lumMod val="50000"/>
                                </a:schemeClr>
                              </a:solidFill>
                              <a:latin typeface="Cambria Math" panose="02040503050406030204" pitchFamily="18" charset="0"/>
                              <a:ea typeface="Calibri" pitchFamily="34" charset="-122"/>
                              <a:cs typeface="Calibri" pitchFamily="34" charset="-120"/>
                            </a:rPr>
                            <m:t>𝑷</m:t>
                          </m:r>
                          <m:d>
                            <m:dPr>
                              <m:ctrlPr>
                                <a:rPr lang="en-US" sz="1200" b="1" i="1" dirty="0">
                                  <a:solidFill>
                                    <a:schemeClr val="tx2">
                                      <a:lumMod val="50000"/>
                                    </a:schemeClr>
                                  </a:solidFill>
                                  <a:latin typeface="Cambria Math" panose="02040503050406030204" pitchFamily="18" charset="0"/>
                                  <a:ea typeface="Calibri" pitchFamily="34" charset="-122"/>
                                  <a:cs typeface="Calibri" pitchFamily="34" charset="-120"/>
                                </a:rPr>
                              </m:ctrlPr>
                            </m:dPr>
                            <m:e>
                              <m:r>
                                <a:rPr lang="en-US" sz="1200" b="1" i="1" dirty="0">
                                  <a:solidFill>
                                    <a:schemeClr val="tx2">
                                      <a:lumMod val="50000"/>
                                    </a:schemeClr>
                                  </a:solidFill>
                                  <a:latin typeface="Cambria Math" panose="02040503050406030204" pitchFamily="18" charset="0"/>
                                  <a:ea typeface="Calibri" pitchFamily="34" charset="-122"/>
                                  <a:cs typeface="Calibri" pitchFamily="34" charset="-120"/>
                                </a:rPr>
                                <m:t>𝑫</m:t>
                              </m:r>
                            </m:e>
                          </m:d>
                        </m:num>
                        <m:den>
                          <m:r>
                            <a:rPr lang="en-US" sz="1200" b="1" i="1" dirty="0">
                              <a:solidFill>
                                <a:schemeClr val="tx2">
                                  <a:lumMod val="50000"/>
                                </a:schemeClr>
                              </a:solidFill>
                              <a:latin typeface="Cambria Math" panose="02040503050406030204" pitchFamily="18" charset="0"/>
                              <a:ea typeface="Calibri" pitchFamily="34" charset="-122"/>
                              <a:cs typeface="Calibri" pitchFamily="34" charset="-120"/>
                            </a:rPr>
                            <m:t>𝑷</m:t>
                          </m:r>
                          <m:d>
                            <m:dPr>
                              <m:ctrlPr>
                                <a:rPr lang="en-US" sz="1200" b="1" i="1" dirty="0">
                                  <a:solidFill>
                                    <a:schemeClr val="tx2">
                                      <a:lumMod val="50000"/>
                                    </a:schemeClr>
                                  </a:solidFill>
                                  <a:latin typeface="Cambria Math" panose="02040503050406030204" pitchFamily="18" charset="0"/>
                                  <a:ea typeface="Calibri" pitchFamily="34" charset="-122"/>
                                  <a:cs typeface="Calibri" pitchFamily="34" charset="-120"/>
                                </a:rPr>
                              </m:ctrlPr>
                            </m:dPr>
                            <m:e>
                              <m:r>
                                <a:rPr lang="en-US" sz="1200" b="1" i="1" dirty="0">
                                  <a:solidFill>
                                    <a:schemeClr val="tx2">
                                      <a:lumMod val="50000"/>
                                    </a:schemeClr>
                                  </a:solidFill>
                                  <a:latin typeface="Cambria Math" panose="02040503050406030204" pitchFamily="18" charset="0"/>
                                  <a:ea typeface="Calibri" pitchFamily="34" charset="-122"/>
                                  <a:cs typeface="Calibri" pitchFamily="34" charset="-120"/>
                                </a:rPr>
                                <m:t>+</m:t>
                              </m:r>
                            </m:e>
                          </m:d>
                        </m:den>
                      </m:f>
                    </m:oMath>
                  </a14:m>
                  <a:endParaRPr lang="en-US" sz="1200" b="1" dirty="0"/>
                </a:p>
                <a:p>
                  <a:pPr marL="0" indent="0">
                    <a:buNone/>
                  </a:pPr>
                  <a:endParaRPr lang="en-US" sz="600" dirty="0"/>
                </a:p>
                <a:p>
                  <a:pPr marL="0" indent="0">
                    <a:buNone/>
                  </a:pPr>
                  <a:r>
                    <a:rPr lang="pl-PL" sz="1200" b="1" dirty="0" smtClean="0">
                      <a:solidFill>
                        <a:srgbClr val="16243F"/>
                      </a:solidFill>
                      <a:latin typeface="Calibri" pitchFamily="34" charset="0"/>
                      <a:ea typeface="Calibri" pitchFamily="34" charset="-122"/>
                      <a:cs typeface="Calibri" pitchFamily="34" charset="-120"/>
                    </a:rPr>
                    <a:t>Na 10 000 osób</a:t>
                  </a:r>
                  <a:r>
                    <a:rPr lang="pl-PL" sz="1200" dirty="0" smtClean="0">
                      <a:solidFill>
                        <a:srgbClr val="16243F"/>
                      </a:solidFill>
                      <a:latin typeface="Calibri" pitchFamily="34" charset="0"/>
                      <a:ea typeface="Calibri" pitchFamily="34" charset="-122"/>
                      <a:cs typeface="Calibri" pitchFamily="34" charset="-120"/>
                    </a:rPr>
                    <a:t>: 100 chorych (95 wyników prawdziwie dodatnich) i 9900 zdrowych (495 wyników fałszywie dodatnich). </a:t>
                  </a:r>
                  <a:r>
                    <a:rPr lang="pl-PL" sz="1200" b="1" dirty="0" smtClean="0">
                      <a:solidFill>
                        <a:srgbClr val="16243F"/>
                      </a:solidFill>
                      <a:latin typeface="Calibri" pitchFamily="34" charset="0"/>
                      <a:ea typeface="Calibri" pitchFamily="34" charset="-122"/>
                      <a:cs typeface="Calibri" pitchFamily="34" charset="-120"/>
                    </a:rPr>
                    <a:t>P(D|+) = 95/590 ≈ 16%.</a:t>
                  </a:r>
                  <a:endParaRPr lang="pl-PL" sz="1200" b="1" dirty="0" smtClean="0"/>
                </a:p>
                <a:p>
                  <a:pPr marL="0" indent="0">
                    <a:buNone/>
                  </a:pPr>
                  <a:endParaRPr lang="pl-PL" sz="600" dirty="0" smtClean="0"/>
                </a:p>
                <a:p>
                  <a:pPr marL="0" indent="0">
                    <a:buNone/>
                  </a:pPr>
                  <a:r>
                    <a:rPr lang="pl-PL" sz="1200" b="1" dirty="0" smtClean="0">
                      <a:solidFill>
                        <a:srgbClr val="16243F"/>
                      </a:solidFill>
                      <a:latin typeface="Calibri" pitchFamily="34" charset="0"/>
                      <a:ea typeface="Calibri" pitchFamily="34" charset="-122"/>
                      <a:cs typeface="Calibri" pitchFamily="34" charset="-120"/>
                    </a:rPr>
                    <a:t>Odpowiedź D</a:t>
                  </a:r>
                  <a:r>
                    <a:rPr lang="pl-PL" sz="1200" dirty="0" smtClean="0">
                      <a:solidFill>
                        <a:srgbClr val="16243F"/>
                      </a:solidFill>
                      <a:latin typeface="Calibri" pitchFamily="34" charset="0"/>
                      <a:ea typeface="Calibri" pitchFamily="34" charset="-122"/>
                      <a:cs typeface="Calibri" pitchFamily="34" charset="-120"/>
                    </a:rPr>
                    <a:t>. </a:t>
                  </a:r>
                  <a:r>
                    <a:rPr lang="pl-PL" sz="1200" dirty="0" err="1" smtClean="0">
                      <a:solidFill>
                        <a:srgbClr val="16243F"/>
                      </a:solidFill>
                      <a:latin typeface="Calibri" pitchFamily="34" charset="0"/>
                      <a:ea typeface="Calibri" pitchFamily="34" charset="-122"/>
                      <a:cs typeface="Calibri" pitchFamily="34" charset="-120"/>
                    </a:rPr>
                    <a:t>Gigerenzer</a:t>
                  </a:r>
                  <a:r>
                    <a:rPr lang="pl-PL" sz="1200" dirty="0" smtClean="0">
                      <a:solidFill>
                        <a:srgbClr val="16243F"/>
                      </a:solidFill>
                      <a:latin typeface="Calibri" pitchFamily="34" charset="0"/>
                      <a:ea typeface="Calibri" pitchFamily="34" charset="-122"/>
                      <a:cs typeface="Calibri" pitchFamily="34" charset="-120"/>
                    </a:rPr>
                    <a:t> i </a:t>
                  </a:r>
                  <a:r>
                    <a:rPr lang="pl-PL" sz="1200" dirty="0" err="1" smtClean="0">
                      <a:solidFill>
                        <a:srgbClr val="16243F"/>
                      </a:solidFill>
                      <a:latin typeface="Calibri" pitchFamily="34" charset="0"/>
                      <a:ea typeface="Calibri" pitchFamily="34" charset="-122"/>
                      <a:cs typeface="Calibri" pitchFamily="34" charset="-120"/>
                    </a:rPr>
                    <a:t>Hoffrage</a:t>
                  </a:r>
                  <a:r>
                    <a:rPr lang="pl-PL" sz="1200" dirty="0" smtClean="0">
                      <a:solidFill>
                        <a:srgbClr val="16243F"/>
                      </a:solidFill>
                      <a:latin typeface="Calibri" pitchFamily="34" charset="0"/>
                      <a:ea typeface="Calibri" pitchFamily="34" charset="-122"/>
                      <a:cs typeface="Calibri" pitchFamily="34" charset="-120"/>
                    </a:rPr>
                    <a:t> (1995): </a:t>
                  </a:r>
                  <a:br>
                    <a:rPr lang="pl-PL" sz="1200" dirty="0" smtClean="0">
                      <a:solidFill>
                        <a:srgbClr val="16243F"/>
                      </a:solidFill>
                      <a:latin typeface="Calibri" pitchFamily="34" charset="0"/>
                      <a:ea typeface="Calibri" pitchFamily="34" charset="-122"/>
                      <a:cs typeface="Calibri" pitchFamily="34" charset="-120"/>
                    </a:rPr>
                  </a:br>
                  <a:r>
                    <a:rPr lang="pl-PL" sz="1200" dirty="0" smtClean="0">
                      <a:solidFill>
                        <a:srgbClr val="16243F"/>
                      </a:solidFill>
                      <a:latin typeface="Calibri" pitchFamily="34" charset="0"/>
                      <a:ea typeface="Calibri" pitchFamily="34" charset="-122"/>
                      <a:cs typeface="Calibri" pitchFamily="34" charset="-120"/>
                    </a:rPr>
                    <a:t>częstości naturalne poprawiają trafność takich osądów.</a:t>
                  </a:r>
                  <a:endParaRPr lang="pl-PL" sz="1200" dirty="0"/>
                </a:p>
              </p:txBody>
            </p:sp>
          </mc:Choice>
          <mc:Fallback>
            <p:sp>
              <p:nvSpPr>
                <p:cNvPr id="37" name="Text 35"/>
                <p:cNvSpPr>
                  <a:spLocks noRot="1" noChangeAspect="1" noMove="1" noResize="1" noEditPoints="1" noAdjustHandles="1" noChangeArrowheads="1" noChangeShapeType="1" noTextEdit="1"/>
                </p:cNvSpPr>
                <p:nvPr/>
              </p:nvSpPr>
              <p:spPr>
                <a:xfrm>
                  <a:off x="5173218" y="2301740"/>
                  <a:ext cx="3426206" cy="1423316"/>
                </a:xfrm>
                <a:prstGeom prst="rect">
                  <a:avLst/>
                </a:prstGeom>
                <a:blipFill>
                  <a:blip r:embed="rId3"/>
                  <a:stretch>
                    <a:fillRect l="-2847" t="-429" r="-1957" b="-4292"/>
                  </a:stretch>
                </a:blipFill>
                <a:ln/>
              </p:spPr>
              <p:txBody>
                <a:bodyPr/>
                <a:lstStyle/>
                <a:p>
                  <a:r>
                    <a:rPr lang="pl-PL">
                      <a:noFill/>
                    </a:rPr>
                    <a:t> </a:t>
                  </a:r>
                </a:p>
              </p:txBody>
            </p:sp>
          </mc:Fallback>
        </mc:AlternateContent>
      </p:grpSp>
      <p:sp>
        <p:nvSpPr>
          <p:cNvPr id="38" name="Text 36"/>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17/40   ·   Blok II</a:t>
            </a:r>
            <a:endParaRPr lang="en-US" sz="800" dirty="0"/>
          </a:p>
        </p:txBody>
      </p:sp>
      <p:sp>
        <p:nvSpPr>
          <p:cNvPr id="40" name="Shape 13"/>
          <p:cNvSpPr/>
          <p:nvPr/>
        </p:nvSpPr>
        <p:spPr>
          <a:xfrm>
            <a:off x="5065776" y="1965960"/>
            <a:ext cx="3621024" cy="137160"/>
          </a:xfrm>
          <a:prstGeom prst="roundRect">
            <a:avLst>
              <a:gd name="adj" fmla="val 17647"/>
            </a:avLst>
          </a:prstGeom>
          <a:solidFill>
            <a:srgbClr val="C07A35"/>
          </a:solidFill>
          <a:ln w="12700">
            <a:solidFill>
              <a:srgbClr val="C07A35"/>
            </a:solidFill>
            <a:prstDash val="solid"/>
          </a:ln>
        </p:spPr>
        <p:txBody>
          <a:bodyPr anchor="ctr"/>
          <a:lstStyle/>
          <a:p>
            <a:pPr algn="ctr"/>
            <a:r>
              <a:rPr lang="en-US" sz="900" b="1" dirty="0">
                <a:solidFill>
                  <a:srgbClr val="FFFFFF"/>
                </a:solidFill>
                <a:latin typeface="Calibri" pitchFamily="34" charset="0"/>
                <a:ea typeface="Calibri" pitchFamily="34" charset="-122"/>
                <a:cs typeface="Calibri" pitchFamily="34" charset="-120"/>
              </a:rPr>
              <a:t>ZAGŁOSUJ PRZED UJAWNIENIEM </a:t>
            </a:r>
            <a:r>
              <a:rPr lang="en-US" sz="900" b="1" dirty="0" smtClean="0">
                <a:solidFill>
                  <a:srgbClr val="FFFFFF"/>
                </a:solidFill>
                <a:latin typeface="Calibri" pitchFamily="34" charset="0"/>
                <a:ea typeface="Calibri" pitchFamily="34" charset="-122"/>
                <a:cs typeface="Calibri" pitchFamily="34" charset="-120"/>
              </a:rPr>
              <a:t>ROZWIĄZANIA</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anim calcmode="lin" valueType="num">
                                      <p:cBhvr>
                                        <p:cTn id="8" dur="500" fill="hold"/>
                                        <p:tgtEl>
                                          <p:spTgt spid="40"/>
                                        </p:tgtEl>
                                        <p:attrNameLst>
                                          <p:attrName>ppt_x</p:attrName>
                                        </p:attrNameLst>
                                      </p:cBhvr>
                                      <p:tavLst>
                                        <p:tav tm="0">
                                          <p:val>
                                            <p:strVal val="#ppt_x"/>
                                          </p:val>
                                        </p:tav>
                                        <p:tav tm="100000">
                                          <p:val>
                                            <p:strVal val="#ppt_x"/>
                                          </p:val>
                                        </p:tav>
                                      </p:tavLst>
                                    </p:anim>
                                    <p:anim calcmode="lin" valueType="num">
                                      <p:cBhvr>
                                        <p:cTn id="9" dur="5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fade">
                                      <p:cBhvr>
                                        <p:cTn id="14" dur="500"/>
                                        <p:tgtEl>
                                          <p:spTgt spid="39"/>
                                        </p:tgtEl>
                                      </p:cBhvr>
                                    </p:animEffect>
                                    <p:anim calcmode="lin" valueType="num">
                                      <p:cBhvr>
                                        <p:cTn id="15" dur="500" fill="hold"/>
                                        <p:tgtEl>
                                          <p:spTgt spid="39"/>
                                        </p:tgtEl>
                                        <p:attrNameLst>
                                          <p:attrName>ppt_x</p:attrName>
                                        </p:attrNameLst>
                                      </p:cBhvr>
                                      <p:tavLst>
                                        <p:tav tm="0">
                                          <p:val>
                                            <p:strVal val="#ppt_x"/>
                                          </p:val>
                                        </p:tav>
                                        <p:tav tm="100000">
                                          <p:val>
                                            <p:strVal val="#ppt_x"/>
                                          </p:val>
                                        </p:tav>
                                      </p:tavLst>
                                    </p:anim>
                                    <p:anim calcmode="lin" valueType="num">
                                      <p:cBhvr>
                                        <p:cTn id="16" dur="5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0F6E6E"/>
          </a:solidFill>
          <a:ln w="12700">
            <a:solidFill>
              <a:srgbClr val="0F6E6E"/>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II · KONIUNKCJA I BAYES</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Odwrócenie prawdopodobieństwa warunkowego</a:t>
            </a:r>
            <a:endParaRPr lang="en-US" sz="2400" dirty="0"/>
          </a:p>
        </p:txBody>
      </p:sp>
      <p:sp>
        <p:nvSpPr>
          <p:cNvPr id="5" name="Shape 3"/>
          <p:cNvSpPr/>
          <p:nvPr/>
        </p:nvSpPr>
        <p:spPr>
          <a:xfrm>
            <a:off x="457200" y="1453896"/>
            <a:ext cx="8229600" cy="414016"/>
          </a:xfrm>
          <a:prstGeom prst="roundRect">
            <a:avLst>
              <a:gd name="adj" fmla="val 14286"/>
            </a:avLst>
          </a:prstGeom>
          <a:solidFill>
            <a:srgbClr val="EDF1F7"/>
          </a:solidFill>
          <a:ln w="12700">
            <a:solidFill>
              <a:srgbClr val="E1E4EA"/>
            </a:solidFill>
            <a:prstDash val="solid"/>
          </a:ln>
        </p:spPr>
        <p:txBody>
          <a:bodyPr anchor="ctr"/>
          <a:lstStyle/>
          <a:p>
            <a:r>
              <a:rPr lang="pl-PL" sz="1400" b="1" dirty="0" smtClean="0">
                <a:solidFill>
                  <a:srgbClr val="16243F"/>
                </a:solidFill>
                <a:latin typeface="Calibri" pitchFamily="34" charset="0"/>
                <a:ea typeface="Calibri" pitchFamily="34" charset="-122"/>
                <a:cs typeface="Calibri" pitchFamily="34" charset="-120"/>
              </a:rPr>
              <a:t>Która wielkość opisuje prawdopodobieństwo choroby po otrzymaniu wyniku dodatniego?</a:t>
            </a:r>
            <a:endParaRPr lang="pl-PL" sz="1400" dirty="0"/>
          </a:p>
        </p:txBody>
      </p:sp>
      <p:grpSp>
        <p:nvGrpSpPr>
          <p:cNvPr id="35" name="Grupa 34"/>
          <p:cNvGrpSpPr/>
          <p:nvPr/>
        </p:nvGrpSpPr>
        <p:grpSpPr>
          <a:xfrm>
            <a:off x="457200" y="2071420"/>
            <a:ext cx="4825746" cy="432000"/>
            <a:chOff x="406654" y="1852576"/>
            <a:chExt cx="4825746" cy="432000"/>
          </a:xfrm>
        </p:grpSpPr>
        <p:sp>
          <p:nvSpPr>
            <p:cNvPr id="7" name="Shape 5"/>
            <p:cNvSpPr/>
            <p:nvPr/>
          </p:nvSpPr>
          <p:spPr>
            <a:xfrm>
              <a:off x="406654" y="1852576"/>
              <a:ext cx="4825746" cy="432000"/>
            </a:xfrm>
            <a:prstGeom prst="roundRect">
              <a:avLst>
                <a:gd name="adj" fmla="val 12000"/>
              </a:avLst>
            </a:prstGeom>
            <a:solidFill>
              <a:srgbClr val="FFFFFF"/>
            </a:solidFill>
            <a:ln w="12700">
              <a:solidFill>
                <a:srgbClr val="E1E4EA"/>
              </a:solidFill>
              <a:prstDash val="solid"/>
            </a:ln>
          </p:spPr>
        </p:sp>
        <p:sp>
          <p:nvSpPr>
            <p:cNvPr id="8" name="Shape 6"/>
            <p:cNvSpPr/>
            <p:nvPr/>
          </p:nvSpPr>
          <p:spPr>
            <a:xfrm>
              <a:off x="485140" y="1942592"/>
              <a:ext cx="237744" cy="237744"/>
            </a:xfrm>
            <a:prstGeom prst="ellipse">
              <a:avLst/>
            </a:prstGeom>
            <a:solidFill>
              <a:srgbClr val="EDF1F7"/>
            </a:solidFill>
            <a:ln w="12700">
              <a:solidFill>
                <a:srgbClr val="16243F"/>
              </a:solidFill>
              <a:prstDash val="solid"/>
            </a:ln>
          </p:spPr>
        </p:sp>
        <p:sp>
          <p:nvSpPr>
            <p:cNvPr id="9" name="Text 7"/>
            <p:cNvSpPr/>
            <p:nvPr/>
          </p:nvSpPr>
          <p:spPr>
            <a:xfrm>
              <a:off x="485140" y="1942592"/>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mc:AlternateContent xmlns:mc="http://schemas.openxmlformats.org/markup-compatibility/2006">
          <mc:Choice xmlns:a14="http://schemas.microsoft.com/office/drawing/2010/main" Requires="a14">
            <p:sp>
              <p:nvSpPr>
                <p:cNvPr id="10" name="Text 8"/>
                <p:cNvSpPr/>
                <p:nvPr/>
              </p:nvSpPr>
              <p:spPr>
                <a:xfrm>
                  <a:off x="796036" y="1852576"/>
                  <a:ext cx="4303014" cy="432000"/>
                </a:xfrm>
                <a:prstGeom prst="rect">
                  <a:avLst/>
                </a:prstGeom>
                <a:noFill/>
                <a:ln/>
              </p:spPr>
              <p:txBody>
                <a:bodyPr wrap="square" lIns="0" tIns="0" rIns="0" bIns="0" rtlCol="0" anchor="ctr"/>
                <a:lstStyle/>
                <a:p>
                  <a:pPr marL="0" indent="0">
                    <a:buNone/>
                  </a:pPr>
                  <a14:m>
                    <m:oMath xmlns:m="http://schemas.openxmlformats.org/officeDocument/2006/math">
                      <m:r>
                        <a:rPr lang="en-US" sz="1200" b="1" i="0" dirty="0" smtClean="0">
                          <a:solidFill>
                            <a:srgbClr val="2B2D33"/>
                          </a:solidFill>
                          <a:latin typeface="Cambria Math" panose="02040503050406030204" pitchFamily="18" charset="0"/>
                          <a:ea typeface="Calibri" pitchFamily="34" charset="-122"/>
                          <a:cs typeface="Calibri" pitchFamily="34" charset="-120"/>
                        </a:rPr>
                        <m:t>𝐏</m:t>
                      </m:r>
                      <m:d>
                        <m:dPr>
                          <m:ctrlPr>
                            <a:rPr lang="en-US" sz="1200" b="1" dirty="0" smtClean="0">
                              <a:solidFill>
                                <a:srgbClr val="2B2D33"/>
                              </a:solidFill>
                              <a:latin typeface="Cambria Math" panose="02040503050406030204" pitchFamily="18" charset="0"/>
                              <a:ea typeface="Calibri" pitchFamily="34" charset="-122"/>
                              <a:cs typeface="Calibri" pitchFamily="34" charset="-120"/>
                            </a:rPr>
                          </m:ctrlPr>
                        </m:dPr>
                        <m:e>
                          <m:r>
                            <a:rPr lang="en-US" sz="1200" b="1" i="0" dirty="0" smtClean="0">
                              <a:solidFill>
                                <a:srgbClr val="2B2D33"/>
                              </a:solidFill>
                              <a:latin typeface="Cambria Math" panose="02040503050406030204" pitchFamily="18" charset="0"/>
                              <a:ea typeface="Calibri" pitchFamily="34" charset="-122"/>
                              <a:cs typeface="Calibri" pitchFamily="34" charset="-120"/>
                            </a:rPr>
                            <m:t>𝐃</m:t>
                          </m:r>
                        </m:e>
                        <m:e>
                          <m:r>
                            <a:rPr lang="en-US" sz="1200" b="1" i="0" dirty="0" smtClean="0">
                              <a:solidFill>
                                <a:srgbClr val="2B2D33"/>
                              </a:solidFill>
                              <a:latin typeface="Cambria Math" panose="02040503050406030204" pitchFamily="18" charset="0"/>
                              <a:ea typeface="Calibri" pitchFamily="34" charset="-122"/>
                              <a:cs typeface="Calibri" pitchFamily="34" charset="-120"/>
                            </a:rPr>
                            <m:t>+</m:t>
                          </m:r>
                        </m:e>
                      </m:d>
                      <m:r>
                        <a:rPr lang="pl-PL" sz="1200" b="1" i="0" dirty="0" smtClean="0">
                          <a:solidFill>
                            <a:srgbClr val="2B2D33"/>
                          </a:solidFill>
                          <a:latin typeface="Cambria Math" panose="02040503050406030204" pitchFamily="18" charset="0"/>
                          <a:ea typeface="Calibri" pitchFamily="34" charset="-122"/>
                          <a:cs typeface="Calibri" pitchFamily="34" charset="-120"/>
                        </a:rPr>
                        <m:t> </m:t>
                      </m:r>
                    </m:oMath>
                  </a14:m>
                  <a:r>
                    <a:rPr lang="en-US" sz="1100" dirty="0" smtClean="0">
                      <a:solidFill>
                        <a:srgbClr val="2B2D33"/>
                      </a:solidFill>
                      <a:latin typeface="Calibri" pitchFamily="34" charset="0"/>
                      <a:ea typeface="Calibri" pitchFamily="34" charset="-122"/>
                      <a:cs typeface="Calibri" pitchFamily="34" charset="-120"/>
                    </a:rPr>
                    <a:t>- </a:t>
                  </a:r>
                  <a:r>
                    <a:rPr lang="en-US" sz="1100" dirty="0">
                      <a:solidFill>
                        <a:srgbClr val="2B2D33"/>
                      </a:solidFill>
                      <a:latin typeface="Calibri" pitchFamily="34" charset="0"/>
                      <a:ea typeface="Calibri" pitchFamily="34" charset="-122"/>
                      <a:cs typeface="Calibri" pitchFamily="34" charset="-120"/>
                    </a:rPr>
                    <a:t>prawdopodobieństwo choroby, gdy wynik jest dodatni</a:t>
                  </a:r>
                  <a:endParaRPr lang="en-US" sz="1100" dirty="0"/>
                </a:p>
              </p:txBody>
            </p:sp>
          </mc:Choice>
          <mc:Fallback>
            <p:sp>
              <p:nvSpPr>
                <p:cNvPr id="10" name="Text 8"/>
                <p:cNvSpPr>
                  <a:spLocks noRot="1" noChangeAspect="1" noMove="1" noResize="1" noEditPoints="1" noAdjustHandles="1" noChangeArrowheads="1" noChangeShapeType="1" noTextEdit="1"/>
                </p:cNvSpPr>
                <p:nvPr/>
              </p:nvSpPr>
              <p:spPr>
                <a:xfrm>
                  <a:off x="796036" y="1852576"/>
                  <a:ext cx="4303014" cy="432000"/>
                </a:xfrm>
                <a:prstGeom prst="rect">
                  <a:avLst/>
                </a:prstGeom>
                <a:blipFill>
                  <a:blip r:embed="rId3"/>
                  <a:stretch>
                    <a:fillRect l="-1275"/>
                  </a:stretch>
                </a:blipFill>
                <a:ln/>
              </p:spPr>
              <p:txBody>
                <a:bodyPr/>
                <a:lstStyle/>
                <a:p>
                  <a:r>
                    <a:rPr lang="pl-PL">
                      <a:noFill/>
                    </a:rPr>
                    <a:t> </a:t>
                  </a:r>
                </a:p>
              </p:txBody>
            </p:sp>
          </mc:Fallback>
        </mc:AlternateContent>
      </p:grpSp>
      <p:grpSp>
        <p:nvGrpSpPr>
          <p:cNvPr id="36" name="Grupa 35"/>
          <p:cNvGrpSpPr/>
          <p:nvPr/>
        </p:nvGrpSpPr>
        <p:grpSpPr>
          <a:xfrm>
            <a:off x="457200" y="2567228"/>
            <a:ext cx="4825746" cy="432000"/>
            <a:chOff x="406654" y="2401216"/>
            <a:chExt cx="4825746" cy="432000"/>
          </a:xfrm>
        </p:grpSpPr>
        <p:sp>
          <p:nvSpPr>
            <p:cNvPr id="11" name="Shape 9"/>
            <p:cNvSpPr/>
            <p:nvPr/>
          </p:nvSpPr>
          <p:spPr>
            <a:xfrm>
              <a:off x="406654" y="2401216"/>
              <a:ext cx="4825746" cy="432000"/>
            </a:xfrm>
            <a:prstGeom prst="roundRect">
              <a:avLst>
                <a:gd name="adj" fmla="val 12000"/>
              </a:avLst>
            </a:prstGeom>
            <a:solidFill>
              <a:srgbClr val="FFFFFF"/>
            </a:solidFill>
            <a:ln w="12700">
              <a:solidFill>
                <a:srgbClr val="E1E4EA"/>
              </a:solidFill>
              <a:prstDash val="solid"/>
            </a:ln>
          </p:spPr>
        </p:sp>
        <p:sp>
          <p:nvSpPr>
            <p:cNvPr id="12" name="Shape 10"/>
            <p:cNvSpPr/>
            <p:nvPr/>
          </p:nvSpPr>
          <p:spPr>
            <a:xfrm>
              <a:off x="485140" y="2491232"/>
              <a:ext cx="237744" cy="237744"/>
            </a:xfrm>
            <a:prstGeom prst="ellipse">
              <a:avLst/>
            </a:prstGeom>
            <a:solidFill>
              <a:srgbClr val="EDF1F7"/>
            </a:solidFill>
            <a:ln w="12700">
              <a:solidFill>
                <a:srgbClr val="16243F"/>
              </a:solidFill>
              <a:prstDash val="solid"/>
            </a:ln>
          </p:spPr>
        </p:sp>
        <p:sp>
          <p:nvSpPr>
            <p:cNvPr id="13" name="Text 11"/>
            <p:cNvSpPr/>
            <p:nvPr/>
          </p:nvSpPr>
          <p:spPr>
            <a:xfrm>
              <a:off x="485140" y="2491232"/>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mc:AlternateContent xmlns:mc="http://schemas.openxmlformats.org/markup-compatibility/2006">
          <mc:Choice xmlns:a14="http://schemas.microsoft.com/office/drawing/2010/main" Requires="a14">
            <p:sp>
              <p:nvSpPr>
                <p:cNvPr id="14" name="Text 12"/>
                <p:cNvSpPr/>
                <p:nvPr/>
              </p:nvSpPr>
              <p:spPr>
                <a:xfrm>
                  <a:off x="796036" y="2401216"/>
                  <a:ext cx="4436364" cy="432000"/>
                </a:xfrm>
                <a:prstGeom prst="rect">
                  <a:avLst/>
                </a:prstGeom>
                <a:noFill/>
                <a:ln/>
              </p:spPr>
              <p:txBody>
                <a:bodyPr wrap="square" lIns="0" tIns="0" rIns="0" bIns="0" rtlCol="0" anchor="ctr"/>
                <a:lstStyle/>
                <a:p>
                  <a:pPr marL="0" indent="0">
                    <a:buNone/>
                  </a:pPr>
                  <a14:m>
                    <m:oMath xmlns:m="http://schemas.openxmlformats.org/officeDocument/2006/math">
                      <m:r>
                        <a:rPr lang="en-US" sz="1200" b="1" i="0" dirty="0" smtClean="0">
                          <a:solidFill>
                            <a:srgbClr val="2B2D33"/>
                          </a:solidFill>
                          <a:latin typeface="Cambria Math" panose="02040503050406030204" pitchFamily="18" charset="0"/>
                          <a:ea typeface="Calibri" pitchFamily="34" charset="-122"/>
                          <a:cs typeface="Calibri" pitchFamily="34" charset="-120"/>
                        </a:rPr>
                        <m:t>𝐏</m:t>
                      </m:r>
                      <m:d>
                        <m:dPr>
                          <m:ctrlPr>
                            <a:rPr lang="en-US" sz="1200" b="1" dirty="0" smtClean="0">
                              <a:solidFill>
                                <a:srgbClr val="2B2D33"/>
                              </a:solidFill>
                              <a:latin typeface="Cambria Math" panose="02040503050406030204" pitchFamily="18" charset="0"/>
                              <a:ea typeface="Calibri" pitchFamily="34" charset="-122"/>
                              <a:cs typeface="Calibri" pitchFamily="34" charset="-120"/>
                            </a:rPr>
                          </m:ctrlPr>
                        </m:dPr>
                        <m:e>
                          <m:r>
                            <a:rPr lang="en-US" sz="1200" b="1" i="0" dirty="0" smtClean="0">
                              <a:solidFill>
                                <a:srgbClr val="2B2D33"/>
                              </a:solidFill>
                              <a:latin typeface="Cambria Math" panose="02040503050406030204" pitchFamily="18" charset="0"/>
                              <a:ea typeface="Calibri" pitchFamily="34" charset="-122"/>
                              <a:cs typeface="Calibri" pitchFamily="34" charset="-120"/>
                            </a:rPr>
                            <m:t>+</m:t>
                          </m:r>
                        </m:e>
                        <m:e>
                          <m:r>
                            <a:rPr lang="en-US" sz="1200" b="1" i="0" dirty="0" smtClean="0">
                              <a:solidFill>
                                <a:srgbClr val="2B2D33"/>
                              </a:solidFill>
                              <a:latin typeface="Cambria Math" panose="02040503050406030204" pitchFamily="18" charset="0"/>
                              <a:ea typeface="Calibri" pitchFamily="34" charset="-122"/>
                              <a:cs typeface="Calibri" pitchFamily="34" charset="-120"/>
                            </a:rPr>
                            <m:t>𝐃</m:t>
                          </m:r>
                        </m:e>
                      </m:d>
                    </m:oMath>
                  </a14:m>
                  <a:r>
                    <a:rPr lang="pl-PL" sz="1100" dirty="0" smtClean="0">
                      <a:solidFill>
                        <a:srgbClr val="2B2D33"/>
                      </a:solidFill>
                      <a:latin typeface="Calibri" pitchFamily="34" charset="0"/>
                      <a:ea typeface="Calibri" pitchFamily="34" charset="-122"/>
                      <a:cs typeface="Calibri" pitchFamily="34" charset="-120"/>
                    </a:rPr>
                    <a:t> </a:t>
                  </a:r>
                  <a:r>
                    <a:rPr lang="en-US" sz="1100" dirty="0" smtClean="0">
                      <a:solidFill>
                        <a:srgbClr val="2B2D33"/>
                      </a:solidFill>
                      <a:latin typeface="Calibri" pitchFamily="34" charset="0"/>
                      <a:ea typeface="Calibri" pitchFamily="34" charset="-122"/>
                      <a:cs typeface="Calibri" pitchFamily="34" charset="-120"/>
                    </a:rPr>
                    <a:t>- </a:t>
                  </a:r>
                  <a:r>
                    <a:rPr lang="en-US" sz="1100" dirty="0">
                      <a:solidFill>
                        <a:srgbClr val="2B2D33"/>
                      </a:solidFill>
                      <a:latin typeface="Calibri" pitchFamily="34" charset="0"/>
                      <a:ea typeface="Calibri" pitchFamily="34" charset="-122"/>
                      <a:cs typeface="Calibri" pitchFamily="34" charset="-120"/>
                    </a:rPr>
                    <a:t>prawdopodobieństwo wyniku dodatniego, gdy pacjent jest chory</a:t>
                  </a:r>
                  <a:endParaRPr lang="en-US" sz="1100" dirty="0"/>
                </a:p>
              </p:txBody>
            </p:sp>
          </mc:Choice>
          <mc:Fallback>
            <p:sp>
              <p:nvSpPr>
                <p:cNvPr id="14" name="Text 12"/>
                <p:cNvSpPr>
                  <a:spLocks noRot="1" noChangeAspect="1" noMove="1" noResize="1" noEditPoints="1" noAdjustHandles="1" noChangeArrowheads="1" noChangeShapeType="1" noTextEdit="1"/>
                </p:cNvSpPr>
                <p:nvPr/>
              </p:nvSpPr>
              <p:spPr>
                <a:xfrm>
                  <a:off x="796036" y="2401216"/>
                  <a:ext cx="4436364" cy="432000"/>
                </a:xfrm>
                <a:prstGeom prst="rect">
                  <a:avLst/>
                </a:prstGeom>
                <a:blipFill>
                  <a:blip r:embed="rId4"/>
                  <a:stretch>
                    <a:fillRect l="-1236"/>
                  </a:stretch>
                </a:blipFill>
                <a:ln/>
              </p:spPr>
              <p:txBody>
                <a:bodyPr/>
                <a:lstStyle/>
                <a:p>
                  <a:r>
                    <a:rPr lang="pl-PL">
                      <a:noFill/>
                    </a:rPr>
                    <a:t> </a:t>
                  </a:r>
                </a:p>
              </p:txBody>
            </p:sp>
          </mc:Fallback>
        </mc:AlternateContent>
      </p:grpSp>
      <p:grpSp>
        <p:nvGrpSpPr>
          <p:cNvPr id="37" name="Grupa 36"/>
          <p:cNvGrpSpPr/>
          <p:nvPr/>
        </p:nvGrpSpPr>
        <p:grpSpPr>
          <a:xfrm>
            <a:off x="457200" y="3060242"/>
            <a:ext cx="4825746" cy="437488"/>
            <a:chOff x="406654" y="2949856"/>
            <a:chExt cx="4825746" cy="437488"/>
          </a:xfrm>
        </p:grpSpPr>
        <p:sp>
          <p:nvSpPr>
            <p:cNvPr id="15" name="Shape 13"/>
            <p:cNvSpPr/>
            <p:nvPr/>
          </p:nvSpPr>
          <p:spPr>
            <a:xfrm>
              <a:off x="406654" y="2949856"/>
              <a:ext cx="4825746" cy="432000"/>
            </a:xfrm>
            <a:prstGeom prst="roundRect">
              <a:avLst>
                <a:gd name="adj" fmla="val 12000"/>
              </a:avLst>
            </a:prstGeom>
            <a:solidFill>
              <a:srgbClr val="FFFFFF"/>
            </a:solidFill>
            <a:ln w="12700">
              <a:solidFill>
                <a:srgbClr val="E1E4EA"/>
              </a:solidFill>
              <a:prstDash val="solid"/>
            </a:ln>
          </p:spPr>
        </p:sp>
        <p:sp>
          <p:nvSpPr>
            <p:cNvPr id="16" name="Shape 14"/>
            <p:cNvSpPr/>
            <p:nvPr/>
          </p:nvSpPr>
          <p:spPr>
            <a:xfrm>
              <a:off x="485140" y="3039872"/>
              <a:ext cx="237744" cy="237744"/>
            </a:xfrm>
            <a:prstGeom prst="ellipse">
              <a:avLst/>
            </a:prstGeom>
            <a:solidFill>
              <a:srgbClr val="EDF1F7"/>
            </a:solidFill>
            <a:ln w="12700">
              <a:solidFill>
                <a:srgbClr val="16243F"/>
              </a:solidFill>
              <a:prstDash val="solid"/>
            </a:ln>
          </p:spPr>
        </p:sp>
        <p:sp>
          <p:nvSpPr>
            <p:cNvPr id="17" name="Text 15"/>
            <p:cNvSpPr/>
            <p:nvPr/>
          </p:nvSpPr>
          <p:spPr>
            <a:xfrm>
              <a:off x="485140" y="3039872"/>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C</a:t>
              </a:r>
              <a:endParaRPr lang="en-US" sz="1000" dirty="0"/>
            </a:p>
          </p:txBody>
        </p:sp>
        <p:sp>
          <p:nvSpPr>
            <p:cNvPr id="18" name="Text 16"/>
            <p:cNvSpPr/>
            <p:nvPr/>
          </p:nvSpPr>
          <p:spPr>
            <a:xfrm>
              <a:off x="796036" y="2955344"/>
              <a:ext cx="4303014" cy="432000"/>
            </a:xfrm>
            <a:prstGeom prst="rect">
              <a:avLst/>
            </a:prstGeom>
            <a:noFill/>
            <a:ln/>
          </p:spPr>
          <p:txBody>
            <a:bodyPr wrap="square" lIns="0" tIns="0" rIns="0" bIns="0" rtlCol="0" anchor="ctr"/>
            <a:lstStyle/>
            <a:p>
              <a:pPr marL="0" indent="0">
                <a:buNone/>
              </a:pPr>
              <a:r>
                <a:rPr lang="en-US" sz="1100" dirty="0">
                  <a:solidFill>
                    <a:srgbClr val="2B2D33"/>
                  </a:solidFill>
                  <a:latin typeface="Calibri" pitchFamily="34" charset="0"/>
                  <a:ea typeface="Calibri" pitchFamily="34" charset="-122"/>
                  <a:cs typeface="Calibri" pitchFamily="34" charset="-120"/>
                </a:rPr>
                <a:t>Obie wielkości są sobie równe</a:t>
              </a:r>
              <a:endParaRPr lang="en-US" sz="1100" dirty="0"/>
            </a:p>
          </p:txBody>
        </p:sp>
      </p:grpSp>
      <p:sp>
        <p:nvSpPr>
          <p:cNvPr id="19" name="Shape 17"/>
          <p:cNvSpPr/>
          <p:nvPr/>
        </p:nvSpPr>
        <p:spPr>
          <a:xfrm>
            <a:off x="457200" y="3575304"/>
            <a:ext cx="4825746" cy="310896"/>
          </a:xfrm>
          <a:prstGeom prst="roundRect">
            <a:avLst>
              <a:gd name="adj" fmla="val 17647"/>
            </a:avLst>
          </a:prstGeom>
          <a:solidFill>
            <a:srgbClr val="C07A35"/>
          </a:solidFill>
          <a:ln w="12700">
            <a:solidFill>
              <a:srgbClr val="C07A35"/>
            </a:solidFill>
            <a:prstDash val="solid"/>
          </a:ln>
        </p:spPr>
      </p:sp>
      <p:sp>
        <p:nvSpPr>
          <p:cNvPr id="20" name="Text 18"/>
          <p:cNvSpPr/>
          <p:nvPr/>
        </p:nvSpPr>
        <p:spPr>
          <a:xfrm>
            <a:off x="457200" y="3575304"/>
            <a:ext cx="4825746"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ZAGŁOSUJ PRZED UJAWNIENIEM ROZWIĄZANIA</a:t>
            </a:r>
            <a:endParaRPr lang="en-US" sz="850" dirty="0"/>
          </a:p>
        </p:txBody>
      </p:sp>
      <p:sp>
        <p:nvSpPr>
          <p:cNvPr id="21" name="Shape 19"/>
          <p:cNvSpPr/>
          <p:nvPr/>
        </p:nvSpPr>
        <p:spPr>
          <a:xfrm>
            <a:off x="7406640" y="4022598"/>
            <a:ext cx="1280160" cy="753364"/>
          </a:xfrm>
          <a:prstGeom prst="roundRect">
            <a:avLst>
              <a:gd name="adj" fmla="val 6000"/>
            </a:avLst>
          </a:prstGeom>
          <a:solidFill>
            <a:srgbClr val="EDF1F7"/>
          </a:solidFill>
          <a:ln w="12700">
            <a:solidFill>
              <a:srgbClr val="E1E4EA"/>
            </a:solidFill>
            <a:prstDash val="solid"/>
          </a:ln>
        </p:spPr>
      </p:sp>
      <p:sp>
        <p:nvSpPr>
          <p:cNvPr id="22" name="Shape 20"/>
          <p:cNvSpPr/>
          <p:nvPr/>
        </p:nvSpPr>
        <p:spPr>
          <a:xfrm>
            <a:off x="7516368" y="4133088"/>
            <a:ext cx="365760" cy="365760"/>
          </a:xfrm>
          <a:prstGeom prst="rect">
            <a:avLst/>
          </a:prstGeom>
          <a:solidFill>
            <a:srgbClr val="FFFFFF"/>
          </a:solidFill>
          <a:ln w="19050">
            <a:solidFill>
              <a:srgbClr val="16243F"/>
            </a:solidFill>
            <a:prstDash val="solid"/>
          </a:ln>
        </p:spPr>
      </p:sp>
      <p:sp>
        <p:nvSpPr>
          <p:cNvPr id="23" name="Shape 21"/>
          <p:cNvSpPr/>
          <p:nvPr/>
        </p:nvSpPr>
        <p:spPr>
          <a:xfrm>
            <a:off x="7543800" y="4160520"/>
            <a:ext cx="82296" cy="82296"/>
          </a:xfrm>
          <a:prstGeom prst="rect">
            <a:avLst/>
          </a:prstGeom>
          <a:solidFill>
            <a:srgbClr val="16243F"/>
          </a:solidFill>
          <a:ln w="12700">
            <a:solidFill>
              <a:srgbClr val="16243F"/>
            </a:solidFill>
            <a:prstDash val="solid"/>
          </a:ln>
        </p:spPr>
      </p:sp>
      <p:sp>
        <p:nvSpPr>
          <p:cNvPr id="24" name="Shape 22"/>
          <p:cNvSpPr/>
          <p:nvPr/>
        </p:nvSpPr>
        <p:spPr>
          <a:xfrm>
            <a:off x="7543800" y="4361688"/>
            <a:ext cx="82296" cy="82296"/>
          </a:xfrm>
          <a:prstGeom prst="rect">
            <a:avLst/>
          </a:prstGeom>
          <a:solidFill>
            <a:srgbClr val="16243F"/>
          </a:solidFill>
          <a:ln w="12700">
            <a:solidFill>
              <a:srgbClr val="16243F"/>
            </a:solidFill>
            <a:prstDash val="solid"/>
          </a:ln>
        </p:spPr>
      </p:sp>
      <p:sp>
        <p:nvSpPr>
          <p:cNvPr id="25" name="Shape 23"/>
          <p:cNvSpPr/>
          <p:nvPr/>
        </p:nvSpPr>
        <p:spPr>
          <a:xfrm>
            <a:off x="7644384" y="4261104"/>
            <a:ext cx="82296" cy="82296"/>
          </a:xfrm>
          <a:prstGeom prst="rect">
            <a:avLst/>
          </a:prstGeom>
          <a:solidFill>
            <a:srgbClr val="16243F"/>
          </a:solidFill>
          <a:ln w="12700">
            <a:solidFill>
              <a:srgbClr val="16243F"/>
            </a:solidFill>
            <a:prstDash val="solid"/>
          </a:ln>
        </p:spPr>
      </p:sp>
      <p:sp>
        <p:nvSpPr>
          <p:cNvPr id="26" name="Shape 24"/>
          <p:cNvSpPr/>
          <p:nvPr/>
        </p:nvSpPr>
        <p:spPr>
          <a:xfrm>
            <a:off x="7744968" y="4160520"/>
            <a:ext cx="82296" cy="82296"/>
          </a:xfrm>
          <a:prstGeom prst="rect">
            <a:avLst/>
          </a:prstGeom>
          <a:solidFill>
            <a:srgbClr val="16243F"/>
          </a:solidFill>
          <a:ln w="12700">
            <a:solidFill>
              <a:srgbClr val="16243F"/>
            </a:solidFill>
            <a:prstDash val="solid"/>
          </a:ln>
        </p:spPr>
      </p:sp>
      <p:sp>
        <p:nvSpPr>
          <p:cNvPr id="27" name="Shape 25"/>
          <p:cNvSpPr/>
          <p:nvPr/>
        </p:nvSpPr>
        <p:spPr>
          <a:xfrm>
            <a:off x="7744968" y="4361688"/>
            <a:ext cx="82296" cy="82296"/>
          </a:xfrm>
          <a:prstGeom prst="rect">
            <a:avLst/>
          </a:prstGeom>
          <a:solidFill>
            <a:srgbClr val="16243F"/>
          </a:solidFill>
          <a:ln w="12700">
            <a:solidFill>
              <a:srgbClr val="16243F"/>
            </a:solidFill>
            <a:prstDash val="solid"/>
          </a:ln>
        </p:spPr>
      </p:sp>
      <p:sp>
        <p:nvSpPr>
          <p:cNvPr id="28" name="Text 26"/>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29" name="Text 27"/>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34" name="Grupa 33"/>
          <p:cNvGrpSpPr/>
          <p:nvPr/>
        </p:nvGrpSpPr>
        <p:grpSpPr>
          <a:xfrm>
            <a:off x="5365750" y="2071420"/>
            <a:ext cx="3321050" cy="1814780"/>
            <a:chOff x="5365750" y="1830120"/>
            <a:chExt cx="3321050" cy="1814780"/>
          </a:xfrm>
        </p:grpSpPr>
        <p:sp>
          <p:nvSpPr>
            <p:cNvPr id="30" name="Shape 28"/>
            <p:cNvSpPr/>
            <p:nvPr/>
          </p:nvSpPr>
          <p:spPr>
            <a:xfrm>
              <a:off x="5365750" y="1830120"/>
              <a:ext cx="3321050" cy="1814780"/>
            </a:xfrm>
            <a:prstGeom prst="roundRect">
              <a:avLst>
                <a:gd name="adj" fmla="val 2449"/>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31" name="Text 29"/>
            <p:cNvSpPr/>
            <p:nvPr/>
          </p:nvSpPr>
          <p:spPr>
            <a:xfrm>
              <a:off x="5475478" y="1870401"/>
              <a:ext cx="3065018" cy="237744"/>
            </a:xfrm>
            <a:prstGeom prst="rect">
              <a:avLst/>
            </a:prstGeom>
            <a:noFill/>
            <a:ln/>
          </p:spPr>
          <p:txBody>
            <a:bodyPr wrap="square" lIns="0" tIns="0" rIns="0" bIns="0" rtlCol="0" anchor="ctr"/>
            <a:lstStyle/>
            <a:p>
              <a:pPr marL="0" indent="0">
                <a:buNone/>
              </a:pPr>
              <a:r>
                <a:rPr lang="pl-PL" sz="1200" b="1" dirty="0" smtClean="0">
                  <a:solidFill>
                    <a:srgbClr val="0F6E6E"/>
                  </a:solidFill>
                  <a:latin typeface="Calibri" pitchFamily="34" charset="0"/>
                  <a:ea typeface="Calibri" pitchFamily="34" charset="-122"/>
                  <a:cs typeface="Calibri" pitchFamily="34" charset="-120"/>
                </a:rPr>
                <a:t>PO ZAMKNIĘCIU GŁOSOWANIA</a:t>
              </a:r>
              <a:endParaRPr lang="pl-PL" sz="1200" dirty="0"/>
            </a:p>
          </p:txBody>
        </p:sp>
        <mc:AlternateContent xmlns:mc="http://schemas.openxmlformats.org/markup-compatibility/2006">
          <mc:Choice xmlns:a14="http://schemas.microsoft.com/office/drawing/2010/main" Requires="a14">
            <p:sp>
              <p:nvSpPr>
                <p:cNvPr id="32" name="Text 30"/>
                <p:cNvSpPr/>
                <p:nvPr/>
              </p:nvSpPr>
              <p:spPr>
                <a:xfrm>
                  <a:off x="5466266" y="2144594"/>
                  <a:ext cx="3117596" cy="1415772"/>
                </a:xfrm>
                <a:prstGeom prst="rect">
                  <a:avLst/>
                </a:prstGeom>
                <a:noFill/>
                <a:ln/>
              </p:spPr>
              <p:txBody>
                <a:bodyPr wrap="square" lIns="0" tIns="0" rIns="0" bIns="0" rtlCol="0" anchor="t">
                  <a:spAutoFit/>
                </a:bodyPr>
                <a:lstStyle/>
                <a:p>
                  <a:pPr marL="0" indent="0">
                    <a:buNone/>
                  </a:pPr>
                  <a:r>
                    <a:rPr lang="pl-PL" sz="1200" dirty="0" smtClean="0">
                      <a:solidFill>
                        <a:srgbClr val="16243F"/>
                      </a:solidFill>
                      <a:latin typeface="Calibri" pitchFamily="34" charset="0"/>
                      <a:ea typeface="Calibri" pitchFamily="34" charset="-122"/>
                      <a:cs typeface="Calibri" pitchFamily="34" charset="-120"/>
                    </a:rPr>
                    <a:t>Odpowiedź A jest tym, o co pytamy klinicznie, ale to właśnie B (czułość testu) jest zwykle podawana w materiałach o teście.</a:t>
                  </a:r>
                  <a:endParaRPr lang="pl-PL" sz="1200" dirty="0" smtClean="0"/>
                </a:p>
                <a:p>
                  <a:pPr marL="0" indent="0">
                    <a:buNone/>
                  </a:pPr>
                  <a:endParaRPr lang="pl-PL" sz="800" dirty="0" smtClean="0"/>
                </a:p>
                <a:p>
                  <a:pPr marL="0" indent="0" algn="just">
                    <a:buNone/>
                  </a:pPr>
                  <a:r>
                    <a:rPr lang="pl-PL" sz="1200" dirty="0" smtClean="0">
                      <a:solidFill>
                        <a:srgbClr val="16243F"/>
                      </a:solidFill>
                      <a:latin typeface="Calibri" pitchFamily="34" charset="0"/>
                      <a:ea typeface="Calibri" pitchFamily="34" charset="-122"/>
                      <a:cs typeface="Calibri" pitchFamily="34" charset="-120"/>
                    </a:rPr>
                    <a:t>Mylenie </a:t>
                  </a:r>
                  <a14:m>
                    <m:oMath xmlns:m="http://schemas.openxmlformats.org/officeDocument/2006/math">
                      <m:r>
                        <a:rPr lang="pl-PL" sz="1200" b="1" i="1" dirty="0" smtClean="0">
                          <a:solidFill>
                            <a:srgbClr val="16243F"/>
                          </a:solidFill>
                          <a:latin typeface="Cambria Math" panose="02040503050406030204" pitchFamily="18" charset="0"/>
                          <a:ea typeface="Calibri" pitchFamily="34" charset="-122"/>
                          <a:cs typeface="Calibri" pitchFamily="34" charset="-120"/>
                        </a:rPr>
                        <m:t>𝑷</m:t>
                      </m:r>
                      <m:r>
                        <a:rPr lang="pl-PL" sz="1200" b="1" i="1" dirty="0" smtClean="0">
                          <a:solidFill>
                            <a:srgbClr val="16243F"/>
                          </a:solidFill>
                          <a:latin typeface="Cambria Math" panose="02040503050406030204" pitchFamily="18" charset="0"/>
                          <a:ea typeface="Calibri" pitchFamily="34" charset="-122"/>
                          <a:cs typeface="Calibri" pitchFamily="34" charset="-120"/>
                        </a:rPr>
                        <m:t>(</m:t>
                      </m:r>
                      <m:r>
                        <a:rPr lang="pl-PL" sz="1200" b="1" i="1" dirty="0" smtClean="0">
                          <a:solidFill>
                            <a:srgbClr val="16243F"/>
                          </a:solidFill>
                          <a:latin typeface="Cambria Math" panose="02040503050406030204" pitchFamily="18" charset="0"/>
                          <a:ea typeface="Calibri" pitchFamily="34" charset="-122"/>
                          <a:cs typeface="Calibri" pitchFamily="34" charset="-120"/>
                        </a:rPr>
                        <m:t>𝑫</m:t>
                      </m:r>
                      <m:r>
                        <a:rPr lang="pl-PL" sz="1200" b="1" i="1" dirty="0" smtClean="0">
                          <a:solidFill>
                            <a:srgbClr val="16243F"/>
                          </a:solidFill>
                          <a:latin typeface="Cambria Math" panose="02040503050406030204" pitchFamily="18" charset="0"/>
                          <a:ea typeface="Calibri" pitchFamily="34" charset="-122"/>
                          <a:cs typeface="Calibri" pitchFamily="34" charset="-120"/>
                        </a:rPr>
                        <m:t>|+) </m:t>
                      </m:r>
                      <m:r>
                        <a:rPr lang="pl-PL" sz="1200" b="0" i="1" dirty="0" smtClean="0">
                          <a:solidFill>
                            <a:srgbClr val="16243F"/>
                          </a:solidFill>
                          <a:latin typeface="Cambria Math" panose="02040503050406030204" pitchFamily="18" charset="0"/>
                          <a:ea typeface="Calibri" pitchFamily="34" charset="-122"/>
                          <a:cs typeface="Calibri" pitchFamily="34" charset="-120"/>
                        </a:rPr>
                        <m:t>𝑧</m:t>
                      </m:r>
                      <m:r>
                        <a:rPr lang="pl-PL" sz="1200" b="1" i="1" dirty="0" smtClean="0">
                          <a:solidFill>
                            <a:srgbClr val="16243F"/>
                          </a:solidFill>
                          <a:latin typeface="Cambria Math" panose="02040503050406030204" pitchFamily="18" charset="0"/>
                          <a:ea typeface="Calibri" pitchFamily="34" charset="-122"/>
                          <a:cs typeface="Calibri" pitchFamily="34" charset="-120"/>
                        </a:rPr>
                        <m:t> </m:t>
                      </m:r>
                      <m:r>
                        <a:rPr lang="pl-PL" sz="1200" b="1" i="1" dirty="0" smtClean="0">
                          <a:solidFill>
                            <a:srgbClr val="16243F"/>
                          </a:solidFill>
                          <a:latin typeface="Cambria Math" panose="02040503050406030204" pitchFamily="18" charset="0"/>
                          <a:ea typeface="Calibri" pitchFamily="34" charset="-122"/>
                          <a:cs typeface="Calibri" pitchFamily="34" charset="-120"/>
                        </a:rPr>
                        <m:t>𝑷</m:t>
                      </m:r>
                      <m:r>
                        <a:rPr lang="pl-PL" sz="1200" b="1" i="1" dirty="0" smtClean="0">
                          <a:solidFill>
                            <a:srgbClr val="16243F"/>
                          </a:solidFill>
                          <a:latin typeface="Cambria Math" panose="02040503050406030204" pitchFamily="18" charset="0"/>
                          <a:ea typeface="Calibri" pitchFamily="34" charset="-122"/>
                          <a:cs typeface="Calibri" pitchFamily="34" charset="-120"/>
                        </a:rPr>
                        <m:t>(+|</m:t>
                      </m:r>
                      <m:r>
                        <a:rPr lang="pl-PL" sz="1200" b="1" i="1" dirty="0" smtClean="0">
                          <a:solidFill>
                            <a:srgbClr val="16243F"/>
                          </a:solidFill>
                          <a:latin typeface="Cambria Math" panose="02040503050406030204" pitchFamily="18" charset="0"/>
                          <a:ea typeface="Calibri" pitchFamily="34" charset="-122"/>
                          <a:cs typeface="Calibri" pitchFamily="34" charset="-120"/>
                        </a:rPr>
                        <m:t>𝑫</m:t>
                      </m:r>
                      <m:r>
                        <a:rPr lang="pl-PL" sz="1200" b="1" i="1" dirty="0" smtClean="0">
                          <a:solidFill>
                            <a:srgbClr val="16243F"/>
                          </a:solidFill>
                          <a:latin typeface="Cambria Math" panose="02040503050406030204" pitchFamily="18" charset="0"/>
                          <a:ea typeface="Calibri" pitchFamily="34" charset="-122"/>
                          <a:cs typeface="Calibri" pitchFamily="34" charset="-120"/>
                        </a:rPr>
                        <m:t>) </m:t>
                      </m:r>
                    </m:oMath>
                  </a14:m>
                  <a:r>
                    <a:rPr lang="pl-PL" sz="1200" dirty="0" smtClean="0">
                      <a:solidFill>
                        <a:srgbClr val="16243F"/>
                      </a:solidFill>
                      <a:latin typeface="Calibri" pitchFamily="34" charset="0"/>
                      <a:ea typeface="Calibri" pitchFamily="34" charset="-122"/>
                      <a:cs typeface="Calibri" pitchFamily="34" charset="-120"/>
                    </a:rPr>
                    <a:t>nazywa się błędem transpozycji warunku </a:t>
                  </a:r>
                  <a:r>
                    <a:rPr lang="en-US" sz="1200" i="1" dirty="0" smtClean="0">
                      <a:solidFill>
                        <a:srgbClr val="16243F"/>
                      </a:solidFill>
                      <a:latin typeface="Calibri" pitchFamily="34" charset="0"/>
                      <a:ea typeface="Calibri" pitchFamily="34" charset="-122"/>
                      <a:cs typeface="Calibri" pitchFamily="34" charset="-120"/>
                    </a:rPr>
                    <a:t>(confusion of the inverse)</a:t>
                  </a:r>
                  <a:r>
                    <a:rPr lang="pl-PL" sz="1200" dirty="0" smtClean="0">
                      <a:solidFill>
                        <a:srgbClr val="16243F"/>
                      </a:solidFill>
                      <a:latin typeface="Calibri" pitchFamily="34" charset="0"/>
                      <a:ea typeface="Calibri" pitchFamily="34" charset="-122"/>
                      <a:cs typeface="Calibri" pitchFamily="34" charset="-120"/>
                    </a:rPr>
                    <a:t>. </a:t>
                  </a:r>
                  <a:br>
                    <a:rPr lang="pl-PL" sz="1200" dirty="0" smtClean="0">
                      <a:solidFill>
                        <a:srgbClr val="16243F"/>
                      </a:solidFill>
                      <a:latin typeface="Calibri" pitchFamily="34" charset="0"/>
                      <a:ea typeface="Calibri" pitchFamily="34" charset="-122"/>
                      <a:cs typeface="Calibri" pitchFamily="34" charset="-120"/>
                    </a:rPr>
                  </a:br>
                  <a:r>
                    <a:rPr lang="pl-PL" sz="1200" dirty="0" smtClean="0">
                      <a:solidFill>
                        <a:srgbClr val="16243F"/>
                      </a:solidFill>
                      <a:latin typeface="Calibri" pitchFamily="34" charset="0"/>
                      <a:ea typeface="Calibri" pitchFamily="34" charset="-122"/>
                      <a:cs typeface="Calibri" pitchFamily="34" charset="-120"/>
                    </a:rPr>
                    <a:t>To dwie różne wielkości, powiązane twierdzeniem Bayesa, nie tożsame.</a:t>
                  </a:r>
                  <a:endParaRPr lang="pl-PL" sz="1200" dirty="0"/>
                </a:p>
              </p:txBody>
            </p:sp>
          </mc:Choice>
          <mc:Fallback>
            <p:sp>
              <p:nvSpPr>
                <p:cNvPr id="32" name="Text 30"/>
                <p:cNvSpPr>
                  <a:spLocks noRot="1" noChangeAspect="1" noMove="1" noResize="1" noEditPoints="1" noAdjustHandles="1" noChangeArrowheads="1" noChangeShapeType="1" noTextEdit="1"/>
                </p:cNvSpPr>
                <p:nvPr/>
              </p:nvSpPr>
              <p:spPr>
                <a:xfrm>
                  <a:off x="5466266" y="2144594"/>
                  <a:ext cx="3117596" cy="1415772"/>
                </a:xfrm>
                <a:prstGeom prst="rect">
                  <a:avLst/>
                </a:prstGeom>
                <a:blipFill>
                  <a:blip r:embed="rId5"/>
                  <a:stretch>
                    <a:fillRect l="-3131" t="-3433" r="-2935" b="-5579"/>
                  </a:stretch>
                </a:blipFill>
                <a:ln/>
              </p:spPr>
              <p:txBody>
                <a:bodyPr/>
                <a:lstStyle/>
                <a:p>
                  <a:r>
                    <a:rPr lang="pl-PL">
                      <a:noFill/>
                    </a:rPr>
                    <a:t> </a:t>
                  </a:r>
                </a:p>
              </p:txBody>
            </p:sp>
          </mc:Fallback>
        </mc:AlternateContent>
      </p:grpSp>
      <p:sp>
        <p:nvSpPr>
          <p:cNvPr id="33" name="Text 31"/>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18/40   ·   Blok II</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0F6E6E"/>
          </a:solidFill>
          <a:ln w="12700">
            <a:solidFill>
              <a:srgbClr val="0F6E6E"/>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II · KONIUNKCJA I BAYES</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300" b="1" dirty="0">
                <a:solidFill>
                  <a:srgbClr val="16243F"/>
                </a:solidFill>
                <a:latin typeface="Cambria" pitchFamily="34" charset="0"/>
                <a:ea typeface="Cambria" pitchFamily="34" charset="-122"/>
                <a:cs typeface="Cambria" pitchFamily="34" charset="-120"/>
              </a:rPr>
              <a:t>Błąd prokuratora </a:t>
            </a:r>
            <a:r>
              <a:rPr lang="en-US" sz="2300" dirty="0">
                <a:solidFill>
                  <a:srgbClr val="16243F"/>
                </a:solidFill>
                <a:latin typeface="Cambria" pitchFamily="34" charset="0"/>
                <a:ea typeface="Cambria" pitchFamily="34" charset="-122"/>
                <a:cs typeface="Cambria" pitchFamily="34" charset="-120"/>
              </a:rPr>
              <a:t>(prosecutor's fallacy)</a:t>
            </a:r>
            <a:endParaRPr lang="en-US" sz="2300" dirty="0"/>
          </a:p>
        </p:txBody>
      </p:sp>
      <p:sp>
        <p:nvSpPr>
          <p:cNvPr id="5" name="Text 3"/>
          <p:cNvSpPr/>
          <p:nvPr/>
        </p:nvSpPr>
        <p:spPr>
          <a:xfrm>
            <a:off x="457200" y="1371600"/>
            <a:ext cx="8229600" cy="640080"/>
          </a:xfrm>
          <a:prstGeom prst="rect">
            <a:avLst/>
          </a:prstGeom>
          <a:noFill/>
          <a:ln/>
        </p:spPr>
        <p:txBody>
          <a:bodyPr wrap="square" lIns="0" tIns="0" rIns="0" bIns="0" rtlCol="0" anchor="ctr"/>
          <a:lstStyle/>
          <a:p>
            <a:pPr marL="0" indent="0">
              <a:buNone/>
            </a:pPr>
            <a:r>
              <a:rPr lang="en-US" sz="1400" dirty="0">
                <a:solidFill>
                  <a:srgbClr val="2B2D33"/>
                </a:solidFill>
                <a:latin typeface="Calibri" pitchFamily="34" charset="0"/>
                <a:ea typeface="Calibri" pitchFamily="34" charset="-122"/>
                <a:cs typeface="Calibri" pitchFamily="34" charset="-120"/>
              </a:rPr>
              <a:t>Próbka DNA ze śladów na miejscu zbrodni pasuje do profilu genetycznego oskarżonego. </a:t>
            </a:r>
            <a:endParaRPr lang="pl-PL" sz="1400" dirty="0" smtClean="0">
              <a:solidFill>
                <a:srgbClr val="2B2D33"/>
              </a:solidFill>
              <a:latin typeface="Calibri" pitchFamily="34" charset="0"/>
              <a:ea typeface="Calibri" pitchFamily="34" charset="-122"/>
              <a:cs typeface="Calibri" pitchFamily="34" charset="-120"/>
            </a:endParaRPr>
          </a:p>
          <a:p>
            <a:pPr marL="0" indent="0">
              <a:buNone/>
            </a:pPr>
            <a:r>
              <a:rPr lang="en-US" sz="1400" dirty="0" err="1" smtClean="0">
                <a:solidFill>
                  <a:srgbClr val="2B2D33"/>
                </a:solidFill>
                <a:latin typeface="Calibri" pitchFamily="34" charset="0"/>
                <a:ea typeface="Calibri" pitchFamily="34" charset="-122"/>
                <a:cs typeface="Calibri" pitchFamily="34" charset="-120"/>
              </a:rPr>
              <a:t>Prawdopodobieństwo</a:t>
            </a:r>
            <a:r>
              <a:rPr lang="en-US" sz="1400" dirty="0" smtClean="0">
                <a:solidFill>
                  <a:srgbClr val="2B2D33"/>
                </a:solidFill>
                <a:latin typeface="Calibri" pitchFamily="34" charset="0"/>
                <a:ea typeface="Calibri" pitchFamily="34" charset="-122"/>
                <a:cs typeface="Calibri" pitchFamily="34" charset="-120"/>
              </a:rPr>
              <a:t> </a:t>
            </a:r>
            <a:r>
              <a:rPr lang="en-US" sz="1400" dirty="0">
                <a:solidFill>
                  <a:srgbClr val="2B2D33"/>
                </a:solidFill>
                <a:latin typeface="Calibri" pitchFamily="34" charset="0"/>
                <a:ea typeface="Calibri" pitchFamily="34" charset="-122"/>
                <a:cs typeface="Calibri" pitchFamily="34" charset="-120"/>
              </a:rPr>
              <a:t>przypadkowej zgodności profilu DNA u niepowiązanej osoby wynosi 1 na milion.</a:t>
            </a:r>
            <a:endParaRPr lang="en-US" sz="1400" dirty="0"/>
          </a:p>
        </p:txBody>
      </p:sp>
      <p:sp>
        <p:nvSpPr>
          <p:cNvPr id="6" name="Shape 4"/>
          <p:cNvSpPr/>
          <p:nvPr/>
        </p:nvSpPr>
        <p:spPr>
          <a:xfrm>
            <a:off x="457200" y="2103120"/>
            <a:ext cx="4206240" cy="384048"/>
          </a:xfrm>
          <a:prstGeom prst="roundRect">
            <a:avLst>
              <a:gd name="adj" fmla="val 14286"/>
            </a:avLst>
          </a:prstGeom>
          <a:solidFill>
            <a:srgbClr val="EDF1F7"/>
          </a:solidFill>
          <a:ln w="12700">
            <a:solidFill>
              <a:srgbClr val="E1E4EA"/>
            </a:solidFill>
            <a:prstDash val="solid"/>
          </a:ln>
        </p:spPr>
      </p:sp>
      <p:sp>
        <p:nvSpPr>
          <p:cNvPr id="7" name="Text 5"/>
          <p:cNvSpPr/>
          <p:nvPr/>
        </p:nvSpPr>
        <p:spPr>
          <a:xfrm>
            <a:off x="594360" y="2103120"/>
            <a:ext cx="3959352" cy="384048"/>
          </a:xfrm>
          <a:prstGeom prst="rect">
            <a:avLst/>
          </a:prstGeom>
          <a:noFill/>
          <a:ln/>
        </p:spPr>
        <p:txBody>
          <a:bodyPr wrap="square" lIns="0" tIns="0" rIns="0" bIns="0" rtlCol="0" anchor="ctr"/>
          <a:lstStyle/>
          <a:p>
            <a:pPr marL="0" indent="0">
              <a:buNone/>
            </a:pPr>
            <a:r>
              <a:rPr lang="en-US" sz="1200" b="1" dirty="0">
                <a:solidFill>
                  <a:srgbClr val="16243F"/>
                </a:solidFill>
                <a:latin typeface="Calibri" pitchFamily="34" charset="0"/>
                <a:ea typeface="Calibri" pitchFamily="34" charset="-122"/>
                <a:cs typeface="Calibri" pitchFamily="34" charset="-120"/>
              </a:rPr>
              <a:t>Jakie jest prawdopodobieństwo, że oskarżony jest niewinny?</a:t>
            </a:r>
            <a:endParaRPr lang="en-US" sz="1200" dirty="0"/>
          </a:p>
        </p:txBody>
      </p:sp>
      <p:sp>
        <p:nvSpPr>
          <p:cNvPr id="8" name="Shape 6"/>
          <p:cNvSpPr/>
          <p:nvPr/>
        </p:nvSpPr>
        <p:spPr>
          <a:xfrm>
            <a:off x="457200" y="2560320"/>
            <a:ext cx="4206240" cy="457200"/>
          </a:xfrm>
          <a:prstGeom prst="roundRect">
            <a:avLst>
              <a:gd name="adj" fmla="val 12000"/>
            </a:avLst>
          </a:prstGeom>
          <a:solidFill>
            <a:srgbClr val="FFFFFF"/>
          </a:solidFill>
          <a:ln w="12700">
            <a:solidFill>
              <a:srgbClr val="E1E4EA"/>
            </a:solidFill>
            <a:prstDash val="solid"/>
          </a:ln>
        </p:spPr>
      </p:sp>
      <p:sp>
        <p:nvSpPr>
          <p:cNvPr id="9" name="Shape 7"/>
          <p:cNvSpPr/>
          <p:nvPr/>
        </p:nvSpPr>
        <p:spPr>
          <a:xfrm>
            <a:off x="548640" y="2670048"/>
            <a:ext cx="237744" cy="237744"/>
          </a:xfrm>
          <a:prstGeom prst="ellipse">
            <a:avLst/>
          </a:prstGeom>
          <a:solidFill>
            <a:srgbClr val="EDF1F7"/>
          </a:solidFill>
          <a:ln w="12700">
            <a:solidFill>
              <a:srgbClr val="16243F"/>
            </a:solidFill>
            <a:prstDash val="solid"/>
          </a:ln>
        </p:spPr>
      </p:sp>
      <p:sp>
        <p:nvSpPr>
          <p:cNvPr id="10" name="Text 8"/>
          <p:cNvSpPr/>
          <p:nvPr/>
        </p:nvSpPr>
        <p:spPr>
          <a:xfrm>
            <a:off x="548640" y="2670048"/>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1" name="Text 9"/>
          <p:cNvSpPr/>
          <p:nvPr/>
        </p:nvSpPr>
        <p:spPr>
          <a:xfrm>
            <a:off x="859536" y="2560320"/>
            <a:ext cx="3694176" cy="4572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Około 1 na milion (prawie na pewno winny)</a:t>
            </a:r>
            <a:endParaRPr lang="en-US" sz="1200" dirty="0"/>
          </a:p>
        </p:txBody>
      </p:sp>
      <p:sp>
        <p:nvSpPr>
          <p:cNvPr id="12" name="Shape 10"/>
          <p:cNvSpPr/>
          <p:nvPr/>
        </p:nvSpPr>
        <p:spPr>
          <a:xfrm>
            <a:off x="457200" y="3077210"/>
            <a:ext cx="4206240" cy="548640"/>
          </a:xfrm>
          <a:prstGeom prst="roundRect">
            <a:avLst>
              <a:gd name="adj" fmla="val 12000"/>
            </a:avLst>
          </a:prstGeom>
          <a:solidFill>
            <a:srgbClr val="FFFFFF"/>
          </a:solidFill>
          <a:ln w="12700">
            <a:solidFill>
              <a:srgbClr val="E1E4EA"/>
            </a:solidFill>
            <a:prstDash val="solid"/>
          </a:ln>
        </p:spPr>
      </p:sp>
      <p:sp>
        <p:nvSpPr>
          <p:cNvPr id="13" name="Shape 11"/>
          <p:cNvSpPr/>
          <p:nvPr/>
        </p:nvSpPr>
        <p:spPr>
          <a:xfrm>
            <a:off x="548640" y="3231388"/>
            <a:ext cx="237744" cy="237744"/>
          </a:xfrm>
          <a:prstGeom prst="ellipse">
            <a:avLst/>
          </a:prstGeom>
          <a:solidFill>
            <a:srgbClr val="EDF1F7"/>
          </a:solidFill>
          <a:ln w="12700">
            <a:solidFill>
              <a:srgbClr val="16243F"/>
            </a:solidFill>
            <a:prstDash val="solid"/>
          </a:ln>
        </p:spPr>
      </p:sp>
      <p:sp>
        <p:nvSpPr>
          <p:cNvPr id="14" name="Text 12"/>
          <p:cNvSpPr/>
          <p:nvPr/>
        </p:nvSpPr>
        <p:spPr>
          <a:xfrm>
            <a:off x="548640" y="3218688"/>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5" name="Text 13"/>
          <p:cNvSpPr/>
          <p:nvPr/>
        </p:nvSpPr>
        <p:spPr>
          <a:xfrm>
            <a:off x="859536" y="3108960"/>
            <a:ext cx="3694176" cy="457200"/>
          </a:xfrm>
          <a:prstGeom prst="rect">
            <a:avLst/>
          </a:prstGeom>
          <a:noFill/>
          <a:ln/>
        </p:spPr>
        <p:txBody>
          <a:bodyPr wrap="square" lIns="0" tIns="0" rIns="0" bIns="0" rtlCol="0" anchor="ctr"/>
          <a:lstStyle/>
          <a:p>
            <a:r>
              <a:rPr lang="pl-PL" sz="1200" dirty="0">
                <a:solidFill>
                  <a:srgbClr val="2B2D33"/>
                </a:solidFill>
                <a:latin typeface="Calibri" pitchFamily="34" charset="0"/>
                <a:ea typeface="Calibri" pitchFamily="34" charset="-122"/>
                <a:cs typeface="Calibri" pitchFamily="34" charset="-120"/>
              </a:rPr>
              <a:t>Nie da się tego ustalić bez uwzględnienia innych </a:t>
            </a:r>
            <a:br>
              <a:rPr lang="pl-PL" sz="1200" dirty="0">
                <a:solidFill>
                  <a:srgbClr val="2B2D33"/>
                </a:solidFill>
                <a:latin typeface="Calibri" pitchFamily="34" charset="0"/>
                <a:ea typeface="Calibri" pitchFamily="34" charset="-122"/>
                <a:cs typeface="Calibri" pitchFamily="34" charset="-120"/>
              </a:rPr>
            </a:br>
            <a:r>
              <a:rPr lang="pl-PL" sz="1200" dirty="0">
                <a:solidFill>
                  <a:srgbClr val="2B2D33"/>
                </a:solidFill>
                <a:latin typeface="Calibri" pitchFamily="34" charset="0"/>
                <a:ea typeface="Calibri" pitchFamily="34" charset="-122"/>
                <a:cs typeface="Calibri" pitchFamily="34" charset="-120"/>
              </a:rPr>
              <a:t>dowodów i wielkości populacji podejrzanych</a:t>
            </a:r>
            <a:endParaRPr lang="pl-PL" sz="1200" dirty="0">
              <a:solidFill>
                <a:srgbClr val="2B2D33"/>
              </a:solidFill>
              <a:latin typeface="Calibri" pitchFamily="34" charset="0"/>
              <a:ea typeface="Calibri" pitchFamily="34" charset="-122"/>
              <a:cs typeface="Calibri" pitchFamily="34" charset="-120"/>
            </a:endParaRPr>
          </a:p>
        </p:txBody>
      </p:sp>
      <p:sp>
        <p:nvSpPr>
          <p:cNvPr id="18" name="Shape 16"/>
          <p:cNvSpPr/>
          <p:nvPr/>
        </p:nvSpPr>
        <p:spPr>
          <a:xfrm>
            <a:off x="7406640" y="4041648"/>
            <a:ext cx="1280160" cy="731520"/>
          </a:xfrm>
          <a:prstGeom prst="roundRect">
            <a:avLst>
              <a:gd name="adj" fmla="val 6000"/>
            </a:avLst>
          </a:prstGeom>
          <a:solidFill>
            <a:srgbClr val="EDF1F7"/>
          </a:solidFill>
          <a:ln w="12700">
            <a:solidFill>
              <a:srgbClr val="E1E4EA"/>
            </a:solidFill>
            <a:prstDash val="solid"/>
          </a:ln>
        </p:spPr>
      </p:sp>
      <p:sp>
        <p:nvSpPr>
          <p:cNvPr id="19" name="Shape 17"/>
          <p:cNvSpPr/>
          <p:nvPr/>
        </p:nvSpPr>
        <p:spPr>
          <a:xfrm>
            <a:off x="7516368" y="4133088"/>
            <a:ext cx="365760" cy="365760"/>
          </a:xfrm>
          <a:prstGeom prst="rect">
            <a:avLst/>
          </a:prstGeom>
          <a:solidFill>
            <a:srgbClr val="FFFFFF"/>
          </a:solidFill>
          <a:ln w="19050">
            <a:solidFill>
              <a:srgbClr val="16243F"/>
            </a:solidFill>
            <a:prstDash val="solid"/>
          </a:ln>
        </p:spPr>
      </p:sp>
      <p:sp>
        <p:nvSpPr>
          <p:cNvPr id="20" name="Shape 18"/>
          <p:cNvSpPr/>
          <p:nvPr/>
        </p:nvSpPr>
        <p:spPr>
          <a:xfrm>
            <a:off x="7543800" y="4160520"/>
            <a:ext cx="82296" cy="82296"/>
          </a:xfrm>
          <a:prstGeom prst="rect">
            <a:avLst/>
          </a:prstGeom>
          <a:solidFill>
            <a:srgbClr val="16243F"/>
          </a:solidFill>
          <a:ln w="12700">
            <a:solidFill>
              <a:srgbClr val="16243F"/>
            </a:solidFill>
            <a:prstDash val="solid"/>
          </a:ln>
        </p:spPr>
      </p:sp>
      <p:sp>
        <p:nvSpPr>
          <p:cNvPr id="21" name="Shape 19"/>
          <p:cNvSpPr/>
          <p:nvPr/>
        </p:nvSpPr>
        <p:spPr>
          <a:xfrm>
            <a:off x="7543800" y="4361688"/>
            <a:ext cx="82296" cy="82296"/>
          </a:xfrm>
          <a:prstGeom prst="rect">
            <a:avLst/>
          </a:prstGeom>
          <a:solidFill>
            <a:srgbClr val="16243F"/>
          </a:solidFill>
          <a:ln w="12700">
            <a:solidFill>
              <a:srgbClr val="16243F"/>
            </a:solidFill>
            <a:prstDash val="solid"/>
          </a:ln>
        </p:spPr>
      </p:sp>
      <p:sp>
        <p:nvSpPr>
          <p:cNvPr id="22" name="Shape 20"/>
          <p:cNvSpPr/>
          <p:nvPr/>
        </p:nvSpPr>
        <p:spPr>
          <a:xfrm>
            <a:off x="7644384" y="4261104"/>
            <a:ext cx="82296" cy="82296"/>
          </a:xfrm>
          <a:prstGeom prst="rect">
            <a:avLst/>
          </a:prstGeom>
          <a:solidFill>
            <a:srgbClr val="16243F"/>
          </a:solidFill>
          <a:ln w="12700">
            <a:solidFill>
              <a:srgbClr val="16243F"/>
            </a:solidFill>
            <a:prstDash val="solid"/>
          </a:ln>
        </p:spPr>
      </p:sp>
      <p:sp>
        <p:nvSpPr>
          <p:cNvPr id="23" name="Shape 21"/>
          <p:cNvSpPr/>
          <p:nvPr/>
        </p:nvSpPr>
        <p:spPr>
          <a:xfrm>
            <a:off x="7744968" y="4160520"/>
            <a:ext cx="82296" cy="82296"/>
          </a:xfrm>
          <a:prstGeom prst="rect">
            <a:avLst/>
          </a:prstGeom>
          <a:solidFill>
            <a:srgbClr val="16243F"/>
          </a:solidFill>
          <a:ln w="12700">
            <a:solidFill>
              <a:srgbClr val="16243F"/>
            </a:solidFill>
            <a:prstDash val="solid"/>
          </a:ln>
        </p:spPr>
      </p:sp>
      <p:sp>
        <p:nvSpPr>
          <p:cNvPr id="24" name="Shape 22"/>
          <p:cNvSpPr/>
          <p:nvPr/>
        </p:nvSpPr>
        <p:spPr>
          <a:xfrm>
            <a:off x="7744968" y="4361688"/>
            <a:ext cx="82296" cy="82296"/>
          </a:xfrm>
          <a:prstGeom prst="rect">
            <a:avLst/>
          </a:prstGeom>
          <a:solidFill>
            <a:srgbClr val="16243F"/>
          </a:solidFill>
          <a:ln w="12700">
            <a:solidFill>
              <a:srgbClr val="16243F"/>
            </a:solidFill>
            <a:prstDash val="solid"/>
          </a:ln>
        </p:spPr>
      </p:sp>
      <p:sp>
        <p:nvSpPr>
          <p:cNvPr id="25" name="Text 23"/>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26" name="Text 24"/>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31" name="Grupa 30"/>
          <p:cNvGrpSpPr/>
          <p:nvPr/>
        </p:nvGrpSpPr>
        <p:grpSpPr>
          <a:xfrm>
            <a:off x="4956048" y="2305637"/>
            <a:ext cx="3807460" cy="1623072"/>
            <a:chOff x="4855464" y="2079498"/>
            <a:chExt cx="3807460" cy="1623072"/>
          </a:xfrm>
        </p:grpSpPr>
        <p:sp>
          <p:nvSpPr>
            <p:cNvPr id="27" name="Shape 25"/>
            <p:cNvSpPr/>
            <p:nvPr/>
          </p:nvSpPr>
          <p:spPr>
            <a:xfrm>
              <a:off x="4855464" y="2079498"/>
              <a:ext cx="3794760" cy="1623072"/>
            </a:xfrm>
            <a:prstGeom prst="roundRect">
              <a:avLst>
                <a:gd name="adj" fmla="val 4286"/>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28" name="Text 26"/>
            <p:cNvSpPr/>
            <p:nvPr/>
          </p:nvSpPr>
          <p:spPr>
            <a:xfrm>
              <a:off x="4965192" y="2116582"/>
              <a:ext cx="3502152"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mc:AlternateContent xmlns:mc="http://schemas.openxmlformats.org/markup-compatibility/2006">
          <mc:Choice xmlns:a14="http://schemas.microsoft.com/office/drawing/2010/main" Requires="a14">
            <p:sp>
              <p:nvSpPr>
                <p:cNvPr id="29" name="Text 27"/>
                <p:cNvSpPr/>
                <p:nvPr/>
              </p:nvSpPr>
              <p:spPr>
                <a:xfrm>
                  <a:off x="4968748" y="2400301"/>
                  <a:ext cx="3694176" cy="1225550"/>
                </a:xfrm>
                <a:prstGeom prst="rect">
                  <a:avLst/>
                </a:prstGeom>
                <a:noFill/>
                <a:ln/>
              </p:spPr>
              <p:txBody>
                <a:bodyPr wrap="square" lIns="0" tIns="0" rIns="0" bIns="0" rtlCol="0" anchor="t"/>
                <a:lstStyle/>
                <a:p>
                  <a:r>
                    <a:rPr lang="pl-PL" sz="1200" b="1" dirty="0">
                      <a:solidFill>
                        <a:srgbClr val="16243F"/>
                      </a:solidFill>
                      <a:latin typeface="Calibri" pitchFamily="34" charset="0"/>
                      <a:ea typeface="Calibri" pitchFamily="34" charset="-122"/>
                      <a:cs typeface="Calibri" pitchFamily="34" charset="-120"/>
                    </a:rPr>
                    <a:t>Odpowiedź B</a:t>
                  </a:r>
                  <a:r>
                    <a:rPr lang="pl-PL" sz="1200" dirty="0">
                      <a:solidFill>
                        <a:srgbClr val="16243F"/>
                      </a:solidFill>
                      <a:latin typeface="Calibri" pitchFamily="34" charset="0"/>
                      <a:ea typeface="Calibri" pitchFamily="34" charset="-122"/>
                      <a:cs typeface="Calibri" pitchFamily="34" charset="-120"/>
                    </a:rPr>
                    <a:t>. Prawdopodobieństwo </a:t>
                  </a:r>
                  <a:r>
                    <a:rPr lang="pl-PL" sz="1200" dirty="0" smtClean="0">
                      <a:solidFill>
                        <a:srgbClr val="16243F"/>
                      </a:solidFill>
                      <a:latin typeface="Calibri" pitchFamily="34" charset="0"/>
                      <a:ea typeface="Calibri" pitchFamily="34" charset="-122"/>
                      <a:cs typeface="Calibri" pitchFamily="34" charset="-120"/>
                    </a:rPr>
                    <a:t/>
                  </a:r>
                  <a:br>
                    <a:rPr lang="pl-PL" sz="1200" dirty="0" smtClean="0">
                      <a:solidFill>
                        <a:srgbClr val="16243F"/>
                      </a:solidFill>
                      <a:latin typeface="Calibri" pitchFamily="34" charset="0"/>
                      <a:ea typeface="Calibri" pitchFamily="34" charset="-122"/>
                      <a:cs typeface="Calibri" pitchFamily="34" charset="-120"/>
                    </a:rPr>
                  </a:br>
                  <a:r>
                    <a:rPr lang="pl-PL" sz="1200" dirty="0" smtClean="0">
                      <a:solidFill>
                        <a:srgbClr val="16243F"/>
                      </a:solidFill>
                      <a:latin typeface="Calibri" pitchFamily="34" charset="0"/>
                      <a:ea typeface="Calibri" pitchFamily="34" charset="-122"/>
                      <a:cs typeface="Calibri" pitchFamily="34" charset="-120"/>
                    </a:rPr>
                    <a:t>dopasowania </a:t>
                  </a:r>
                  <a:r>
                    <a:rPr lang="pl-PL" sz="1200" dirty="0">
                      <a:solidFill>
                        <a:srgbClr val="16243F"/>
                      </a:solidFill>
                      <a:latin typeface="Calibri" pitchFamily="34" charset="0"/>
                      <a:ea typeface="Calibri" pitchFamily="34" charset="-122"/>
                      <a:cs typeface="Calibri" pitchFamily="34" charset="-120"/>
                    </a:rPr>
                    <a:t>DNA </a:t>
                  </a:r>
                  <a:r>
                    <a:rPr lang="pl-PL" sz="1200" dirty="0" smtClean="0">
                      <a:solidFill>
                        <a:srgbClr val="16243F"/>
                      </a:solidFill>
                      <a:latin typeface="Calibri" pitchFamily="34" charset="0"/>
                      <a:ea typeface="Calibri" pitchFamily="34" charset="-122"/>
                      <a:cs typeface="Calibri" pitchFamily="34" charset="-120"/>
                    </a:rPr>
                    <a:t>u </a:t>
                  </a:r>
                  <a:r>
                    <a:rPr lang="pl-PL" sz="1200" dirty="0">
                      <a:solidFill>
                        <a:srgbClr val="16243F"/>
                      </a:solidFill>
                      <a:latin typeface="Calibri" pitchFamily="34" charset="0"/>
                      <a:ea typeface="Calibri" pitchFamily="34" charset="-122"/>
                      <a:cs typeface="Calibri" pitchFamily="34" charset="-120"/>
                    </a:rPr>
                    <a:t>przypadkowej osoby (1 na milion) to </a:t>
                  </a:r>
                  <a14:m>
                    <m:oMath xmlns:m="http://schemas.openxmlformats.org/officeDocument/2006/math">
                      <m:r>
                        <a:rPr lang="pl-PL" sz="1100" b="1" i="1" spc="-50" dirty="0" smtClean="0">
                          <a:solidFill>
                            <a:srgbClr val="16243F"/>
                          </a:solidFill>
                          <a:latin typeface="Cambria Math" panose="02040503050406030204" pitchFamily="18" charset="0"/>
                          <a:ea typeface="Cambria Math" panose="02040503050406030204" pitchFamily="18" charset="0"/>
                          <a:cs typeface="Calibri" pitchFamily="34" charset="-120"/>
                        </a:rPr>
                        <m:t>𝑷</m:t>
                      </m:r>
                      <m:r>
                        <a:rPr lang="pl-PL" sz="1100" b="1" i="1" spc="-70" dirty="0" smtClean="0">
                          <a:solidFill>
                            <a:srgbClr val="16243F"/>
                          </a:solidFill>
                          <a:latin typeface="Cambria Math" panose="02040503050406030204" pitchFamily="18" charset="0"/>
                          <a:ea typeface="Cambria Math" panose="02040503050406030204" pitchFamily="18" charset="0"/>
                          <a:cs typeface="Calibri" pitchFamily="34" charset="-120"/>
                        </a:rPr>
                        <m:t>(</m:t>
                      </m:r>
                      <m:r>
                        <a:rPr lang="pl-PL" sz="1100" b="1" i="1" spc="-70" dirty="0" smtClean="0">
                          <a:solidFill>
                            <a:srgbClr val="16243F"/>
                          </a:solidFill>
                          <a:latin typeface="Cambria Math" panose="02040503050406030204" pitchFamily="18" charset="0"/>
                          <a:ea typeface="Cambria Math" panose="02040503050406030204" pitchFamily="18" charset="0"/>
                          <a:cs typeface="Calibri" pitchFamily="34" charset="-120"/>
                        </a:rPr>
                        <m:t>𝒅𝒐𝒑𝒂𝒔𝒐𝒘𝒂𝒏𝒊𝒆</m:t>
                      </m:r>
                      <m:r>
                        <a:rPr lang="pl-PL" sz="1100" b="1" i="1" spc="-70" dirty="0" smtClean="0">
                          <a:solidFill>
                            <a:srgbClr val="16243F"/>
                          </a:solidFill>
                          <a:latin typeface="Cambria Math" panose="02040503050406030204" pitchFamily="18" charset="0"/>
                          <a:ea typeface="Cambria Math" panose="02040503050406030204" pitchFamily="18" charset="0"/>
                          <a:cs typeface="Calibri" pitchFamily="34" charset="-120"/>
                        </a:rPr>
                        <m:t>|</m:t>
                      </m:r>
                      <m:r>
                        <a:rPr lang="pl-PL" sz="1100" b="1" i="1" spc="-70" dirty="0" smtClean="0">
                          <a:solidFill>
                            <a:srgbClr val="16243F"/>
                          </a:solidFill>
                          <a:latin typeface="Cambria Math" panose="02040503050406030204" pitchFamily="18" charset="0"/>
                          <a:ea typeface="Cambria Math" panose="02040503050406030204" pitchFamily="18" charset="0"/>
                          <a:cs typeface="Calibri" pitchFamily="34" charset="-120"/>
                        </a:rPr>
                        <m:t>𝒏𝒊𝒆𝒘𝒊𝒏𝒏𝒚</m:t>
                      </m:r>
                      <m:r>
                        <a:rPr lang="pl-PL" sz="1100" b="1" i="1" spc="-70" dirty="0" smtClean="0">
                          <a:solidFill>
                            <a:srgbClr val="16243F"/>
                          </a:solidFill>
                          <a:latin typeface="Cambria Math" panose="02040503050406030204" pitchFamily="18" charset="0"/>
                          <a:ea typeface="Cambria Math" panose="02040503050406030204" pitchFamily="18" charset="0"/>
                          <a:cs typeface="Calibri" pitchFamily="34" charset="-120"/>
                        </a:rPr>
                        <m:t>)</m:t>
                      </m:r>
                    </m:oMath>
                  </a14:m>
                  <a:r>
                    <a:rPr lang="pl-PL" sz="1100" i="1" spc="-70" dirty="0">
                      <a:solidFill>
                        <a:srgbClr val="16243F"/>
                      </a:solidFill>
                      <a:latin typeface="Cambria Math" panose="02040503050406030204" pitchFamily="18" charset="0"/>
                      <a:ea typeface="Cambria Math" panose="02040503050406030204" pitchFamily="18" charset="0"/>
                      <a:cs typeface="Calibri" pitchFamily="34" charset="-120"/>
                    </a:rPr>
                    <a:t>, </a:t>
                  </a:r>
                  <a:r>
                    <a:rPr lang="pl-PL" sz="1200" dirty="0">
                      <a:solidFill>
                        <a:srgbClr val="16243F"/>
                      </a:solidFill>
                      <a:latin typeface="Calibri" pitchFamily="34" charset="0"/>
                      <a:ea typeface="Calibri" pitchFamily="34" charset="-122"/>
                      <a:cs typeface="Calibri" pitchFamily="34" charset="-120"/>
                    </a:rPr>
                    <a:t>a nie </a:t>
                  </a:r>
                  <a14:m>
                    <m:oMath xmlns:m="http://schemas.openxmlformats.org/officeDocument/2006/math">
                      <m:r>
                        <a:rPr lang="pl-PL" sz="1100" b="1" i="1" spc="-50" dirty="0" smtClean="0">
                          <a:solidFill>
                            <a:srgbClr val="16243F"/>
                          </a:solidFill>
                          <a:latin typeface="Cambria Math" panose="02040503050406030204" pitchFamily="18" charset="0"/>
                          <a:ea typeface="Cambria Math" panose="02040503050406030204" pitchFamily="18" charset="0"/>
                          <a:cs typeface="Calibri" pitchFamily="34" charset="-120"/>
                        </a:rPr>
                        <m:t>𝑷</m:t>
                      </m:r>
                      <m:r>
                        <a:rPr lang="pl-PL" sz="1100" b="1" i="1" spc="-70" dirty="0" smtClean="0">
                          <a:solidFill>
                            <a:srgbClr val="16243F"/>
                          </a:solidFill>
                          <a:latin typeface="Cambria Math" panose="02040503050406030204" pitchFamily="18" charset="0"/>
                          <a:ea typeface="Cambria Math" panose="02040503050406030204" pitchFamily="18" charset="0"/>
                          <a:cs typeface="Calibri" pitchFamily="34" charset="-120"/>
                        </a:rPr>
                        <m:t>(</m:t>
                      </m:r>
                      <m:r>
                        <a:rPr lang="pl-PL" sz="1100" b="1" i="1" spc="-70" dirty="0" smtClean="0">
                          <a:solidFill>
                            <a:srgbClr val="16243F"/>
                          </a:solidFill>
                          <a:latin typeface="Cambria Math" panose="02040503050406030204" pitchFamily="18" charset="0"/>
                          <a:ea typeface="Cambria Math" panose="02040503050406030204" pitchFamily="18" charset="0"/>
                          <a:cs typeface="Calibri" pitchFamily="34" charset="-120"/>
                        </a:rPr>
                        <m:t>𝒏𝒊𝒆𝒘𝒊𝒏𝒏𝒚</m:t>
                      </m:r>
                      <m:r>
                        <a:rPr lang="pl-PL" sz="1100" b="1" i="1" spc="-70" dirty="0" smtClean="0">
                          <a:solidFill>
                            <a:srgbClr val="16243F"/>
                          </a:solidFill>
                          <a:latin typeface="Cambria Math" panose="02040503050406030204" pitchFamily="18" charset="0"/>
                          <a:ea typeface="Cambria Math" panose="02040503050406030204" pitchFamily="18" charset="0"/>
                          <a:cs typeface="Calibri" pitchFamily="34" charset="-120"/>
                        </a:rPr>
                        <m:t>|</m:t>
                      </m:r>
                      <m:r>
                        <a:rPr lang="pl-PL" sz="1100" b="1" i="1" spc="-70" dirty="0" smtClean="0">
                          <a:solidFill>
                            <a:srgbClr val="16243F"/>
                          </a:solidFill>
                          <a:latin typeface="Cambria Math" panose="02040503050406030204" pitchFamily="18" charset="0"/>
                          <a:ea typeface="Cambria Math" panose="02040503050406030204" pitchFamily="18" charset="0"/>
                          <a:cs typeface="Calibri" pitchFamily="34" charset="-120"/>
                        </a:rPr>
                        <m:t>𝒅𝒐𝒑𝒂𝒔𝒐𝒘𝒂𝒏𝒊𝒆</m:t>
                      </m:r>
                      <m:r>
                        <a:rPr lang="pl-PL" sz="1100" b="1" i="1" spc="-70" dirty="0">
                          <a:solidFill>
                            <a:srgbClr val="16243F"/>
                          </a:solidFill>
                          <a:latin typeface="Cambria Math" panose="02040503050406030204" pitchFamily="18" charset="0"/>
                          <a:ea typeface="Cambria Math" panose="02040503050406030204" pitchFamily="18" charset="0"/>
                          <a:cs typeface="Calibri" pitchFamily="34" charset="-120"/>
                        </a:rPr>
                        <m:t>)</m:t>
                      </m:r>
                    </m:oMath>
                  </a14:m>
                  <a:endParaRPr lang="pl-PL" sz="1100" b="1" i="1" spc="-70" dirty="0">
                    <a:solidFill>
                      <a:srgbClr val="16243F"/>
                    </a:solidFill>
                    <a:latin typeface="Cambria Math" panose="02040503050406030204" pitchFamily="18" charset="0"/>
                    <a:ea typeface="Cambria Math" panose="02040503050406030204" pitchFamily="18" charset="0"/>
                    <a:cs typeface="Calibri" pitchFamily="34" charset="-120"/>
                  </a:endParaRPr>
                </a:p>
                <a:p>
                  <a:endParaRPr lang="pl-PL" sz="800" dirty="0">
                    <a:solidFill>
                      <a:srgbClr val="16243F"/>
                    </a:solidFill>
                    <a:latin typeface="Calibri" pitchFamily="34" charset="0"/>
                    <a:ea typeface="Calibri" pitchFamily="34" charset="-122"/>
                    <a:cs typeface="Calibri" pitchFamily="34" charset="-120"/>
                  </a:endParaRPr>
                </a:p>
                <a:p>
                  <a:r>
                    <a:rPr lang="pl-PL" sz="1200" dirty="0">
                      <a:solidFill>
                        <a:srgbClr val="16243F"/>
                      </a:solidFill>
                      <a:latin typeface="Calibri" pitchFamily="34" charset="0"/>
                      <a:ea typeface="Calibri" pitchFamily="34" charset="-122"/>
                      <a:cs typeface="Calibri" pitchFamily="34" charset="-120"/>
                    </a:rPr>
                    <a:t>W mieście liczącym 10 milionów mieszkańców oczekuje się ok. 10 przypadkowych dopasowań - sam fakt dopasowania nie rozstrzyga winy bez uwzględnienia innych dowodów.</a:t>
                  </a:r>
                  <a:endParaRPr lang="pl-PL" sz="1200" dirty="0">
                    <a:solidFill>
                      <a:srgbClr val="16243F"/>
                    </a:solidFill>
                    <a:latin typeface="Calibri" pitchFamily="34" charset="0"/>
                    <a:ea typeface="Calibri" pitchFamily="34" charset="-122"/>
                    <a:cs typeface="Calibri" pitchFamily="34" charset="-120"/>
                  </a:endParaRPr>
                </a:p>
              </p:txBody>
            </p:sp>
          </mc:Choice>
          <mc:Fallback>
            <p:sp>
              <p:nvSpPr>
                <p:cNvPr id="29" name="Text 27"/>
                <p:cNvSpPr>
                  <a:spLocks noRot="1" noChangeAspect="1" noMove="1" noResize="1" noEditPoints="1" noAdjustHandles="1" noChangeArrowheads="1" noChangeShapeType="1" noTextEdit="1"/>
                </p:cNvSpPr>
                <p:nvPr/>
              </p:nvSpPr>
              <p:spPr>
                <a:xfrm>
                  <a:off x="4968748" y="2400301"/>
                  <a:ext cx="3694176" cy="1225550"/>
                </a:xfrm>
                <a:prstGeom prst="rect">
                  <a:avLst/>
                </a:prstGeom>
                <a:blipFill>
                  <a:blip r:embed="rId3"/>
                  <a:stretch>
                    <a:fillRect l="-2640" t="-3980" r="-1980" b="-6965"/>
                  </a:stretch>
                </a:blipFill>
                <a:ln/>
              </p:spPr>
              <p:txBody>
                <a:bodyPr/>
                <a:lstStyle/>
                <a:p>
                  <a:r>
                    <a:rPr lang="pl-PL">
                      <a:noFill/>
                    </a:rPr>
                    <a:t> </a:t>
                  </a:r>
                </a:p>
              </p:txBody>
            </p:sp>
          </mc:Fallback>
        </mc:AlternateContent>
      </p:grpSp>
      <p:sp>
        <p:nvSpPr>
          <p:cNvPr id="30" name="Text 28"/>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19/40   ·   Blok II</a:t>
            </a:r>
            <a:endParaRPr lang="en-US" sz="800" dirty="0"/>
          </a:p>
        </p:txBody>
      </p:sp>
      <p:sp>
        <p:nvSpPr>
          <p:cNvPr id="32" name="Shape 13"/>
          <p:cNvSpPr/>
          <p:nvPr/>
        </p:nvSpPr>
        <p:spPr>
          <a:xfrm>
            <a:off x="4956048" y="2101455"/>
            <a:ext cx="3794760" cy="158207"/>
          </a:xfrm>
          <a:prstGeom prst="roundRect">
            <a:avLst>
              <a:gd name="adj" fmla="val 17647"/>
            </a:avLst>
          </a:prstGeom>
          <a:solidFill>
            <a:srgbClr val="C07A35"/>
          </a:solidFill>
          <a:ln w="12700">
            <a:solidFill>
              <a:srgbClr val="C07A35"/>
            </a:solidFill>
            <a:prstDash val="solid"/>
          </a:ln>
        </p:spPr>
        <p:txBody>
          <a:bodyPr anchor="ctr"/>
          <a:lstStyle/>
          <a:p>
            <a:pPr algn="ctr"/>
            <a:r>
              <a:rPr lang="en-US" sz="900" b="1" dirty="0">
                <a:solidFill>
                  <a:srgbClr val="FFFFFF"/>
                </a:solidFill>
                <a:latin typeface="Calibri" pitchFamily="34" charset="0"/>
                <a:ea typeface="Calibri" pitchFamily="34" charset="-122"/>
                <a:cs typeface="Calibri" pitchFamily="34" charset="-120"/>
              </a:rPr>
              <a:t>ZAGŁOSUJ PRZED UJAWNIENIEM </a:t>
            </a:r>
            <a:r>
              <a:rPr lang="en-US" sz="900" b="1" dirty="0" smtClean="0">
                <a:solidFill>
                  <a:srgbClr val="FFFFFF"/>
                </a:solidFill>
                <a:latin typeface="Calibri" pitchFamily="34" charset="0"/>
                <a:ea typeface="Calibri" pitchFamily="34" charset="-122"/>
                <a:cs typeface="Calibri" pitchFamily="34" charset="-120"/>
              </a:rPr>
              <a:t>ROZWIĄZANIA</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anim calcmode="lin" valueType="num">
                                      <p:cBhvr>
                                        <p:cTn id="8" dur="500" fill="hold"/>
                                        <p:tgtEl>
                                          <p:spTgt spid="32"/>
                                        </p:tgtEl>
                                        <p:attrNameLst>
                                          <p:attrName>ppt_x</p:attrName>
                                        </p:attrNameLst>
                                      </p:cBhvr>
                                      <p:tavLst>
                                        <p:tav tm="0">
                                          <p:val>
                                            <p:strVal val="#ppt_x"/>
                                          </p:val>
                                        </p:tav>
                                        <p:tav tm="100000">
                                          <p:val>
                                            <p:strVal val="#ppt_x"/>
                                          </p:val>
                                        </p:tav>
                                      </p:tavLst>
                                    </p:anim>
                                    <p:anim calcmode="lin" valueType="num">
                                      <p:cBhvr>
                                        <p:cTn id="9" dur="5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500"/>
                                        <p:tgtEl>
                                          <p:spTgt spid="31"/>
                                        </p:tgtEl>
                                      </p:cBhvr>
                                    </p:animEffect>
                                    <p:anim calcmode="lin" valueType="num">
                                      <p:cBhvr>
                                        <p:cTn id="15" dur="500" fill="hold"/>
                                        <p:tgtEl>
                                          <p:spTgt spid="31"/>
                                        </p:tgtEl>
                                        <p:attrNameLst>
                                          <p:attrName>ppt_x</p:attrName>
                                        </p:attrNameLst>
                                      </p:cBhvr>
                                      <p:tavLst>
                                        <p:tav tm="0">
                                          <p:val>
                                            <p:strVal val="#ppt_x"/>
                                          </p:val>
                                        </p:tav>
                                        <p:tav tm="100000">
                                          <p:val>
                                            <p:strVal val="#ppt_x"/>
                                          </p:val>
                                        </p:tav>
                                      </p:tavLst>
                                    </p:anim>
                                    <p:anim calcmode="lin" valueType="num">
                                      <p:cBhvr>
                                        <p:cTn id="16" dur="5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0F6E6E"/>
          </a:solidFill>
          <a:ln w="12700">
            <a:solidFill>
              <a:srgbClr val="0F6E6E"/>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II · KONIUNKCJA I BAYES</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Paradoks fałszywych alarmów</a:t>
            </a:r>
            <a:endParaRPr lang="en-US" sz="2400" dirty="0"/>
          </a:p>
        </p:txBody>
      </p:sp>
      <p:sp>
        <p:nvSpPr>
          <p:cNvPr id="5" name="Text 3"/>
          <p:cNvSpPr/>
          <p:nvPr/>
        </p:nvSpPr>
        <p:spPr>
          <a:xfrm>
            <a:off x="457200" y="1371600"/>
            <a:ext cx="8229600" cy="640080"/>
          </a:xfrm>
          <a:prstGeom prst="rect">
            <a:avLst/>
          </a:prstGeom>
          <a:noFill/>
          <a:ln/>
        </p:spPr>
        <p:txBody>
          <a:bodyPr wrap="square" lIns="0" tIns="0" rIns="0" bIns="0" rtlCol="0" anchor="ctr"/>
          <a:lstStyle/>
          <a:p>
            <a:pPr marL="0" indent="0">
              <a:buNone/>
            </a:pPr>
            <a:r>
              <a:rPr lang="en-US" sz="1400" dirty="0">
                <a:solidFill>
                  <a:srgbClr val="2B2D33"/>
                </a:solidFill>
                <a:latin typeface="Calibri" pitchFamily="34" charset="0"/>
                <a:ea typeface="Calibri" pitchFamily="34" charset="-122"/>
                <a:cs typeface="Calibri" pitchFamily="34" charset="-120"/>
              </a:rPr>
              <a:t>System wykrywania rzadkiego zagrożenia (np. aktu terrorystycznego lub oszustwa finansowego) ma trafność 99%. Zdarzenie docelowe występuje z częstością 1 na 100 000 przypadków.</a:t>
            </a:r>
            <a:endParaRPr lang="en-US" sz="1400" dirty="0"/>
          </a:p>
        </p:txBody>
      </p:sp>
      <p:sp>
        <p:nvSpPr>
          <p:cNvPr id="6" name="Shape 4"/>
          <p:cNvSpPr/>
          <p:nvPr/>
        </p:nvSpPr>
        <p:spPr>
          <a:xfrm>
            <a:off x="457200" y="2103120"/>
            <a:ext cx="8229600" cy="1783080"/>
          </a:xfrm>
          <a:prstGeom prst="roundRect">
            <a:avLst>
              <a:gd name="adj" fmla="val 3077"/>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7" name="Text 5"/>
          <p:cNvSpPr/>
          <p:nvPr/>
        </p:nvSpPr>
        <p:spPr>
          <a:xfrm>
            <a:off x="640080" y="2286000"/>
            <a:ext cx="7863840" cy="1463040"/>
          </a:xfrm>
          <a:prstGeom prst="rect">
            <a:avLst/>
          </a:prstGeom>
          <a:noFill/>
          <a:ln/>
        </p:spPr>
        <p:txBody>
          <a:bodyPr wrap="square" lIns="0" tIns="0" rIns="0" bIns="0" rtlCol="0" anchor="t"/>
          <a:lstStyle/>
          <a:p>
            <a:pPr marL="0" indent="0">
              <a:buNone/>
            </a:pPr>
            <a:r>
              <a:rPr lang="en-US" sz="1600" dirty="0">
                <a:solidFill>
                  <a:srgbClr val="16243F"/>
                </a:solidFill>
                <a:latin typeface="Calibri" pitchFamily="34" charset="0"/>
                <a:ea typeface="Calibri" pitchFamily="34" charset="-122"/>
                <a:cs typeface="Calibri" pitchFamily="34" charset="-120"/>
              </a:rPr>
              <a:t>Nawet przy trafności 99%, wśród 100 000 przypadków system wygeneruje ok. 1000 fałszywych alarmów na każdy 1 prawdziwy przypadek zagrożenia. Udział fałszywych alarmów wśród wszystkich alarmów: ok. 99,9%.</a:t>
            </a:r>
            <a:endParaRPr lang="en-US" sz="1600" dirty="0"/>
          </a:p>
        </p:txBody>
      </p:sp>
      <p:sp>
        <p:nvSpPr>
          <p:cNvPr id="8" name="Text 6"/>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20/40   ·   Blok II</a:t>
            </a:r>
            <a:endParaRPr lang="en-US" sz="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0F6E6E"/>
          </a:solidFill>
          <a:ln w="12700">
            <a:solidFill>
              <a:srgbClr val="0F6E6E"/>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II · KONIUNKCJA I BAYES</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Częstości naturalne kontra procenty</a:t>
            </a:r>
            <a:endParaRPr lang="en-US" sz="2400" dirty="0"/>
          </a:p>
        </p:txBody>
      </p:sp>
      <p:sp>
        <p:nvSpPr>
          <p:cNvPr id="5" name="Text 3"/>
          <p:cNvSpPr/>
          <p:nvPr/>
        </p:nvSpPr>
        <p:spPr>
          <a:xfrm>
            <a:off x="457200" y="1371600"/>
            <a:ext cx="8229600" cy="219456"/>
          </a:xfrm>
          <a:prstGeom prst="rect">
            <a:avLst/>
          </a:prstGeom>
          <a:noFill/>
          <a:ln/>
        </p:spPr>
        <p:txBody>
          <a:bodyPr wrap="square" lIns="0" tIns="0" rIns="0" bIns="0" rtlCol="0" anchor="ctr"/>
          <a:lstStyle/>
          <a:p>
            <a:pPr marL="0" indent="0">
              <a:buNone/>
            </a:pPr>
            <a:r>
              <a:rPr lang="en-US" sz="1400" dirty="0">
                <a:solidFill>
                  <a:srgbClr val="2B2D33"/>
                </a:solidFill>
                <a:latin typeface="Calibri" pitchFamily="34" charset="0"/>
                <a:ea typeface="Calibri" pitchFamily="34" charset="-122"/>
                <a:cs typeface="Calibri" pitchFamily="34" charset="-120"/>
              </a:rPr>
              <a:t>Ten sam problem testu medycznego (slajd 17) przedstawiony dwóm grupom w różnym formacie.</a:t>
            </a:r>
            <a:endParaRPr lang="en-US" sz="1400" dirty="0"/>
          </a:p>
        </p:txBody>
      </p:sp>
      <p:grpSp>
        <p:nvGrpSpPr>
          <p:cNvPr id="14" name="Grupa 13"/>
          <p:cNvGrpSpPr/>
          <p:nvPr/>
        </p:nvGrpSpPr>
        <p:grpSpPr>
          <a:xfrm>
            <a:off x="457200" y="1737360"/>
            <a:ext cx="3931920" cy="1463040"/>
            <a:chOff x="457200" y="1828800"/>
            <a:chExt cx="3931920" cy="1463040"/>
          </a:xfrm>
        </p:grpSpPr>
        <p:sp>
          <p:nvSpPr>
            <p:cNvPr id="6" name="Shape 4"/>
            <p:cNvSpPr/>
            <p:nvPr/>
          </p:nvSpPr>
          <p:spPr>
            <a:xfrm>
              <a:off x="457200" y="1828800"/>
              <a:ext cx="3931920" cy="1463040"/>
            </a:xfrm>
            <a:prstGeom prst="roundRect">
              <a:avLst>
                <a:gd name="adj" fmla="val 3750"/>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7" name="Text 5"/>
            <p:cNvSpPr/>
            <p:nvPr/>
          </p:nvSpPr>
          <p:spPr>
            <a:xfrm>
              <a:off x="640080" y="1965960"/>
              <a:ext cx="3566160" cy="274320"/>
            </a:xfrm>
            <a:prstGeom prst="rect">
              <a:avLst/>
            </a:prstGeom>
            <a:noFill/>
            <a:ln/>
          </p:spPr>
          <p:txBody>
            <a:bodyPr wrap="square" lIns="0" tIns="0" rIns="0" bIns="0" rtlCol="0" anchor="ctr"/>
            <a:lstStyle/>
            <a:p>
              <a:pPr marL="0" indent="0">
                <a:buNone/>
              </a:pPr>
              <a:r>
                <a:rPr lang="en-US" sz="1600" b="1" dirty="0">
                  <a:solidFill>
                    <a:srgbClr val="16243F"/>
                  </a:solidFill>
                  <a:latin typeface="Cambria" pitchFamily="34" charset="0"/>
                  <a:ea typeface="Cambria" pitchFamily="34" charset="-122"/>
                  <a:cs typeface="Cambria" pitchFamily="34" charset="-120"/>
                </a:rPr>
                <a:t>Grupa A </a:t>
              </a:r>
              <a:r>
                <a:rPr lang="en-US" sz="1600" b="1" dirty="0" smtClean="0">
                  <a:solidFill>
                    <a:srgbClr val="16243F"/>
                  </a:solidFill>
                  <a:latin typeface="Cambria" pitchFamily="34" charset="0"/>
                  <a:ea typeface="Cambria" pitchFamily="34" charset="-122"/>
                  <a:cs typeface="Cambria" pitchFamily="34" charset="-120"/>
                </a:rPr>
                <a:t>- </a:t>
              </a:r>
              <a:r>
                <a:rPr lang="en-US" sz="1600" b="1" dirty="0">
                  <a:solidFill>
                    <a:srgbClr val="16243F"/>
                  </a:solidFill>
                  <a:latin typeface="Cambria" pitchFamily="34" charset="0"/>
                  <a:ea typeface="Cambria" pitchFamily="34" charset="-122"/>
                  <a:cs typeface="Cambria" pitchFamily="34" charset="-120"/>
                </a:rPr>
                <a:t>procenty</a:t>
              </a:r>
              <a:endParaRPr lang="en-US" sz="1600" dirty="0"/>
            </a:p>
          </p:txBody>
        </p:sp>
        <p:sp>
          <p:nvSpPr>
            <p:cNvPr id="8" name="Text 6"/>
            <p:cNvSpPr/>
            <p:nvPr/>
          </p:nvSpPr>
          <p:spPr>
            <a:xfrm>
              <a:off x="640080" y="2286000"/>
              <a:ext cx="3566160" cy="914400"/>
            </a:xfrm>
            <a:prstGeom prst="rect">
              <a:avLst/>
            </a:prstGeom>
            <a:noFill/>
            <a:ln/>
          </p:spPr>
          <p:txBody>
            <a:bodyPr wrap="square" lIns="0" tIns="0" rIns="0" bIns="0" rtlCol="0" anchor="ctr"/>
            <a:lstStyle/>
            <a:p>
              <a:pPr marL="0" indent="0">
                <a:buNone/>
              </a:pPr>
              <a:r>
                <a:rPr lang="en-US" sz="1600" i="1" dirty="0">
                  <a:solidFill>
                    <a:schemeClr val="tx2">
                      <a:lumMod val="50000"/>
                    </a:schemeClr>
                  </a:solidFill>
                  <a:latin typeface="Calibri" pitchFamily="34" charset="0"/>
                  <a:ea typeface="Calibri" pitchFamily="34" charset="-122"/>
                  <a:cs typeface="Calibri" pitchFamily="34" charset="-120"/>
                </a:rPr>
                <a:t>„Choroba występuje u 1% populacji. Czułość testu 95%, swoistość 95%.”</a:t>
              </a:r>
              <a:endParaRPr lang="en-US" sz="1600" dirty="0">
                <a:solidFill>
                  <a:schemeClr val="tx2">
                    <a:lumMod val="50000"/>
                  </a:schemeClr>
                </a:solidFill>
              </a:endParaRPr>
            </a:p>
          </p:txBody>
        </p:sp>
      </p:grpSp>
      <p:grpSp>
        <p:nvGrpSpPr>
          <p:cNvPr id="15" name="Grupa 14"/>
          <p:cNvGrpSpPr/>
          <p:nvPr/>
        </p:nvGrpSpPr>
        <p:grpSpPr>
          <a:xfrm>
            <a:off x="4754880" y="1737360"/>
            <a:ext cx="3931920" cy="1463040"/>
            <a:chOff x="4754880" y="1828800"/>
            <a:chExt cx="3931920" cy="1463040"/>
          </a:xfrm>
        </p:grpSpPr>
        <p:sp>
          <p:nvSpPr>
            <p:cNvPr id="9" name="Shape 7"/>
            <p:cNvSpPr/>
            <p:nvPr/>
          </p:nvSpPr>
          <p:spPr>
            <a:xfrm>
              <a:off x="4754880" y="1828800"/>
              <a:ext cx="3931920" cy="1463040"/>
            </a:xfrm>
            <a:prstGeom prst="roundRect">
              <a:avLst>
                <a:gd name="adj" fmla="val 3750"/>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10" name="Text 8"/>
            <p:cNvSpPr/>
            <p:nvPr/>
          </p:nvSpPr>
          <p:spPr>
            <a:xfrm>
              <a:off x="4937760" y="1965960"/>
              <a:ext cx="3566160" cy="274320"/>
            </a:xfrm>
            <a:prstGeom prst="rect">
              <a:avLst/>
            </a:prstGeom>
            <a:noFill/>
            <a:ln/>
          </p:spPr>
          <p:txBody>
            <a:bodyPr wrap="square" lIns="0" tIns="0" rIns="0" bIns="0" rtlCol="0" anchor="ctr"/>
            <a:lstStyle/>
            <a:p>
              <a:pPr marL="0" indent="0">
                <a:buNone/>
              </a:pPr>
              <a:r>
                <a:rPr lang="en-US" sz="1600" b="1" dirty="0">
                  <a:solidFill>
                    <a:srgbClr val="16243F"/>
                  </a:solidFill>
                  <a:latin typeface="Cambria" pitchFamily="34" charset="0"/>
                  <a:ea typeface="Cambria" pitchFamily="34" charset="-122"/>
                  <a:cs typeface="Cambria" pitchFamily="34" charset="-120"/>
                </a:rPr>
                <a:t>Grupa B </a:t>
              </a:r>
              <a:r>
                <a:rPr lang="en-US" sz="1600" b="1" dirty="0" smtClean="0">
                  <a:solidFill>
                    <a:srgbClr val="16243F"/>
                  </a:solidFill>
                  <a:latin typeface="Cambria" pitchFamily="34" charset="0"/>
                  <a:ea typeface="Cambria" pitchFamily="34" charset="-122"/>
                  <a:cs typeface="Cambria" pitchFamily="34" charset="-120"/>
                </a:rPr>
                <a:t>- </a:t>
              </a:r>
              <a:r>
                <a:rPr lang="en-US" sz="1600" b="1" dirty="0">
                  <a:solidFill>
                    <a:srgbClr val="16243F"/>
                  </a:solidFill>
                  <a:latin typeface="Cambria" pitchFamily="34" charset="0"/>
                  <a:ea typeface="Cambria" pitchFamily="34" charset="-122"/>
                  <a:cs typeface="Cambria" pitchFamily="34" charset="-120"/>
                </a:rPr>
                <a:t>częstości naturalne</a:t>
              </a:r>
              <a:endParaRPr lang="en-US" sz="1600" dirty="0"/>
            </a:p>
          </p:txBody>
        </p:sp>
        <p:sp>
          <p:nvSpPr>
            <p:cNvPr id="11" name="Text 9"/>
            <p:cNvSpPr/>
            <p:nvPr/>
          </p:nvSpPr>
          <p:spPr>
            <a:xfrm>
              <a:off x="4937760" y="2286000"/>
              <a:ext cx="3566160" cy="914400"/>
            </a:xfrm>
            <a:prstGeom prst="rect">
              <a:avLst/>
            </a:prstGeom>
            <a:noFill/>
            <a:ln/>
          </p:spPr>
          <p:txBody>
            <a:bodyPr wrap="square" lIns="0" tIns="0" rIns="0" bIns="0" rtlCol="0" anchor="ctr"/>
            <a:lstStyle/>
            <a:p>
              <a:pPr marL="0" indent="0">
                <a:buNone/>
              </a:pPr>
              <a:r>
                <a:rPr lang="en-US" sz="1400" i="1" dirty="0">
                  <a:solidFill>
                    <a:schemeClr val="tx2">
                      <a:lumMod val="50000"/>
                    </a:schemeClr>
                  </a:solidFill>
                  <a:latin typeface="Calibri" pitchFamily="34" charset="0"/>
                  <a:ea typeface="Calibri" pitchFamily="34" charset="-122"/>
                  <a:cs typeface="Calibri" pitchFamily="34" charset="-120"/>
                </a:rPr>
                <a:t>„Na 10 000 osób: 100 jest chorych. Spośród nich 95 otrzyma wynik dodatni. Spośród 9900 zdrowych, 495 otrzyma wynik dodatni.”</a:t>
              </a:r>
              <a:endParaRPr lang="en-US" sz="1400" dirty="0">
                <a:solidFill>
                  <a:schemeClr val="tx2">
                    <a:lumMod val="50000"/>
                  </a:schemeClr>
                </a:solidFill>
              </a:endParaRPr>
            </a:p>
          </p:txBody>
        </p:sp>
      </p:grpSp>
      <p:graphicFrame>
        <p:nvGraphicFramePr>
          <p:cNvPr id="12" name="Chart 0"/>
          <p:cNvGraphicFramePr/>
          <p:nvPr>
            <p:extLst>
              <p:ext uri="{D42A27DB-BD31-4B8C-83A1-F6EECF244321}">
                <p14:modId xmlns:p14="http://schemas.microsoft.com/office/powerpoint/2010/main" val="2515543157"/>
              </p:ext>
            </p:extLst>
          </p:nvPr>
        </p:nvGraphicFramePr>
        <p:xfrm>
          <a:off x="457200" y="3310128"/>
          <a:ext cx="8229600" cy="141732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10"/>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21/40   ·   Blok II</a:t>
            </a:r>
            <a:endParaRPr lang="en-US" sz="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C07A35"/>
          </a:solidFill>
          <a:ln w="12700">
            <a:solidFill>
              <a:srgbClr val="C07A3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III · KOMBINATORYKA</a:t>
            </a:r>
            <a:endParaRPr lang="en-US" sz="900" dirty="0"/>
          </a:p>
        </p:txBody>
      </p:sp>
      <p:sp>
        <p:nvSpPr>
          <p:cNvPr id="4" name="Text 2"/>
          <p:cNvSpPr/>
          <p:nvPr/>
        </p:nvSpPr>
        <p:spPr>
          <a:xfrm>
            <a:off x="457200" y="676656"/>
            <a:ext cx="400685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Paradoks urodzin</a:t>
            </a:r>
            <a:endParaRPr lang="en-US" sz="2400" dirty="0"/>
          </a:p>
        </p:txBody>
      </p:sp>
      <p:sp>
        <p:nvSpPr>
          <p:cNvPr id="5" name="Shape 3"/>
          <p:cNvSpPr/>
          <p:nvPr/>
        </p:nvSpPr>
        <p:spPr>
          <a:xfrm>
            <a:off x="457200" y="1377950"/>
            <a:ext cx="4006850" cy="606298"/>
          </a:xfrm>
          <a:prstGeom prst="roundRect">
            <a:avLst>
              <a:gd name="adj" fmla="val 7059"/>
            </a:avLst>
          </a:prstGeom>
          <a:solidFill>
            <a:srgbClr val="EDF1F7"/>
          </a:solidFill>
          <a:ln w="12700">
            <a:solidFill>
              <a:srgbClr val="E1E4EA"/>
            </a:solidFill>
            <a:prstDash val="solid"/>
          </a:ln>
        </p:spPr>
      </p:sp>
      <p:sp>
        <p:nvSpPr>
          <p:cNvPr id="6" name="Text 4"/>
          <p:cNvSpPr/>
          <p:nvPr/>
        </p:nvSpPr>
        <p:spPr>
          <a:xfrm>
            <a:off x="594360" y="1377950"/>
            <a:ext cx="3745534" cy="606298"/>
          </a:xfrm>
          <a:prstGeom prst="rect">
            <a:avLst/>
          </a:prstGeom>
          <a:noFill/>
          <a:ln/>
        </p:spPr>
        <p:txBody>
          <a:bodyPr wrap="square" lIns="0" tIns="0" rIns="0" bIns="0" rtlCol="0" anchor="ctr"/>
          <a:lstStyle/>
          <a:p>
            <a:pPr marL="0" indent="0">
              <a:buNone/>
            </a:pPr>
            <a:r>
              <a:rPr lang="en-US" sz="1200" b="1" dirty="0">
                <a:solidFill>
                  <a:srgbClr val="16243F"/>
                </a:solidFill>
                <a:latin typeface="Calibri" pitchFamily="34" charset="0"/>
                <a:ea typeface="Calibri" pitchFamily="34" charset="-122"/>
                <a:cs typeface="Calibri" pitchFamily="34" charset="-120"/>
              </a:rPr>
              <a:t>Ile osób w pokoju potrzeba, aby szansa, że co najmniej dwie mają urodziny tego samego dnia, przekroczyła 50%?</a:t>
            </a:r>
            <a:endParaRPr lang="en-US" sz="1200" dirty="0"/>
          </a:p>
        </p:txBody>
      </p:sp>
      <p:sp>
        <p:nvSpPr>
          <p:cNvPr id="7" name="Text 5"/>
          <p:cNvSpPr/>
          <p:nvPr/>
        </p:nvSpPr>
        <p:spPr>
          <a:xfrm>
            <a:off x="457200" y="2231136"/>
            <a:ext cx="4006850" cy="256032"/>
          </a:xfrm>
          <a:prstGeom prst="rect">
            <a:avLst/>
          </a:prstGeom>
          <a:noFill/>
          <a:ln/>
        </p:spPr>
        <p:txBody>
          <a:bodyPr wrap="square" lIns="0" tIns="0" rIns="0" bIns="0" rtlCol="0" anchor="ctr"/>
          <a:lstStyle/>
          <a:p>
            <a:pPr marL="0" indent="0">
              <a:buNone/>
            </a:pPr>
            <a:r>
              <a:rPr lang="pl-PL" sz="1200" i="1" dirty="0" smtClean="0">
                <a:solidFill>
                  <a:srgbClr val="5B6472"/>
                </a:solidFill>
                <a:latin typeface="Calibri" pitchFamily="34" charset="0"/>
                <a:ea typeface="Calibri" pitchFamily="34" charset="-122"/>
                <a:cs typeface="Calibri" pitchFamily="34" charset="-120"/>
              </a:rPr>
              <a:t>Wpisz swoją odpowiedź liczbową (1–365)</a:t>
            </a:r>
            <a:endParaRPr lang="pl-PL" sz="1200" dirty="0"/>
          </a:p>
        </p:txBody>
      </p:sp>
      <p:grpSp>
        <p:nvGrpSpPr>
          <p:cNvPr id="25" name="Grupa 24"/>
          <p:cNvGrpSpPr/>
          <p:nvPr/>
        </p:nvGrpSpPr>
        <p:grpSpPr>
          <a:xfrm>
            <a:off x="457200" y="2532888"/>
            <a:ext cx="4006850" cy="1463040"/>
            <a:chOff x="457200" y="2359152"/>
            <a:chExt cx="4006850" cy="1463040"/>
          </a:xfrm>
        </p:grpSpPr>
        <p:sp>
          <p:nvSpPr>
            <p:cNvPr id="8" name="Shape 6"/>
            <p:cNvSpPr/>
            <p:nvPr/>
          </p:nvSpPr>
          <p:spPr>
            <a:xfrm>
              <a:off x="457200" y="2359152"/>
              <a:ext cx="4006850" cy="1463040"/>
            </a:xfrm>
            <a:prstGeom prst="roundRect">
              <a:avLst>
                <a:gd name="adj" fmla="val 3750"/>
              </a:avLst>
            </a:prstGeom>
            <a:solidFill>
              <a:srgbClr val="EDF1F7"/>
            </a:solidFill>
            <a:ln w="12700">
              <a:solidFill>
                <a:srgbClr val="E1E4EA"/>
              </a:solidFill>
              <a:prstDash val="solid"/>
            </a:ln>
          </p:spPr>
        </p:sp>
        <p:sp>
          <p:nvSpPr>
            <p:cNvPr id="9" name="Text 7"/>
            <p:cNvSpPr/>
            <p:nvPr/>
          </p:nvSpPr>
          <p:spPr>
            <a:xfrm>
              <a:off x="594360" y="2468880"/>
              <a:ext cx="3745534" cy="548640"/>
            </a:xfrm>
            <a:prstGeom prst="rect">
              <a:avLst/>
            </a:prstGeom>
            <a:noFill/>
            <a:ln/>
          </p:spPr>
          <p:txBody>
            <a:bodyPr wrap="square" lIns="0" tIns="0" rIns="0" bIns="0" rtlCol="0" anchor="ctr"/>
            <a:lstStyle/>
            <a:p>
              <a:pPr marL="0" indent="0">
                <a:buNone/>
              </a:pPr>
              <a:r>
                <a:rPr lang="pl-PL" sz="1200" dirty="0" smtClean="0">
                  <a:solidFill>
                    <a:srgbClr val="16243F"/>
                  </a:solidFill>
                  <a:latin typeface="Calibri" pitchFamily="34" charset="0"/>
                  <a:ea typeface="Calibri" pitchFamily="34" charset="-122"/>
                  <a:cs typeface="Calibri" pitchFamily="34" charset="-120"/>
                </a:rPr>
                <a:t>Typ pytania: odpowiedź liczbowa (open </a:t>
              </a:r>
              <a:r>
                <a:rPr lang="pl-PL" sz="1200" dirty="0" err="1" smtClean="0">
                  <a:solidFill>
                    <a:srgbClr val="16243F"/>
                  </a:solidFill>
                  <a:latin typeface="Calibri" pitchFamily="34" charset="0"/>
                  <a:ea typeface="Calibri" pitchFamily="34" charset="-122"/>
                  <a:cs typeface="Calibri" pitchFamily="34" charset="-120"/>
                </a:rPr>
                <a:t>number</a:t>
              </a:r>
              <a:r>
                <a:rPr lang="pl-PL" sz="1200" dirty="0" smtClean="0">
                  <a:solidFill>
                    <a:srgbClr val="16243F"/>
                  </a:solidFill>
                  <a:latin typeface="Calibri" pitchFamily="34" charset="0"/>
                  <a:ea typeface="Calibri" pitchFamily="34" charset="-122"/>
                  <a:cs typeface="Calibri" pitchFamily="34" charset="-120"/>
                </a:rPr>
                <a:t>). </a:t>
              </a:r>
            </a:p>
            <a:p>
              <a:pPr marL="0" indent="0">
                <a:buNone/>
              </a:pPr>
              <a:r>
                <a:rPr lang="pl-PL" sz="1200" dirty="0" err="1" smtClean="0">
                  <a:solidFill>
                    <a:srgbClr val="16243F"/>
                  </a:solidFill>
                  <a:latin typeface="Calibri" pitchFamily="34" charset="0"/>
                  <a:ea typeface="Calibri" pitchFamily="34" charset="-122"/>
                  <a:cs typeface="Calibri" pitchFamily="34" charset="-120"/>
                </a:rPr>
                <a:t>Slido</a:t>
              </a:r>
              <a:r>
                <a:rPr lang="pl-PL" sz="1200" dirty="0" smtClean="0">
                  <a:solidFill>
                    <a:srgbClr val="16243F"/>
                  </a:solidFill>
                  <a:latin typeface="Calibri" pitchFamily="34" charset="0"/>
                  <a:ea typeface="Calibri" pitchFamily="34" charset="-122"/>
                  <a:cs typeface="Calibri" pitchFamily="34" charset="-120"/>
                </a:rPr>
                <a:t> generuje histogram odpowiedzi.</a:t>
              </a:r>
              <a:endParaRPr lang="pl-PL" sz="1200" dirty="0"/>
            </a:p>
          </p:txBody>
        </p:sp>
        <p:sp>
          <p:nvSpPr>
            <p:cNvPr id="10" name="Text 8"/>
            <p:cNvSpPr/>
            <p:nvPr/>
          </p:nvSpPr>
          <p:spPr>
            <a:xfrm>
              <a:off x="594360" y="3063240"/>
              <a:ext cx="3745534" cy="685800"/>
            </a:xfrm>
            <a:prstGeom prst="rect">
              <a:avLst/>
            </a:prstGeom>
            <a:noFill/>
            <a:ln/>
          </p:spPr>
          <p:txBody>
            <a:bodyPr wrap="square" lIns="0" tIns="0" rIns="0" bIns="0" rtlCol="0" anchor="ctr"/>
            <a:lstStyle/>
            <a:p>
              <a:pPr marL="0" indent="0">
                <a:buNone/>
              </a:pPr>
              <a:r>
                <a:rPr lang="en-US" sz="1050" i="1" dirty="0">
                  <a:solidFill>
                    <a:srgbClr val="5B6472"/>
                  </a:solidFill>
                  <a:latin typeface="Calibri" pitchFamily="34" charset="0"/>
                  <a:ea typeface="Calibri" pitchFamily="34" charset="-122"/>
                  <a:cs typeface="Calibri" pitchFamily="34" charset="-120"/>
                </a:rPr>
                <a:t>Typowe odpowiedzi grupowe: 100–180 (znaczące przeszacowanie).</a:t>
              </a:r>
              <a:endParaRPr lang="en-US" sz="1050" dirty="0"/>
            </a:p>
          </p:txBody>
        </p:sp>
      </p:grpSp>
      <p:sp>
        <p:nvSpPr>
          <p:cNvPr id="11" name="Shape 9"/>
          <p:cNvSpPr/>
          <p:nvPr/>
        </p:nvSpPr>
        <p:spPr>
          <a:xfrm>
            <a:off x="7406640" y="4041648"/>
            <a:ext cx="1280160" cy="914400"/>
          </a:xfrm>
          <a:prstGeom prst="roundRect">
            <a:avLst>
              <a:gd name="adj" fmla="val 6000"/>
            </a:avLst>
          </a:prstGeom>
          <a:solidFill>
            <a:srgbClr val="EDF1F7"/>
          </a:solidFill>
          <a:ln w="12700">
            <a:solidFill>
              <a:srgbClr val="E1E4EA"/>
            </a:solidFill>
            <a:prstDash val="solid"/>
          </a:ln>
        </p:spPr>
      </p:sp>
      <p:sp>
        <p:nvSpPr>
          <p:cNvPr id="12" name="Shape 10"/>
          <p:cNvSpPr/>
          <p:nvPr/>
        </p:nvSpPr>
        <p:spPr>
          <a:xfrm>
            <a:off x="7516368" y="4133088"/>
            <a:ext cx="365760" cy="365760"/>
          </a:xfrm>
          <a:prstGeom prst="rect">
            <a:avLst/>
          </a:prstGeom>
          <a:solidFill>
            <a:srgbClr val="FFFFFF"/>
          </a:solidFill>
          <a:ln w="19050">
            <a:solidFill>
              <a:srgbClr val="16243F"/>
            </a:solidFill>
            <a:prstDash val="solid"/>
          </a:ln>
        </p:spPr>
      </p:sp>
      <p:sp>
        <p:nvSpPr>
          <p:cNvPr id="13" name="Shape 11"/>
          <p:cNvSpPr/>
          <p:nvPr/>
        </p:nvSpPr>
        <p:spPr>
          <a:xfrm>
            <a:off x="7543800" y="4160520"/>
            <a:ext cx="82296" cy="82296"/>
          </a:xfrm>
          <a:prstGeom prst="rect">
            <a:avLst/>
          </a:prstGeom>
          <a:solidFill>
            <a:srgbClr val="16243F"/>
          </a:solidFill>
          <a:ln w="12700">
            <a:solidFill>
              <a:srgbClr val="16243F"/>
            </a:solidFill>
            <a:prstDash val="solid"/>
          </a:ln>
        </p:spPr>
      </p:sp>
      <p:sp>
        <p:nvSpPr>
          <p:cNvPr id="14" name="Shape 12"/>
          <p:cNvSpPr/>
          <p:nvPr/>
        </p:nvSpPr>
        <p:spPr>
          <a:xfrm>
            <a:off x="7543800" y="4361688"/>
            <a:ext cx="82296" cy="82296"/>
          </a:xfrm>
          <a:prstGeom prst="rect">
            <a:avLst/>
          </a:prstGeom>
          <a:solidFill>
            <a:srgbClr val="16243F"/>
          </a:solidFill>
          <a:ln w="12700">
            <a:solidFill>
              <a:srgbClr val="16243F"/>
            </a:solidFill>
            <a:prstDash val="solid"/>
          </a:ln>
        </p:spPr>
      </p:sp>
      <p:sp>
        <p:nvSpPr>
          <p:cNvPr id="15" name="Shape 13"/>
          <p:cNvSpPr/>
          <p:nvPr/>
        </p:nvSpPr>
        <p:spPr>
          <a:xfrm>
            <a:off x="7644384" y="4261104"/>
            <a:ext cx="82296" cy="82296"/>
          </a:xfrm>
          <a:prstGeom prst="rect">
            <a:avLst/>
          </a:prstGeom>
          <a:solidFill>
            <a:srgbClr val="16243F"/>
          </a:solidFill>
          <a:ln w="12700">
            <a:solidFill>
              <a:srgbClr val="16243F"/>
            </a:solidFill>
            <a:prstDash val="solid"/>
          </a:ln>
        </p:spPr>
      </p:sp>
      <p:sp>
        <p:nvSpPr>
          <p:cNvPr id="16" name="Shape 14"/>
          <p:cNvSpPr/>
          <p:nvPr/>
        </p:nvSpPr>
        <p:spPr>
          <a:xfrm>
            <a:off x="7744968" y="4160520"/>
            <a:ext cx="82296" cy="82296"/>
          </a:xfrm>
          <a:prstGeom prst="rect">
            <a:avLst/>
          </a:prstGeom>
          <a:solidFill>
            <a:srgbClr val="16243F"/>
          </a:solidFill>
          <a:ln w="12700">
            <a:solidFill>
              <a:srgbClr val="16243F"/>
            </a:solidFill>
            <a:prstDash val="solid"/>
          </a:ln>
        </p:spPr>
      </p:sp>
      <p:sp>
        <p:nvSpPr>
          <p:cNvPr id="17" name="Shape 15"/>
          <p:cNvSpPr/>
          <p:nvPr/>
        </p:nvSpPr>
        <p:spPr>
          <a:xfrm>
            <a:off x="7744968" y="4361688"/>
            <a:ext cx="82296" cy="82296"/>
          </a:xfrm>
          <a:prstGeom prst="rect">
            <a:avLst/>
          </a:prstGeom>
          <a:solidFill>
            <a:srgbClr val="16243F"/>
          </a:solidFill>
          <a:ln w="12700">
            <a:solidFill>
              <a:srgbClr val="16243F"/>
            </a:solidFill>
            <a:prstDash val="solid"/>
          </a:ln>
        </p:spPr>
      </p:sp>
      <p:sp>
        <p:nvSpPr>
          <p:cNvPr id="18" name="Text 16"/>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19" name="Text 17"/>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24" name="Grupa 23"/>
          <p:cNvGrpSpPr/>
          <p:nvPr/>
        </p:nvGrpSpPr>
        <p:grpSpPr>
          <a:xfrm>
            <a:off x="5386324" y="1578867"/>
            <a:ext cx="3263900" cy="2158492"/>
            <a:chOff x="5422900" y="1207008"/>
            <a:chExt cx="3263900" cy="2158492"/>
          </a:xfrm>
        </p:grpSpPr>
        <p:sp>
          <p:nvSpPr>
            <p:cNvPr id="20" name="Shape 18"/>
            <p:cNvSpPr/>
            <p:nvPr/>
          </p:nvSpPr>
          <p:spPr>
            <a:xfrm>
              <a:off x="5422900" y="1207008"/>
              <a:ext cx="3263900" cy="2158492"/>
            </a:xfrm>
            <a:prstGeom prst="roundRect">
              <a:avLst>
                <a:gd name="adj" fmla="val 2000"/>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21" name="Text 19"/>
            <p:cNvSpPr/>
            <p:nvPr/>
          </p:nvSpPr>
          <p:spPr>
            <a:xfrm>
              <a:off x="5540706" y="1279398"/>
              <a:ext cx="2993440"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p:sp>
          <p:nvSpPr>
            <p:cNvPr id="22" name="Text 20"/>
            <p:cNvSpPr/>
            <p:nvPr/>
          </p:nvSpPr>
          <p:spPr>
            <a:xfrm>
              <a:off x="5556250" y="1572768"/>
              <a:ext cx="3041650" cy="1723549"/>
            </a:xfrm>
            <a:prstGeom prst="rect">
              <a:avLst/>
            </a:prstGeom>
            <a:noFill/>
            <a:ln/>
          </p:spPr>
          <p:txBody>
            <a:bodyPr wrap="square" lIns="0" tIns="0" rIns="0" bIns="0" rtlCol="0" anchor="t">
              <a:spAutoFit/>
            </a:bodyPr>
            <a:lstStyle/>
            <a:p>
              <a:pPr marL="0" indent="0">
                <a:buNone/>
              </a:pPr>
              <a:r>
                <a:rPr lang="en-US" sz="1200" b="1" dirty="0">
                  <a:solidFill>
                    <a:srgbClr val="16243F"/>
                  </a:solidFill>
                  <a:latin typeface="Calibri" pitchFamily="34" charset="0"/>
                  <a:ea typeface="Calibri" pitchFamily="34" charset="-122"/>
                  <a:cs typeface="Calibri" pitchFamily="34" charset="-120"/>
                </a:rPr>
                <a:t>Odpowiedź: 23 </a:t>
              </a:r>
              <a:r>
                <a:rPr lang="en-US" sz="1200" b="1" dirty="0" err="1" smtClean="0">
                  <a:solidFill>
                    <a:srgbClr val="16243F"/>
                  </a:solidFill>
                  <a:latin typeface="Calibri" pitchFamily="34" charset="0"/>
                  <a:ea typeface="Calibri" pitchFamily="34" charset="-122"/>
                  <a:cs typeface="Calibri" pitchFamily="34" charset="-120"/>
                </a:rPr>
                <a:t>osoby</a:t>
              </a:r>
              <a:endParaRPr lang="en-US" sz="1200" b="1" dirty="0"/>
            </a:p>
            <a:p>
              <a:pPr marL="0" indent="0">
                <a:buNone/>
              </a:pPr>
              <a:endParaRPr lang="en-US" sz="1200" dirty="0"/>
            </a:p>
            <a:p>
              <a:pPr marL="0" indent="0">
                <a:buNone/>
              </a:pPr>
              <a:r>
                <a:rPr lang="en-US" sz="1200" dirty="0">
                  <a:solidFill>
                    <a:srgbClr val="16243F"/>
                  </a:solidFill>
                  <a:latin typeface="Calibri" pitchFamily="34" charset="0"/>
                  <a:ea typeface="Calibri" pitchFamily="34" charset="-122"/>
                  <a:cs typeface="Calibri" pitchFamily="34" charset="-120"/>
                </a:rPr>
                <a:t>P(brak wspólnych urodzin) = 365/365 × 364/365 × ... × 343/365</a:t>
              </a:r>
              <a:endParaRPr lang="en-US" sz="1200" dirty="0"/>
            </a:p>
            <a:p>
              <a:pPr marL="0" indent="0">
                <a:buNone/>
              </a:pPr>
              <a:endParaRPr lang="en-US" sz="800" dirty="0"/>
            </a:p>
            <a:p>
              <a:pPr marL="0" indent="0">
                <a:buNone/>
              </a:pPr>
              <a:r>
                <a:rPr lang="en-US" sz="1200" b="1" dirty="0">
                  <a:solidFill>
                    <a:srgbClr val="16243F"/>
                  </a:solidFill>
                  <a:latin typeface="Calibri" pitchFamily="34" charset="0"/>
                  <a:ea typeface="Calibri" pitchFamily="34" charset="-122"/>
                  <a:cs typeface="Calibri" pitchFamily="34" charset="-120"/>
                </a:rPr>
                <a:t>Dla n=23</a:t>
              </a:r>
              <a:r>
                <a:rPr lang="en-US" sz="1200" dirty="0">
                  <a:solidFill>
                    <a:srgbClr val="16243F"/>
                  </a:solidFill>
                  <a:latin typeface="Calibri" pitchFamily="34" charset="0"/>
                  <a:ea typeface="Calibri" pitchFamily="34" charset="-122"/>
                  <a:cs typeface="Calibri" pitchFamily="34" charset="-120"/>
                </a:rPr>
                <a:t>: P(wspólne urodziny) ≈ 50,7%.</a:t>
              </a:r>
              <a:endParaRPr lang="en-US" sz="1200" dirty="0"/>
            </a:p>
            <a:p>
              <a:pPr marL="0" indent="0">
                <a:buNone/>
              </a:pPr>
              <a:endParaRPr lang="en-US" sz="800" dirty="0"/>
            </a:p>
            <a:p>
              <a:pPr marL="0" indent="0">
                <a:buNone/>
              </a:pPr>
              <a:r>
                <a:rPr lang="en-US" sz="1200" dirty="0">
                  <a:solidFill>
                    <a:srgbClr val="16243F"/>
                  </a:solidFill>
                  <a:latin typeface="Calibri" pitchFamily="34" charset="0"/>
                  <a:ea typeface="Calibri" pitchFamily="34" charset="-122"/>
                  <a:cs typeface="Calibri" pitchFamily="34" charset="-120"/>
                </a:rPr>
                <a:t>Ludzie liczą intuicyjnie liczbę par w odniesieniu do 365 dni, zaniedbując, że liczba par rośnie kwadratowo: C(23,2)=253 pary.</a:t>
              </a:r>
              <a:endParaRPr lang="en-US" sz="1200" dirty="0"/>
            </a:p>
          </p:txBody>
        </p:sp>
      </p:grpSp>
      <p:sp>
        <p:nvSpPr>
          <p:cNvPr id="23" name="Text 21"/>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22/40   ·   Blok III</a:t>
            </a:r>
            <a:endParaRPr lang="en-US" sz="800" dirty="0"/>
          </a:p>
        </p:txBody>
      </p:sp>
      <p:sp>
        <p:nvSpPr>
          <p:cNvPr id="26" name="Shape 13"/>
          <p:cNvSpPr/>
          <p:nvPr/>
        </p:nvSpPr>
        <p:spPr>
          <a:xfrm>
            <a:off x="5386324" y="1372625"/>
            <a:ext cx="3263900" cy="159760"/>
          </a:xfrm>
          <a:prstGeom prst="roundRect">
            <a:avLst>
              <a:gd name="adj" fmla="val 17647"/>
            </a:avLst>
          </a:prstGeom>
          <a:solidFill>
            <a:srgbClr val="C07A35"/>
          </a:solidFill>
          <a:ln w="12700">
            <a:solidFill>
              <a:srgbClr val="C07A35"/>
            </a:solidFill>
            <a:prstDash val="solid"/>
          </a:ln>
        </p:spPr>
        <p:txBody>
          <a:bodyPr anchor="ctr"/>
          <a:lstStyle/>
          <a:p>
            <a:pPr algn="ctr"/>
            <a:r>
              <a:rPr lang="en-US" sz="900" b="1" dirty="0">
                <a:solidFill>
                  <a:srgbClr val="FFFFFF"/>
                </a:solidFill>
                <a:latin typeface="Calibri" pitchFamily="34" charset="0"/>
                <a:ea typeface="Calibri" pitchFamily="34" charset="-122"/>
                <a:cs typeface="Calibri" pitchFamily="34" charset="-120"/>
              </a:rPr>
              <a:t>ZAGŁOSUJ PRZED UJAWNIENIEM </a:t>
            </a:r>
            <a:r>
              <a:rPr lang="en-US" sz="900" b="1" dirty="0" smtClean="0">
                <a:solidFill>
                  <a:srgbClr val="FFFFFF"/>
                </a:solidFill>
                <a:latin typeface="Calibri" pitchFamily="34" charset="0"/>
                <a:ea typeface="Calibri" pitchFamily="34" charset="-122"/>
                <a:cs typeface="Calibri" pitchFamily="34" charset="-120"/>
              </a:rPr>
              <a:t>ROZWIĄZANIA</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anim calcmode="lin" valueType="num">
                                      <p:cBhvr>
                                        <p:cTn id="8" dur="500" fill="hold"/>
                                        <p:tgtEl>
                                          <p:spTgt spid="26"/>
                                        </p:tgtEl>
                                        <p:attrNameLst>
                                          <p:attrName>ppt_x</p:attrName>
                                        </p:attrNameLst>
                                      </p:cBhvr>
                                      <p:tavLst>
                                        <p:tav tm="0">
                                          <p:val>
                                            <p:strVal val="#ppt_x"/>
                                          </p:val>
                                        </p:tav>
                                        <p:tav tm="100000">
                                          <p:val>
                                            <p:strVal val="#ppt_x"/>
                                          </p:val>
                                        </p:tav>
                                      </p:tavLst>
                                    </p:anim>
                                    <p:anim calcmode="lin" valueType="num">
                                      <p:cBhvr>
                                        <p:cTn id="9" dur="5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500"/>
                                        <p:tgtEl>
                                          <p:spTgt spid="24"/>
                                        </p:tgtEl>
                                      </p:cBhvr>
                                    </p:animEffect>
                                    <p:anim calcmode="lin" valueType="num">
                                      <p:cBhvr>
                                        <p:cTn id="15" dur="500" fill="hold"/>
                                        <p:tgtEl>
                                          <p:spTgt spid="24"/>
                                        </p:tgtEl>
                                        <p:attrNameLst>
                                          <p:attrName>ppt_x</p:attrName>
                                        </p:attrNameLst>
                                      </p:cBhvr>
                                      <p:tavLst>
                                        <p:tav tm="0">
                                          <p:val>
                                            <p:strVal val="#ppt_x"/>
                                          </p:val>
                                        </p:tav>
                                        <p:tav tm="100000">
                                          <p:val>
                                            <p:strVal val="#ppt_x"/>
                                          </p:val>
                                        </p:tav>
                                      </p:tavLst>
                                    </p:anim>
                                    <p:anim calcmode="lin" valueType="num">
                                      <p:cBhvr>
                                        <p:cTn id="16" dur="5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C07A35"/>
          </a:solidFill>
          <a:ln w="12700">
            <a:solidFill>
              <a:srgbClr val="C07A3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III · KOMBINATORYKA</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Paradoks Monty'ego Halla</a:t>
            </a:r>
            <a:endParaRPr lang="en-US" sz="2400" dirty="0"/>
          </a:p>
        </p:txBody>
      </p:sp>
      <p:sp>
        <p:nvSpPr>
          <p:cNvPr id="5" name="Text 3"/>
          <p:cNvSpPr/>
          <p:nvPr/>
        </p:nvSpPr>
        <p:spPr>
          <a:xfrm>
            <a:off x="457200" y="1371600"/>
            <a:ext cx="8229600" cy="448056"/>
          </a:xfrm>
          <a:prstGeom prst="rect">
            <a:avLst/>
          </a:prstGeom>
          <a:noFill/>
          <a:ln/>
        </p:spPr>
        <p:txBody>
          <a:bodyPr wrap="square" lIns="0" tIns="0" rIns="0" bIns="0" rtlCol="0" anchor="ctr"/>
          <a:lstStyle/>
          <a:p>
            <a:pPr marL="0" indent="0">
              <a:buNone/>
            </a:pPr>
            <a:r>
              <a:rPr lang="pl-PL" sz="1400" dirty="0" smtClean="0">
                <a:solidFill>
                  <a:srgbClr val="2B2D33"/>
                </a:solidFill>
                <a:latin typeface="Calibri" pitchFamily="34" charset="0"/>
                <a:ea typeface="Calibri" pitchFamily="34" charset="-122"/>
                <a:cs typeface="Calibri" pitchFamily="34" charset="-120"/>
              </a:rPr>
              <a:t>Trzy drzwi: za jednymi nagroda, za dwoma nic. Wybierasz drzwi. Prowadzący, znający zawartość, </a:t>
            </a:r>
            <a:br>
              <a:rPr lang="pl-PL" sz="1400" dirty="0" smtClean="0">
                <a:solidFill>
                  <a:srgbClr val="2B2D33"/>
                </a:solidFill>
                <a:latin typeface="Calibri" pitchFamily="34" charset="0"/>
                <a:ea typeface="Calibri" pitchFamily="34" charset="-122"/>
                <a:cs typeface="Calibri" pitchFamily="34" charset="-120"/>
              </a:rPr>
            </a:br>
            <a:r>
              <a:rPr lang="pl-PL" sz="1400" dirty="0" smtClean="0">
                <a:solidFill>
                  <a:srgbClr val="2B2D33"/>
                </a:solidFill>
                <a:latin typeface="Calibri" pitchFamily="34" charset="0"/>
                <a:ea typeface="Calibri" pitchFamily="34" charset="-122"/>
                <a:cs typeface="Calibri" pitchFamily="34" charset="-120"/>
              </a:rPr>
              <a:t>otwiera jedne z pozostałych drzwi - zawsze puste. Zostajesz z wyborem: zostać czy zmienić?</a:t>
            </a:r>
            <a:endParaRPr lang="pl-PL" sz="1400" dirty="0"/>
          </a:p>
        </p:txBody>
      </p:sp>
      <p:sp>
        <p:nvSpPr>
          <p:cNvPr id="6" name="Shape 4"/>
          <p:cNvSpPr/>
          <p:nvPr/>
        </p:nvSpPr>
        <p:spPr>
          <a:xfrm>
            <a:off x="457201" y="2035138"/>
            <a:ext cx="3959999" cy="488950"/>
          </a:xfrm>
          <a:prstGeom prst="roundRect">
            <a:avLst>
              <a:gd name="adj" fmla="val 14286"/>
            </a:avLst>
          </a:prstGeom>
          <a:solidFill>
            <a:srgbClr val="EDF1F7"/>
          </a:solidFill>
          <a:ln w="12700">
            <a:solidFill>
              <a:srgbClr val="E1E4EA"/>
            </a:solidFill>
            <a:prstDash val="solid"/>
          </a:ln>
        </p:spPr>
        <p:txBody>
          <a:bodyPr anchor="ctr"/>
          <a:lstStyle/>
          <a:p>
            <a:r>
              <a:rPr lang="pl-PL" sz="1400" b="1" dirty="0" smtClean="0">
                <a:solidFill>
                  <a:srgbClr val="16243F"/>
                </a:solidFill>
                <a:latin typeface="Calibri" pitchFamily="34" charset="0"/>
                <a:ea typeface="Calibri" pitchFamily="34" charset="-122"/>
                <a:cs typeface="Calibri" pitchFamily="34" charset="-120"/>
              </a:rPr>
              <a:t>Co powinieneś zrobić, aby zmaksymalizować szansę wygranej?</a:t>
            </a:r>
            <a:endParaRPr lang="pl-PL" sz="1400" dirty="0"/>
          </a:p>
        </p:txBody>
      </p:sp>
      <p:grpSp>
        <p:nvGrpSpPr>
          <p:cNvPr id="37" name="Grupa 36"/>
          <p:cNvGrpSpPr/>
          <p:nvPr/>
        </p:nvGrpSpPr>
        <p:grpSpPr>
          <a:xfrm>
            <a:off x="457200" y="2609694"/>
            <a:ext cx="3960000" cy="360000"/>
            <a:chOff x="457200" y="2592070"/>
            <a:chExt cx="3960000" cy="360000"/>
          </a:xfrm>
        </p:grpSpPr>
        <p:sp>
          <p:nvSpPr>
            <p:cNvPr id="8" name="Shape 6"/>
            <p:cNvSpPr/>
            <p:nvPr/>
          </p:nvSpPr>
          <p:spPr>
            <a:xfrm>
              <a:off x="457200" y="2592070"/>
              <a:ext cx="3960000" cy="360000"/>
            </a:xfrm>
            <a:prstGeom prst="roundRect">
              <a:avLst>
                <a:gd name="adj" fmla="val 13043"/>
              </a:avLst>
            </a:prstGeom>
            <a:solidFill>
              <a:srgbClr val="FFFFFF"/>
            </a:solidFill>
            <a:ln w="12700">
              <a:solidFill>
                <a:srgbClr val="D0D4DA"/>
              </a:solidFill>
              <a:prstDash val="solid"/>
            </a:ln>
          </p:spPr>
        </p:sp>
        <p:sp>
          <p:nvSpPr>
            <p:cNvPr id="9" name="Shape 7"/>
            <p:cNvSpPr/>
            <p:nvPr/>
          </p:nvSpPr>
          <p:spPr>
            <a:xfrm>
              <a:off x="548640" y="2651760"/>
              <a:ext cx="237744" cy="237744"/>
            </a:xfrm>
            <a:prstGeom prst="ellipse">
              <a:avLst/>
            </a:prstGeom>
            <a:solidFill>
              <a:srgbClr val="EDF1F7"/>
            </a:solidFill>
            <a:ln w="12700">
              <a:solidFill>
                <a:srgbClr val="16243F"/>
              </a:solidFill>
              <a:prstDash val="solid"/>
            </a:ln>
          </p:spPr>
        </p:sp>
        <p:sp>
          <p:nvSpPr>
            <p:cNvPr id="10" name="Text 8"/>
            <p:cNvSpPr/>
            <p:nvPr/>
          </p:nvSpPr>
          <p:spPr>
            <a:xfrm>
              <a:off x="548640" y="2651760"/>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1" name="Text 9"/>
            <p:cNvSpPr/>
            <p:nvPr/>
          </p:nvSpPr>
          <p:spPr>
            <a:xfrm>
              <a:off x="859536" y="2592070"/>
              <a:ext cx="3464814" cy="3600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Zostać przy pierwotnym wyborze</a:t>
              </a:r>
              <a:endParaRPr lang="en-US" sz="1200" dirty="0"/>
            </a:p>
          </p:txBody>
        </p:sp>
      </p:grpSp>
      <p:grpSp>
        <p:nvGrpSpPr>
          <p:cNvPr id="36" name="Grupa 35"/>
          <p:cNvGrpSpPr/>
          <p:nvPr/>
        </p:nvGrpSpPr>
        <p:grpSpPr>
          <a:xfrm>
            <a:off x="457200" y="3029384"/>
            <a:ext cx="3960000" cy="360000"/>
            <a:chOff x="457200" y="3104134"/>
            <a:chExt cx="3960000" cy="360000"/>
          </a:xfrm>
        </p:grpSpPr>
        <p:sp>
          <p:nvSpPr>
            <p:cNvPr id="12" name="Shape 10"/>
            <p:cNvSpPr/>
            <p:nvPr/>
          </p:nvSpPr>
          <p:spPr>
            <a:xfrm>
              <a:off x="457200" y="3104134"/>
              <a:ext cx="3960000" cy="360000"/>
            </a:xfrm>
            <a:prstGeom prst="roundRect">
              <a:avLst>
                <a:gd name="adj" fmla="val 13043"/>
              </a:avLst>
            </a:prstGeom>
            <a:solidFill>
              <a:srgbClr val="FFFFFF"/>
            </a:solidFill>
            <a:ln w="12700">
              <a:solidFill>
                <a:srgbClr val="D0D4DA"/>
              </a:solidFill>
              <a:prstDash val="solid"/>
            </a:ln>
          </p:spPr>
        </p:sp>
        <p:sp>
          <p:nvSpPr>
            <p:cNvPr id="13" name="Shape 11"/>
            <p:cNvSpPr/>
            <p:nvPr/>
          </p:nvSpPr>
          <p:spPr>
            <a:xfrm>
              <a:off x="548640" y="3163824"/>
              <a:ext cx="237744" cy="237744"/>
            </a:xfrm>
            <a:prstGeom prst="ellipse">
              <a:avLst/>
            </a:prstGeom>
            <a:solidFill>
              <a:srgbClr val="EDF1F7"/>
            </a:solidFill>
            <a:ln w="12700">
              <a:solidFill>
                <a:srgbClr val="16243F"/>
              </a:solidFill>
              <a:prstDash val="solid"/>
            </a:ln>
          </p:spPr>
        </p:sp>
        <p:sp>
          <p:nvSpPr>
            <p:cNvPr id="14" name="Text 12"/>
            <p:cNvSpPr/>
            <p:nvPr/>
          </p:nvSpPr>
          <p:spPr>
            <a:xfrm>
              <a:off x="548640" y="3163824"/>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5" name="Text 13"/>
            <p:cNvSpPr/>
            <p:nvPr/>
          </p:nvSpPr>
          <p:spPr>
            <a:xfrm>
              <a:off x="859536" y="3104134"/>
              <a:ext cx="3464814" cy="3600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Zmienić drzwi</a:t>
              </a:r>
              <a:endParaRPr lang="en-US" sz="1200" dirty="0"/>
            </a:p>
          </p:txBody>
        </p:sp>
      </p:grpSp>
      <p:grpSp>
        <p:nvGrpSpPr>
          <p:cNvPr id="35" name="Grupa 34"/>
          <p:cNvGrpSpPr/>
          <p:nvPr/>
        </p:nvGrpSpPr>
        <p:grpSpPr>
          <a:xfrm>
            <a:off x="457200" y="3449074"/>
            <a:ext cx="3960000" cy="360000"/>
            <a:chOff x="457200" y="3616198"/>
            <a:chExt cx="3960000" cy="360000"/>
          </a:xfrm>
        </p:grpSpPr>
        <p:sp>
          <p:nvSpPr>
            <p:cNvPr id="16" name="Shape 14"/>
            <p:cNvSpPr/>
            <p:nvPr/>
          </p:nvSpPr>
          <p:spPr>
            <a:xfrm>
              <a:off x="457200" y="3616198"/>
              <a:ext cx="3960000" cy="360000"/>
            </a:xfrm>
            <a:prstGeom prst="roundRect">
              <a:avLst>
                <a:gd name="adj" fmla="val 13043"/>
              </a:avLst>
            </a:prstGeom>
            <a:solidFill>
              <a:srgbClr val="FFFFFF"/>
            </a:solidFill>
            <a:ln w="12700">
              <a:solidFill>
                <a:srgbClr val="D0D4DA"/>
              </a:solidFill>
              <a:prstDash val="solid"/>
            </a:ln>
          </p:spPr>
        </p:sp>
        <p:sp>
          <p:nvSpPr>
            <p:cNvPr id="17" name="Shape 15"/>
            <p:cNvSpPr/>
            <p:nvPr/>
          </p:nvSpPr>
          <p:spPr>
            <a:xfrm>
              <a:off x="548640" y="3675888"/>
              <a:ext cx="237744" cy="237744"/>
            </a:xfrm>
            <a:prstGeom prst="ellipse">
              <a:avLst/>
            </a:prstGeom>
            <a:solidFill>
              <a:srgbClr val="EDF1F7"/>
            </a:solidFill>
            <a:ln w="12700">
              <a:solidFill>
                <a:srgbClr val="16243F"/>
              </a:solidFill>
              <a:prstDash val="solid"/>
            </a:ln>
          </p:spPr>
        </p:sp>
        <p:sp>
          <p:nvSpPr>
            <p:cNvPr id="18" name="Text 16"/>
            <p:cNvSpPr/>
            <p:nvPr/>
          </p:nvSpPr>
          <p:spPr>
            <a:xfrm>
              <a:off x="548640" y="3675888"/>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C</a:t>
              </a:r>
              <a:endParaRPr lang="en-US" sz="1000" dirty="0"/>
            </a:p>
          </p:txBody>
        </p:sp>
        <p:sp>
          <p:nvSpPr>
            <p:cNvPr id="19" name="Text 17"/>
            <p:cNvSpPr/>
            <p:nvPr/>
          </p:nvSpPr>
          <p:spPr>
            <a:xfrm>
              <a:off x="859536" y="3616198"/>
              <a:ext cx="3464814" cy="3600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Obie strategie są równoważne (50/50)</a:t>
              </a:r>
              <a:endParaRPr lang="en-US" sz="1200" dirty="0"/>
            </a:p>
          </p:txBody>
        </p:sp>
      </p:grpSp>
      <p:sp>
        <p:nvSpPr>
          <p:cNvPr id="22" name="Shape 20"/>
          <p:cNvSpPr/>
          <p:nvPr/>
        </p:nvSpPr>
        <p:spPr>
          <a:xfrm>
            <a:off x="7406640" y="4041648"/>
            <a:ext cx="1280160" cy="746252"/>
          </a:xfrm>
          <a:prstGeom prst="roundRect">
            <a:avLst>
              <a:gd name="adj" fmla="val 6000"/>
            </a:avLst>
          </a:prstGeom>
          <a:solidFill>
            <a:srgbClr val="EDF1F7"/>
          </a:solidFill>
          <a:ln w="12700">
            <a:solidFill>
              <a:srgbClr val="E1E4EA"/>
            </a:solidFill>
            <a:prstDash val="solid"/>
          </a:ln>
        </p:spPr>
      </p:sp>
      <p:sp>
        <p:nvSpPr>
          <p:cNvPr id="23" name="Shape 21"/>
          <p:cNvSpPr/>
          <p:nvPr/>
        </p:nvSpPr>
        <p:spPr>
          <a:xfrm>
            <a:off x="7516368" y="4133088"/>
            <a:ext cx="365760" cy="365760"/>
          </a:xfrm>
          <a:prstGeom prst="rect">
            <a:avLst/>
          </a:prstGeom>
          <a:solidFill>
            <a:srgbClr val="FFFFFF"/>
          </a:solidFill>
          <a:ln w="19050">
            <a:solidFill>
              <a:srgbClr val="16243F"/>
            </a:solidFill>
            <a:prstDash val="solid"/>
          </a:ln>
        </p:spPr>
      </p:sp>
      <p:sp>
        <p:nvSpPr>
          <p:cNvPr id="24" name="Shape 22"/>
          <p:cNvSpPr/>
          <p:nvPr/>
        </p:nvSpPr>
        <p:spPr>
          <a:xfrm>
            <a:off x="7543800" y="4160520"/>
            <a:ext cx="82296" cy="82296"/>
          </a:xfrm>
          <a:prstGeom prst="rect">
            <a:avLst/>
          </a:prstGeom>
          <a:solidFill>
            <a:srgbClr val="16243F"/>
          </a:solidFill>
          <a:ln w="12700">
            <a:solidFill>
              <a:srgbClr val="16243F"/>
            </a:solidFill>
            <a:prstDash val="solid"/>
          </a:ln>
        </p:spPr>
      </p:sp>
      <p:sp>
        <p:nvSpPr>
          <p:cNvPr id="25" name="Shape 23"/>
          <p:cNvSpPr/>
          <p:nvPr/>
        </p:nvSpPr>
        <p:spPr>
          <a:xfrm>
            <a:off x="7543800" y="4361688"/>
            <a:ext cx="82296" cy="82296"/>
          </a:xfrm>
          <a:prstGeom prst="rect">
            <a:avLst/>
          </a:prstGeom>
          <a:solidFill>
            <a:srgbClr val="16243F"/>
          </a:solidFill>
          <a:ln w="12700">
            <a:solidFill>
              <a:srgbClr val="16243F"/>
            </a:solidFill>
            <a:prstDash val="solid"/>
          </a:ln>
        </p:spPr>
      </p:sp>
      <p:sp>
        <p:nvSpPr>
          <p:cNvPr id="26" name="Shape 24"/>
          <p:cNvSpPr/>
          <p:nvPr/>
        </p:nvSpPr>
        <p:spPr>
          <a:xfrm>
            <a:off x="7644384" y="4261104"/>
            <a:ext cx="82296" cy="82296"/>
          </a:xfrm>
          <a:prstGeom prst="rect">
            <a:avLst/>
          </a:prstGeom>
          <a:solidFill>
            <a:srgbClr val="16243F"/>
          </a:solidFill>
          <a:ln w="12700">
            <a:solidFill>
              <a:srgbClr val="16243F"/>
            </a:solidFill>
            <a:prstDash val="solid"/>
          </a:ln>
        </p:spPr>
      </p:sp>
      <p:sp>
        <p:nvSpPr>
          <p:cNvPr id="27" name="Shape 25"/>
          <p:cNvSpPr/>
          <p:nvPr/>
        </p:nvSpPr>
        <p:spPr>
          <a:xfrm>
            <a:off x="7744968" y="4160520"/>
            <a:ext cx="82296" cy="82296"/>
          </a:xfrm>
          <a:prstGeom prst="rect">
            <a:avLst/>
          </a:prstGeom>
          <a:solidFill>
            <a:srgbClr val="16243F"/>
          </a:solidFill>
          <a:ln w="12700">
            <a:solidFill>
              <a:srgbClr val="16243F"/>
            </a:solidFill>
            <a:prstDash val="solid"/>
          </a:ln>
        </p:spPr>
      </p:sp>
      <p:sp>
        <p:nvSpPr>
          <p:cNvPr id="28" name="Shape 26"/>
          <p:cNvSpPr/>
          <p:nvPr/>
        </p:nvSpPr>
        <p:spPr>
          <a:xfrm>
            <a:off x="7744968" y="4361688"/>
            <a:ext cx="82296" cy="82296"/>
          </a:xfrm>
          <a:prstGeom prst="rect">
            <a:avLst/>
          </a:prstGeom>
          <a:solidFill>
            <a:srgbClr val="16243F"/>
          </a:solidFill>
          <a:ln w="12700">
            <a:solidFill>
              <a:srgbClr val="16243F"/>
            </a:solidFill>
            <a:prstDash val="solid"/>
          </a:ln>
        </p:spPr>
      </p:sp>
      <p:sp>
        <p:nvSpPr>
          <p:cNvPr id="29" name="Text 27"/>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30" name="Text 28"/>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38" name="Grupa 37"/>
          <p:cNvGrpSpPr/>
          <p:nvPr/>
        </p:nvGrpSpPr>
        <p:grpSpPr>
          <a:xfrm>
            <a:off x="4673600" y="2327803"/>
            <a:ext cx="4013200" cy="1592482"/>
            <a:chOff x="4673600" y="2148840"/>
            <a:chExt cx="4013200" cy="1592482"/>
          </a:xfrm>
        </p:grpSpPr>
        <p:sp>
          <p:nvSpPr>
            <p:cNvPr id="31" name="Shape 29"/>
            <p:cNvSpPr/>
            <p:nvPr/>
          </p:nvSpPr>
          <p:spPr>
            <a:xfrm>
              <a:off x="4673600" y="2148840"/>
              <a:ext cx="4013200" cy="1592482"/>
            </a:xfrm>
            <a:prstGeom prst="roundRect">
              <a:avLst>
                <a:gd name="adj" fmla="val 4286"/>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32" name="Text 30"/>
            <p:cNvSpPr/>
            <p:nvPr/>
          </p:nvSpPr>
          <p:spPr>
            <a:xfrm>
              <a:off x="4766451" y="2212848"/>
              <a:ext cx="3774046" cy="237744"/>
            </a:xfrm>
            <a:prstGeom prst="rect">
              <a:avLst/>
            </a:prstGeom>
            <a:noFill/>
            <a:ln/>
          </p:spPr>
          <p:txBody>
            <a:bodyPr wrap="square" lIns="0" tIns="0" rIns="0" bIns="0" rtlCol="0" anchor="ctr"/>
            <a:lstStyle/>
            <a:p>
              <a:pPr marL="0" indent="0">
                <a:buNone/>
              </a:pPr>
              <a:r>
                <a:rPr lang="pl-PL" sz="1200" b="1" dirty="0" smtClean="0">
                  <a:solidFill>
                    <a:srgbClr val="0F6E6E"/>
                  </a:solidFill>
                  <a:latin typeface="Calibri" pitchFamily="34" charset="0"/>
                  <a:ea typeface="Calibri" pitchFamily="34" charset="-122"/>
                  <a:cs typeface="Calibri" pitchFamily="34" charset="-120"/>
                </a:rPr>
                <a:t>PO ZAMKNIĘCIU GŁOSOWANIA</a:t>
              </a:r>
              <a:endParaRPr lang="pl-PL" sz="1200" dirty="0"/>
            </a:p>
          </p:txBody>
        </p:sp>
        <p:sp>
          <p:nvSpPr>
            <p:cNvPr id="33" name="Text 31"/>
            <p:cNvSpPr/>
            <p:nvPr/>
          </p:nvSpPr>
          <p:spPr>
            <a:xfrm>
              <a:off x="4766450" y="2464163"/>
              <a:ext cx="3883773" cy="1254674"/>
            </a:xfrm>
            <a:prstGeom prst="rect">
              <a:avLst/>
            </a:prstGeom>
            <a:noFill/>
            <a:ln/>
          </p:spPr>
          <p:txBody>
            <a:bodyPr wrap="square" lIns="0" tIns="0" rIns="0" bIns="0" rtlCol="0" anchor="t"/>
            <a:lstStyle/>
            <a:p>
              <a:pPr marL="0" indent="0">
                <a:buNone/>
              </a:pPr>
              <a:r>
                <a:rPr lang="pl-PL" sz="1200" b="1" dirty="0" smtClean="0">
                  <a:solidFill>
                    <a:srgbClr val="16243F"/>
                  </a:solidFill>
                  <a:latin typeface="Calibri" pitchFamily="34" charset="0"/>
                  <a:ea typeface="Calibri" pitchFamily="34" charset="-122"/>
                  <a:cs typeface="Calibri" pitchFamily="34" charset="-120"/>
                </a:rPr>
                <a:t>Odpowiedź B - zmiana podwaja szansę wygranej.</a:t>
              </a:r>
              <a:endParaRPr lang="pl-PL" sz="1200" b="1" dirty="0" smtClean="0"/>
            </a:p>
            <a:p>
              <a:pPr marL="0" indent="0">
                <a:buNone/>
              </a:pPr>
              <a:endParaRPr lang="pl-PL" sz="400" dirty="0" smtClean="0"/>
            </a:p>
            <a:p>
              <a:pPr marL="0" indent="0">
                <a:buNone/>
              </a:pPr>
              <a:r>
                <a:rPr lang="pl-PL" sz="1200" dirty="0" smtClean="0">
                  <a:solidFill>
                    <a:srgbClr val="16243F"/>
                  </a:solidFill>
                  <a:latin typeface="Calibri" pitchFamily="34" charset="0"/>
                  <a:ea typeface="Calibri" pitchFamily="34" charset="-122"/>
                  <a:cs typeface="Calibri" pitchFamily="34" charset="-120"/>
                </a:rPr>
                <a:t>P(wygrana | zostań) = 1/3</a:t>
              </a:r>
              <a:endParaRPr lang="pl-PL" sz="1200" dirty="0" smtClean="0"/>
            </a:p>
            <a:p>
              <a:pPr marL="0" indent="0">
                <a:buNone/>
              </a:pPr>
              <a:r>
                <a:rPr lang="pl-PL" sz="1200" dirty="0" smtClean="0">
                  <a:solidFill>
                    <a:srgbClr val="16243F"/>
                  </a:solidFill>
                  <a:latin typeface="Calibri" pitchFamily="34" charset="0"/>
                  <a:ea typeface="Calibri" pitchFamily="34" charset="-122"/>
                  <a:cs typeface="Calibri" pitchFamily="34" charset="-120"/>
                </a:rPr>
                <a:t>P(wygrana | zmień) = 2/3</a:t>
              </a:r>
              <a:endParaRPr lang="pl-PL" sz="1200" dirty="0" smtClean="0"/>
            </a:p>
            <a:p>
              <a:pPr marL="0" indent="0">
                <a:buNone/>
              </a:pPr>
              <a:endParaRPr lang="pl-PL" sz="600" dirty="0" smtClean="0"/>
            </a:p>
            <a:p>
              <a:pPr marL="0" indent="0">
                <a:buNone/>
              </a:pPr>
              <a:r>
                <a:rPr lang="pl-PL" sz="1200" dirty="0" smtClean="0">
                  <a:solidFill>
                    <a:srgbClr val="16243F"/>
                  </a:solidFill>
                  <a:latin typeface="Calibri" pitchFamily="34" charset="0"/>
                  <a:ea typeface="Calibri" pitchFamily="34" charset="-122"/>
                  <a:cs typeface="Calibri" pitchFamily="34" charset="-120"/>
                </a:rPr>
                <a:t>Symulacja 1000 gier: strategia zmiany wygrywa w ok. 667 przypadkach, strategia trwania - w ok. 333. Prowadzący, znając zawartość drzwi, przekazuje informację poprzez swój wybór.</a:t>
              </a:r>
              <a:endParaRPr lang="pl-PL" sz="1200" dirty="0"/>
            </a:p>
          </p:txBody>
        </p:sp>
      </p:grpSp>
      <p:sp>
        <p:nvSpPr>
          <p:cNvPr id="34" name="Text 32"/>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23/40   ·   Blok III</a:t>
            </a:r>
            <a:endParaRPr lang="en-US" sz="800" dirty="0"/>
          </a:p>
        </p:txBody>
      </p:sp>
      <p:sp>
        <p:nvSpPr>
          <p:cNvPr id="39" name="Shape 13"/>
          <p:cNvSpPr/>
          <p:nvPr/>
        </p:nvSpPr>
        <p:spPr>
          <a:xfrm>
            <a:off x="4673600" y="2053587"/>
            <a:ext cx="4013200" cy="206652"/>
          </a:xfrm>
          <a:prstGeom prst="roundRect">
            <a:avLst>
              <a:gd name="adj" fmla="val 17647"/>
            </a:avLst>
          </a:prstGeom>
          <a:solidFill>
            <a:srgbClr val="C07A35"/>
          </a:solidFill>
          <a:ln w="12700">
            <a:solidFill>
              <a:srgbClr val="C07A35"/>
            </a:solidFill>
            <a:prstDash val="solid"/>
          </a:ln>
        </p:spPr>
        <p:txBody>
          <a:bodyPr anchor="ctr"/>
          <a:lstStyle/>
          <a:p>
            <a:pPr algn="ctr"/>
            <a:r>
              <a:rPr lang="en-US" sz="900" b="1" dirty="0">
                <a:solidFill>
                  <a:srgbClr val="FFFFFF"/>
                </a:solidFill>
                <a:latin typeface="Calibri" pitchFamily="34" charset="0"/>
                <a:ea typeface="Calibri" pitchFamily="34" charset="-122"/>
                <a:cs typeface="Calibri" pitchFamily="34" charset="-120"/>
              </a:rPr>
              <a:t>ZAGŁOSUJ PRZED UJAWNIENIEM </a:t>
            </a:r>
            <a:r>
              <a:rPr lang="en-US" sz="900" b="1" dirty="0" smtClean="0">
                <a:solidFill>
                  <a:srgbClr val="FFFFFF"/>
                </a:solidFill>
                <a:latin typeface="Calibri" pitchFamily="34" charset="0"/>
                <a:ea typeface="Calibri" pitchFamily="34" charset="-122"/>
                <a:cs typeface="Calibri" pitchFamily="34" charset="-120"/>
              </a:rPr>
              <a:t>ROZWIĄZANIA</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anim calcmode="lin" valueType="num">
                                      <p:cBhvr>
                                        <p:cTn id="8" dur="500" fill="hold"/>
                                        <p:tgtEl>
                                          <p:spTgt spid="39"/>
                                        </p:tgtEl>
                                        <p:attrNameLst>
                                          <p:attrName>ppt_x</p:attrName>
                                        </p:attrNameLst>
                                      </p:cBhvr>
                                      <p:tavLst>
                                        <p:tav tm="0">
                                          <p:val>
                                            <p:strVal val="#ppt_x"/>
                                          </p:val>
                                        </p:tav>
                                        <p:tav tm="100000">
                                          <p:val>
                                            <p:strVal val="#ppt_x"/>
                                          </p:val>
                                        </p:tav>
                                      </p:tavLst>
                                    </p:anim>
                                    <p:anim calcmode="lin" valueType="num">
                                      <p:cBhvr>
                                        <p:cTn id="9" dur="5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500"/>
                                        <p:tgtEl>
                                          <p:spTgt spid="38"/>
                                        </p:tgtEl>
                                      </p:cBhvr>
                                    </p:animEffect>
                                    <p:anim calcmode="lin" valueType="num">
                                      <p:cBhvr>
                                        <p:cTn id="15" dur="500" fill="hold"/>
                                        <p:tgtEl>
                                          <p:spTgt spid="38"/>
                                        </p:tgtEl>
                                        <p:attrNameLst>
                                          <p:attrName>ppt_x</p:attrName>
                                        </p:attrNameLst>
                                      </p:cBhvr>
                                      <p:tavLst>
                                        <p:tav tm="0">
                                          <p:val>
                                            <p:strVal val="#ppt_x"/>
                                          </p:val>
                                        </p:tav>
                                        <p:tav tm="100000">
                                          <p:val>
                                            <p:strVal val="#ppt_x"/>
                                          </p:val>
                                        </p:tav>
                                      </p:tavLst>
                                    </p:anim>
                                    <p:anim calcmode="lin" valueType="num">
                                      <p:cBhvr>
                                        <p:cTn id="16" dur="5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C07A35"/>
          </a:solidFill>
          <a:ln w="12700">
            <a:solidFill>
              <a:srgbClr val="C07A3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III · KOMBINATORYKA</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Problem chłopca lub dziewczynki</a:t>
            </a:r>
            <a:endParaRPr lang="en-US" sz="2400" dirty="0"/>
          </a:p>
        </p:txBody>
      </p:sp>
      <p:grpSp>
        <p:nvGrpSpPr>
          <p:cNvPr id="25" name="Grupa 24"/>
          <p:cNvGrpSpPr/>
          <p:nvPr/>
        </p:nvGrpSpPr>
        <p:grpSpPr>
          <a:xfrm>
            <a:off x="457200" y="1417320"/>
            <a:ext cx="8229600" cy="758952"/>
            <a:chOff x="457200" y="1417320"/>
            <a:chExt cx="8229600" cy="804672"/>
          </a:xfrm>
        </p:grpSpPr>
        <p:sp>
          <p:nvSpPr>
            <p:cNvPr id="5" name="Shape 3"/>
            <p:cNvSpPr/>
            <p:nvPr/>
          </p:nvSpPr>
          <p:spPr>
            <a:xfrm>
              <a:off x="457200" y="1417320"/>
              <a:ext cx="8229600" cy="804672"/>
            </a:xfrm>
            <a:prstGeom prst="roundRect">
              <a:avLst>
                <a:gd name="adj" fmla="val 6818"/>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6" name="Text 4"/>
            <p:cNvSpPr/>
            <p:nvPr/>
          </p:nvSpPr>
          <p:spPr>
            <a:xfrm>
              <a:off x="640080" y="1490472"/>
              <a:ext cx="1280160" cy="274320"/>
            </a:xfrm>
            <a:prstGeom prst="rect">
              <a:avLst/>
            </a:prstGeom>
            <a:noFill/>
            <a:ln/>
          </p:spPr>
          <p:txBody>
            <a:bodyPr wrap="square" lIns="0" tIns="0" rIns="0" bIns="0" rtlCol="0" anchor="ctr"/>
            <a:lstStyle/>
            <a:p>
              <a:pPr marL="0" indent="0">
                <a:buNone/>
              </a:pPr>
              <a:r>
                <a:rPr lang="pl-PL" sz="1600" b="1" dirty="0" smtClean="0">
                  <a:solidFill>
                    <a:srgbClr val="16243F"/>
                  </a:solidFill>
                  <a:latin typeface="Cambria" pitchFamily="34" charset="0"/>
                  <a:ea typeface="Cambria" pitchFamily="34" charset="-122"/>
                  <a:cs typeface="Cambria" pitchFamily="34" charset="-120"/>
                </a:rPr>
                <a:t>Wersja 1</a:t>
              </a:r>
              <a:endParaRPr lang="pl-PL" sz="1600" dirty="0"/>
            </a:p>
          </p:txBody>
        </p:sp>
        <p:sp>
          <p:nvSpPr>
            <p:cNvPr id="7" name="Text 5"/>
            <p:cNvSpPr/>
            <p:nvPr/>
          </p:nvSpPr>
          <p:spPr>
            <a:xfrm>
              <a:off x="640080" y="1751327"/>
              <a:ext cx="7932420" cy="411480"/>
            </a:xfrm>
            <a:prstGeom prst="rect">
              <a:avLst/>
            </a:prstGeom>
            <a:noFill/>
            <a:ln/>
          </p:spPr>
          <p:txBody>
            <a:bodyPr wrap="square" lIns="0" tIns="0" rIns="0" bIns="0" rtlCol="0" anchor="ctr"/>
            <a:lstStyle/>
            <a:p>
              <a:pPr marL="0" indent="0">
                <a:buNone/>
              </a:pPr>
              <a:r>
                <a:rPr lang="en-US" sz="1300" spc="-20" dirty="0">
                  <a:solidFill>
                    <a:srgbClr val="2B2D33"/>
                  </a:solidFill>
                  <a:latin typeface="Calibri" pitchFamily="34" charset="0"/>
                  <a:ea typeface="Calibri" pitchFamily="34" charset="-122"/>
                  <a:cs typeface="Calibri" pitchFamily="34" charset="-120"/>
                </a:rPr>
                <a:t>Rodzina ma dwoje dzieci. </a:t>
              </a:r>
              <a:r>
                <a:rPr lang="en-US" sz="1300" u="sng" spc="-20" dirty="0">
                  <a:solidFill>
                    <a:srgbClr val="2B2D33"/>
                  </a:solidFill>
                  <a:latin typeface="Calibri" pitchFamily="34" charset="0"/>
                  <a:ea typeface="Calibri" pitchFamily="34" charset="-122"/>
                  <a:cs typeface="Calibri" pitchFamily="34" charset="-120"/>
                </a:rPr>
                <a:t>Przynajmniej jedno jest chłopcem</a:t>
              </a:r>
              <a:r>
                <a:rPr lang="en-US" sz="1300" spc="-20" dirty="0">
                  <a:solidFill>
                    <a:srgbClr val="2B2D33"/>
                  </a:solidFill>
                  <a:latin typeface="Calibri" pitchFamily="34" charset="0"/>
                  <a:ea typeface="Calibri" pitchFamily="34" charset="-122"/>
                  <a:cs typeface="Calibri" pitchFamily="34" charset="-120"/>
                </a:rPr>
                <a:t>. Jakie jest prawdopodobieństwo, że oboje to chłopcy?</a:t>
              </a:r>
              <a:endParaRPr lang="en-US" sz="1300" spc="-20" dirty="0"/>
            </a:p>
          </p:txBody>
        </p:sp>
      </p:grpSp>
      <p:grpSp>
        <p:nvGrpSpPr>
          <p:cNvPr id="24" name="Grupa 23"/>
          <p:cNvGrpSpPr/>
          <p:nvPr/>
        </p:nvGrpSpPr>
        <p:grpSpPr>
          <a:xfrm>
            <a:off x="457200" y="2245268"/>
            <a:ext cx="8229600" cy="758952"/>
            <a:chOff x="457200" y="2331720"/>
            <a:chExt cx="8229600" cy="804672"/>
          </a:xfrm>
        </p:grpSpPr>
        <p:sp>
          <p:nvSpPr>
            <p:cNvPr id="8" name="Shape 6"/>
            <p:cNvSpPr/>
            <p:nvPr/>
          </p:nvSpPr>
          <p:spPr>
            <a:xfrm>
              <a:off x="457200" y="2331720"/>
              <a:ext cx="8229600" cy="804672"/>
            </a:xfrm>
            <a:prstGeom prst="roundRect">
              <a:avLst>
                <a:gd name="adj" fmla="val 6818"/>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9" name="Text 7"/>
            <p:cNvSpPr/>
            <p:nvPr/>
          </p:nvSpPr>
          <p:spPr>
            <a:xfrm>
              <a:off x="640080" y="2404872"/>
              <a:ext cx="1280160" cy="274320"/>
            </a:xfrm>
            <a:prstGeom prst="rect">
              <a:avLst/>
            </a:prstGeom>
            <a:noFill/>
            <a:ln/>
          </p:spPr>
          <p:txBody>
            <a:bodyPr wrap="square" lIns="0" tIns="0" rIns="0" bIns="0" rtlCol="0" anchor="ctr"/>
            <a:lstStyle/>
            <a:p>
              <a:pPr marL="0" indent="0">
                <a:buNone/>
              </a:pPr>
              <a:r>
                <a:rPr lang="pl-PL" sz="1600" b="1" dirty="0" smtClean="0">
                  <a:solidFill>
                    <a:srgbClr val="16243F"/>
                  </a:solidFill>
                  <a:latin typeface="Cambria" pitchFamily="34" charset="0"/>
                  <a:ea typeface="Cambria" pitchFamily="34" charset="-122"/>
                  <a:cs typeface="Cambria" pitchFamily="34" charset="-120"/>
                </a:rPr>
                <a:t>Wersja 2</a:t>
              </a:r>
              <a:endParaRPr lang="pl-PL" sz="1600" dirty="0"/>
            </a:p>
          </p:txBody>
        </p:sp>
        <p:sp>
          <p:nvSpPr>
            <p:cNvPr id="10" name="Text 8"/>
            <p:cNvSpPr/>
            <p:nvPr/>
          </p:nvSpPr>
          <p:spPr>
            <a:xfrm>
              <a:off x="640080" y="2665727"/>
              <a:ext cx="7932420" cy="411480"/>
            </a:xfrm>
            <a:prstGeom prst="rect">
              <a:avLst/>
            </a:prstGeom>
            <a:noFill/>
            <a:ln/>
          </p:spPr>
          <p:txBody>
            <a:bodyPr wrap="square" lIns="0" tIns="0" rIns="0" bIns="0" rtlCol="0" anchor="ctr"/>
            <a:lstStyle/>
            <a:p>
              <a:pPr marL="0" indent="0">
                <a:buNone/>
              </a:pPr>
              <a:r>
                <a:rPr lang="en-US" sz="1300" dirty="0">
                  <a:solidFill>
                    <a:srgbClr val="2B2D33"/>
                  </a:solidFill>
                  <a:latin typeface="Calibri" pitchFamily="34" charset="0"/>
                  <a:ea typeface="Calibri" pitchFamily="34" charset="-122"/>
                  <a:cs typeface="Calibri" pitchFamily="34" charset="-120"/>
                </a:rPr>
                <a:t>Rodzina ma dwoje dzieci. </a:t>
              </a:r>
              <a:r>
                <a:rPr lang="en-US" sz="1300" u="sng" dirty="0">
                  <a:solidFill>
                    <a:srgbClr val="2B2D33"/>
                  </a:solidFill>
                  <a:latin typeface="Calibri" pitchFamily="34" charset="0"/>
                  <a:ea typeface="Calibri" pitchFamily="34" charset="-122"/>
                  <a:cs typeface="Calibri" pitchFamily="34" charset="-120"/>
                </a:rPr>
                <a:t>Starsze dziecko jest chłopcem</a:t>
              </a:r>
              <a:r>
                <a:rPr lang="en-US" sz="1300" dirty="0">
                  <a:solidFill>
                    <a:srgbClr val="2B2D33"/>
                  </a:solidFill>
                  <a:latin typeface="Calibri" pitchFamily="34" charset="0"/>
                  <a:ea typeface="Calibri" pitchFamily="34" charset="-122"/>
                  <a:cs typeface="Calibri" pitchFamily="34" charset="-120"/>
                </a:rPr>
                <a:t>. Jakie jest prawdopodobieństwo, że oboje to chłopcy?</a:t>
              </a:r>
              <a:endParaRPr lang="en-US" sz="1300" dirty="0"/>
            </a:p>
          </p:txBody>
        </p:sp>
      </p:grpSp>
      <p:grpSp>
        <p:nvGrpSpPr>
          <p:cNvPr id="26" name="Grupa 25"/>
          <p:cNvGrpSpPr/>
          <p:nvPr/>
        </p:nvGrpSpPr>
        <p:grpSpPr>
          <a:xfrm>
            <a:off x="457200" y="3067269"/>
            <a:ext cx="8229600" cy="758952"/>
            <a:chOff x="457200" y="3246120"/>
            <a:chExt cx="8229600" cy="804672"/>
          </a:xfrm>
        </p:grpSpPr>
        <p:sp>
          <p:nvSpPr>
            <p:cNvPr id="11" name="Shape 9"/>
            <p:cNvSpPr/>
            <p:nvPr/>
          </p:nvSpPr>
          <p:spPr>
            <a:xfrm>
              <a:off x="457200" y="3246120"/>
              <a:ext cx="8229600" cy="804672"/>
            </a:xfrm>
            <a:prstGeom prst="roundRect">
              <a:avLst>
                <a:gd name="adj" fmla="val 6818"/>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12" name="Text 10"/>
            <p:cNvSpPr/>
            <p:nvPr/>
          </p:nvSpPr>
          <p:spPr>
            <a:xfrm>
              <a:off x="640080" y="3319272"/>
              <a:ext cx="1280160" cy="274320"/>
            </a:xfrm>
            <a:prstGeom prst="rect">
              <a:avLst/>
            </a:prstGeom>
            <a:noFill/>
            <a:ln/>
          </p:spPr>
          <p:txBody>
            <a:bodyPr wrap="square" lIns="0" tIns="0" rIns="0" bIns="0" rtlCol="0" anchor="ctr"/>
            <a:lstStyle/>
            <a:p>
              <a:pPr marL="0" indent="0">
                <a:buNone/>
              </a:pPr>
              <a:r>
                <a:rPr lang="pl-PL" sz="1600" b="1" dirty="0" smtClean="0">
                  <a:solidFill>
                    <a:srgbClr val="16243F"/>
                  </a:solidFill>
                  <a:latin typeface="Cambria" pitchFamily="34" charset="0"/>
                  <a:ea typeface="Cambria" pitchFamily="34" charset="-122"/>
                  <a:cs typeface="Cambria" pitchFamily="34" charset="-120"/>
                </a:rPr>
                <a:t>Wersja 3</a:t>
              </a:r>
              <a:endParaRPr lang="pl-PL" sz="1600" dirty="0"/>
            </a:p>
          </p:txBody>
        </p:sp>
        <p:sp>
          <p:nvSpPr>
            <p:cNvPr id="13" name="Text 11"/>
            <p:cNvSpPr/>
            <p:nvPr/>
          </p:nvSpPr>
          <p:spPr>
            <a:xfrm>
              <a:off x="640080" y="3580127"/>
              <a:ext cx="7932420" cy="411480"/>
            </a:xfrm>
            <a:prstGeom prst="rect">
              <a:avLst/>
            </a:prstGeom>
            <a:noFill/>
            <a:ln/>
          </p:spPr>
          <p:txBody>
            <a:bodyPr wrap="square" lIns="0" tIns="0" rIns="0" bIns="0" rtlCol="0" anchor="ctr"/>
            <a:lstStyle/>
            <a:p>
              <a:pPr marL="0" indent="0">
                <a:buNone/>
              </a:pPr>
              <a:r>
                <a:rPr lang="en-US" sz="1300" spc="-20" dirty="0">
                  <a:solidFill>
                    <a:srgbClr val="2B2D33"/>
                  </a:solidFill>
                  <a:latin typeface="Calibri" pitchFamily="34" charset="0"/>
                  <a:ea typeface="Calibri" pitchFamily="34" charset="-122"/>
                  <a:cs typeface="Calibri" pitchFamily="34" charset="-120"/>
                </a:rPr>
                <a:t>Rodzina ma dwoje dzieci. </a:t>
              </a:r>
              <a:r>
                <a:rPr lang="en-US" sz="1300" u="sng" spc="-20" dirty="0">
                  <a:solidFill>
                    <a:srgbClr val="2B2D33"/>
                  </a:solidFill>
                  <a:latin typeface="Calibri" pitchFamily="34" charset="0"/>
                  <a:ea typeface="Calibri" pitchFamily="34" charset="-122"/>
                  <a:cs typeface="Calibri" pitchFamily="34" charset="-120"/>
                </a:rPr>
                <a:t>Jedno to chłopiec urodzony we wtorek</a:t>
              </a:r>
              <a:r>
                <a:rPr lang="en-US" sz="1300" spc="-20" dirty="0">
                  <a:solidFill>
                    <a:srgbClr val="2B2D33"/>
                  </a:solidFill>
                  <a:latin typeface="Calibri" pitchFamily="34" charset="0"/>
                  <a:ea typeface="Calibri" pitchFamily="34" charset="-122"/>
                  <a:cs typeface="Calibri" pitchFamily="34" charset="-120"/>
                </a:rPr>
                <a:t>. Jakie jest prawdopodobieństwo, że oboje to chłopcy?</a:t>
              </a:r>
              <a:endParaRPr lang="en-US" sz="1300" spc="-20" dirty="0"/>
            </a:p>
          </p:txBody>
        </p:sp>
      </p:grpSp>
      <p:sp>
        <p:nvSpPr>
          <p:cNvPr id="14" name="Shape 12"/>
          <p:cNvSpPr/>
          <p:nvPr/>
        </p:nvSpPr>
        <p:spPr>
          <a:xfrm>
            <a:off x="7406640" y="4058412"/>
            <a:ext cx="1280160" cy="689102"/>
          </a:xfrm>
          <a:prstGeom prst="roundRect">
            <a:avLst>
              <a:gd name="adj" fmla="val 6000"/>
            </a:avLst>
          </a:prstGeom>
          <a:solidFill>
            <a:srgbClr val="EDF1F7"/>
          </a:solidFill>
          <a:ln w="12700">
            <a:solidFill>
              <a:srgbClr val="E1E4EA"/>
            </a:solidFill>
            <a:prstDash val="solid"/>
          </a:ln>
        </p:spPr>
      </p:sp>
      <p:sp>
        <p:nvSpPr>
          <p:cNvPr id="15" name="Shape 13"/>
          <p:cNvSpPr/>
          <p:nvPr/>
        </p:nvSpPr>
        <p:spPr>
          <a:xfrm>
            <a:off x="7516368" y="4133088"/>
            <a:ext cx="365760" cy="365760"/>
          </a:xfrm>
          <a:prstGeom prst="rect">
            <a:avLst/>
          </a:prstGeom>
          <a:solidFill>
            <a:srgbClr val="FFFFFF"/>
          </a:solidFill>
          <a:ln w="19050">
            <a:solidFill>
              <a:srgbClr val="16243F"/>
            </a:solidFill>
            <a:prstDash val="solid"/>
          </a:ln>
        </p:spPr>
      </p:sp>
      <p:sp>
        <p:nvSpPr>
          <p:cNvPr id="16" name="Shape 14"/>
          <p:cNvSpPr/>
          <p:nvPr/>
        </p:nvSpPr>
        <p:spPr>
          <a:xfrm>
            <a:off x="7543800" y="4160520"/>
            <a:ext cx="82296" cy="82296"/>
          </a:xfrm>
          <a:prstGeom prst="rect">
            <a:avLst/>
          </a:prstGeom>
          <a:solidFill>
            <a:srgbClr val="16243F"/>
          </a:solidFill>
          <a:ln w="12700">
            <a:solidFill>
              <a:srgbClr val="16243F"/>
            </a:solidFill>
            <a:prstDash val="solid"/>
          </a:ln>
        </p:spPr>
      </p:sp>
      <p:sp>
        <p:nvSpPr>
          <p:cNvPr id="17" name="Shape 15"/>
          <p:cNvSpPr/>
          <p:nvPr/>
        </p:nvSpPr>
        <p:spPr>
          <a:xfrm>
            <a:off x="7543800" y="4361688"/>
            <a:ext cx="82296" cy="82296"/>
          </a:xfrm>
          <a:prstGeom prst="rect">
            <a:avLst/>
          </a:prstGeom>
          <a:solidFill>
            <a:srgbClr val="16243F"/>
          </a:solidFill>
          <a:ln w="12700">
            <a:solidFill>
              <a:srgbClr val="16243F"/>
            </a:solidFill>
            <a:prstDash val="solid"/>
          </a:ln>
        </p:spPr>
      </p:sp>
      <p:sp>
        <p:nvSpPr>
          <p:cNvPr id="18" name="Shape 16"/>
          <p:cNvSpPr/>
          <p:nvPr/>
        </p:nvSpPr>
        <p:spPr>
          <a:xfrm>
            <a:off x="7644384" y="4261104"/>
            <a:ext cx="82296" cy="82296"/>
          </a:xfrm>
          <a:prstGeom prst="rect">
            <a:avLst/>
          </a:prstGeom>
          <a:solidFill>
            <a:srgbClr val="16243F"/>
          </a:solidFill>
          <a:ln w="12700">
            <a:solidFill>
              <a:srgbClr val="16243F"/>
            </a:solidFill>
            <a:prstDash val="solid"/>
          </a:ln>
        </p:spPr>
      </p:sp>
      <p:sp>
        <p:nvSpPr>
          <p:cNvPr id="19" name="Shape 17"/>
          <p:cNvSpPr/>
          <p:nvPr/>
        </p:nvSpPr>
        <p:spPr>
          <a:xfrm>
            <a:off x="7744968" y="4160520"/>
            <a:ext cx="82296" cy="82296"/>
          </a:xfrm>
          <a:prstGeom prst="rect">
            <a:avLst/>
          </a:prstGeom>
          <a:solidFill>
            <a:srgbClr val="16243F"/>
          </a:solidFill>
          <a:ln w="12700">
            <a:solidFill>
              <a:srgbClr val="16243F"/>
            </a:solidFill>
            <a:prstDash val="solid"/>
          </a:ln>
        </p:spPr>
      </p:sp>
      <p:sp>
        <p:nvSpPr>
          <p:cNvPr id="20" name="Shape 18"/>
          <p:cNvSpPr/>
          <p:nvPr/>
        </p:nvSpPr>
        <p:spPr>
          <a:xfrm>
            <a:off x="7744968" y="4361688"/>
            <a:ext cx="82296" cy="82296"/>
          </a:xfrm>
          <a:prstGeom prst="rect">
            <a:avLst/>
          </a:prstGeom>
          <a:solidFill>
            <a:srgbClr val="16243F"/>
          </a:solidFill>
          <a:ln w="12700">
            <a:solidFill>
              <a:srgbClr val="16243F"/>
            </a:solidFill>
            <a:prstDash val="solid"/>
          </a:ln>
        </p:spPr>
      </p:sp>
      <p:sp>
        <p:nvSpPr>
          <p:cNvPr id="21" name="Text 19"/>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22" name="Text 20"/>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sp>
        <p:nvSpPr>
          <p:cNvPr id="23" name="Text 21"/>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24/40   ·   Blok III</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1000"/>
                                        <p:tgtEl>
                                          <p:spTgt spid="24"/>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C07A35"/>
          </a:solidFill>
          <a:ln w="12700">
            <a:solidFill>
              <a:srgbClr val="C07A3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III · KOMBINATORYKA</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Paradoks dwóch kopert</a:t>
            </a:r>
            <a:endParaRPr lang="en-US" sz="2400" dirty="0"/>
          </a:p>
        </p:txBody>
      </p:sp>
      <p:sp>
        <p:nvSpPr>
          <p:cNvPr id="5" name="Text 3"/>
          <p:cNvSpPr/>
          <p:nvPr/>
        </p:nvSpPr>
        <p:spPr>
          <a:xfrm>
            <a:off x="457200" y="1371600"/>
            <a:ext cx="7740650" cy="539496"/>
          </a:xfrm>
          <a:prstGeom prst="rect">
            <a:avLst/>
          </a:prstGeom>
          <a:noFill/>
          <a:ln/>
        </p:spPr>
        <p:txBody>
          <a:bodyPr wrap="square" lIns="0" tIns="0" rIns="0" bIns="0" rtlCol="0" anchor="ctr"/>
          <a:lstStyle/>
          <a:p>
            <a:pPr marL="0" indent="0">
              <a:buNone/>
            </a:pPr>
            <a:r>
              <a:rPr lang="pl-PL" sz="1400" dirty="0" smtClean="0">
                <a:solidFill>
                  <a:srgbClr val="2B2D33"/>
                </a:solidFill>
                <a:latin typeface="Calibri" pitchFamily="34" charset="0"/>
                <a:ea typeface="Calibri" pitchFamily="34" charset="-122"/>
                <a:cs typeface="Calibri" pitchFamily="34" charset="-120"/>
              </a:rPr>
              <a:t>Dwie koperty z pieniędzmi - jedna zawiera dwa razy więcej niż druga. Wybierasz jedną, widzisz kwotę X. Masz możliwość zamiany na drugą kopertę.</a:t>
            </a:r>
            <a:endParaRPr lang="pl-PL" sz="1400" dirty="0"/>
          </a:p>
        </p:txBody>
      </p:sp>
      <p:sp>
        <p:nvSpPr>
          <p:cNvPr id="6" name="Shape 4"/>
          <p:cNvSpPr/>
          <p:nvPr/>
        </p:nvSpPr>
        <p:spPr>
          <a:xfrm>
            <a:off x="457200" y="1965960"/>
            <a:ext cx="8229600" cy="463550"/>
          </a:xfrm>
          <a:prstGeom prst="roundRect">
            <a:avLst>
              <a:gd name="adj" fmla="val 8000"/>
            </a:avLst>
          </a:prstGeom>
          <a:solidFill>
            <a:srgbClr val="EDF1F7"/>
          </a:solidFill>
          <a:ln w="12700">
            <a:solidFill>
              <a:srgbClr val="E1E4EA"/>
            </a:solidFill>
            <a:prstDash val="solid"/>
          </a:ln>
        </p:spPr>
        <p:txBody>
          <a:bodyPr anchor="ctr"/>
          <a:lstStyle/>
          <a:p>
            <a:r>
              <a:rPr lang="pl-PL" sz="1200" b="1" dirty="0" smtClean="0">
                <a:solidFill>
                  <a:srgbClr val="16243F"/>
                </a:solidFill>
                <a:latin typeface="Calibri" pitchFamily="34" charset="0"/>
                <a:ea typeface="Calibri" pitchFamily="34" charset="-122"/>
                <a:cs typeface="Calibri" pitchFamily="34" charset="-120"/>
              </a:rPr>
              <a:t>Czy warto zamienić kopertę, jeśli rozumowanie mówi: „druga koperta zawiera 2X z prawdopodobieństwem 1/2 lub X/2 </a:t>
            </a:r>
            <a:br>
              <a:rPr lang="pl-PL" sz="1200" b="1" dirty="0" smtClean="0">
                <a:solidFill>
                  <a:srgbClr val="16243F"/>
                </a:solidFill>
                <a:latin typeface="Calibri" pitchFamily="34" charset="0"/>
                <a:ea typeface="Calibri" pitchFamily="34" charset="-122"/>
                <a:cs typeface="Calibri" pitchFamily="34" charset="-120"/>
              </a:rPr>
            </a:br>
            <a:r>
              <a:rPr lang="pl-PL" sz="1200" b="1" dirty="0" smtClean="0">
                <a:solidFill>
                  <a:srgbClr val="16243F"/>
                </a:solidFill>
                <a:latin typeface="Calibri" pitchFamily="34" charset="0"/>
                <a:ea typeface="Calibri" pitchFamily="34" charset="-122"/>
                <a:cs typeface="Calibri" pitchFamily="34" charset="-120"/>
              </a:rPr>
              <a:t>z prawdopodobieństwem 1/2, więc wartość oczekiwana zamiany to 1,25X”?</a:t>
            </a:r>
            <a:endParaRPr lang="pl-PL" sz="1200" dirty="0"/>
          </a:p>
        </p:txBody>
      </p:sp>
      <p:grpSp>
        <p:nvGrpSpPr>
          <p:cNvPr id="31" name="Grupa 30"/>
          <p:cNvGrpSpPr/>
          <p:nvPr/>
        </p:nvGrpSpPr>
        <p:grpSpPr>
          <a:xfrm>
            <a:off x="457200" y="2612390"/>
            <a:ext cx="4206240" cy="420624"/>
            <a:chOff x="457200" y="2880360"/>
            <a:chExt cx="4206240" cy="420624"/>
          </a:xfrm>
        </p:grpSpPr>
        <p:sp>
          <p:nvSpPr>
            <p:cNvPr id="8" name="Shape 6"/>
            <p:cNvSpPr/>
            <p:nvPr/>
          </p:nvSpPr>
          <p:spPr>
            <a:xfrm>
              <a:off x="457200" y="2880360"/>
              <a:ext cx="4206240" cy="420624"/>
            </a:xfrm>
            <a:prstGeom prst="roundRect">
              <a:avLst>
                <a:gd name="adj" fmla="val 13043"/>
              </a:avLst>
            </a:prstGeom>
            <a:solidFill>
              <a:srgbClr val="FFFFFF"/>
            </a:solidFill>
            <a:ln w="12700">
              <a:solidFill>
                <a:srgbClr val="E1E4EA"/>
              </a:solidFill>
              <a:prstDash val="solid"/>
            </a:ln>
          </p:spPr>
        </p:sp>
        <p:sp>
          <p:nvSpPr>
            <p:cNvPr id="9" name="Shape 7"/>
            <p:cNvSpPr/>
            <p:nvPr/>
          </p:nvSpPr>
          <p:spPr>
            <a:xfrm>
              <a:off x="548640" y="2971800"/>
              <a:ext cx="237744" cy="237744"/>
            </a:xfrm>
            <a:prstGeom prst="ellipse">
              <a:avLst/>
            </a:prstGeom>
            <a:solidFill>
              <a:srgbClr val="EDF1F7"/>
            </a:solidFill>
            <a:ln w="12700">
              <a:solidFill>
                <a:srgbClr val="16243F"/>
              </a:solidFill>
              <a:prstDash val="solid"/>
            </a:ln>
          </p:spPr>
        </p:sp>
        <p:sp>
          <p:nvSpPr>
            <p:cNvPr id="10" name="Text 8"/>
            <p:cNvSpPr/>
            <p:nvPr/>
          </p:nvSpPr>
          <p:spPr>
            <a:xfrm>
              <a:off x="548640" y="2971800"/>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1" name="Text 9"/>
            <p:cNvSpPr/>
            <p:nvPr/>
          </p:nvSpPr>
          <p:spPr>
            <a:xfrm>
              <a:off x="859536" y="2880360"/>
              <a:ext cx="3694176" cy="420624"/>
            </a:xfrm>
            <a:prstGeom prst="rect">
              <a:avLst/>
            </a:prstGeom>
            <a:noFill/>
            <a:ln/>
          </p:spPr>
          <p:txBody>
            <a:bodyPr wrap="square" lIns="0" tIns="0" rIns="0" bIns="0" rtlCol="0" anchor="ctr"/>
            <a:lstStyle/>
            <a:p>
              <a:pPr marL="0" indent="0">
                <a:buNone/>
              </a:pPr>
              <a:r>
                <a:rPr lang="pl-PL" sz="1200" dirty="0" smtClean="0">
                  <a:solidFill>
                    <a:srgbClr val="2B2D33"/>
                  </a:solidFill>
                  <a:latin typeface="Calibri" pitchFamily="34" charset="0"/>
                  <a:ea typeface="Calibri" pitchFamily="34" charset="-122"/>
                  <a:cs typeface="Calibri" pitchFamily="34" charset="-120"/>
                </a:rPr>
                <a:t>Tak, warto zamienić - rozumowanie jest poprawne</a:t>
              </a:r>
              <a:endParaRPr lang="pl-PL" sz="1200" dirty="0"/>
            </a:p>
          </p:txBody>
        </p:sp>
      </p:grpSp>
      <p:grpSp>
        <p:nvGrpSpPr>
          <p:cNvPr id="32" name="Grupa 31"/>
          <p:cNvGrpSpPr/>
          <p:nvPr/>
        </p:nvGrpSpPr>
        <p:grpSpPr>
          <a:xfrm>
            <a:off x="457200" y="3108960"/>
            <a:ext cx="4206240" cy="420624"/>
            <a:chOff x="457200" y="3392424"/>
            <a:chExt cx="4206240" cy="420624"/>
          </a:xfrm>
        </p:grpSpPr>
        <p:sp>
          <p:nvSpPr>
            <p:cNvPr id="12" name="Shape 10"/>
            <p:cNvSpPr/>
            <p:nvPr/>
          </p:nvSpPr>
          <p:spPr>
            <a:xfrm>
              <a:off x="457200" y="3392424"/>
              <a:ext cx="4206240" cy="420624"/>
            </a:xfrm>
            <a:prstGeom prst="roundRect">
              <a:avLst>
                <a:gd name="adj" fmla="val 13043"/>
              </a:avLst>
            </a:prstGeom>
            <a:solidFill>
              <a:srgbClr val="FFFFFF"/>
            </a:solidFill>
            <a:ln w="12700">
              <a:solidFill>
                <a:srgbClr val="E1E4EA"/>
              </a:solidFill>
              <a:prstDash val="solid"/>
            </a:ln>
          </p:spPr>
        </p:sp>
        <p:sp>
          <p:nvSpPr>
            <p:cNvPr id="13" name="Shape 11"/>
            <p:cNvSpPr/>
            <p:nvPr/>
          </p:nvSpPr>
          <p:spPr>
            <a:xfrm>
              <a:off x="548640" y="3483864"/>
              <a:ext cx="237744" cy="237744"/>
            </a:xfrm>
            <a:prstGeom prst="ellipse">
              <a:avLst/>
            </a:prstGeom>
            <a:solidFill>
              <a:srgbClr val="EDF1F7"/>
            </a:solidFill>
            <a:ln w="12700">
              <a:solidFill>
                <a:srgbClr val="16243F"/>
              </a:solidFill>
              <a:prstDash val="solid"/>
            </a:ln>
          </p:spPr>
        </p:sp>
        <p:sp>
          <p:nvSpPr>
            <p:cNvPr id="14" name="Text 12"/>
            <p:cNvSpPr/>
            <p:nvPr/>
          </p:nvSpPr>
          <p:spPr>
            <a:xfrm>
              <a:off x="548640" y="3483864"/>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5" name="Text 13"/>
            <p:cNvSpPr/>
            <p:nvPr/>
          </p:nvSpPr>
          <p:spPr>
            <a:xfrm>
              <a:off x="859536" y="3392424"/>
              <a:ext cx="3694176" cy="420624"/>
            </a:xfrm>
            <a:prstGeom prst="rect">
              <a:avLst/>
            </a:prstGeom>
            <a:noFill/>
            <a:ln/>
          </p:spPr>
          <p:txBody>
            <a:bodyPr wrap="square" lIns="0" tIns="0" rIns="0" bIns="0" rtlCol="0" anchor="ctr"/>
            <a:lstStyle/>
            <a:p>
              <a:pPr marL="0" indent="0">
                <a:buNone/>
              </a:pPr>
              <a:r>
                <a:rPr lang="pl-PL" sz="1200" dirty="0" smtClean="0">
                  <a:solidFill>
                    <a:srgbClr val="2B2D33"/>
                  </a:solidFill>
                  <a:latin typeface="Calibri" pitchFamily="34" charset="0"/>
                  <a:ea typeface="Calibri" pitchFamily="34" charset="-122"/>
                  <a:cs typeface="Calibri" pitchFamily="34" charset="-120"/>
                </a:rPr>
                <a:t>Nie, to błędne rozumowanie - nie warto zamieniać</a:t>
              </a:r>
              <a:endParaRPr lang="pl-PL" sz="1200" dirty="0"/>
            </a:p>
          </p:txBody>
        </p:sp>
      </p:grpSp>
      <p:sp>
        <p:nvSpPr>
          <p:cNvPr id="18" name="Shape 16"/>
          <p:cNvSpPr/>
          <p:nvPr/>
        </p:nvSpPr>
        <p:spPr>
          <a:xfrm>
            <a:off x="7406640" y="4041648"/>
            <a:ext cx="1280160" cy="731520"/>
          </a:xfrm>
          <a:prstGeom prst="roundRect">
            <a:avLst>
              <a:gd name="adj" fmla="val 6000"/>
            </a:avLst>
          </a:prstGeom>
          <a:solidFill>
            <a:srgbClr val="EDF1F7"/>
          </a:solidFill>
          <a:ln w="12700">
            <a:solidFill>
              <a:srgbClr val="E1E4EA"/>
            </a:solidFill>
            <a:prstDash val="solid"/>
          </a:ln>
        </p:spPr>
      </p:sp>
      <p:sp>
        <p:nvSpPr>
          <p:cNvPr id="19" name="Shape 17"/>
          <p:cNvSpPr/>
          <p:nvPr/>
        </p:nvSpPr>
        <p:spPr>
          <a:xfrm>
            <a:off x="7516368" y="4133088"/>
            <a:ext cx="365760" cy="365760"/>
          </a:xfrm>
          <a:prstGeom prst="rect">
            <a:avLst/>
          </a:prstGeom>
          <a:solidFill>
            <a:srgbClr val="FFFFFF"/>
          </a:solidFill>
          <a:ln w="19050">
            <a:solidFill>
              <a:srgbClr val="16243F"/>
            </a:solidFill>
            <a:prstDash val="solid"/>
          </a:ln>
        </p:spPr>
      </p:sp>
      <p:sp>
        <p:nvSpPr>
          <p:cNvPr id="20" name="Shape 18"/>
          <p:cNvSpPr/>
          <p:nvPr/>
        </p:nvSpPr>
        <p:spPr>
          <a:xfrm>
            <a:off x="7543800" y="4160520"/>
            <a:ext cx="82296" cy="82296"/>
          </a:xfrm>
          <a:prstGeom prst="rect">
            <a:avLst/>
          </a:prstGeom>
          <a:solidFill>
            <a:srgbClr val="16243F"/>
          </a:solidFill>
          <a:ln w="12700">
            <a:solidFill>
              <a:srgbClr val="16243F"/>
            </a:solidFill>
            <a:prstDash val="solid"/>
          </a:ln>
        </p:spPr>
      </p:sp>
      <p:sp>
        <p:nvSpPr>
          <p:cNvPr id="21" name="Shape 19"/>
          <p:cNvSpPr/>
          <p:nvPr/>
        </p:nvSpPr>
        <p:spPr>
          <a:xfrm>
            <a:off x="7543800" y="4361688"/>
            <a:ext cx="82296" cy="82296"/>
          </a:xfrm>
          <a:prstGeom prst="rect">
            <a:avLst/>
          </a:prstGeom>
          <a:solidFill>
            <a:srgbClr val="16243F"/>
          </a:solidFill>
          <a:ln w="12700">
            <a:solidFill>
              <a:srgbClr val="16243F"/>
            </a:solidFill>
            <a:prstDash val="solid"/>
          </a:ln>
        </p:spPr>
      </p:sp>
      <p:sp>
        <p:nvSpPr>
          <p:cNvPr id="22" name="Shape 20"/>
          <p:cNvSpPr/>
          <p:nvPr/>
        </p:nvSpPr>
        <p:spPr>
          <a:xfrm>
            <a:off x="7644384" y="4261104"/>
            <a:ext cx="82296" cy="82296"/>
          </a:xfrm>
          <a:prstGeom prst="rect">
            <a:avLst/>
          </a:prstGeom>
          <a:solidFill>
            <a:srgbClr val="16243F"/>
          </a:solidFill>
          <a:ln w="12700">
            <a:solidFill>
              <a:srgbClr val="16243F"/>
            </a:solidFill>
            <a:prstDash val="solid"/>
          </a:ln>
        </p:spPr>
      </p:sp>
      <p:sp>
        <p:nvSpPr>
          <p:cNvPr id="23" name="Shape 21"/>
          <p:cNvSpPr/>
          <p:nvPr/>
        </p:nvSpPr>
        <p:spPr>
          <a:xfrm>
            <a:off x="7744968" y="4160520"/>
            <a:ext cx="82296" cy="82296"/>
          </a:xfrm>
          <a:prstGeom prst="rect">
            <a:avLst/>
          </a:prstGeom>
          <a:solidFill>
            <a:srgbClr val="16243F"/>
          </a:solidFill>
          <a:ln w="12700">
            <a:solidFill>
              <a:srgbClr val="16243F"/>
            </a:solidFill>
            <a:prstDash val="solid"/>
          </a:ln>
        </p:spPr>
      </p:sp>
      <p:sp>
        <p:nvSpPr>
          <p:cNvPr id="24" name="Shape 22"/>
          <p:cNvSpPr/>
          <p:nvPr/>
        </p:nvSpPr>
        <p:spPr>
          <a:xfrm>
            <a:off x="7744968" y="4361688"/>
            <a:ext cx="82296" cy="82296"/>
          </a:xfrm>
          <a:prstGeom prst="rect">
            <a:avLst/>
          </a:prstGeom>
          <a:solidFill>
            <a:srgbClr val="16243F"/>
          </a:solidFill>
          <a:ln w="12700">
            <a:solidFill>
              <a:srgbClr val="16243F"/>
            </a:solidFill>
            <a:prstDash val="solid"/>
          </a:ln>
        </p:spPr>
      </p:sp>
      <p:sp>
        <p:nvSpPr>
          <p:cNvPr id="25" name="Text 23"/>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26" name="Text 24"/>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33" name="Grupa 32"/>
          <p:cNvGrpSpPr/>
          <p:nvPr/>
        </p:nvGrpSpPr>
        <p:grpSpPr>
          <a:xfrm>
            <a:off x="4754880" y="2710930"/>
            <a:ext cx="3931920" cy="1282954"/>
            <a:chOff x="4754880" y="2575814"/>
            <a:chExt cx="3931920" cy="1282954"/>
          </a:xfrm>
        </p:grpSpPr>
        <p:sp>
          <p:nvSpPr>
            <p:cNvPr id="27" name="Shape 25"/>
            <p:cNvSpPr/>
            <p:nvPr/>
          </p:nvSpPr>
          <p:spPr>
            <a:xfrm>
              <a:off x="4754880" y="2575814"/>
              <a:ext cx="3931920" cy="1282954"/>
            </a:xfrm>
            <a:prstGeom prst="roundRect">
              <a:avLst>
                <a:gd name="adj" fmla="val 5217"/>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28" name="Text 26"/>
            <p:cNvSpPr/>
            <p:nvPr/>
          </p:nvSpPr>
          <p:spPr>
            <a:xfrm>
              <a:off x="4845558" y="2611628"/>
              <a:ext cx="3593592"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p:sp>
          <p:nvSpPr>
            <p:cNvPr id="29" name="Text 27"/>
            <p:cNvSpPr/>
            <p:nvPr/>
          </p:nvSpPr>
          <p:spPr>
            <a:xfrm>
              <a:off x="4845558" y="2848610"/>
              <a:ext cx="3804666" cy="988314"/>
            </a:xfrm>
            <a:prstGeom prst="rect">
              <a:avLst/>
            </a:prstGeom>
            <a:noFill/>
            <a:ln/>
          </p:spPr>
          <p:txBody>
            <a:bodyPr wrap="square" lIns="0" tIns="0" rIns="0" bIns="0" rtlCol="0" anchor="t"/>
            <a:lstStyle/>
            <a:p>
              <a:pPr marL="0" indent="0">
                <a:buNone/>
              </a:pPr>
              <a:r>
                <a:rPr lang="en-US" sz="1200" b="1" dirty="0" smtClean="0">
                  <a:solidFill>
                    <a:srgbClr val="16243F"/>
                  </a:solidFill>
                  <a:latin typeface="Calibri" pitchFamily="34" charset="0"/>
                  <a:ea typeface="Calibri" pitchFamily="34" charset="-122"/>
                  <a:cs typeface="Calibri" pitchFamily="34" charset="-120"/>
                </a:rPr>
                <a:t>Odpowiedź </a:t>
              </a:r>
              <a:r>
                <a:rPr lang="en-US" sz="1200" b="1" dirty="0">
                  <a:solidFill>
                    <a:srgbClr val="16243F"/>
                  </a:solidFill>
                  <a:latin typeface="Calibri" pitchFamily="34" charset="0"/>
                  <a:ea typeface="Calibri" pitchFamily="34" charset="-122"/>
                  <a:cs typeface="Calibri" pitchFamily="34" charset="-120"/>
                </a:rPr>
                <a:t>B. Rozumowanie jest błędne.</a:t>
              </a:r>
              <a:endParaRPr lang="en-US" sz="1200" b="1" dirty="0"/>
            </a:p>
            <a:p>
              <a:pPr marL="0" indent="0">
                <a:buNone/>
              </a:pPr>
              <a:endParaRPr lang="en-US" sz="300" dirty="0"/>
            </a:p>
            <a:p>
              <a:r>
                <a:rPr lang="pl-PL" sz="1200" dirty="0">
                  <a:solidFill>
                    <a:srgbClr val="16243F"/>
                  </a:solidFill>
                  <a:latin typeface="Calibri" pitchFamily="34" charset="0"/>
                  <a:ea typeface="Calibri" pitchFamily="34" charset="-122"/>
                  <a:cs typeface="Calibri" pitchFamily="34" charset="-120"/>
                </a:rPr>
                <a:t>Zmienna X nie może jednocześnie oznaczać kwoty mniejszej </a:t>
              </a:r>
              <a:br>
                <a:rPr lang="pl-PL" sz="1200" dirty="0">
                  <a:solidFill>
                    <a:srgbClr val="16243F"/>
                  </a:solidFill>
                  <a:latin typeface="Calibri" pitchFamily="34" charset="0"/>
                  <a:ea typeface="Calibri" pitchFamily="34" charset="-122"/>
                  <a:cs typeface="Calibri" pitchFamily="34" charset="-120"/>
                </a:rPr>
              </a:br>
              <a:r>
                <a:rPr lang="pl-PL" sz="1200" dirty="0">
                  <a:solidFill>
                    <a:srgbClr val="16243F"/>
                  </a:solidFill>
                  <a:latin typeface="Calibri" pitchFamily="34" charset="0"/>
                  <a:ea typeface="Calibri" pitchFamily="34" charset="-122"/>
                  <a:cs typeface="Calibri" pitchFamily="34" charset="-120"/>
                </a:rPr>
                <a:t>i większej koperty w tym samym równaniu. Poprawna analiza (kwoty a i 2a) pokazuje brak asymetrii: wartość oczekiwana zamiany jest identyczna niezależnie od decyzji.</a:t>
              </a:r>
              <a:endParaRPr lang="pl-PL" sz="1200" dirty="0">
                <a:solidFill>
                  <a:srgbClr val="16243F"/>
                </a:solidFill>
                <a:latin typeface="Calibri" pitchFamily="34" charset="0"/>
                <a:ea typeface="Calibri" pitchFamily="34" charset="-122"/>
                <a:cs typeface="Calibri" pitchFamily="34" charset="-120"/>
              </a:endParaRPr>
            </a:p>
          </p:txBody>
        </p:sp>
      </p:grpSp>
      <p:sp>
        <p:nvSpPr>
          <p:cNvPr id="30" name="Text 28"/>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25/40   ·   Blok III</a:t>
            </a:r>
            <a:endParaRPr lang="en-US" sz="800" dirty="0"/>
          </a:p>
        </p:txBody>
      </p:sp>
      <p:sp>
        <p:nvSpPr>
          <p:cNvPr id="34" name="Shape 13"/>
          <p:cNvSpPr/>
          <p:nvPr/>
        </p:nvSpPr>
        <p:spPr>
          <a:xfrm>
            <a:off x="4754880" y="2507615"/>
            <a:ext cx="3931920" cy="150598"/>
          </a:xfrm>
          <a:prstGeom prst="roundRect">
            <a:avLst>
              <a:gd name="adj" fmla="val 17647"/>
            </a:avLst>
          </a:prstGeom>
          <a:solidFill>
            <a:srgbClr val="C07A35"/>
          </a:solidFill>
          <a:ln w="12700">
            <a:solidFill>
              <a:srgbClr val="C07A35"/>
            </a:solidFill>
            <a:prstDash val="solid"/>
          </a:ln>
        </p:spPr>
        <p:txBody>
          <a:bodyPr anchor="ctr"/>
          <a:lstStyle/>
          <a:p>
            <a:pPr algn="ctr"/>
            <a:r>
              <a:rPr lang="en-US" sz="900" b="1" dirty="0">
                <a:solidFill>
                  <a:srgbClr val="FFFFFF"/>
                </a:solidFill>
                <a:latin typeface="Calibri" pitchFamily="34" charset="0"/>
                <a:ea typeface="Calibri" pitchFamily="34" charset="-122"/>
                <a:cs typeface="Calibri" pitchFamily="34" charset="-120"/>
              </a:rPr>
              <a:t>ZAGŁOSUJ PRZED UJAWNIENIEM </a:t>
            </a:r>
            <a:r>
              <a:rPr lang="en-US" sz="900" b="1" dirty="0" smtClean="0">
                <a:solidFill>
                  <a:srgbClr val="FFFFFF"/>
                </a:solidFill>
                <a:latin typeface="Calibri" pitchFamily="34" charset="0"/>
                <a:ea typeface="Calibri" pitchFamily="34" charset="-122"/>
                <a:cs typeface="Calibri" pitchFamily="34" charset="-120"/>
              </a:rPr>
              <a:t>ROZWIĄZANIA</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anim calcmode="lin" valueType="num">
                                      <p:cBhvr>
                                        <p:cTn id="8" dur="500" fill="hold"/>
                                        <p:tgtEl>
                                          <p:spTgt spid="34"/>
                                        </p:tgtEl>
                                        <p:attrNameLst>
                                          <p:attrName>ppt_x</p:attrName>
                                        </p:attrNameLst>
                                      </p:cBhvr>
                                      <p:tavLst>
                                        <p:tav tm="0">
                                          <p:val>
                                            <p:strVal val="#ppt_x"/>
                                          </p:val>
                                        </p:tav>
                                        <p:tav tm="100000">
                                          <p:val>
                                            <p:strVal val="#ppt_x"/>
                                          </p:val>
                                        </p:tav>
                                      </p:tavLst>
                                    </p:anim>
                                    <p:anim calcmode="lin" valueType="num">
                                      <p:cBhvr>
                                        <p:cTn id="9" dur="5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3"/>
                                        </p:tgtEl>
                                        <p:attrNameLst>
                                          <p:attrName>style.visibility</p:attrName>
                                        </p:attrNameLst>
                                      </p:cBhvr>
                                      <p:to>
                                        <p:strVal val="visible"/>
                                      </p:to>
                                    </p:set>
                                    <p:animEffect transition="in" filter="fade">
                                      <p:cBhvr>
                                        <p:cTn id="14" dur="500"/>
                                        <p:tgtEl>
                                          <p:spTgt spid="33"/>
                                        </p:tgtEl>
                                      </p:cBhvr>
                                    </p:animEffect>
                                    <p:anim calcmode="lin" valueType="num">
                                      <p:cBhvr>
                                        <p:cTn id="15" dur="500" fill="hold"/>
                                        <p:tgtEl>
                                          <p:spTgt spid="33"/>
                                        </p:tgtEl>
                                        <p:attrNameLst>
                                          <p:attrName>ppt_x</p:attrName>
                                        </p:attrNameLst>
                                      </p:cBhvr>
                                      <p:tavLst>
                                        <p:tav tm="0">
                                          <p:val>
                                            <p:strVal val="#ppt_x"/>
                                          </p:val>
                                        </p:tav>
                                        <p:tav tm="100000">
                                          <p:val>
                                            <p:strVal val="#ppt_x"/>
                                          </p:val>
                                        </p:tav>
                                      </p:tavLst>
                                    </p:anim>
                                    <p:anim calcmode="lin" valueType="num">
                                      <p:cBhvr>
                                        <p:cTn id="16"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C07A35"/>
          </a:solidFill>
          <a:ln w="12700">
            <a:solidFill>
              <a:srgbClr val="C07A3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III · KOMBINATORYKA</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Paradoks petersburski </a:t>
            </a:r>
            <a:r>
              <a:rPr lang="en-US" sz="2400" dirty="0">
                <a:solidFill>
                  <a:srgbClr val="16243F"/>
                </a:solidFill>
                <a:latin typeface="Cambria" pitchFamily="34" charset="0"/>
                <a:ea typeface="Cambria" pitchFamily="34" charset="-122"/>
                <a:cs typeface="Cambria" pitchFamily="34" charset="-120"/>
              </a:rPr>
              <a:t>(Bernoulli, 1738)</a:t>
            </a:r>
            <a:endParaRPr lang="en-US" sz="2400" dirty="0"/>
          </a:p>
        </p:txBody>
      </p:sp>
      <p:sp>
        <p:nvSpPr>
          <p:cNvPr id="5" name="Text 3"/>
          <p:cNvSpPr/>
          <p:nvPr/>
        </p:nvSpPr>
        <p:spPr>
          <a:xfrm>
            <a:off x="457200" y="1371600"/>
            <a:ext cx="5638800" cy="548640"/>
          </a:xfrm>
          <a:prstGeom prst="rect">
            <a:avLst/>
          </a:prstGeom>
          <a:noFill/>
          <a:ln/>
        </p:spPr>
        <p:txBody>
          <a:bodyPr wrap="square" lIns="0" tIns="0" rIns="0" bIns="0" rtlCol="0" anchor="ctr"/>
          <a:lstStyle/>
          <a:p>
            <a:r>
              <a:rPr lang="pl-PL" sz="1400" dirty="0">
                <a:solidFill>
                  <a:srgbClr val="2B2D33"/>
                </a:solidFill>
                <a:latin typeface="Calibri" pitchFamily="34" charset="0"/>
                <a:ea typeface="Calibri" pitchFamily="34" charset="-122"/>
                <a:cs typeface="Calibri" pitchFamily="34" charset="-120"/>
              </a:rPr>
              <a:t>Rzucasz monetą, aż wypadnie reszka. Jeśli reszka wypadnie przy </a:t>
            </a:r>
            <a:r>
              <a:rPr lang="pl-PL" sz="1400" dirty="0" smtClean="0">
                <a:solidFill>
                  <a:srgbClr val="2B2D33"/>
                </a:solidFill>
                <a:latin typeface="Calibri" pitchFamily="34" charset="0"/>
                <a:ea typeface="Calibri" pitchFamily="34" charset="-122"/>
                <a:cs typeface="Calibri" pitchFamily="34" charset="-120"/>
              </a:rPr>
              <a:t>n-tym </a:t>
            </a:r>
            <a:r>
              <a:rPr lang="pl-PL" sz="1400" dirty="0">
                <a:solidFill>
                  <a:srgbClr val="2B2D33"/>
                </a:solidFill>
                <a:latin typeface="Calibri" pitchFamily="34" charset="0"/>
                <a:ea typeface="Calibri" pitchFamily="34" charset="-122"/>
                <a:cs typeface="Calibri" pitchFamily="34" charset="-120"/>
              </a:rPr>
              <a:t>rzucie, wygrywasz 2</a:t>
            </a:r>
            <a:r>
              <a:rPr lang="pl-PL" sz="1400" baseline="30000" dirty="0">
                <a:solidFill>
                  <a:srgbClr val="2B2D33"/>
                </a:solidFill>
                <a:latin typeface="Calibri" pitchFamily="34" charset="0"/>
                <a:ea typeface="Calibri" pitchFamily="34" charset="-122"/>
                <a:cs typeface="Calibri" pitchFamily="34" charset="-120"/>
              </a:rPr>
              <a:t>n</a:t>
            </a:r>
            <a:r>
              <a:rPr lang="pl-PL" sz="1400" dirty="0">
                <a:solidFill>
                  <a:srgbClr val="2B2D33"/>
                </a:solidFill>
                <a:latin typeface="Calibri" pitchFamily="34" charset="0"/>
                <a:ea typeface="Calibri" pitchFamily="34" charset="-122"/>
                <a:cs typeface="Calibri" pitchFamily="34" charset="-120"/>
              </a:rPr>
              <a:t> złotych. </a:t>
            </a:r>
            <a:r>
              <a:rPr lang="pl-PL" sz="1400" dirty="0" smtClean="0">
                <a:solidFill>
                  <a:srgbClr val="2B2D33"/>
                </a:solidFill>
                <a:latin typeface="Calibri" pitchFamily="34" charset="0"/>
                <a:ea typeface="Calibri" pitchFamily="34" charset="-122"/>
                <a:cs typeface="Calibri" pitchFamily="34" charset="-120"/>
              </a:rPr>
              <a:t>Gra </a:t>
            </a:r>
            <a:r>
              <a:rPr lang="pl-PL" sz="1400" dirty="0">
                <a:solidFill>
                  <a:srgbClr val="2B2D33"/>
                </a:solidFill>
                <a:latin typeface="Calibri" pitchFamily="34" charset="0"/>
                <a:ea typeface="Calibri" pitchFamily="34" charset="-122"/>
                <a:cs typeface="Calibri" pitchFamily="34" charset="-120"/>
              </a:rPr>
              <a:t>kosztuje wejściową opłatę.</a:t>
            </a:r>
          </a:p>
        </p:txBody>
      </p:sp>
      <p:sp>
        <p:nvSpPr>
          <p:cNvPr id="6" name="Shape 4"/>
          <p:cNvSpPr/>
          <p:nvPr/>
        </p:nvSpPr>
        <p:spPr>
          <a:xfrm>
            <a:off x="457200" y="2011680"/>
            <a:ext cx="3797300" cy="603504"/>
          </a:xfrm>
          <a:prstGeom prst="roundRect">
            <a:avLst>
              <a:gd name="adj" fmla="val 14286"/>
            </a:avLst>
          </a:prstGeom>
          <a:solidFill>
            <a:srgbClr val="EDF1F7"/>
          </a:solidFill>
          <a:ln w="12700">
            <a:solidFill>
              <a:srgbClr val="E1E4EA"/>
            </a:solidFill>
            <a:prstDash val="solid"/>
          </a:ln>
        </p:spPr>
      </p:sp>
      <p:sp>
        <p:nvSpPr>
          <p:cNvPr id="7" name="Text 5"/>
          <p:cNvSpPr/>
          <p:nvPr/>
        </p:nvSpPr>
        <p:spPr>
          <a:xfrm>
            <a:off x="594360" y="2011680"/>
            <a:ext cx="3539490" cy="603504"/>
          </a:xfrm>
          <a:prstGeom prst="rect">
            <a:avLst/>
          </a:prstGeom>
          <a:noFill/>
          <a:ln/>
        </p:spPr>
        <p:txBody>
          <a:bodyPr wrap="square" lIns="0" tIns="0" rIns="0" bIns="0" rtlCol="0" anchor="ctr"/>
          <a:lstStyle/>
          <a:p>
            <a:r>
              <a:rPr lang="pl-PL" sz="1200" b="1" dirty="0">
                <a:solidFill>
                  <a:srgbClr val="16243F"/>
                </a:solidFill>
                <a:latin typeface="Calibri" pitchFamily="34" charset="0"/>
                <a:ea typeface="Calibri" pitchFamily="34" charset="-122"/>
                <a:cs typeface="Calibri" pitchFamily="34" charset="-120"/>
              </a:rPr>
              <a:t>Ile maksymalnie zapłaciłbyś/zapłaciłabyś </a:t>
            </a:r>
          </a:p>
          <a:p>
            <a:r>
              <a:rPr lang="pl-PL" sz="1200" b="1" dirty="0">
                <a:solidFill>
                  <a:srgbClr val="16243F"/>
                </a:solidFill>
                <a:latin typeface="Calibri" pitchFamily="34" charset="0"/>
                <a:ea typeface="Calibri" pitchFamily="34" charset="-122"/>
                <a:cs typeface="Calibri" pitchFamily="34" charset="-120"/>
              </a:rPr>
              <a:t>za udział w tej grze (jednorazowo)?</a:t>
            </a:r>
            <a:endParaRPr lang="pl-PL" sz="1200" b="1" dirty="0">
              <a:solidFill>
                <a:srgbClr val="16243F"/>
              </a:solidFill>
              <a:latin typeface="Calibri" pitchFamily="34" charset="0"/>
              <a:ea typeface="Calibri" pitchFamily="34" charset="-122"/>
              <a:cs typeface="Calibri" pitchFamily="34" charset="-120"/>
            </a:endParaRPr>
          </a:p>
        </p:txBody>
      </p:sp>
      <p:sp>
        <p:nvSpPr>
          <p:cNvPr id="8" name="Shape 6"/>
          <p:cNvSpPr/>
          <p:nvPr/>
        </p:nvSpPr>
        <p:spPr>
          <a:xfrm>
            <a:off x="457200" y="2839212"/>
            <a:ext cx="3797300" cy="777240"/>
          </a:xfrm>
          <a:prstGeom prst="roundRect">
            <a:avLst>
              <a:gd name="adj" fmla="val 7059"/>
            </a:avLst>
          </a:prstGeom>
          <a:solidFill>
            <a:srgbClr val="EDF1F7"/>
          </a:solidFill>
          <a:ln w="12700">
            <a:solidFill>
              <a:srgbClr val="E1E4EA"/>
            </a:solidFill>
            <a:prstDash val="solid"/>
          </a:ln>
        </p:spPr>
      </p:sp>
      <p:sp>
        <p:nvSpPr>
          <p:cNvPr id="9" name="Text 7"/>
          <p:cNvSpPr/>
          <p:nvPr/>
        </p:nvSpPr>
        <p:spPr>
          <a:xfrm>
            <a:off x="594360" y="2839212"/>
            <a:ext cx="3539490" cy="777240"/>
          </a:xfrm>
          <a:prstGeom prst="rect">
            <a:avLst/>
          </a:prstGeom>
          <a:noFill/>
          <a:ln/>
        </p:spPr>
        <p:txBody>
          <a:bodyPr wrap="square" lIns="0" tIns="0" rIns="0" bIns="0" rtlCol="0" anchor="ctr"/>
          <a:lstStyle/>
          <a:p>
            <a:r>
              <a:rPr lang="pl-PL" sz="1200" dirty="0">
                <a:solidFill>
                  <a:srgbClr val="16243F"/>
                </a:solidFill>
                <a:latin typeface="Calibri" pitchFamily="34" charset="0"/>
                <a:ea typeface="Calibri" pitchFamily="34" charset="-122"/>
                <a:cs typeface="Calibri" pitchFamily="34" charset="-120"/>
              </a:rPr>
              <a:t>Typ pytania: odpowiedź liczbowa (PLN). </a:t>
            </a:r>
          </a:p>
          <a:p>
            <a:r>
              <a:rPr lang="pl-PL" sz="1200" dirty="0" err="1">
                <a:solidFill>
                  <a:srgbClr val="16243F"/>
                </a:solidFill>
                <a:latin typeface="Calibri" pitchFamily="34" charset="0"/>
                <a:ea typeface="Calibri" pitchFamily="34" charset="-122"/>
                <a:cs typeface="Calibri" pitchFamily="34" charset="-120"/>
              </a:rPr>
              <a:t>Slido</a:t>
            </a:r>
            <a:r>
              <a:rPr lang="pl-PL" sz="1200" dirty="0">
                <a:solidFill>
                  <a:srgbClr val="16243F"/>
                </a:solidFill>
                <a:latin typeface="Calibri" pitchFamily="34" charset="0"/>
                <a:ea typeface="Calibri" pitchFamily="34" charset="-122"/>
                <a:cs typeface="Calibri" pitchFamily="34" charset="-120"/>
              </a:rPr>
              <a:t> generuje histogram i medianę odpowiedzi.</a:t>
            </a:r>
            <a:endParaRPr lang="pl-PL" sz="1200" dirty="0">
              <a:solidFill>
                <a:srgbClr val="16243F"/>
              </a:solidFill>
              <a:latin typeface="Calibri" pitchFamily="34" charset="0"/>
              <a:ea typeface="Calibri" pitchFamily="34" charset="-122"/>
              <a:cs typeface="Calibri" pitchFamily="34" charset="-120"/>
            </a:endParaRPr>
          </a:p>
        </p:txBody>
      </p:sp>
      <p:sp>
        <p:nvSpPr>
          <p:cNvPr id="10" name="Shape 8"/>
          <p:cNvSpPr/>
          <p:nvPr/>
        </p:nvSpPr>
        <p:spPr>
          <a:xfrm>
            <a:off x="7406640" y="4041648"/>
            <a:ext cx="1280160" cy="740664"/>
          </a:xfrm>
          <a:prstGeom prst="roundRect">
            <a:avLst>
              <a:gd name="adj" fmla="val 6000"/>
            </a:avLst>
          </a:prstGeom>
          <a:solidFill>
            <a:srgbClr val="EDF1F7"/>
          </a:solidFill>
          <a:ln w="12700">
            <a:solidFill>
              <a:srgbClr val="E1E4EA"/>
            </a:solidFill>
            <a:prstDash val="solid"/>
          </a:ln>
        </p:spPr>
      </p:sp>
      <p:sp>
        <p:nvSpPr>
          <p:cNvPr id="11" name="Shape 9"/>
          <p:cNvSpPr/>
          <p:nvPr/>
        </p:nvSpPr>
        <p:spPr>
          <a:xfrm>
            <a:off x="7516368" y="4133088"/>
            <a:ext cx="365760" cy="365760"/>
          </a:xfrm>
          <a:prstGeom prst="rect">
            <a:avLst/>
          </a:prstGeom>
          <a:solidFill>
            <a:srgbClr val="FFFFFF"/>
          </a:solidFill>
          <a:ln w="19050">
            <a:solidFill>
              <a:srgbClr val="16243F"/>
            </a:solidFill>
            <a:prstDash val="solid"/>
          </a:ln>
        </p:spPr>
      </p:sp>
      <p:sp>
        <p:nvSpPr>
          <p:cNvPr id="12" name="Shape 10"/>
          <p:cNvSpPr/>
          <p:nvPr/>
        </p:nvSpPr>
        <p:spPr>
          <a:xfrm>
            <a:off x="7543800" y="4160520"/>
            <a:ext cx="82296" cy="82296"/>
          </a:xfrm>
          <a:prstGeom prst="rect">
            <a:avLst/>
          </a:prstGeom>
          <a:solidFill>
            <a:srgbClr val="16243F"/>
          </a:solidFill>
          <a:ln w="12700">
            <a:solidFill>
              <a:srgbClr val="16243F"/>
            </a:solidFill>
            <a:prstDash val="solid"/>
          </a:ln>
        </p:spPr>
      </p:sp>
      <p:sp>
        <p:nvSpPr>
          <p:cNvPr id="13" name="Shape 11"/>
          <p:cNvSpPr/>
          <p:nvPr/>
        </p:nvSpPr>
        <p:spPr>
          <a:xfrm>
            <a:off x="7543800" y="4361688"/>
            <a:ext cx="82296" cy="82296"/>
          </a:xfrm>
          <a:prstGeom prst="rect">
            <a:avLst/>
          </a:prstGeom>
          <a:solidFill>
            <a:srgbClr val="16243F"/>
          </a:solidFill>
          <a:ln w="12700">
            <a:solidFill>
              <a:srgbClr val="16243F"/>
            </a:solidFill>
            <a:prstDash val="solid"/>
          </a:ln>
        </p:spPr>
      </p:sp>
      <p:sp>
        <p:nvSpPr>
          <p:cNvPr id="14" name="Shape 12"/>
          <p:cNvSpPr/>
          <p:nvPr/>
        </p:nvSpPr>
        <p:spPr>
          <a:xfrm>
            <a:off x="7644384" y="4261104"/>
            <a:ext cx="82296" cy="82296"/>
          </a:xfrm>
          <a:prstGeom prst="rect">
            <a:avLst/>
          </a:prstGeom>
          <a:solidFill>
            <a:srgbClr val="16243F"/>
          </a:solidFill>
          <a:ln w="12700">
            <a:solidFill>
              <a:srgbClr val="16243F"/>
            </a:solidFill>
            <a:prstDash val="solid"/>
          </a:ln>
        </p:spPr>
      </p:sp>
      <p:sp>
        <p:nvSpPr>
          <p:cNvPr id="15" name="Shape 13"/>
          <p:cNvSpPr/>
          <p:nvPr/>
        </p:nvSpPr>
        <p:spPr>
          <a:xfrm>
            <a:off x="7744968" y="4160520"/>
            <a:ext cx="82296" cy="82296"/>
          </a:xfrm>
          <a:prstGeom prst="rect">
            <a:avLst/>
          </a:prstGeom>
          <a:solidFill>
            <a:srgbClr val="16243F"/>
          </a:solidFill>
          <a:ln w="12700">
            <a:solidFill>
              <a:srgbClr val="16243F"/>
            </a:solidFill>
            <a:prstDash val="solid"/>
          </a:ln>
        </p:spPr>
      </p:sp>
      <p:sp>
        <p:nvSpPr>
          <p:cNvPr id="16" name="Shape 14"/>
          <p:cNvSpPr/>
          <p:nvPr/>
        </p:nvSpPr>
        <p:spPr>
          <a:xfrm>
            <a:off x="7744968" y="4361688"/>
            <a:ext cx="82296" cy="82296"/>
          </a:xfrm>
          <a:prstGeom prst="rect">
            <a:avLst/>
          </a:prstGeom>
          <a:solidFill>
            <a:srgbClr val="16243F"/>
          </a:solidFill>
          <a:ln w="12700">
            <a:solidFill>
              <a:srgbClr val="16243F"/>
            </a:solidFill>
            <a:prstDash val="solid"/>
          </a:ln>
        </p:spPr>
      </p:sp>
      <p:sp>
        <p:nvSpPr>
          <p:cNvPr id="17" name="Text 15"/>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18" name="Text 16"/>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23" name="Grupa 22"/>
          <p:cNvGrpSpPr/>
          <p:nvPr/>
        </p:nvGrpSpPr>
        <p:grpSpPr>
          <a:xfrm>
            <a:off x="4451350" y="2009902"/>
            <a:ext cx="4235450" cy="1874520"/>
            <a:chOff x="4451350" y="2011680"/>
            <a:chExt cx="4235450" cy="1874520"/>
          </a:xfrm>
        </p:grpSpPr>
        <p:sp>
          <p:nvSpPr>
            <p:cNvPr id="19" name="Shape 17"/>
            <p:cNvSpPr/>
            <p:nvPr/>
          </p:nvSpPr>
          <p:spPr>
            <a:xfrm>
              <a:off x="4451350" y="2011680"/>
              <a:ext cx="4235450" cy="1874520"/>
            </a:xfrm>
            <a:prstGeom prst="roundRect">
              <a:avLst>
                <a:gd name="adj" fmla="val 2927"/>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20" name="Text 18"/>
            <p:cNvSpPr/>
            <p:nvPr/>
          </p:nvSpPr>
          <p:spPr>
            <a:xfrm>
              <a:off x="4572000" y="2103120"/>
              <a:ext cx="3968496"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mc:AlternateContent xmlns:mc="http://schemas.openxmlformats.org/markup-compatibility/2006">
          <mc:Choice xmlns:a14="http://schemas.microsoft.com/office/drawing/2010/main" Requires="a14">
            <p:sp>
              <p:nvSpPr>
                <p:cNvPr id="21" name="Text 19"/>
                <p:cNvSpPr/>
                <p:nvPr/>
              </p:nvSpPr>
              <p:spPr>
                <a:xfrm>
                  <a:off x="4572000" y="2377440"/>
                  <a:ext cx="4078224" cy="1371600"/>
                </a:xfrm>
                <a:prstGeom prst="rect">
                  <a:avLst/>
                </a:prstGeom>
                <a:noFill/>
                <a:ln/>
              </p:spPr>
              <p:txBody>
                <a:bodyPr wrap="square" lIns="0" tIns="0" rIns="0" bIns="0" rtlCol="0" anchor="t"/>
                <a:lstStyle/>
                <a:p>
                  <a:pPr marL="0" indent="0">
                    <a:buNone/>
                  </a:pPr>
                  <a:r>
                    <a:rPr lang="en-US" sz="1200" dirty="0">
                      <a:solidFill>
                        <a:srgbClr val="16243F"/>
                      </a:solidFill>
                      <a:latin typeface="Calibri" pitchFamily="34" charset="0"/>
                      <a:ea typeface="Calibri" pitchFamily="34" charset="-122"/>
                      <a:cs typeface="Calibri" pitchFamily="34" charset="-120"/>
                    </a:rPr>
                    <a:t>Wartość oczekiwana gry:</a:t>
                  </a:r>
                  <a:endParaRPr lang="en-US" sz="1200" dirty="0"/>
                </a:p>
                <a:p>
                  <a:pPr marL="0" indent="0">
                    <a:buNone/>
                  </a:pPr>
                  <a:endParaRPr lang="en-US" sz="800" dirty="0"/>
                </a:p>
                <a:p>
                  <a:pPr marL="0" indent="0">
                    <a:buNone/>
                  </a:pPr>
                  <a14:m>
                    <m:oMathPara xmlns:m="http://schemas.openxmlformats.org/officeDocument/2006/math">
                      <m:oMathParaPr>
                        <m:jc m:val="centerGroup"/>
                      </m:oMathParaPr>
                      <m:oMath xmlns:m="http://schemas.openxmlformats.org/officeDocument/2006/math">
                        <m:r>
                          <a:rPr lang="en-US" sz="1200" i="1" dirty="0" smtClean="0">
                            <a:solidFill>
                              <a:srgbClr val="16243F"/>
                            </a:solidFill>
                            <a:latin typeface="Cambria Math" panose="02040503050406030204" pitchFamily="18" charset="0"/>
                            <a:ea typeface="Calibri" pitchFamily="34" charset="-122"/>
                            <a:cs typeface="Calibri" pitchFamily="34" charset="-120"/>
                          </a:rPr>
                          <m:t>𝐸</m:t>
                        </m:r>
                        <m:d>
                          <m:dPr>
                            <m:ctrlPr>
                              <a:rPr lang="en-US" sz="1200" i="1" dirty="0" smtClean="0">
                                <a:solidFill>
                                  <a:srgbClr val="16243F"/>
                                </a:solidFill>
                                <a:latin typeface="Cambria Math" panose="02040503050406030204" pitchFamily="18" charset="0"/>
                                <a:ea typeface="Calibri" pitchFamily="34" charset="-122"/>
                                <a:cs typeface="Calibri" pitchFamily="34" charset="-120"/>
                              </a:rPr>
                            </m:ctrlPr>
                          </m:dPr>
                          <m:e>
                            <m:r>
                              <a:rPr lang="en-US" sz="1200" i="1" dirty="0" smtClean="0">
                                <a:solidFill>
                                  <a:srgbClr val="16243F"/>
                                </a:solidFill>
                                <a:latin typeface="Cambria Math" panose="02040503050406030204" pitchFamily="18" charset="0"/>
                                <a:ea typeface="Calibri" pitchFamily="34" charset="-122"/>
                                <a:cs typeface="Calibri" pitchFamily="34" charset="-120"/>
                              </a:rPr>
                              <m:t>𝑋</m:t>
                            </m:r>
                          </m:e>
                        </m:d>
                        <m:r>
                          <a:rPr lang="en-US" sz="1200" i="1" dirty="0" smtClean="0">
                            <a:solidFill>
                              <a:srgbClr val="16243F"/>
                            </a:solidFill>
                            <a:latin typeface="Cambria Math" panose="02040503050406030204" pitchFamily="18" charset="0"/>
                            <a:ea typeface="Calibri" pitchFamily="34" charset="-122"/>
                            <a:cs typeface="Calibri" pitchFamily="34" charset="-120"/>
                          </a:rPr>
                          <m:t>= </m:t>
                        </m:r>
                        <m:r>
                          <m:rPr>
                            <m:sty m:val="p"/>
                          </m:rPr>
                          <a:rPr lang="en-US" sz="1200" i="0" dirty="0">
                            <a:solidFill>
                              <a:srgbClr val="16243F"/>
                            </a:solidFill>
                            <a:latin typeface="Cambria Math" panose="02040503050406030204" pitchFamily="18" charset="0"/>
                            <a:ea typeface="Calibri" pitchFamily="34" charset="-122"/>
                            <a:cs typeface="Calibri" pitchFamily="34" charset="-120"/>
                          </a:rPr>
                          <m:t>Σ</m:t>
                        </m:r>
                        <m:r>
                          <a:rPr lang="en-US" sz="1200" i="1" dirty="0">
                            <a:solidFill>
                              <a:srgbClr val="16243F"/>
                            </a:solidFill>
                            <a:latin typeface="Cambria Math" panose="02040503050406030204" pitchFamily="18" charset="0"/>
                            <a:ea typeface="Calibri" pitchFamily="34" charset="-122"/>
                            <a:cs typeface="Calibri" pitchFamily="34" charset="-120"/>
                          </a:rPr>
                          <m:t> </m:t>
                        </m:r>
                        <m:d>
                          <m:dPr>
                            <m:ctrlPr>
                              <a:rPr lang="en-US" sz="1200" i="1" dirty="0">
                                <a:solidFill>
                                  <a:srgbClr val="16243F"/>
                                </a:solidFill>
                                <a:latin typeface="Cambria Math" panose="02040503050406030204" pitchFamily="18" charset="0"/>
                                <a:ea typeface="Calibri" pitchFamily="34" charset="-122"/>
                                <a:cs typeface="Calibri" pitchFamily="34" charset="-120"/>
                              </a:rPr>
                            </m:ctrlPr>
                          </m:dPr>
                          <m:e>
                            <m:f>
                              <m:fPr>
                                <m:ctrlPr>
                                  <a:rPr lang="en-US" sz="1200" i="1" dirty="0">
                                    <a:solidFill>
                                      <a:srgbClr val="16243F"/>
                                    </a:solidFill>
                                    <a:latin typeface="Cambria Math" panose="02040503050406030204" pitchFamily="18" charset="0"/>
                                    <a:ea typeface="Calibri" pitchFamily="34" charset="-122"/>
                                    <a:cs typeface="Calibri" pitchFamily="34" charset="-120"/>
                                  </a:rPr>
                                </m:ctrlPr>
                              </m:fPr>
                              <m:num>
                                <m:r>
                                  <a:rPr lang="en-US" sz="1200" i="1" dirty="0">
                                    <a:solidFill>
                                      <a:srgbClr val="16243F"/>
                                    </a:solidFill>
                                    <a:latin typeface="Cambria Math" panose="02040503050406030204" pitchFamily="18" charset="0"/>
                                    <a:ea typeface="Calibri" pitchFamily="34" charset="-122"/>
                                    <a:cs typeface="Calibri" pitchFamily="34" charset="-120"/>
                                  </a:rPr>
                                  <m:t>1</m:t>
                                </m:r>
                              </m:num>
                              <m:den>
                                <m:sSup>
                                  <m:sSupPr>
                                    <m:ctrlPr>
                                      <a:rPr lang="en-US" sz="1200" i="1" dirty="0">
                                        <a:solidFill>
                                          <a:srgbClr val="16243F"/>
                                        </a:solidFill>
                                        <a:latin typeface="Cambria Math" panose="02040503050406030204" pitchFamily="18" charset="0"/>
                                        <a:ea typeface="Calibri" pitchFamily="34" charset="-122"/>
                                        <a:cs typeface="Calibri" pitchFamily="34" charset="-120"/>
                                      </a:rPr>
                                    </m:ctrlPr>
                                  </m:sSupPr>
                                  <m:e>
                                    <m:r>
                                      <a:rPr lang="en-US" sz="1200" i="1" dirty="0">
                                        <a:solidFill>
                                          <a:srgbClr val="16243F"/>
                                        </a:solidFill>
                                        <a:latin typeface="Cambria Math" panose="02040503050406030204" pitchFamily="18" charset="0"/>
                                        <a:ea typeface="Calibri" pitchFamily="34" charset="-122"/>
                                        <a:cs typeface="Calibri" pitchFamily="34" charset="-120"/>
                                      </a:rPr>
                                      <m:t>2</m:t>
                                    </m:r>
                                  </m:e>
                                  <m:sup>
                                    <m:r>
                                      <a:rPr lang="en-US" sz="1200" i="1" dirty="0">
                                        <a:solidFill>
                                          <a:srgbClr val="16243F"/>
                                        </a:solidFill>
                                        <a:latin typeface="Cambria Math" panose="02040503050406030204" pitchFamily="18" charset="0"/>
                                        <a:ea typeface="Calibri" pitchFamily="34" charset="-122"/>
                                        <a:cs typeface="Calibri" pitchFamily="34" charset="-120"/>
                                      </a:rPr>
                                      <m:t>𝑛</m:t>
                                    </m:r>
                                  </m:sup>
                                </m:sSup>
                              </m:den>
                            </m:f>
                          </m:e>
                        </m:d>
                        <m:r>
                          <a:rPr lang="en-US" sz="1200" i="1" dirty="0">
                            <a:solidFill>
                              <a:srgbClr val="16243F"/>
                            </a:solidFill>
                            <a:latin typeface="Cambria Math" panose="02040503050406030204" pitchFamily="18" charset="0"/>
                            <a:ea typeface="Calibri" pitchFamily="34" charset="-122"/>
                            <a:cs typeface="Calibri" pitchFamily="34" charset="-120"/>
                          </a:rPr>
                          <m:t>·</m:t>
                        </m:r>
                        <m:sSup>
                          <m:sSupPr>
                            <m:ctrlPr>
                              <a:rPr lang="en-US" sz="1200" i="1" dirty="0">
                                <a:solidFill>
                                  <a:srgbClr val="16243F"/>
                                </a:solidFill>
                                <a:latin typeface="Cambria Math" panose="02040503050406030204" pitchFamily="18" charset="0"/>
                                <a:ea typeface="Calibri" pitchFamily="34" charset="-122"/>
                                <a:cs typeface="Calibri" pitchFamily="34" charset="-120"/>
                              </a:rPr>
                            </m:ctrlPr>
                          </m:sSupPr>
                          <m:e>
                            <m:r>
                              <a:rPr lang="en-US" sz="1200" i="1" dirty="0">
                                <a:solidFill>
                                  <a:srgbClr val="16243F"/>
                                </a:solidFill>
                                <a:latin typeface="Cambria Math" panose="02040503050406030204" pitchFamily="18" charset="0"/>
                                <a:ea typeface="Calibri" pitchFamily="34" charset="-122"/>
                                <a:cs typeface="Calibri" pitchFamily="34" charset="-120"/>
                              </a:rPr>
                              <m:t>2</m:t>
                            </m:r>
                          </m:e>
                          <m:sup>
                            <m:r>
                              <a:rPr lang="en-US" sz="1200" i="1" dirty="0">
                                <a:solidFill>
                                  <a:srgbClr val="16243F"/>
                                </a:solidFill>
                                <a:latin typeface="Cambria Math" panose="02040503050406030204" pitchFamily="18" charset="0"/>
                                <a:ea typeface="Calibri" pitchFamily="34" charset="-122"/>
                                <a:cs typeface="Calibri" pitchFamily="34" charset="-120"/>
                              </a:rPr>
                              <m:t>𝑛</m:t>
                            </m:r>
                          </m:sup>
                        </m:sSup>
                        <m:r>
                          <a:rPr lang="en-US" sz="1200" i="1" dirty="0">
                            <a:solidFill>
                              <a:srgbClr val="16243F"/>
                            </a:solidFill>
                            <a:latin typeface="Cambria Math" panose="02040503050406030204" pitchFamily="18" charset="0"/>
                            <a:ea typeface="Calibri" pitchFamily="34" charset="-122"/>
                            <a:cs typeface="Calibri" pitchFamily="34" charset="-120"/>
                          </a:rPr>
                          <m:t>= </m:t>
                        </m:r>
                        <m:r>
                          <m:rPr>
                            <m:sty m:val="p"/>
                          </m:rPr>
                          <a:rPr lang="en-US" sz="1200" i="0" dirty="0">
                            <a:solidFill>
                              <a:srgbClr val="16243F"/>
                            </a:solidFill>
                            <a:latin typeface="Cambria Math" panose="02040503050406030204" pitchFamily="18" charset="0"/>
                            <a:ea typeface="Calibri" pitchFamily="34" charset="-122"/>
                            <a:cs typeface="Calibri" pitchFamily="34" charset="-120"/>
                          </a:rPr>
                          <m:t>Σ</m:t>
                        </m:r>
                        <m:r>
                          <a:rPr lang="en-US" sz="1200" i="1" dirty="0">
                            <a:solidFill>
                              <a:srgbClr val="16243F"/>
                            </a:solidFill>
                            <a:latin typeface="Cambria Math" panose="02040503050406030204" pitchFamily="18" charset="0"/>
                            <a:ea typeface="Calibri" pitchFamily="34" charset="-122"/>
                            <a:cs typeface="Calibri" pitchFamily="34" charset="-120"/>
                          </a:rPr>
                          <m:t> 1 = ∞</m:t>
                        </m:r>
                      </m:oMath>
                    </m:oMathPara>
                  </a14:m>
                  <a:endParaRPr lang="en-US" sz="1200" dirty="0"/>
                </a:p>
                <a:p>
                  <a:pPr marL="0" indent="0">
                    <a:buNone/>
                  </a:pPr>
                  <a:endParaRPr lang="en-US" sz="800" dirty="0"/>
                </a:p>
                <a:p>
                  <a:pPr marL="0" indent="0">
                    <a:buNone/>
                  </a:pPr>
                  <a:r>
                    <a:rPr lang="en-US" sz="1200" dirty="0">
                      <a:solidFill>
                        <a:srgbClr val="16243F"/>
                      </a:solidFill>
                      <a:latin typeface="Calibri" pitchFamily="34" charset="0"/>
                      <a:ea typeface="Calibri" pitchFamily="34" charset="-122"/>
                      <a:cs typeface="Calibri" pitchFamily="34" charset="-120"/>
                    </a:rPr>
                    <a:t>Matematycznie </a:t>
                  </a:r>
                  <a:r>
                    <a:rPr lang="en-US" sz="1200" dirty="0" err="1">
                      <a:solidFill>
                        <a:srgbClr val="16243F"/>
                      </a:solidFill>
                      <a:latin typeface="Calibri" pitchFamily="34" charset="0"/>
                      <a:ea typeface="Calibri" pitchFamily="34" charset="-122"/>
                      <a:cs typeface="Calibri" pitchFamily="34" charset="-120"/>
                    </a:rPr>
                    <a:t>gra</a:t>
                  </a:r>
                  <a:r>
                    <a:rPr lang="en-US" sz="1200" dirty="0">
                      <a:solidFill>
                        <a:srgbClr val="16243F"/>
                      </a:solidFill>
                      <a:latin typeface="Calibri" pitchFamily="34" charset="0"/>
                      <a:ea typeface="Calibri" pitchFamily="34" charset="-122"/>
                      <a:cs typeface="Calibri" pitchFamily="34" charset="-120"/>
                    </a:rPr>
                    <a:t> ma nieskończoną wartość oczekiwaną, lecz niemal nikt nie zapłaciłby więcej niż kilkadziesiąt złotych. </a:t>
                  </a:r>
                  <a:r>
                    <a:rPr lang="en-US" sz="1200" b="1" dirty="0">
                      <a:solidFill>
                        <a:srgbClr val="16243F"/>
                      </a:solidFill>
                      <a:latin typeface="Calibri" pitchFamily="34" charset="0"/>
                      <a:ea typeface="Calibri" pitchFamily="34" charset="-122"/>
                      <a:cs typeface="Calibri" pitchFamily="34" charset="-120"/>
                    </a:rPr>
                    <a:t>Rozwiązania</a:t>
                  </a:r>
                  <a:r>
                    <a:rPr lang="en-US" sz="1200" dirty="0">
                      <a:solidFill>
                        <a:srgbClr val="16243F"/>
                      </a:solidFill>
                      <a:latin typeface="Calibri" pitchFamily="34" charset="0"/>
                      <a:ea typeface="Calibri" pitchFamily="34" charset="-122"/>
                      <a:cs typeface="Calibri" pitchFamily="34" charset="-120"/>
                    </a:rPr>
                    <a:t>: użyteczność malejąca (Bernoulli), awersja do ryzyka.</a:t>
                  </a:r>
                  <a:endParaRPr lang="en-US" sz="1200" dirty="0"/>
                </a:p>
              </p:txBody>
            </p:sp>
          </mc:Choice>
          <mc:Fallback>
            <p:sp>
              <p:nvSpPr>
                <p:cNvPr id="21" name="Text 19"/>
                <p:cNvSpPr>
                  <a:spLocks noRot="1" noChangeAspect="1" noMove="1" noResize="1" noEditPoints="1" noAdjustHandles="1" noChangeArrowheads="1" noChangeShapeType="1" noTextEdit="1"/>
                </p:cNvSpPr>
                <p:nvPr/>
              </p:nvSpPr>
              <p:spPr>
                <a:xfrm>
                  <a:off x="4572000" y="2377440"/>
                  <a:ext cx="4078224" cy="1371600"/>
                </a:xfrm>
                <a:prstGeom prst="rect">
                  <a:avLst/>
                </a:prstGeom>
                <a:blipFill>
                  <a:blip r:embed="rId3"/>
                  <a:stretch>
                    <a:fillRect l="-2242" t="-3556" r="-2093" b="-8000"/>
                  </a:stretch>
                </a:blipFill>
                <a:ln/>
              </p:spPr>
              <p:txBody>
                <a:bodyPr/>
                <a:lstStyle/>
                <a:p>
                  <a:r>
                    <a:rPr lang="pl-PL">
                      <a:noFill/>
                    </a:rPr>
                    <a:t> </a:t>
                  </a:r>
                </a:p>
              </p:txBody>
            </p:sp>
          </mc:Fallback>
        </mc:AlternateContent>
      </p:grpSp>
      <p:sp>
        <p:nvSpPr>
          <p:cNvPr id="22" name="Text 20"/>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26/40   ·   Blok III</a:t>
            </a:r>
            <a:endParaRPr lang="en-US" sz="800" dirty="0"/>
          </a:p>
        </p:txBody>
      </p:sp>
      <p:sp>
        <p:nvSpPr>
          <p:cNvPr id="24" name="Shape 13"/>
          <p:cNvSpPr/>
          <p:nvPr/>
        </p:nvSpPr>
        <p:spPr>
          <a:xfrm>
            <a:off x="4451350" y="1814571"/>
            <a:ext cx="4235450" cy="131324"/>
          </a:xfrm>
          <a:prstGeom prst="roundRect">
            <a:avLst>
              <a:gd name="adj" fmla="val 17647"/>
            </a:avLst>
          </a:prstGeom>
          <a:solidFill>
            <a:srgbClr val="C07A35"/>
          </a:solidFill>
          <a:ln w="12700">
            <a:solidFill>
              <a:srgbClr val="C07A35"/>
            </a:solidFill>
            <a:prstDash val="solid"/>
          </a:ln>
        </p:spPr>
        <p:txBody>
          <a:bodyPr anchor="ctr"/>
          <a:lstStyle/>
          <a:p>
            <a:pPr algn="ctr"/>
            <a:r>
              <a:rPr lang="en-US" sz="900" b="1" dirty="0">
                <a:solidFill>
                  <a:srgbClr val="FFFFFF"/>
                </a:solidFill>
                <a:latin typeface="Calibri" pitchFamily="34" charset="0"/>
                <a:ea typeface="Calibri" pitchFamily="34" charset="-122"/>
                <a:cs typeface="Calibri" pitchFamily="34" charset="-120"/>
              </a:rPr>
              <a:t>ZAGŁOSUJ PRZED UJAWNIENIEM </a:t>
            </a:r>
            <a:r>
              <a:rPr lang="en-US" sz="900" b="1" dirty="0" smtClean="0">
                <a:solidFill>
                  <a:srgbClr val="FFFFFF"/>
                </a:solidFill>
                <a:latin typeface="Calibri" pitchFamily="34" charset="0"/>
                <a:ea typeface="Calibri" pitchFamily="34" charset="-122"/>
                <a:cs typeface="Calibri" pitchFamily="34" charset="-120"/>
              </a:rPr>
              <a:t>ROZWIĄZANIA</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anim calcmode="lin" valueType="num">
                                      <p:cBhvr>
                                        <p:cTn id="8" dur="500" fill="hold"/>
                                        <p:tgtEl>
                                          <p:spTgt spid="24"/>
                                        </p:tgtEl>
                                        <p:attrNameLst>
                                          <p:attrName>ppt_x</p:attrName>
                                        </p:attrNameLst>
                                      </p:cBhvr>
                                      <p:tavLst>
                                        <p:tav tm="0">
                                          <p:val>
                                            <p:strVal val="#ppt_x"/>
                                          </p:val>
                                        </p:tav>
                                        <p:tav tm="100000">
                                          <p:val>
                                            <p:strVal val="#ppt_x"/>
                                          </p:val>
                                        </p:tav>
                                      </p:tavLst>
                                    </p:anim>
                                    <p:anim calcmode="lin" valueType="num">
                                      <p:cBhvr>
                                        <p:cTn id="9"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500"/>
                                        <p:tgtEl>
                                          <p:spTgt spid="23"/>
                                        </p:tgtEl>
                                      </p:cBhvr>
                                    </p:animEffect>
                                    <p:anim calcmode="lin" valueType="num">
                                      <p:cBhvr>
                                        <p:cTn id="15" dur="500" fill="hold"/>
                                        <p:tgtEl>
                                          <p:spTgt spid="23"/>
                                        </p:tgtEl>
                                        <p:attrNameLst>
                                          <p:attrName>ppt_x</p:attrName>
                                        </p:attrNameLst>
                                      </p:cBhvr>
                                      <p:tavLst>
                                        <p:tav tm="0">
                                          <p:val>
                                            <p:strVal val="#ppt_x"/>
                                          </p:val>
                                        </p:tav>
                                        <p:tav tm="100000">
                                          <p:val>
                                            <p:strVal val="#ppt_x"/>
                                          </p:val>
                                        </p:tav>
                                      </p:tavLst>
                                    </p:anim>
                                    <p:anim calcmode="lin" valueType="num">
                                      <p:cBhvr>
                                        <p:cTn id="16" dur="5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C07A35"/>
          </a:solidFill>
          <a:ln w="12700">
            <a:solidFill>
              <a:srgbClr val="C07A3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III · KOMBINATORYKA</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300" b="1" dirty="0">
                <a:solidFill>
                  <a:srgbClr val="16243F"/>
                </a:solidFill>
                <a:latin typeface="Cambria" pitchFamily="34" charset="0"/>
                <a:ea typeface="Cambria" pitchFamily="34" charset="-122"/>
                <a:cs typeface="Cambria" pitchFamily="34" charset="-120"/>
              </a:rPr>
              <a:t>Wielokrotne porównania </a:t>
            </a:r>
            <a:r>
              <a:rPr lang="en-US" sz="2300" dirty="0">
                <a:solidFill>
                  <a:srgbClr val="16243F"/>
                </a:solidFill>
                <a:latin typeface="Cambria" pitchFamily="34" charset="0"/>
                <a:ea typeface="Cambria" pitchFamily="34" charset="-122"/>
                <a:cs typeface="Cambria" pitchFamily="34" charset="-120"/>
              </a:rPr>
              <a:t>(multiple comparisons)</a:t>
            </a:r>
            <a:endParaRPr lang="en-US" sz="2300" dirty="0"/>
          </a:p>
        </p:txBody>
      </p:sp>
      <p:sp>
        <p:nvSpPr>
          <p:cNvPr id="5" name="Shape 3"/>
          <p:cNvSpPr/>
          <p:nvPr/>
        </p:nvSpPr>
        <p:spPr>
          <a:xfrm>
            <a:off x="457200" y="1512682"/>
            <a:ext cx="8229600" cy="523981"/>
          </a:xfrm>
          <a:prstGeom prst="roundRect">
            <a:avLst>
              <a:gd name="adj" fmla="val 14286"/>
            </a:avLst>
          </a:prstGeom>
          <a:solidFill>
            <a:srgbClr val="EDF1F7"/>
          </a:solidFill>
          <a:ln w="12700">
            <a:solidFill>
              <a:srgbClr val="E1E4EA"/>
            </a:solidFill>
            <a:prstDash val="solid"/>
          </a:ln>
        </p:spPr>
      </p:sp>
      <p:sp>
        <p:nvSpPr>
          <p:cNvPr id="6" name="Text 4"/>
          <p:cNvSpPr/>
          <p:nvPr/>
        </p:nvSpPr>
        <p:spPr>
          <a:xfrm>
            <a:off x="594359" y="1512682"/>
            <a:ext cx="8011262" cy="523981"/>
          </a:xfrm>
          <a:prstGeom prst="rect">
            <a:avLst/>
          </a:prstGeom>
          <a:noFill/>
          <a:ln/>
        </p:spPr>
        <p:txBody>
          <a:bodyPr wrap="square" lIns="0" tIns="0" rIns="0" bIns="0" rtlCol="0" anchor="ctr"/>
          <a:lstStyle/>
          <a:p>
            <a:r>
              <a:rPr lang="pl-PL" sz="1400" dirty="0">
                <a:solidFill>
                  <a:srgbClr val="16243F"/>
                </a:solidFill>
                <a:latin typeface="Calibri" pitchFamily="34" charset="0"/>
                <a:ea typeface="Calibri" pitchFamily="34" charset="-122"/>
                <a:cs typeface="Calibri" pitchFamily="34" charset="-120"/>
              </a:rPr>
              <a:t>Jakie jest prawdopodobieństwo co najmniej jednego wyniku fałszywie dodatniego </a:t>
            </a:r>
          </a:p>
          <a:p>
            <a:r>
              <a:rPr lang="pl-PL" sz="1400" dirty="0">
                <a:solidFill>
                  <a:srgbClr val="16243F"/>
                </a:solidFill>
                <a:latin typeface="Calibri" pitchFamily="34" charset="0"/>
                <a:ea typeface="Calibri" pitchFamily="34" charset="-122"/>
                <a:cs typeface="Calibri" pitchFamily="34" charset="-120"/>
              </a:rPr>
              <a:t>w 20 niezależnych testach statystycznych przy α = 0,05?</a:t>
            </a:r>
            <a:endParaRPr lang="pl-PL" sz="1400" dirty="0">
              <a:solidFill>
                <a:srgbClr val="16243F"/>
              </a:solidFill>
              <a:latin typeface="Calibri" pitchFamily="34" charset="0"/>
              <a:ea typeface="Calibri" pitchFamily="34" charset="-122"/>
              <a:cs typeface="Calibri" pitchFamily="34" charset="-120"/>
            </a:endParaRPr>
          </a:p>
        </p:txBody>
      </p:sp>
      <p:grpSp>
        <p:nvGrpSpPr>
          <p:cNvPr id="38" name="Grupa 37"/>
          <p:cNvGrpSpPr/>
          <p:nvPr/>
        </p:nvGrpSpPr>
        <p:grpSpPr>
          <a:xfrm>
            <a:off x="457200" y="2173129"/>
            <a:ext cx="2468880" cy="360000"/>
            <a:chOff x="457200" y="1703832"/>
            <a:chExt cx="2468880" cy="360000"/>
          </a:xfrm>
        </p:grpSpPr>
        <p:sp>
          <p:nvSpPr>
            <p:cNvPr id="7" name="Shape 5"/>
            <p:cNvSpPr/>
            <p:nvPr/>
          </p:nvSpPr>
          <p:spPr>
            <a:xfrm>
              <a:off x="457200" y="1703832"/>
              <a:ext cx="2468880" cy="360000"/>
            </a:xfrm>
            <a:prstGeom prst="roundRect">
              <a:avLst>
                <a:gd name="adj" fmla="val 10714"/>
              </a:avLst>
            </a:prstGeom>
            <a:solidFill>
              <a:srgbClr val="FFFFFF"/>
            </a:solidFill>
            <a:ln w="12700">
              <a:solidFill>
                <a:srgbClr val="E1E4EA"/>
              </a:solidFill>
              <a:prstDash val="solid"/>
            </a:ln>
          </p:spPr>
        </p:sp>
        <p:sp>
          <p:nvSpPr>
            <p:cNvPr id="8" name="Shape 6"/>
            <p:cNvSpPr/>
            <p:nvPr/>
          </p:nvSpPr>
          <p:spPr>
            <a:xfrm>
              <a:off x="548640" y="1764792"/>
              <a:ext cx="237744" cy="237744"/>
            </a:xfrm>
            <a:prstGeom prst="ellipse">
              <a:avLst/>
            </a:prstGeom>
            <a:solidFill>
              <a:srgbClr val="EDF1F7"/>
            </a:solidFill>
            <a:ln w="12700">
              <a:solidFill>
                <a:srgbClr val="16243F"/>
              </a:solidFill>
              <a:prstDash val="solid"/>
            </a:ln>
          </p:spPr>
        </p:sp>
        <p:sp>
          <p:nvSpPr>
            <p:cNvPr id="9" name="Text 7"/>
            <p:cNvSpPr/>
            <p:nvPr/>
          </p:nvSpPr>
          <p:spPr>
            <a:xfrm>
              <a:off x="548640" y="1764792"/>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0" name="Text 8"/>
            <p:cNvSpPr/>
            <p:nvPr/>
          </p:nvSpPr>
          <p:spPr>
            <a:xfrm>
              <a:off x="859537" y="1703832"/>
              <a:ext cx="1978914" cy="3600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5%</a:t>
              </a:r>
              <a:endParaRPr lang="en-US" sz="1200" dirty="0"/>
            </a:p>
          </p:txBody>
        </p:sp>
      </p:grpSp>
      <p:grpSp>
        <p:nvGrpSpPr>
          <p:cNvPr id="39" name="Grupa 38"/>
          <p:cNvGrpSpPr/>
          <p:nvPr/>
        </p:nvGrpSpPr>
        <p:grpSpPr>
          <a:xfrm>
            <a:off x="457200" y="2591915"/>
            <a:ext cx="2468880" cy="360000"/>
            <a:chOff x="457200" y="2307336"/>
            <a:chExt cx="2468880" cy="360000"/>
          </a:xfrm>
        </p:grpSpPr>
        <p:sp>
          <p:nvSpPr>
            <p:cNvPr id="11" name="Shape 9"/>
            <p:cNvSpPr/>
            <p:nvPr/>
          </p:nvSpPr>
          <p:spPr>
            <a:xfrm>
              <a:off x="457200" y="2307336"/>
              <a:ext cx="2468880" cy="360000"/>
            </a:xfrm>
            <a:prstGeom prst="roundRect">
              <a:avLst>
                <a:gd name="adj" fmla="val 10714"/>
              </a:avLst>
            </a:prstGeom>
            <a:solidFill>
              <a:srgbClr val="FFFFFF"/>
            </a:solidFill>
            <a:ln w="12700">
              <a:solidFill>
                <a:srgbClr val="E1E4EA"/>
              </a:solidFill>
              <a:prstDash val="solid"/>
            </a:ln>
          </p:spPr>
        </p:sp>
        <p:sp>
          <p:nvSpPr>
            <p:cNvPr id="12" name="Shape 10"/>
            <p:cNvSpPr/>
            <p:nvPr/>
          </p:nvSpPr>
          <p:spPr>
            <a:xfrm>
              <a:off x="548640" y="2368296"/>
              <a:ext cx="237744" cy="237744"/>
            </a:xfrm>
            <a:prstGeom prst="ellipse">
              <a:avLst/>
            </a:prstGeom>
            <a:solidFill>
              <a:srgbClr val="EDF1F7"/>
            </a:solidFill>
            <a:ln w="12700">
              <a:solidFill>
                <a:srgbClr val="16243F"/>
              </a:solidFill>
              <a:prstDash val="solid"/>
            </a:ln>
          </p:spPr>
        </p:sp>
        <p:sp>
          <p:nvSpPr>
            <p:cNvPr id="13" name="Text 11"/>
            <p:cNvSpPr/>
            <p:nvPr/>
          </p:nvSpPr>
          <p:spPr>
            <a:xfrm>
              <a:off x="548640" y="2368296"/>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4" name="Text 12"/>
            <p:cNvSpPr/>
            <p:nvPr/>
          </p:nvSpPr>
          <p:spPr>
            <a:xfrm>
              <a:off x="859537" y="2307336"/>
              <a:ext cx="1978914" cy="3600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20%</a:t>
              </a:r>
              <a:endParaRPr lang="en-US" sz="1200" dirty="0"/>
            </a:p>
          </p:txBody>
        </p:sp>
      </p:grpSp>
      <p:grpSp>
        <p:nvGrpSpPr>
          <p:cNvPr id="40" name="Grupa 39"/>
          <p:cNvGrpSpPr/>
          <p:nvPr/>
        </p:nvGrpSpPr>
        <p:grpSpPr>
          <a:xfrm>
            <a:off x="457200" y="3010701"/>
            <a:ext cx="2468880" cy="360000"/>
            <a:chOff x="457200" y="2910840"/>
            <a:chExt cx="2468880" cy="360000"/>
          </a:xfrm>
        </p:grpSpPr>
        <p:sp>
          <p:nvSpPr>
            <p:cNvPr id="15" name="Shape 13"/>
            <p:cNvSpPr/>
            <p:nvPr/>
          </p:nvSpPr>
          <p:spPr>
            <a:xfrm>
              <a:off x="457200" y="2910840"/>
              <a:ext cx="2468880" cy="360000"/>
            </a:xfrm>
            <a:prstGeom prst="roundRect">
              <a:avLst>
                <a:gd name="adj" fmla="val 10714"/>
              </a:avLst>
            </a:prstGeom>
            <a:solidFill>
              <a:srgbClr val="FFFFFF"/>
            </a:solidFill>
            <a:ln w="12700">
              <a:solidFill>
                <a:srgbClr val="E1E4EA"/>
              </a:solidFill>
              <a:prstDash val="solid"/>
            </a:ln>
          </p:spPr>
        </p:sp>
        <p:sp>
          <p:nvSpPr>
            <p:cNvPr id="16" name="Shape 14"/>
            <p:cNvSpPr/>
            <p:nvPr/>
          </p:nvSpPr>
          <p:spPr>
            <a:xfrm>
              <a:off x="548640" y="2971800"/>
              <a:ext cx="237744" cy="237744"/>
            </a:xfrm>
            <a:prstGeom prst="ellipse">
              <a:avLst/>
            </a:prstGeom>
            <a:solidFill>
              <a:srgbClr val="EDF1F7"/>
            </a:solidFill>
            <a:ln w="12700">
              <a:solidFill>
                <a:srgbClr val="16243F"/>
              </a:solidFill>
              <a:prstDash val="solid"/>
            </a:ln>
          </p:spPr>
        </p:sp>
        <p:sp>
          <p:nvSpPr>
            <p:cNvPr id="17" name="Text 15"/>
            <p:cNvSpPr/>
            <p:nvPr/>
          </p:nvSpPr>
          <p:spPr>
            <a:xfrm>
              <a:off x="548640" y="2971800"/>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C</a:t>
              </a:r>
              <a:endParaRPr lang="en-US" sz="1000" dirty="0"/>
            </a:p>
          </p:txBody>
        </p:sp>
        <p:sp>
          <p:nvSpPr>
            <p:cNvPr id="18" name="Text 16"/>
            <p:cNvSpPr/>
            <p:nvPr/>
          </p:nvSpPr>
          <p:spPr>
            <a:xfrm>
              <a:off x="859537" y="2910840"/>
              <a:ext cx="1978914" cy="3600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Około 40%</a:t>
              </a:r>
              <a:endParaRPr lang="en-US" sz="1200" dirty="0"/>
            </a:p>
          </p:txBody>
        </p:sp>
      </p:grpSp>
      <p:grpSp>
        <p:nvGrpSpPr>
          <p:cNvPr id="41" name="Grupa 40"/>
          <p:cNvGrpSpPr/>
          <p:nvPr/>
        </p:nvGrpSpPr>
        <p:grpSpPr>
          <a:xfrm>
            <a:off x="457200" y="3426764"/>
            <a:ext cx="2468880" cy="360000"/>
            <a:chOff x="457200" y="3514344"/>
            <a:chExt cx="2468880" cy="360000"/>
          </a:xfrm>
        </p:grpSpPr>
        <p:sp>
          <p:nvSpPr>
            <p:cNvPr id="19" name="Shape 17"/>
            <p:cNvSpPr/>
            <p:nvPr/>
          </p:nvSpPr>
          <p:spPr>
            <a:xfrm>
              <a:off x="457200" y="3514344"/>
              <a:ext cx="2468880" cy="360000"/>
            </a:xfrm>
            <a:prstGeom prst="roundRect">
              <a:avLst>
                <a:gd name="adj" fmla="val 10714"/>
              </a:avLst>
            </a:prstGeom>
            <a:solidFill>
              <a:srgbClr val="FFFFFF"/>
            </a:solidFill>
            <a:ln w="12700">
              <a:solidFill>
                <a:srgbClr val="E1E4EA"/>
              </a:solidFill>
              <a:prstDash val="solid"/>
            </a:ln>
          </p:spPr>
        </p:sp>
        <p:sp>
          <p:nvSpPr>
            <p:cNvPr id="20" name="Shape 18"/>
            <p:cNvSpPr/>
            <p:nvPr/>
          </p:nvSpPr>
          <p:spPr>
            <a:xfrm>
              <a:off x="548640" y="3575304"/>
              <a:ext cx="237744" cy="237744"/>
            </a:xfrm>
            <a:prstGeom prst="ellipse">
              <a:avLst/>
            </a:prstGeom>
            <a:solidFill>
              <a:srgbClr val="EDF1F7"/>
            </a:solidFill>
            <a:ln w="12700">
              <a:solidFill>
                <a:srgbClr val="16243F"/>
              </a:solidFill>
              <a:prstDash val="solid"/>
            </a:ln>
          </p:spPr>
        </p:sp>
        <p:sp>
          <p:nvSpPr>
            <p:cNvPr id="21" name="Text 19"/>
            <p:cNvSpPr/>
            <p:nvPr/>
          </p:nvSpPr>
          <p:spPr>
            <a:xfrm>
              <a:off x="548640" y="3575304"/>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D</a:t>
              </a:r>
              <a:endParaRPr lang="en-US" sz="1000" dirty="0"/>
            </a:p>
          </p:txBody>
        </p:sp>
        <p:sp>
          <p:nvSpPr>
            <p:cNvPr id="22" name="Text 20"/>
            <p:cNvSpPr/>
            <p:nvPr/>
          </p:nvSpPr>
          <p:spPr>
            <a:xfrm>
              <a:off x="859537" y="3514344"/>
              <a:ext cx="1978914" cy="3600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Około 64%</a:t>
              </a:r>
              <a:endParaRPr lang="en-US" sz="1200" dirty="0"/>
            </a:p>
          </p:txBody>
        </p:sp>
      </p:grpSp>
      <p:sp>
        <p:nvSpPr>
          <p:cNvPr id="25" name="Shape 23"/>
          <p:cNvSpPr/>
          <p:nvPr/>
        </p:nvSpPr>
        <p:spPr>
          <a:xfrm>
            <a:off x="7406640" y="4041648"/>
            <a:ext cx="1280160" cy="740664"/>
          </a:xfrm>
          <a:prstGeom prst="roundRect">
            <a:avLst>
              <a:gd name="adj" fmla="val 6000"/>
            </a:avLst>
          </a:prstGeom>
          <a:solidFill>
            <a:srgbClr val="EDF1F7"/>
          </a:solidFill>
          <a:ln w="12700">
            <a:solidFill>
              <a:srgbClr val="E1E4EA"/>
            </a:solidFill>
            <a:prstDash val="solid"/>
          </a:ln>
        </p:spPr>
      </p:sp>
      <p:sp>
        <p:nvSpPr>
          <p:cNvPr id="26" name="Shape 24"/>
          <p:cNvSpPr/>
          <p:nvPr/>
        </p:nvSpPr>
        <p:spPr>
          <a:xfrm>
            <a:off x="7516368" y="4133088"/>
            <a:ext cx="365760" cy="365760"/>
          </a:xfrm>
          <a:prstGeom prst="rect">
            <a:avLst/>
          </a:prstGeom>
          <a:solidFill>
            <a:srgbClr val="FFFFFF"/>
          </a:solidFill>
          <a:ln w="19050">
            <a:solidFill>
              <a:srgbClr val="16243F"/>
            </a:solidFill>
            <a:prstDash val="solid"/>
          </a:ln>
        </p:spPr>
      </p:sp>
      <p:sp>
        <p:nvSpPr>
          <p:cNvPr id="27" name="Shape 25"/>
          <p:cNvSpPr/>
          <p:nvPr/>
        </p:nvSpPr>
        <p:spPr>
          <a:xfrm>
            <a:off x="7543800" y="4160520"/>
            <a:ext cx="82296" cy="82296"/>
          </a:xfrm>
          <a:prstGeom prst="rect">
            <a:avLst/>
          </a:prstGeom>
          <a:solidFill>
            <a:srgbClr val="16243F"/>
          </a:solidFill>
          <a:ln w="12700">
            <a:solidFill>
              <a:srgbClr val="16243F"/>
            </a:solidFill>
            <a:prstDash val="solid"/>
          </a:ln>
        </p:spPr>
      </p:sp>
      <p:sp>
        <p:nvSpPr>
          <p:cNvPr id="28" name="Shape 26"/>
          <p:cNvSpPr/>
          <p:nvPr/>
        </p:nvSpPr>
        <p:spPr>
          <a:xfrm>
            <a:off x="7543800" y="4361688"/>
            <a:ext cx="82296" cy="82296"/>
          </a:xfrm>
          <a:prstGeom prst="rect">
            <a:avLst/>
          </a:prstGeom>
          <a:solidFill>
            <a:srgbClr val="16243F"/>
          </a:solidFill>
          <a:ln w="12700">
            <a:solidFill>
              <a:srgbClr val="16243F"/>
            </a:solidFill>
            <a:prstDash val="solid"/>
          </a:ln>
        </p:spPr>
      </p:sp>
      <p:sp>
        <p:nvSpPr>
          <p:cNvPr id="29" name="Shape 27"/>
          <p:cNvSpPr/>
          <p:nvPr/>
        </p:nvSpPr>
        <p:spPr>
          <a:xfrm>
            <a:off x="7644384" y="4261104"/>
            <a:ext cx="82296" cy="82296"/>
          </a:xfrm>
          <a:prstGeom prst="rect">
            <a:avLst/>
          </a:prstGeom>
          <a:solidFill>
            <a:srgbClr val="16243F"/>
          </a:solidFill>
          <a:ln w="12700">
            <a:solidFill>
              <a:srgbClr val="16243F"/>
            </a:solidFill>
            <a:prstDash val="solid"/>
          </a:ln>
        </p:spPr>
      </p:sp>
      <p:sp>
        <p:nvSpPr>
          <p:cNvPr id="30" name="Shape 28"/>
          <p:cNvSpPr/>
          <p:nvPr/>
        </p:nvSpPr>
        <p:spPr>
          <a:xfrm>
            <a:off x="7744968" y="4160520"/>
            <a:ext cx="82296" cy="82296"/>
          </a:xfrm>
          <a:prstGeom prst="rect">
            <a:avLst/>
          </a:prstGeom>
          <a:solidFill>
            <a:srgbClr val="16243F"/>
          </a:solidFill>
          <a:ln w="12700">
            <a:solidFill>
              <a:srgbClr val="16243F"/>
            </a:solidFill>
            <a:prstDash val="solid"/>
          </a:ln>
        </p:spPr>
      </p:sp>
      <p:sp>
        <p:nvSpPr>
          <p:cNvPr id="31" name="Shape 29"/>
          <p:cNvSpPr/>
          <p:nvPr/>
        </p:nvSpPr>
        <p:spPr>
          <a:xfrm>
            <a:off x="7744968" y="4361688"/>
            <a:ext cx="82296" cy="82296"/>
          </a:xfrm>
          <a:prstGeom prst="rect">
            <a:avLst/>
          </a:prstGeom>
          <a:solidFill>
            <a:srgbClr val="16243F"/>
          </a:solidFill>
          <a:ln w="12700">
            <a:solidFill>
              <a:srgbClr val="16243F"/>
            </a:solidFill>
            <a:prstDash val="solid"/>
          </a:ln>
        </p:spPr>
      </p:sp>
      <p:sp>
        <p:nvSpPr>
          <p:cNvPr id="32" name="Text 30"/>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33" name="Text 31"/>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42" name="Grupa 41"/>
          <p:cNvGrpSpPr/>
          <p:nvPr/>
        </p:nvGrpSpPr>
        <p:grpSpPr>
          <a:xfrm>
            <a:off x="3784575" y="2482133"/>
            <a:ext cx="4865649" cy="1420811"/>
            <a:chOff x="3821151" y="1736245"/>
            <a:chExt cx="4865649" cy="1333319"/>
          </a:xfrm>
        </p:grpSpPr>
        <p:sp>
          <p:nvSpPr>
            <p:cNvPr id="34" name="Shape 32"/>
            <p:cNvSpPr/>
            <p:nvPr/>
          </p:nvSpPr>
          <p:spPr>
            <a:xfrm>
              <a:off x="3821151" y="1736245"/>
              <a:ext cx="4865649" cy="1333319"/>
            </a:xfrm>
            <a:prstGeom prst="roundRect">
              <a:avLst>
                <a:gd name="adj" fmla="val 2449"/>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35" name="Text 33"/>
            <p:cNvSpPr/>
            <p:nvPr/>
          </p:nvSpPr>
          <p:spPr>
            <a:xfrm>
              <a:off x="3908781" y="1783080"/>
              <a:ext cx="4696840"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p:sp>
          <p:nvSpPr>
            <p:cNvPr id="36" name="Text 34"/>
            <p:cNvSpPr/>
            <p:nvPr/>
          </p:nvSpPr>
          <p:spPr>
            <a:xfrm>
              <a:off x="3908781" y="2073870"/>
              <a:ext cx="4696840" cy="967560"/>
            </a:xfrm>
            <a:prstGeom prst="rect">
              <a:avLst/>
            </a:prstGeom>
            <a:noFill/>
            <a:ln/>
          </p:spPr>
          <p:txBody>
            <a:bodyPr wrap="square" lIns="0" tIns="0" rIns="0" bIns="0" rtlCol="0" anchor="t">
              <a:spAutoFit/>
            </a:bodyPr>
            <a:lstStyle/>
            <a:p>
              <a:pPr marL="0" indent="0">
                <a:buNone/>
              </a:pPr>
              <a:r>
                <a:rPr lang="pl-PL" sz="1200" dirty="0" smtClean="0">
                  <a:solidFill>
                    <a:srgbClr val="16243F"/>
                  </a:solidFill>
                  <a:latin typeface="Calibri" pitchFamily="34" charset="0"/>
                  <a:ea typeface="Calibri" pitchFamily="34" charset="-122"/>
                  <a:cs typeface="Calibri" pitchFamily="34" charset="-120"/>
                </a:rPr>
                <a:t>P(co najmniej 1 fałszywy wynik) = 1 − (1 − 0,05)^20 = 1 − 0,95^20 ≈ 0,642</a:t>
              </a:r>
              <a:endParaRPr lang="pl-PL" sz="1200" dirty="0" smtClean="0"/>
            </a:p>
            <a:p>
              <a:pPr marL="0" indent="0">
                <a:buNone/>
              </a:pPr>
              <a:endParaRPr lang="en-US" sz="600" dirty="0"/>
            </a:p>
            <a:p>
              <a:pPr marL="0" indent="0" algn="just">
                <a:buNone/>
              </a:pPr>
              <a:r>
                <a:rPr lang="pl-PL" sz="1200" b="1" dirty="0" smtClean="0">
                  <a:solidFill>
                    <a:srgbClr val="16243F"/>
                  </a:solidFill>
                  <a:latin typeface="Calibri" pitchFamily="34" charset="0"/>
                  <a:ea typeface="Calibri" pitchFamily="34" charset="-122"/>
                  <a:cs typeface="Calibri" pitchFamily="34" charset="-120"/>
                </a:rPr>
                <a:t>Odpowiedź D (ok. 64%). </a:t>
              </a:r>
              <a:r>
                <a:rPr lang="pl-PL" sz="1200" dirty="0" smtClean="0">
                  <a:solidFill>
                    <a:srgbClr val="16243F"/>
                  </a:solidFill>
                  <a:latin typeface="Calibri" pitchFamily="34" charset="0"/>
                  <a:ea typeface="Calibri" pitchFamily="34" charset="-122"/>
                  <a:cs typeface="Calibri" pitchFamily="34" charset="-120"/>
                </a:rPr>
                <a:t>To uzasadnienie dla korekt wielokrotnych porównań (np. </a:t>
              </a:r>
              <a:r>
                <a:rPr lang="pl-PL" sz="1200" dirty="0" err="1" smtClean="0">
                  <a:solidFill>
                    <a:srgbClr val="16243F"/>
                  </a:solidFill>
                  <a:latin typeface="Calibri" pitchFamily="34" charset="0"/>
                  <a:ea typeface="Calibri" pitchFamily="34" charset="-122"/>
                  <a:cs typeface="Calibri" pitchFamily="34" charset="-120"/>
                </a:rPr>
                <a:t>Bonferroniego</a:t>
              </a:r>
              <a:r>
                <a:rPr lang="pl-PL" sz="1200" dirty="0" smtClean="0">
                  <a:solidFill>
                    <a:srgbClr val="16243F"/>
                  </a:solidFill>
                  <a:latin typeface="Calibri" pitchFamily="34" charset="0"/>
                  <a:ea typeface="Calibri" pitchFamily="34" charset="-122"/>
                  <a:cs typeface="Calibri" pitchFamily="34" charset="-120"/>
                </a:rPr>
                <a:t>) w badaniach z wieloma testami statystycznymi - bez korekty ryzyko fałszywego odkrycia rośnie dramatycznie wraz z liczbą testowanych hipotez.</a:t>
              </a:r>
              <a:endParaRPr lang="pl-PL" sz="1200" dirty="0"/>
            </a:p>
          </p:txBody>
        </p:sp>
      </p:grpSp>
      <p:sp>
        <p:nvSpPr>
          <p:cNvPr id="37" name="Text 35"/>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27/40   ·   Blok III</a:t>
            </a:r>
            <a:endParaRPr lang="en-US" sz="800" dirty="0"/>
          </a:p>
        </p:txBody>
      </p:sp>
      <p:sp>
        <p:nvSpPr>
          <p:cNvPr id="43" name="Shape 13"/>
          <p:cNvSpPr/>
          <p:nvPr/>
        </p:nvSpPr>
        <p:spPr>
          <a:xfrm>
            <a:off x="3784575" y="2272996"/>
            <a:ext cx="4865649" cy="152610"/>
          </a:xfrm>
          <a:prstGeom prst="roundRect">
            <a:avLst>
              <a:gd name="adj" fmla="val 17647"/>
            </a:avLst>
          </a:prstGeom>
          <a:solidFill>
            <a:srgbClr val="C07A35"/>
          </a:solidFill>
          <a:ln w="12700">
            <a:solidFill>
              <a:srgbClr val="C07A35"/>
            </a:solidFill>
            <a:prstDash val="solid"/>
          </a:ln>
        </p:spPr>
        <p:txBody>
          <a:bodyPr anchor="ctr"/>
          <a:lstStyle/>
          <a:p>
            <a:pPr algn="ctr"/>
            <a:r>
              <a:rPr lang="en-US" sz="900" b="1" dirty="0">
                <a:solidFill>
                  <a:srgbClr val="FFFFFF"/>
                </a:solidFill>
                <a:latin typeface="Calibri" pitchFamily="34" charset="0"/>
                <a:ea typeface="Calibri" pitchFamily="34" charset="-122"/>
                <a:cs typeface="Calibri" pitchFamily="34" charset="-120"/>
              </a:rPr>
              <a:t>ZAGŁOSUJ PRZED UJAWNIENIEM </a:t>
            </a:r>
            <a:r>
              <a:rPr lang="en-US" sz="900" b="1" dirty="0" smtClean="0">
                <a:solidFill>
                  <a:srgbClr val="FFFFFF"/>
                </a:solidFill>
                <a:latin typeface="Calibri" pitchFamily="34" charset="0"/>
                <a:ea typeface="Calibri" pitchFamily="34" charset="-122"/>
                <a:cs typeface="Calibri" pitchFamily="34" charset="-120"/>
              </a:rPr>
              <a:t>ROZWIĄZANIA</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anim calcmode="lin" valueType="num">
                                      <p:cBhvr>
                                        <p:cTn id="8" dur="500" fill="hold"/>
                                        <p:tgtEl>
                                          <p:spTgt spid="43"/>
                                        </p:tgtEl>
                                        <p:attrNameLst>
                                          <p:attrName>ppt_x</p:attrName>
                                        </p:attrNameLst>
                                      </p:cBhvr>
                                      <p:tavLst>
                                        <p:tav tm="0">
                                          <p:val>
                                            <p:strVal val="#ppt_x"/>
                                          </p:val>
                                        </p:tav>
                                        <p:tav tm="100000">
                                          <p:val>
                                            <p:strVal val="#ppt_x"/>
                                          </p:val>
                                        </p:tav>
                                      </p:tavLst>
                                    </p:anim>
                                    <p:anim calcmode="lin" valueType="num">
                                      <p:cBhvr>
                                        <p:cTn id="9" dur="5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2"/>
                                        </p:tgtEl>
                                        <p:attrNameLst>
                                          <p:attrName>style.visibility</p:attrName>
                                        </p:attrNameLst>
                                      </p:cBhvr>
                                      <p:to>
                                        <p:strVal val="visible"/>
                                      </p:to>
                                    </p:set>
                                    <p:animEffect transition="in" filter="fade">
                                      <p:cBhvr>
                                        <p:cTn id="14" dur="500"/>
                                        <p:tgtEl>
                                          <p:spTgt spid="42"/>
                                        </p:tgtEl>
                                      </p:cBhvr>
                                    </p:animEffect>
                                    <p:anim calcmode="lin" valueType="num">
                                      <p:cBhvr>
                                        <p:cTn id="15" dur="500" fill="hold"/>
                                        <p:tgtEl>
                                          <p:spTgt spid="42"/>
                                        </p:tgtEl>
                                        <p:attrNameLst>
                                          <p:attrName>ppt_x</p:attrName>
                                        </p:attrNameLst>
                                      </p:cBhvr>
                                      <p:tavLst>
                                        <p:tav tm="0">
                                          <p:val>
                                            <p:strVal val="#ppt_x"/>
                                          </p:val>
                                        </p:tav>
                                        <p:tav tm="100000">
                                          <p:val>
                                            <p:strVal val="#ppt_x"/>
                                          </p:val>
                                        </p:tav>
                                      </p:tavLst>
                                    </p:anim>
                                    <p:anim calcmode="lin" valueType="num">
                                      <p:cBhvr>
                                        <p:cTn id="16" dur="5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8FA"/>
        </a:solidFill>
        <a:effectLst/>
      </p:bgPr>
    </p:bg>
    <p:spTree>
      <p:nvGrpSpPr>
        <p:cNvPr id="1" name=""/>
        <p:cNvGrpSpPr/>
        <p:nvPr/>
      </p:nvGrpSpPr>
      <p:grpSpPr>
        <a:xfrm>
          <a:off x="0" y="0"/>
          <a:ext cx="0" cy="0"/>
          <a:chOff x="0" y="0"/>
          <a:chExt cx="0" cy="0"/>
        </a:xfrm>
      </p:grpSpPr>
      <p:pic>
        <p:nvPicPr>
          <p:cNvPr id="36" name="Obraz 3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2838" y="-25815"/>
            <a:ext cx="2646556" cy="1984917"/>
          </a:xfrm>
          <a:prstGeom prst="rect">
            <a:avLst/>
          </a:prstGeom>
        </p:spPr>
      </p:pic>
      <p:sp>
        <p:nvSpPr>
          <p:cNvPr id="2" name="Shape 0"/>
          <p:cNvSpPr/>
          <p:nvPr/>
        </p:nvSpPr>
        <p:spPr>
          <a:xfrm>
            <a:off x="457200" y="292608"/>
            <a:ext cx="2468880" cy="292608"/>
          </a:xfrm>
          <a:prstGeom prst="roundRect">
            <a:avLst>
              <a:gd name="adj" fmla="val 18750"/>
            </a:avLst>
          </a:prstGeom>
          <a:solidFill>
            <a:srgbClr val="C07A35"/>
          </a:solidFill>
          <a:ln w="12700">
            <a:solidFill>
              <a:srgbClr val="C07A3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III · KOMBINATORYKA</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Błąd przeżywalności </a:t>
            </a:r>
            <a:r>
              <a:rPr lang="en-US" sz="2400" dirty="0">
                <a:solidFill>
                  <a:srgbClr val="16243F"/>
                </a:solidFill>
                <a:latin typeface="Cambria" pitchFamily="34" charset="0"/>
                <a:ea typeface="Cambria" pitchFamily="34" charset="-122"/>
                <a:cs typeface="Cambria" pitchFamily="34" charset="-120"/>
              </a:rPr>
              <a:t>(survivorship bias)</a:t>
            </a:r>
            <a:endParaRPr lang="en-US" sz="2400" dirty="0"/>
          </a:p>
        </p:txBody>
      </p:sp>
      <p:sp>
        <p:nvSpPr>
          <p:cNvPr id="5" name="Text 3"/>
          <p:cNvSpPr/>
          <p:nvPr/>
        </p:nvSpPr>
        <p:spPr>
          <a:xfrm>
            <a:off x="457200" y="1371600"/>
            <a:ext cx="5832088" cy="548640"/>
          </a:xfrm>
          <a:prstGeom prst="rect">
            <a:avLst/>
          </a:prstGeom>
          <a:noFill/>
          <a:ln/>
        </p:spPr>
        <p:txBody>
          <a:bodyPr wrap="square" lIns="0" tIns="0" rIns="0" bIns="0" rtlCol="0" anchor="ctr"/>
          <a:lstStyle/>
          <a:p>
            <a:pPr marL="0" indent="0">
              <a:buNone/>
            </a:pPr>
            <a:r>
              <a:rPr lang="en-US" sz="1400" dirty="0">
                <a:solidFill>
                  <a:srgbClr val="2B2D33"/>
                </a:solidFill>
                <a:latin typeface="Calibri" pitchFamily="34" charset="0"/>
                <a:ea typeface="Calibri" pitchFamily="34" charset="-122"/>
                <a:cs typeface="Calibri" pitchFamily="34" charset="-120"/>
              </a:rPr>
              <a:t>II wojna światowa: zespół Abrahama Walda analizował uszkodzenia samolotów, które WRÓCIŁY z misji, by zdecydować, gdzie dodać opancerzenie.</a:t>
            </a:r>
            <a:endParaRPr lang="en-US" sz="1400" dirty="0"/>
          </a:p>
        </p:txBody>
      </p:sp>
      <p:sp>
        <p:nvSpPr>
          <p:cNvPr id="6" name="Shape 4"/>
          <p:cNvSpPr/>
          <p:nvPr/>
        </p:nvSpPr>
        <p:spPr>
          <a:xfrm>
            <a:off x="457200" y="2011680"/>
            <a:ext cx="8193024" cy="384048"/>
          </a:xfrm>
          <a:prstGeom prst="roundRect">
            <a:avLst>
              <a:gd name="adj" fmla="val 14286"/>
            </a:avLst>
          </a:prstGeom>
          <a:solidFill>
            <a:srgbClr val="EDF1F7"/>
          </a:solidFill>
          <a:ln w="12700">
            <a:solidFill>
              <a:srgbClr val="E1E4EA"/>
            </a:solidFill>
            <a:prstDash val="solid"/>
          </a:ln>
        </p:spPr>
        <p:txBody>
          <a:bodyPr anchor="ctr"/>
          <a:lstStyle/>
          <a:p>
            <a:r>
              <a:rPr lang="pl-PL" sz="1400" b="1" dirty="0" smtClean="0">
                <a:solidFill>
                  <a:srgbClr val="16243F"/>
                </a:solidFill>
                <a:latin typeface="Calibri" pitchFamily="34" charset="0"/>
                <a:ea typeface="Calibri" pitchFamily="34" charset="-122"/>
                <a:cs typeface="Calibri" pitchFamily="34" charset="-120"/>
              </a:rPr>
              <a:t>Które ze stref uszkodzeń (widocznych na powracających samolotach) należy dodatkowo opancerzyć?</a:t>
            </a:r>
            <a:endParaRPr lang="pl-PL" sz="1400" dirty="0"/>
          </a:p>
        </p:txBody>
      </p:sp>
      <p:grpSp>
        <p:nvGrpSpPr>
          <p:cNvPr id="32" name="Grupa 31"/>
          <p:cNvGrpSpPr/>
          <p:nvPr/>
        </p:nvGrpSpPr>
        <p:grpSpPr>
          <a:xfrm>
            <a:off x="457200" y="2483748"/>
            <a:ext cx="4345258" cy="432000"/>
            <a:chOff x="457200" y="2483748"/>
            <a:chExt cx="4345258" cy="432000"/>
          </a:xfrm>
        </p:grpSpPr>
        <p:sp>
          <p:nvSpPr>
            <p:cNvPr id="8" name="Shape 6"/>
            <p:cNvSpPr/>
            <p:nvPr/>
          </p:nvSpPr>
          <p:spPr>
            <a:xfrm>
              <a:off x="457200" y="2483748"/>
              <a:ext cx="4345258" cy="432000"/>
            </a:xfrm>
            <a:prstGeom prst="roundRect">
              <a:avLst>
                <a:gd name="adj" fmla="val 12000"/>
              </a:avLst>
            </a:prstGeom>
            <a:solidFill>
              <a:srgbClr val="FFFFFF"/>
            </a:solidFill>
            <a:ln w="12700">
              <a:solidFill>
                <a:srgbClr val="E1E4EA"/>
              </a:solidFill>
              <a:prstDash val="solid"/>
            </a:ln>
          </p:spPr>
        </p:sp>
        <p:sp>
          <p:nvSpPr>
            <p:cNvPr id="9" name="Shape 7"/>
            <p:cNvSpPr/>
            <p:nvPr/>
          </p:nvSpPr>
          <p:spPr>
            <a:xfrm>
              <a:off x="548640" y="2578608"/>
              <a:ext cx="237744" cy="237744"/>
            </a:xfrm>
            <a:prstGeom prst="ellipse">
              <a:avLst/>
            </a:prstGeom>
            <a:solidFill>
              <a:srgbClr val="EDF1F7"/>
            </a:solidFill>
            <a:ln w="12700">
              <a:solidFill>
                <a:srgbClr val="16243F"/>
              </a:solidFill>
              <a:prstDash val="solid"/>
            </a:ln>
          </p:spPr>
        </p:sp>
        <p:sp>
          <p:nvSpPr>
            <p:cNvPr id="10" name="Text 8"/>
            <p:cNvSpPr/>
            <p:nvPr/>
          </p:nvSpPr>
          <p:spPr>
            <a:xfrm>
              <a:off x="548640" y="2578608"/>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1" name="Text 9"/>
            <p:cNvSpPr/>
            <p:nvPr/>
          </p:nvSpPr>
          <p:spPr>
            <a:xfrm>
              <a:off x="859536" y="2483748"/>
              <a:ext cx="3803904" cy="432000"/>
            </a:xfrm>
            <a:prstGeom prst="rect">
              <a:avLst/>
            </a:prstGeom>
            <a:noFill/>
            <a:ln/>
          </p:spPr>
          <p:txBody>
            <a:bodyPr wrap="square" lIns="0" tIns="0" rIns="0" bIns="0" rtlCol="0" anchor="ctr"/>
            <a:lstStyle/>
            <a:p>
              <a:pPr marL="0" indent="0">
                <a:buNone/>
              </a:pPr>
              <a:r>
                <a:rPr lang="en-US" sz="1100" b="1" dirty="0">
                  <a:solidFill>
                    <a:srgbClr val="2B2D33"/>
                  </a:solidFill>
                  <a:latin typeface="Calibri" pitchFamily="34" charset="0"/>
                  <a:ea typeface="Calibri" pitchFamily="34" charset="-122"/>
                  <a:cs typeface="Calibri" pitchFamily="34" charset="-120"/>
                </a:rPr>
                <a:t>Strefa 1</a:t>
              </a:r>
              <a:r>
                <a:rPr lang="en-US" sz="1100" dirty="0">
                  <a:solidFill>
                    <a:srgbClr val="2B2D33"/>
                  </a:solidFill>
                  <a:latin typeface="Calibri" pitchFamily="34" charset="0"/>
                  <a:ea typeface="Calibri" pitchFamily="34" charset="-122"/>
                  <a:cs typeface="Calibri" pitchFamily="34" charset="-120"/>
                </a:rPr>
                <a:t>: kadłub i skrzydła (najwięcej trafień)</a:t>
              </a:r>
              <a:endParaRPr lang="en-US" sz="1100" dirty="0"/>
            </a:p>
          </p:txBody>
        </p:sp>
      </p:grpSp>
      <p:grpSp>
        <p:nvGrpSpPr>
          <p:cNvPr id="33" name="Grupa 32"/>
          <p:cNvGrpSpPr/>
          <p:nvPr/>
        </p:nvGrpSpPr>
        <p:grpSpPr>
          <a:xfrm>
            <a:off x="457199" y="3032388"/>
            <a:ext cx="4345259" cy="432000"/>
            <a:chOff x="457199" y="3032388"/>
            <a:chExt cx="4345259" cy="432000"/>
          </a:xfrm>
        </p:grpSpPr>
        <p:sp>
          <p:nvSpPr>
            <p:cNvPr id="12" name="Shape 10"/>
            <p:cNvSpPr/>
            <p:nvPr/>
          </p:nvSpPr>
          <p:spPr>
            <a:xfrm>
              <a:off x="457199" y="3032388"/>
              <a:ext cx="4345259" cy="432000"/>
            </a:xfrm>
            <a:prstGeom prst="roundRect">
              <a:avLst>
                <a:gd name="adj" fmla="val 12000"/>
              </a:avLst>
            </a:prstGeom>
            <a:solidFill>
              <a:srgbClr val="FFFFFF"/>
            </a:solidFill>
            <a:ln w="12700">
              <a:solidFill>
                <a:srgbClr val="E1E4EA"/>
              </a:solidFill>
              <a:prstDash val="solid"/>
            </a:ln>
          </p:spPr>
        </p:sp>
        <p:sp>
          <p:nvSpPr>
            <p:cNvPr id="13" name="Shape 11"/>
            <p:cNvSpPr/>
            <p:nvPr/>
          </p:nvSpPr>
          <p:spPr>
            <a:xfrm>
              <a:off x="548640" y="3127248"/>
              <a:ext cx="237744" cy="237744"/>
            </a:xfrm>
            <a:prstGeom prst="ellipse">
              <a:avLst/>
            </a:prstGeom>
            <a:solidFill>
              <a:srgbClr val="EDF1F7"/>
            </a:solidFill>
            <a:ln w="12700">
              <a:solidFill>
                <a:srgbClr val="16243F"/>
              </a:solidFill>
              <a:prstDash val="solid"/>
            </a:ln>
          </p:spPr>
        </p:sp>
        <p:sp>
          <p:nvSpPr>
            <p:cNvPr id="14" name="Text 12"/>
            <p:cNvSpPr/>
            <p:nvPr/>
          </p:nvSpPr>
          <p:spPr>
            <a:xfrm>
              <a:off x="548640" y="3127248"/>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5" name="Text 13"/>
            <p:cNvSpPr/>
            <p:nvPr/>
          </p:nvSpPr>
          <p:spPr>
            <a:xfrm>
              <a:off x="859536" y="3032388"/>
              <a:ext cx="3886200" cy="432000"/>
            </a:xfrm>
            <a:prstGeom prst="rect">
              <a:avLst/>
            </a:prstGeom>
            <a:noFill/>
            <a:ln/>
          </p:spPr>
          <p:txBody>
            <a:bodyPr wrap="square" lIns="0" tIns="0" rIns="0" bIns="0" rtlCol="0" anchor="ctr"/>
            <a:lstStyle/>
            <a:p>
              <a:pPr marL="0" indent="0">
                <a:buNone/>
              </a:pPr>
              <a:r>
                <a:rPr lang="en-US" sz="1100" b="1" dirty="0">
                  <a:solidFill>
                    <a:srgbClr val="2B2D33"/>
                  </a:solidFill>
                  <a:latin typeface="Calibri" pitchFamily="34" charset="0"/>
                  <a:ea typeface="Calibri" pitchFamily="34" charset="-122"/>
                  <a:cs typeface="Calibri" pitchFamily="34" charset="-120"/>
                </a:rPr>
                <a:t>Strefa 2</a:t>
              </a:r>
              <a:r>
                <a:rPr lang="en-US" sz="1100" dirty="0">
                  <a:solidFill>
                    <a:srgbClr val="2B2D33"/>
                  </a:solidFill>
                  <a:latin typeface="Calibri" pitchFamily="34" charset="0"/>
                  <a:ea typeface="Calibri" pitchFamily="34" charset="-122"/>
                  <a:cs typeface="Calibri" pitchFamily="34" charset="-120"/>
                </a:rPr>
                <a:t>: silnik i kokpit (najmniej trafień na wracających samolotach)</a:t>
              </a:r>
              <a:endParaRPr lang="en-US" sz="1100" dirty="0"/>
            </a:p>
          </p:txBody>
        </p:sp>
      </p:grpSp>
      <p:sp>
        <p:nvSpPr>
          <p:cNvPr id="18" name="Shape 16"/>
          <p:cNvSpPr/>
          <p:nvPr/>
        </p:nvSpPr>
        <p:spPr>
          <a:xfrm>
            <a:off x="7406640" y="4041648"/>
            <a:ext cx="1280160" cy="740664"/>
          </a:xfrm>
          <a:prstGeom prst="roundRect">
            <a:avLst>
              <a:gd name="adj" fmla="val 6000"/>
            </a:avLst>
          </a:prstGeom>
          <a:solidFill>
            <a:srgbClr val="EDF1F7"/>
          </a:solidFill>
          <a:ln w="12700">
            <a:solidFill>
              <a:srgbClr val="E1E4EA"/>
            </a:solidFill>
            <a:prstDash val="solid"/>
          </a:ln>
        </p:spPr>
      </p:sp>
      <p:sp>
        <p:nvSpPr>
          <p:cNvPr id="19" name="Shape 17"/>
          <p:cNvSpPr/>
          <p:nvPr/>
        </p:nvSpPr>
        <p:spPr>
          <a:xfrm>
            <a:off x="7516368" y="4133088"/>
            <a:ext cx="365760" cy="365760"/>
          </a:xfrm>
          <a:prstGeom prst="rect">
            <a:avLst/>
          </a:prstGeom>
          <a:solidFill>
            <a:srgbClr val="FFFFFF"/>
          </a:solidFill>
          <a:ln w="19050">
            <a:solidFill>
              <a:srgbClr val="16243F"/>
            </a:solidFill>
            <a:prstDash val="solid"/>
          </a:ln>
        </p:spPr>
      </p:sp>
      <p:sp>
        <p:nvSpPr>
          <p:cNvPr id="20" name="Shape 18"/>
          <p:cNvSpPr/>
          <p:nvPr/>
        </p:nvSpPr>
        <p:spPr>
          <a:xfrm>
            <a:off x="7543800" y="4160520"/>
            <a:ext cx="82296" cy="82296"/>
          </a:xfrm>
          <a:prstGeom prst="rect">
            <a:avLst/>
          </a:prstGeom>
          <a:solidFill>
            <a:srgbClr val="16243F"/>
          </a:solidFill>
          <a:ln w="12700">
            <a:solidFill>
              <a:srgbClr val="16243F"/>
            </a:solidFill>
            <a:prstDash val="solid"/>
          </a:ln>
        </p:spPr>
      </p:sp>
      <p:sp>
        <p:nvSpPr>
          <p:cNvPr id="21" name="Shape 19"/>
          <p:cNvSpPr/>
          <p:nvPr/>
        </p:nvSpPr>
        <p:spPr>
          <a:xfrm>
            <a:off x="7543800" y="4361688"/>
            <a:ext cx="82296" cy="82296"/>
          </a:xfrm>
          <a:prstGeom prst="rect">
            <a:avLst/>
          </a:prstGeom>
          <a:solidFill>
            <a:srgbClr val="16243F"/>
          </a:solidFill>
          <a:ln w="12700">
            <a:solidFill>
              <a:srgbClr val="16243F"/>
            </a:solidFill>
            <a:prstDash val="solid"/>
          </a:ln>
        </p:spPr>
      </p:sp>
      <p:sp>
        <p:nvSpPr>
          <p:cNvPr id="22" name="Shape 20"/>
          <p:cNvSpPr/>
          <p:nvPr/>
        </p:nvSpPr>
        <p:spPr>
          <a:xfrm>
            <a:off x="7644384" y="4261104"/>
            <a:ext cx="82296" cy="82296"/>
          </a:xfrm>
          <a:prstGeom prst="rect">
            <a:avLst/>
          </a:prstGeom>
          <a:solidFill>
            <a:srgbClr val="16243F"/>
          </a:solidFill>
          <a:ln w="12700">
            <a:solidFill>
              <a:srgbClr val="16243F"/>
            </a:solidFill>
            <a:prstDash val="solid"/>
          </a:ln>
        </p:spPr>
      </p:sp>
      <p:sp>
        <p:nvSpPr>
          <p:cNvPr id="23" name="Shape 21"/>
          <p:cNvSpPr/>
          <p:nvPr/>
        </p:nvSpPr>
        <p:spPr>
          <a:xfrm>
            <a:off x="7744968" y="4160520"/>
            <a:ext cx="82296" cy="82296"/>
          </a:xfrm>
          <a:prstGeom prst="rect">
            <a:avLst/>
          </a:prstGeom>
          <a:solidFill>
            <a:srgbClr val="16243F"/>
          </a:solidFill>
          <a:ln w="12700">
            <a:solidFill>
              <a:srgbClr val="16243F"/>
            </a:solidFill>
            <a:prstDash val="solid"/>
          </a:ln>
        </p:spPr>
      </p:sp>
      <p:sp>
        <p:nvSpPr>
          <p:cNvPr id="24" name="Shape 22"/>
          <p:cNvSpPr/>
          <p:nvPr/>
        </p:nvSpPr>
        <p:spPr>
          <a:xfrm>
            <a:off x="7744968" y="4361688"/>
            <a:ext cx="82296" cy="82296"/>
          </a:xfrm>
          <a:prstGeom prst="rect">
            <a:avLst/>
          </a:prstGeom>
          <a:solidFill>
            <a:srgbClr val="16243F"/>
          </a:solidFill>
          <a:ln w="12700">
            <a:solidFill>
              <a:srgbClr val="16243F"/>
            </a:solidFill>
            <a:prstDash val="solid"/>
          </a:ln>
        </p:spPr>
      </p:sp>
      <p:sp>
        <p:nvSpPr>
          <p:cNvPr id="25" name="Text 23"/>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26" name="Text 24"/>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34" name="Grupa 33"/>
          <p:cNvGrpSpPr/>
          <p:nvPr/>
        </p:nvGrpSpPr>
        <p:grpSpPr>
          <a:xfrm>
            <a:off x="4945936" y="2464308"/>
            <a:ext cx="3735659" cy="1508760"/>
            <a:chOff x="4951140" y="2514600"/>
            <a:chExt cx="3735659" cy="1508760"/>
          </a:xfrm>
        </p:grpSpPr>
        <p:sp>
          <p:nvSpPr>
            <p:cNvPr id="27" name="Shape 25"/>
            <p:cNvSpPr/>
            <p:nvPr/>
          </p:nvSpPr>
          <p:spPr>
            <a:xfrm>
              <a:off x="4951140" y="2514600"/>
              <a:ext cx="3735659" cy="1508760"/>
            </a:xfrm>
            <a:prstGeom prst="roundRect">
              <a:avLst>
                <a:gd name="adj" fmla="val 3871"/>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28" name="Text 26"/>
            <p:cNvSpPr/>
            <p:nvPr/>
          </p:nvSpPr>
          <p:spPr>
            <a:xfrm>
              <a:off x="5038344" y="2576304"/>
              <a:ext cx="3502152"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p:sp>
          <p:nvSpPr>
            <p:cNvPr id="29" name="Text 27"/>
            <p:cNvSpPr/>
            <p:nvPr/>
          </p:nvSpPr>
          <p:spPr>
            <a:xfrm>
              <a:off x="5062654" y="2850624"/>
              <a:ext cx="3550400" cy="1079783"/>
            </a:xfrm>
            <a:prstGeom prst="rect">
              <a:avLst/>
            </a:prstGeom>
            <a:noFill/>
            <a:ln/>
          </p:spPr>
          <p:txBody>
            <a:bodyPr wrap="square" lIns="0" tIns="0" rIns="0" bIns="0" rtlCol="0" anchor="t">
              <a:spAutoFit/>
            </a:bodyPr>
            <a:lstStyle/>
            <a:p>
              <a:pPr marL="0" indent="0">
                <a:buNone/>
              </a:pPr>
              <a:r>
                <a:rPr lang="pl-PL" sz="1200" b="1" dirty="0" smtClean="0">
                  <a:solidFill>
                    <a:srgbClr val="16243F"/>
                  </a:solidFill>
                  <a:latin typeface="Calibri" pitchFamily="34" charset="0"/>
                  <a:ea typeface="Calibri" pitchFamily="34" charset="-122"/>
                  <a:cs typeface="Calibri" pitchFamily="34" charset="-120"/>
                </a:rPr>
                <a:t>Odpowiedź: Strefa 2 (silnik, kokpit).</a:t>
              </a:r>
              <a:endParaRPr lang="pl-PL" sz="1200" b="1" dirty="0" smtClean="0"/>
            </a:p>
            <a:p>
              <a:pPr marL="0" indent="0">
                <a:buNone/>
              </a:pPr>
              <a:endParaRPr lang="pl-PL" sz="400" dirty="0" smtClean="0"/>
            </a:p>
            <a:p>
              <a:pPr algn="just">
                <a:lnSpc>
                  <a:spcPts val="1300"/>
                </a:lnSpc>
              </a:pPr>
              <a:r>
                <a:rPr lang="pl-PL" sz="1200" dirty="0" err="1" smtClean="0">
                  <a:solidFill>
                    <a:srgbClr val="16243F"/>
                  </a:solidFill>
                  <a:latin typeface="Calibri" pitchFamily="34" charset="0"/>
                  <a:ea typeface="Calibri" pitchFamily="34" charset="-122"/>
                  <a:cs typeface="Calibri" pitchFamily="34" charset="-120"/>
                </a:rPr>
                <a:t>Wald</a:t>
              </a:r>
              <a:r>
                <a:rPr lang="pl-PL" sz="1200" dirty="0" smtClean="0">
                  <a:solidFill>
                    <a:srgbClr val="16243F"/>
                  </a:solidFill>
                  <a:latin typeface="Calibri" pitchFamily="34" charset="0"/>
                  <a:ea typeface="Calibri" pitchFamily="34" charset="-122"/>
                  <a:cs typeface="Calibri" pitchFamily="34" charset="-120"/>
                </a:rPr>
                <a:t> zauważył, że </a:t>
              </a:r>
              <a:r>
                <a:rPr lang="pl-PL" sz="1200" dirty="0">
                  <a:solidFill>
                    <a:srgbClr val="16243F"/>
                  </a:solidFill>
                  <a:latin typeface="Calibri" pitchFamily="34" charset="0"/>
                  <a:ea typeface="Calibri" pitchFamily="34" charset="-122"/>
                  <a:cs typeface="Calibri" pitchFamily="34" charset="-120"/>
                </a:rPr>
                <a:t>analizowano tylko samoloty, które PRZEŻYŁY. Brak trafień w silnik i kokpit wśród wracających oznacza, że trafienia tam były </a:t>
              </a:r>
              <a:r>
                <a:rPr lang="pl-PL" sz="1200" dirty="0" smtClean="0">
                  <a:solidFill>
                    <a:srgbClr val="16243F"/>
                  </a:solidFill>
                  <a:latin typeface="Calibri" pitchFamily="34" charset="0"/>
                  <a:ea typeface="Calibri" pitchFamily="34" charset="-122"/>
                  <a:cs typeface="Calibri" pitchFamily="34" charset="-120"/>
                </a:rPr>
                <a:t>śmiertelne, bo </a:t>
              </a:r>
              <a:r>
                <a:rPr lang="pl-PL" sz="1200" dirty="0">
                  <a:solidFill>
                    <a:srgbClr val="16243F"/>
                  </a:solidFill>
                  <a:latin typeface="Calibri" pitchFamily="34" charset="0"/>
                  <a:ea typeface="Calibri" pitchFamily="34" charset="-122"/>
                  <a:cs typeface="Calibri" pitchFamily="34" charset="-120"/>
                </a:rPr>
                <a:t>te samoloty nie wróciły. Dane </a:t>
              </a:r>
              <a:r>
                <a:rPr lang="pl-PL" sz="1200" dirty="0" smtClean="0">
                  <a:solidFill>
                    <a:srgbClr val="16243F"/>
                  </a:solidFill>
                  <a:latin typeface="Calibri" pitchFamily="34" charset="0"/>
                  <a:ea typeface="Calibri" pitchFamily="34" charset="-122"/>
                  <a:cs typeface="Calibri" pitchFamily="34" charset="-120"/>
                </a:rPr>
                <a:t>„niewidoczne” (te zestrzelone</a:t>
              </a:r>
              <a:r>
                <a:rPr lang="pl-PL" sz="1200" dirty="0">
                  <a:solidFill>
                    <a:srgbClr val="16243F"/>
                  </a:solidFill>
                  <a:latin typeface="Calibri" pitchFamily="34" charset="0"/>
                  <a:ea typeface="Calibri" pitchFamily="34" charset="-122"/>
                  <a:cs typeface="Calibri" pitchFamily="34" charset="-120"/>
                </a:rPr>
                <a:t>) są </a:t>
              </a:r>
              <a:r>
                <a:rPr lang="pl-PL" sz="1200" dirty="0" smtClean="0">
                  <a:solidFill>
                    <a:srgbClr val="16243F"/>
                  </a:solidFill>
                  <a:latin typeface="Calibri" pitchFamily="34" charset="0"/>
                  <a:ea typeface="Calibri" pitchFamily="34" charset="-122"/>
                  <a:cs typeface="Calibri" pitchFamily="34" charset="-120"/>
                </a:rPr>
                <a:t>tu kluczowe</a:t>
              </a:r>
              <a:r>
                <a:rPr lang="pl-PL" sz="1200" dirty="0">
                  <a:solidFill>
                    <a:srgbClr val="16243F"/>
                  </a:solidFill>
                  <a:latin typeface="Calibri" pitchFamily="34" charset="0"/>
                  <a:ea typeface="Calibri" pitchFamily="34" charset="-122"/>
                  <a:cs typeface="Calibri" pitchFamily="34" charset="-120"/>
                </a:rPr>
                <a:t>, </a:t>
              </a:r>
              <a:r>
                <a:rPr lang="pl-PL" sz="1200" dirty="0" smtClean="0">
                  <a:solidFill>
                    <a:srgbClr val="16243F"/>
                  </a:solidFill>
                  <a:latin typeface="Calibri" pitchFamily="34" charset="0"/>
                  <a:ea typeface="Calibri" pitchFamily="34" charset="-122"/>
                  <a:cs typeface="Calibri" pitchFamily="34" charset="-120"/>
                </a:rPr>
                <a:t>a nie </a:t>
              </a:r>
              <a:r>
                <a:rPr lang="pl-PL" sz="1200" dirty="0">
                  <a:solidFill>
                    <a:srgbClr val="16243F"/>
                  </a:solidFill>
                  <a:latin typeface="Calibri" pitchFamily="34" charset="0"/>
                  <a:ea typeface="Calibri" pitchFamily="34" charset="-122"/>
                  <a:cs typeface="Calibri" pitchFamily="34" charset="-120"/>
                </a:rPr>
                <a:t>te dostępne.</a:t>
              </a:r>
              <a:endParaRPr lang="pl-PL" sz="1200" dirty="0">
                <a:solidFill>
                  <a:srgbClr val="16243F"/>
                </a:solidFill>
                <a:latin typeface="Calibri" pitchFamily="34" charset="0"/>
                <a:ea typeface="Calibri" pitchFamily="34" charset="-122"/>
                <a:cs typeface="Calibri" pitchFamily="34" charset="-120"/>
              </a:endParaRPr>
            </a:p>
          </p:txBody>
        </p:sp>
      </p:grpSp>
      <p:sp>
        <p:nvSpPr>
          <p:cNvPr id="30" name="Text 28"/>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28/40   ·   Blok III</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AE4A57"/>
          </a:solidFill>
          <a:ln w="12700">
            <a:solidFill>
              <a:srgbClr val="AE4A57"/>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IV · RYZYKO I NIEPEWNOŚĆ</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Ryzyko, niepewność i awersja do ryzyka</a:t>
            </a:r>
            <a:endParaRPr lang="en-US" sz="2400" dirty="0"/>
          </a:p>
        </p:txBody>
      </p:sp>
      <p:sp>
        <p:nvSpPr>
          <p:cNvPr id="5" name="Shape 3"/>
          <p:cNvSpPr/>
          <p:nvPr/>
        </p:nvSpPr>
        <p:spPr>
          <a:xfrm>
            <a:off x="457200" y="1417320"/>
            <a:ext cx="8229600" cy="530352"/>
          </a:xfrm>
          <a:prstGeom prst="roundRect">
            <a:avLst>
              <a:gd name="adj" fmla="val 10345"/>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6" name="Text 4"/>
          <p:cNvSpPr/>
          <p:nvPr/>
        </p:nvSpPr>
        <p:spPr>
          <a:xfrm>
            <a:off x="640080" y="1417320"/>
            <a:ext cx="2743200" cy="530352"/>
          </a:xfrm>
          <a:prstGeom prst="rect">
            <a:avLst/>
          </a:prstGeom>
          <a:noFill/>
          <a:ln/>
        </p:spPr>
        <p:txBody>
          <a:bodyPr wrap="square" lIns="0" tIns="0" rIns="0" bIns="0" rtlCol="0" anchor="ctr"/>
          <a:lstStyle/>
          <a:p>
            <a:pPr marL="0" indent="0">
              <a:buNone/>
            </a:pPr>
            <a:r>
              <a:rPr lang="en-US" sz="1600" b="1" dirty="0">
                <a:solidFill>
                  <a:srgbClr val="16243F"/>
                </a:solidFill>
                <a:latin typeface="Cambria" pitchFamily="34" charset="0"/>
                <a:ea typeface="Cambria" pitchFamily="34" charset="-122"/>
                <a:cs typeface="Cambria" pitchFamily="34" charset="-120"/>
              </a:rPr>
              <a:t>Wartość oczekiwana</a:t>
            </a:r>
            <a:endParaRPr lang="en-US" sz="1600" dirty="0"/>
          </a:p>
        </p:txBody>
      </p:sp>
      <mc:AlternateContent xmlns:mc="http://schemas.openxmlformats.org/markup-compatibility/2006">
        <mc:Choice xmlns:a14="http://schemas.microsoft.com/office/drawing/2010/main" Requires="a14">
          <p:sp>
            <p:nvSpPr>
              <p:cNvPr id="7" name="Text 5"/>
              <p:cNvSpPr/>
              <p:nvPr/>
            </p:nvSpPr>
            <p:spPr>
              <a:xfrm>
                <a:off x="3107473" y="1417320"/>
                <a:ext cx="5396447" cy="530352"/>
              </a:xfrm>
              <a:prstGeom prst="rect">
                <a:avLst/>
              </a:prstGeom>
              <a:noFill/>
              <a:ln/>
            </p:spPr>
            <p:txBody>
              <a:bodyPr wrap="square" lIns="0" tIns="0" rIns="0" bIns="0" rtlCol="0" anchor="ctr"/>
              <a:lstStyle/>
              <a:p>
                <a:pPr marL="0" indent="0">
                  <a:buNone/>
                </a:pPr>
                <a14:m>
                  <m:oMath xmlns:m="http://schemas.openxmlformats.org/officeDocument/2006/math">
                    <m:r>
                      <a:rPr lang="en-US" sz="1400" i="1" dirty="0" smtClean="0">
                        <a:solidFill>
                          <a:schemeClr val="tx2">
                            <a:lumMod val="50000"/>
                          </a:schemeClr>
                        </a:solidFill>
                        <a:latin typeface="Cambria Math" panose="02040503050406030204" pitchFamily="18" charset="0"/>
                        <a:ea typeface="Calibri" pitchFamily="34" charset="-122"/>
                        <a:cs typeface="Calibri" pitchFamily="34" charset="-120"/>
                      </a:rPr>
                      <m:t>𝐸</m:t>
                    </m:r>
                    <m:d>
                      <m:dPr>
                        <m:ctrlPr>
                          <a:rPr lang="en-US" sz="1400" i="1" dirty="0" smtClean="0">
                            <a:solidFill>
                              <a:schemeClr val="tx2">
                                <a:lumMod val="50000"/>
                              </a:schemeClr>
                            </a:solidFill>
                            <a:latin typeface="Cambria Math" panose="02040503050406030204" pitchFamily="18" charset="0"/>
                            <a:ea typeface="Calibri" pitchFamily="34" charset="-122"/>
                            <a:cs typeface="Calibri" pitchFamily="34" charset="-120"/>
                          </a:rPr>
                        </m:ctrlPr>
                      </m:dPr>
                      <m:e>
                        <m:r>
                          <a:rPr lang="en-US" sz="1400" i="1" dirty="0" smtClean="0">
                            <a:solidFill>
                              <a:schemeClr val="tx2">
                                <a:lumMod val="50000"/>
                              </a:schemeClr>
                            </a:solidFill>
                            <a:latin typeface="Cambria Math" panose="02040503050406030204" pitchFamily="18" charset="0"/>
                            <a:ea typeface="Calibri" pitchFamily="34" charset="-122"/>
                            <a:cs typeface="Calibri" pitchFamily="34" charset="-120"/>
                          </a:rPr>
                          <m:t>𝑋</m:t>
                        </m:r>
                      </m:e>
                    </m:d>
                    <m:r>
                      <a:rPr lang="en-US" sz="1400" i="1" dirty="0" smtClean="0">
                        <a:solidFill>
                          <a:schemeClr val="tx2">
                            <a:lumMod val="50000"/>
                          </a:schemeClr>
                        </a:solidFill>
                        <a:latin typeface="Cambria Math" panose="02040503050406030204" pitchFamily="18" charset="0"/>
                        <a:ea typeface="Calibri" pitchFamily="34" charset="-122"/>
                        <a:cs typeface="Calibri" pitchFamily="34" charset="-120"/>
                      </a:rPr>
                      <m:t>=</m:t>
                    </m:r>
                    <m:r>
                      <m:rPr>
                        <m:sty m:val="p"/>
                      </m:rPr>
                      <a:rPr lang="en-US" sz="1400" i="0" dirty="0">
                        <a:solidFill>
                          <a:schemeClr val="tx2">
                            <a:lumMod val="50000"/>
                          </a:schemeClr>
                        </a:solidFill>
                        <a:latin typeface="Cambria Math" panose="02040503050406030204" pitchFamily="18" charset="0"/>
                        <a:ea typeface="Calibri" pitchFamily="34" charset="-122"/>
                        <a:cs typeface="Calibri" pitchFamily="34" charset="-120"/>
                      </a:rPr>
                      <m:t>Σ</m:t>
                    </m:r>
                    <m:r>
                      <a:rPr lang="en-US" sz="1400" i="1" dirty="0">
                        <a:solidFill>
                          <a:schemeClr val="tx2">
                            <a:lumMod val="50000"/>
                          </a:schemeClr>
                        </a:solidFill>
                        <a:latin typeface="Cambria Math" panose="02040503050406030204" pitchFamily="18" charset="0"/>
                        <a:ea typeface="Calibri" pitchFamily="34" charset="-122"/>
                        <a:cs typeface="Calibri" pitchFamily="34" charset="-120"/>
                      </a:rPr>
                      <m:t> </m:t>
                    </m:r>
                    <m:r>
                      <a:rPr lang="en-US" sz="1400" i="1" dirty="0" err="1">
                        <a:solidFill>
                          <a:schemeClr val="tx2">
                            <a:lumMod val="50000"/>
                          </a:schemeClr>
                        </a:solidFill>
                        <a:latin typeface="Cambria Math" panose="02040503050406030204" pitchFamily="18" charset="0"/>
                        <a:ea typeface="Calibri" pitchFamily="34" charset="-122"/>
                        <a:cs typeface="Calibri" pitchFamily="34" charset="-120"/>
                      </a:rPr>
                      <m:t>𝑝</m:t>
                    </m:r>
                    <m:r>
                      <a:rPr lang="en-US" sz="1400" i="1" dirty="0" err="1">
                        <a:solidFill>
                          <a:schemeClr val="tx2">
                            <a:lumMod val="50000"/>
                          </a:schemeClr>
                        </a:solidFill>
                        <a:latin typeface="Cambria Math" panose="02040503050406030204" pitchFamily="18" charset="0"/>
                        <a:ea typeface="Calibri" pitchFamily="34" charset="-122"/>
                        <a:cs typeface="Calibri" pitchFamily="34" charset="-120"/>
                      </a:rPr>
                      <m:t>ᵢ</m:t>
                    </m:r>
                    <m:r>
                      <a:rPr lang="en-US" sz="1400" i="1" dirty="0" err="1">
                        <a:solidFill>
                          <a:schemeClr val="tx2">
                            <a:lumMod val="50000"/>
                          </a:schemeClr>
                        </a:solidFill>
                        <a:latin typeface="Cambria Math" panose="02040503050406030204" pitchFamily="18" charset="0"/>
                        <a:ea typeface="Calibri" pitchFamily="34" charset="-122"/>
                        <a:cs typeface="Calibri" pitchFamily="34" charset="-120"/>
                      </a:rPr>
                      <m:t>𝑥</m:t>
                    </m:r>
                    <m:r>
                      <a:rPr lang="en-US" sz="1400" i="1" dirty="0">
                        <a:solidFill>
                          <a:schemeClr val="tx2">
                            <a:lumMod val="50000"/>
                          </a:schemeClr>
                        </a:solidFill>
                        <a:latin typeface="Cambria Math" panose="02040503050406030204" pitchFamily="18" charset="0"/>
                        <a:ea typeface="Calibri" pitchFamily="34" charset="-122"/>
                        <a:cs typeface="Calibri" pitchFamily="34" charset="-120"/>
                      </a:rPr>
                      <m:t>ᵢ</m:t>
                    </m:r>
                  </m:oMath>
                </a14:m>
                <a:r>
                  <a:rPr lang="pl-PL" sz="1200" dirty="0" smtClean="0">
                    <a:solidFill>
                      <a:schemeClr val="tx2">
                        <a:lumMod val="50000"/>
                      </a:schemeClr>
                    </a:solidFill>
                    <a:latin typeface="Calibri" pitchFamily="34" charset="0"/>
                    <a:ea typeface="Calibri" pitchFamily="34" charset="-122"/>
                    <a:cs typeface="Calibri" pitchFamily="34" charset="-120"/>
                  </a:rPr>
                  <a:t> to</a:t>
                </a:r>
                <a:r>
                  <a:rPr lang="en-US" sz="1200" dirty="0" smtClean="0">
                    <a:solidFill>
                      <a:schemeClr val="tx2">
                        <a:lumMod val="50000"/>
                      </a:schemeClr>
                    </a:solidFill>
                    <a:latin typeface="Calibri" pitchFamily="34" charset="0"/>
                    <a:ea typeface="Calibri" pitchFamily="34" charset="-122"/>
                    <a:cs typeface="Calibri" pitchFamily="34" charset="-120"/>
                  </a:rPr>
                  <a:t> </a:t>
                </a:r>
                <a:r>
                  <a:rPr lang="en-US" sz="1200" dirty="0">
                    <a:solidFill>
                      <a:schemeClr val="tx2">
                        <a:lumMod val="50000"/>
                      </a:schemeClr>
                    </a:solidFill>
                    <a:latin typeface="Calibri" pitchFamily="34" charset="0"/>
                    <a:ea typeface="Calibri" pitchFamily="34" charset="-122"/>
                    <a:cs typeface="Calibri" pitchFamily="34" charset="-120"/>
                  </a:rPr>
                  <a:t>średnia ważona wyników</a:t>
                </a:r>
                <a:endParaRPr lang="en-US" sz="1200" dirty="0">
                  <a:solidFill>
                    <a:schemeClr val="tx2">
                      <a:lumMod val="50000"/>
                    </a:schemeClr>
                  </a:solidFill>
                </a:endParaRPr>
              </a:p>
            </p:txBody>
          </p:sp>
        </mc:Choice>
        <mc:Fallback>
          <p:sp>
            <p:nvSpPr>
              <p:cNvPr id="7" name="Text 5"/>
              <p:cNvSpPr>
                <a:spLocks noRot="1" noChangeAspect="1" noMove="1" noResize="1" noEditPoints="1" noAdjustHandles="1" noChangeArrowheads="1" noChangeShapeType="1" noTextEdit="1"/>
              </p:cNvSpPr>
              <p:nvPr/>
            </p:nvSpPr>
            <p:spPr>
              <a:xfrm>
                <a:off x="3107473" y="1417320"/>
                <a:ext cx="5396447" cy="530352"/>
              </a:xfrm>
              <a:prstGeom prst="rect">
                <a:avLst/>
              </a:prstGeom>
              <a:blipFill>
                <a:blip r:embed="rId3"/>
                <a:stretch>
                  <a:fillRect l="-1130"/>
                </a:stretch>
              </a:blipFill>
              <a:ln/>
            </p:spPr>
            <p:txBody>
              <a:bodyPr/>
              <a:lstStyle/>
              <a:p>
                <a:r>
                  <a:rPr lang="pl-PL">
                    <a:noFill/>
                  </a:rPr>
                  <a:t> </a:t>
                </a:r>
              </a:p>
            </p:txBody>
          </p:sp>
        </mc:Fallback>
      </mc:AlternateContent>
      <p:sp>
        <p:nvSpPr>
          <p:cNvPr id="8" name="Shape 6"/>
          <p:cNvSpPr/>
          <p:nvPr/>
        </p:nvSpPr>
        <p:spPr>
          <a:xfrm>
            <a:off x="457200" y="2039112"/>
            <a:ext cx="8229600" cy="530352"/>
          </a:xfrm>
          <a:prstGeom prst="roundRect">
            <a:avLst>
              <a:gd name="adj" fmla="val 10345"/>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9" name="Text 7"/>
          <p:cNvSpPr/>
          <p:nvPr/>
        </p:nvSpPr>
        <p:spPr>
          <a:xfrm>
            <a:off x="640080" y="2039112"/>
            <a:ext cx="2743200" cy="530352"/>
          </a:xfrm>
          <a:prstGeom prst="rect">
            <a:avLst/>
          </a:prstGeom>
          <a:noFill/>
          <a:ln/>
        </p:spPr>
        <p:txBody>
          <a:bodyPr wrap="square" lIns="0" tIns="0" rIns="0" bIns="0" rtlCol="0" anchor="ctr"/>
          <a:lstStyle/>
          <a:p>
            <a:pPr marL="0" indent="0">
              <a:buNone/>
            </a:pPr>
            <a:r>
              <a:rPr lang="en-US" sz="1600" b="1" dirty="0">
                <a:solidFill>
                  <a:srgbClr val="16243F"/>
                </a:solidFill>
                <a:latin typeface="Cambria" pitchFamily="34" charset="0"/>
                <a:ea typeface="Cambria" pitchFamily="34" charset="-122"/>
                <a:cs typeface="Cambria" pitchFamily="34" charset="-120"/>
              </a:rPr>
              <a:t>Użyteczność</a:t>
            </a:r>
            <a:endParaRPr lang="en-US" sz="1600" dirty="0"/>
          </a:p>
        </p:txBody>
      </p:sp>
      <p:sp>
        <p:nvSpPr>
          <p:cNvPr id="10" name="Text 8"/>
          <p:cNvSpPr/>
          <p:nvPr/>
        </p:nvSpPr>
        <p:spPr>
          <a:xfrm>
            <a:off x="3107473" y="2039112"/>
            <a:ext cx="5396447" cy="530352"/>
          </a:xfrm>
          <a:prstGeom prst="rect">
            <a:avLst/>
          </a:prstGeom>
          <a:noFill/>
          <a:ln/>
        </p:spPr>
        <p:txBody>
          <a:bodyPr wrap="square" lIns="0" tIns="0" rIns="0" bIns="0" rtlCol="0" anchor="ctr"/>
          <a:lstStyle/>
          <a:p>
            <a:r>
              <a:rPr lang="pl-PL" sz="1200" dirty="0">
                <a:solidFill>
                  <a:schemeClr val="tx2">
                    <a:lumMod val="50000"/>
                  </a:schemeClr>
                </a:solidFill>
                <a:latin typeface="Calibri" pitchFamily="34" charset="0"/>
                <a:ea typeface="Calibri" pitchFamily="34" charset="-122"/>
                <a:cs typeface="Calibri" pitchFamily="34" charset="-120"/>
              </a:rPr>
              <a:t>to subiektywna wartość wyniku, niekoniecznie liniowa względem pieniędzy</a:t>
            </a:r>
          </a:p>
        </p:txBody>
      </p:sp>
      <p:sp>
        <p:nvSpPr>
          <p:cNvPr id="11" name="Shape 9"/>
          <p:cNvSpPr/>
          <p:nvPr/>
        </p:nvSpPr>
        <p:spPr>
          <a:xfrm>
            <a:off x="457200" y="2660904"/>
            <a:ext cx="8229600" cy="530352"/>
          </a:xfrm>
          <a:prstGeom prst="roundRect">
            <a:avLst>
              <a:gd name="adj" fmla="val 10345"/>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12" name="Text 10"/>
          <p:cNvSpPr/>
          <p:nvPr/>
        </p:nvSpPr>
        <p:spPr>
          <a:xfrm>
            <a:off x="640080" y="2660904"/>
            <a:ext cx="2743200" cy="530352"/>
          </a:xfrm>
          <a:prstGeom prst="rect">
            <a:avLst/>
          </a:prstGeom>
          <a:noFill/>
          <a:ln/>
        </p:spPr>
        <p:txBody>
          <a:bodyPr wrap="square" lIns="0" tIns="0" rIns="0" bIns="0" rtlCol="0" anchor="ctr"/>
          <a:lstStyle/>
          <a:p>
            <a:pPr marL="0" indent="0">
              <a:buNone/>
            </a:pPr>
            <a:r>
              <a:rPr lang="en-US" sz="1600" b="1" dirty="0">
                <a:solidFill>
                  <a:srgbClr val="16243F"/>
                </a:solidFill>
                <a:latin typeface="Cambria" pitchFamily="34" charset="0"/>
                <a:ea typeface="Cambria" pitchFamily="34" charset="-122"/>
                <a:cs typeface="Cambria" pitchFamily="34" charset="-120"/>
              </a:rPr>
              <a:t>Ryzyko</a:t>
            </a:r>
            <a:endParaRPr lang="en-US" sz="1600" dirty="0"/>
          </a:p>
        </p:txBody>
      </p:sp>
      <p:sp>
        <p:nvSpPr>
          <p:cNvPr id="13" name="Text 11"/>
          <p:cNvSpPr/>
          <p:nvPr/>
        </p:nvSpPr>
        <p:spPr>
          <a:xfrm>
            <a:off x="3107473" y="2660904"/>
            <a:ext cx="5396447" cy="530352"/>
          </a:xfrm>
          <a:prstGeom prst="rect">
            <a:avLst/>
          </a:prstGeom>
          <a:noFill/>
          <a:ln/>
        </p:spPr>
        <p:txBody>
          <a:bodyPr wrap="square" lIns="0" tIns="0" rIns="0" bIns="0" rtlCol="0" anchor="ctr"/>
          <a:lstStyle/>
          <a:p>
            <a:r>
              <a:rPr lang="pl-PL" sz="1200" dirty="0">
                <a:solidFill>
                  <a:schemeClr val="tx2">
                    <a:lumMod val="50000"/>
                  </a:schemeClr>
                </a:solidFill>
                <a:latin typeface="Calibri" pitchFamily="34" charset="0"/>
                <a:ea typeface="Calibri" pitchFamily="34" charset="-122"/>
                <a:cs typeface="Calibri" pitchFamily="34" charset="-120"/>
              </a:rPr>
              <a:t>to znane prawdopodobieństwa możliwych wyników</a:t>
            </a:r>
          </a:p>
        </p:txBody>
      </p:sp>
      <p:sp>
        <p:nvSpPr>
          <p:cNvPr id="14" name="Shape 12"/>
          <p:cNvSpPr/>
          <p:nvPr/>
        </p:nvSpPr>
        <p:spPr>
          <a:xfrm>
            <a:off x="457200" y="3282696"/>
            <a:ext cx="8229600" cy="530352"/>
          </a:xfrm>
          <a:prstGeom prst="roundRect">
            <a:avLst>
              <a:gd name="adj" fmla="val 10345"/>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15" name="Text 13"/>
          <p:cNvSpPr/>
          <p:nvPr/>
        </p:nvSpPr>
        <p:spPr>
          <a:xfrm>
            <a:off x="640080" y="3282696"/>
            <a:ext cx="2743200" cy="530352"/>
          </a:xfrm>
          <a:prstGeom prst="rect">
            <a:avLst/>
          </a:prstGeom>
          <a:noFill/>
          <a:ln/>
        </p:spPr>
        <p:txBody>
          <a:bodyPr wrap="square" lIns="0" tIns="0" rIns="0" bIns="0" rtlCol="0" anchor="ctr"/>
          <a:lstStyle/>
          <a:p>
            <a:pPr marL="0" indent="0">
              <a:buNone/>
            </a:pPr>
            <a:r>
              <a:rPr lang="en-US" sz="1600" b="1" dirty="0">
                <a:solidFill>
                  <a:srgbClr val="16243F"/>
                </a:solidFill>
                <a:latin typeface="Cambria" pitchFamily="34" charset="0"/>
                <a:ea typeface="Cambria" pitchFamily="34" charset="-122"/>
                <a:cs typeface="Cambria" pitchFamily="34" charset="-120"/>
              </a:rPr>
              <a:t>Niepewność </a:t>
            </a:r>
            <a:r>
              <a:rPr lang="en-US" sz="1400" dirty="0">
                <a:solidFill>
                  <a:srgbClr val="16243F"/>
                </a:solidFill>
                <a:latin typeface="Cambria" pitchFamily="34" charset="0"/>
                <a:ea typeface="Cambria" pitchFamily="34" charset="-122"/>
                <a:cs typeface="Cambria" pitchFamily="34" charset="-120"/>
              </a:rPr>
              <a:t>(niejednoznaczność)</a:t>
            </a:r>
            <a:endParaRPr lang="en-US" sz="1400" dirty="0"/>
          </a:p>
        </p:txBody>
      </p:sp>
      <p:sp>
        <p:nvSpPr>
          <p:cNvPr id="16" name="Text 14"/>
          <p:cNvSpPr/>
          <p:nvPr/>
        </p:nvSpPr>
        <p:spPr>
          <a:xfrm>
            <a:off x="3098191" y="3282696"/>
            <a:ext cx="5532854" cy="530352"/>
          </a:xfrm>
          <a:prstGeom prst="rect">
            <a:avLst/>
          </a:prstGeom>
          <a:noFill/>
          <a:ln/>
        </p:spPr>
        <p:txBody>
          <a:bodyPr wrap="square" lIns="0" tIns="0" rIns="0" bIns="0" rtlCol="0" anchor="ctr"/>
          <a:lstStyle/>
          <a:p>
            <a:r>
              <a:rPr lang="pl-PL" sz="1200" dirty="0">
                <a:solidFill>
                  <a:schemeClr val="tx2">
                    <a:lumMod val="50000"/>
                  </a:schemeClr>
                </a:solidFill>
                <a:latin typeface="Calibri" pitchFamily="34" charset="0"/>
                <a:ea typeface="Calibri" pitchFamily="34" charset="-122"/>
                <a:cs typeface="Calibri" pitchFamily="34" charset="-120"/>
              </a:rPr>
              <a:t>występuje, gdy prawdopodobieństwa same są nieznane lub trudne do oszacowania</a:t>
            </a:r>
          </a:p>
        </p:txBody>
      </p:sp>
      <p:sp>
        <p:nvSpPr>
          <p:cNvPr id="17" name="Shape 15"/>
          <p:cNvSpPr/>
          <p:nvPr/>
        </p:nvSpPr>
        <p:spPr>
          <a:xfrm>
            <a:off x="457200" y="3904488"/>
            <a:ext cx="8229600" cy="530352"/>
          </a:xfrm>
          <a:prstGeom prst="roundRect">
            <a:avLst>
              <a:gd name="adj" fmla="val 10345"/>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18" name="Text 16"/>
          <p:cNvSpPr/>
          <p:nvPr/>
        </p:nvSpPr>
        <p:spPr>
          <a:xfrm>
            <a:off x="640080" y="3904488"/>
            <a:ext cx="2743200" cy="530352"/>
          </a:xfrm>
          <a:prstGeom prst="rect">
            <a:avLst/>
          </a:prstGeom>
          <a:noFill/>
          <a:ln/>
        </p:spPr>
        <p:txBody>
          <a:bodyPr wrap="square" lIns="0" tIns="0" rIns="0" bIns="0" rtlCol="0" anchor="ctr"/>
          <a:lstStyle/>
          <a:p>
            <a:pPr marL="0" indent="0">
              <a:buNone/>
            </a:pPr>
            <a:r>
              <a:rPr lang="en-US" sz="1600" b="1" dirty="0">
                <a:solidFill>
                  <a:srgbClr val="16243F"/>
                </a:solidFill>
                <a:latin typeface="Cambria" pitchFamily="34" charset="0"/>
                <a:ea typeface="Cambria" pitchFamily="34" charset="-122"/>
                <a:cs typeface="Cambria" pitchFamily="34" charset="-120"/>
              </a:rPr>
              <a:t>Awersja do ryzyka</a:t>
            </a:r>
            <a:endParaRPr lang="en-US" sz="1600" dirty="0"/>
          </a:p>
        </p:txBody>
      </p:sp>
      <p:sp>
        <p:nvSpPr>
          <p:cNvPr id="19" name="Text 17"/>
          <p:cNvSpPr/>
          <p:nvPr/>
        </p:nvSpPr>
        <p:spPr>
          <a:xfrm>
            <a:off x="3102823" y="3904488"/>
            <a:ext cx="5583977" cy="530352"/>
          </a:xfrm>
          <a:prstGeom prst="rect">
            <a:avLst/>
          </a:prstGeom>
          <a:noFill/>
          <a:ln/>
        </p:spPr>
        <p:txBody>
          <a:bodyPr wrap="square" lIns="0" tIns="0" rIns="0" bIns="0" rtlCol="0" anchor="ctr"/>
          <a:lstStyle/>
          <a:p>
            <a:r>
              <a:rPr lang="pl-PL" sz="1200" dirty="0">
                <a:solidFill>
                  <a:schemeClr val="tx2">
                    <a:lumMod val="50000"/>
                  </a:schemeClr>
                </a:solidFill>
                <a:latin typeface="Calibri" pitchFamily="34" charset="0"/>
                <a:ea typeface="Calibri" pitchFamily="34" charset="-122"/>
                <a:cs typeface="Calibri" pitchFamily="34" charset="-120"/>
              </a:rPr>
              <a:t>to preferencja pewnego wyniku niższego nad ryzykowny o wyższej wartości oczekiwanej</a:t>
            </a:r>
          </a:p>
        </p:txBody>
      </p:sp>
      <p:sp>
        <p:nvSpPr>
          <p:cNvPr id="20" name="Text 18"/>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29/40   ·   Blok IV</a:t>
            </a:r>
            <a:endParaRPr lang="en-US" sz="8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AE4A57"/>
          </a:solidFill>
          <a:ln w="12700">
            <a:solidFill>
              <a:srgbClr val="AE4A57"/>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IV · RYZYKO I NIEPEWNOŚĆ</a:t>
            </a:r>
            <a:endParaRPr lang="en-US" sz="900" dirty="0"/>
          </a:p>
        </p:txBody>
      </p:sp>
      <p:sp>
        <p:nvSpPr>
          <p:cNvPr id="4" name="Text 2"/>
          <p:cNvSpPr/>
          <p:nvPr/>
        </p:nvSpPr>
        <p:spPr>
          <a:xfrm>
            <a:off x="457200" y="676656"/>
            <a:ext cx="3683620" cy="607147"/>
          </a:xfrm>
          <a:prstGeom prst="rect">
            <a:avLst/>
          </a:prstGeom>
          <a:noFill/>
          <a:ln/>
        </p:spPr>
        <p:txBody>
          <a:bodyPr wrap="square" lIns="0" tIns="0" rIns="0" bIns="0" rtlCol="0" anchor="ctr"/>
          <a:lstStyle/>
          <a:p>
            <a:pPr marL="0" indent="0">
              <a:buNone/>
            </a:pPr>
            <a:r>
              <a:rPr lang="pl-PL" sz="2400" b="1" dirty="0" smtClean="0">
                <a:solidFill>
                  <a:srgbClr val="16243F"/>
                </a:solidFill>
                <a:latin typeface="Cambria" pitchFamily="34" charset="0"/>
                <a:ea typeface="Cambria" pitchFamily="34" charset="-122"/>
                <a:cs typeface="Cambria" pitchFamily="34" charset="-120"/>
              </a:rPr>
              <a:t>Paradoks </a:t>
            </a:r>
            <a:r>
              <a:rPr lang="pl-PL" sz="2400" b="1" dirty="0" err="1" smtClean="0">
                <a:solidFill>
                  <a:srgbClr val="16243F"/>
                </a:solidFill>
                <a:latin typeface="Cambria" pitchFamily="34" charset="0"/>
                <a:ea typeface="Cambria" pitchFamily="34" charset="-122"/>
                <a:cs typeface="Cambria" pitchFamily="34" charset="-120"/>
              </a:rPr>
              <a:t>Allais'go</a:t>
            </a:r>
            <a:endParaRPr lang="pl-PL" sz="2400" dirty="0"/>
          </a:p>
        </p:txBody>
      </p:sp>
      <p:sp>
        <p:nvSpPr>
          <p:cNvPr id="5" name="Shape 3"/>
          <p:cNvSpPr/>
          <p:nvPr/>
        </p:nvSpPr>
        <p:spPr>
          <a:xfrm>
            <a:off x="457200" y="1254884"/>
            <a:ext cx="3683620" cy="257519"/>
          </a:xfrm>
          <a:prstGeom prst="roundRect">
            <a:avLst>
              <a:gd name="adj" fmla="val 16667"/>
            </a:avLst>
          </a:prstGeom>
          <a:solidFill>
            <a:srgbClr val="EDF1F7"/>
          </a:solidFill>
          <a:ln w="12700">
            <a:solidFill>
              <a:srgbClr val="E1E4EA"/>
            </a:solidFill>
            <a:prstDash val="solid"/>
          </a:ln>
        </p:spPr>
      </p:sp>
      <p:sp>
        <p:nvSpPr>
          <p:cNvPr id="6" name="Text 4"/>
          <p:cNvSpPr/>
          <p:nvPr/>
        </p:nvSpPr>
        <p:spPr>
          <a:xfrm>
            <a:off x="594360" y="1254884"/>
            <a:ext cx="3479552" cy="257519"/>
          </a:xfrm>
          <a:prstGeom prst="rect">
            <a:avLst/>
          </a:prstGeom>
          <a:noFill/>
          <a:ln/>
        </p:spPr>
        <p:txBody>
          <a:bodyPr wrap="square" lIns="0" tIns="0" rIns="0" bIns="0" rtlCol="0" anchor="ctr"/>
          <a:lstStyle/>
          <a:p>
            <a:pPr marL="0" indent="0">
              <a:buNone/>
            </a:pPr>
            <a:r>
              <a:rPr lang="pl-PL" sz="1400" b="1" dirty="0" smtClean="0">
                <a:solidFill>
                  <a:srgbClr val="16243F"/>
                </a:solidFill>
                <a:latin typeface="Calibri" pitchFamily="34" charset="0"/>
                <a:ea typeface="Calibri" pitchFamily="34" charset="-122"/>
                <a:cs typeface="Calibri" pitchFamily="34" charset="-120"/>
              </a:rPr>
              <a:t>Wybierz jedną z dwóch loterii</a:t>
            </a:r>
            <a:endParaRPr lang="pl-PL" sz="1400" dirty="0"/>
          </a:p>
        </p:txBody>
      </p:sp>
      <p:sp>
        <p:nvSpPr>
          <p:cNvPr id="15" name="Shape 13"/>
          <p:cNvSpPr/>
          <p:nvPr/>
        </p:nvSpPr>
        <p:spPr>
          <a:xfrm>
            <a:off x="7406640" y="4041648"/>
            <a:ext cx="1280160" cy="684685"/>
          </a:xfrm>
          <a:prstGeom prst="roundRect">
            <a:avLst>
              <a:gd name="adj" fmla="val 6000"/>
            </a:avLst>
          </a:prstGeom>
          <a:solidFill>
            <a:srgbClr val="EDF1F7"/>
          </a:solidFill>
          <a:ln w="12700">
            <a:solidFill>
              <a:srgbClr val="E1E4EA"/>
            </a:solidFill>
            <a:prstDash val="solid"/>
          </a:ln>
        </p:spPr>
      </p:sp>
      <p:sp>
        <p:nvSpPr>
          <p:cNvPr id="16" name="Shape 14"/>
          <p:cNvSpPr/>
          <p:nvPr/>
        </p:nvSpPr>
        <p:spPr>
          <a:xfrm>
            <a:off x="7516368" y="4133088"/>
            <a:ext cx="365760" cy="365760"/>
          </a:xfrm>
          <a:prstGeom prst="rect">
            <a:avLst/>
          </a:prstGeom>
          <a:solidFill>
            <a:srgbClr val="FFFFFF"/>
          </a:solidFill>
          <a:ln w="19050">
            <a:solidFill>
              <a:srgbClr val="16243F"/>
            </a:solidFill>
            <a:prstDash val="solid"/>
          </a:ln>
        </p:spPr>
      </p:sp>
      <p:sp>
        <p:nvSpPr>
          <p:cNvPr id="17" name="Shape 15"/>
          <p:cNvSpPr/>
          <p:nvPr/>
        </p:nvSpPr>
        <p:spPr>
          <a:xfrm>
            <a:off x="7543800" y="4160520"/>
            <a:ext cx="82296" cy="82296"/>
          </a:xfrm>
          <a:prstGeom prst="rect">
            <a:avLst/>
          </a:prstGeom>
          <a:solidFill>
            <a:srgbClr val="16243F"/>
          </a:solidFill>
          <a:ln w="12700">
            <a:solidFill>
              <a:srgbClr val="16243F"/>
            </a:solidFill>
            <a:prstDash val="solid"/>
          </a:ln>
        </p:spPr>
      </p:sp>
      <p:sp>
        <p:nvSpPr>
          <p:cNvPr id="18" name="Shape 16"/>
          <p:cNvSpPr/>
          <p:nvPr/>
        </p:nvSpPr>
        <p:spPr>
          <a:xfrm>
            <a:off x="7543800" y="4361688"/>
            <a:ext cx="82296" cy="82296"/>
          </a:xfrm>
          <a:prstGeom prst="rect">
            <a:avLst/>
          </a:prstGeom>
          <a:solidFill>
            <a:srgbClr val="16243F"/>
          </a:solidFill>
          <a:ln w="12700">
            <a:solidFill>
              <a:srgbClr val="16243F"/>
            </a:solidFill>
            <a:prstDash val="solid"/>
          </a:ln>
        </p:spPr>
      </p:sp>
      <p:sp>
        <p:nvSpPr>
          <p:cNvPr id="19" name="Shape 17"/>
          <p:cNvSpPr/>
          <p:nvPr/>
        </p:nvSpPr>
        <p:spPr>
          <a:xfrm>
            <a:off x="7644384" y="4261104"/>
            <a:ext cx="82296" cy="82296"/>
          </a:xfrm>
          <a:prstGeom prst="rect">
            <a:avLst/>
          </a:prstGeom>
          <a:solidFill>
            <a:srgbClr val="16243F"/>
          </a:solidFill>
          <a:ln w="12700">
            <a:solidFill>
              <a:srgbClr val="16243F"/>
            </a:solidFill>
            <a:prstDash val="solid"/>
          </a:ln>
        </p:spPr>
      </p:sp>
      <p:sp>
        <p:nvSpPr>
          <p:cNvPr id="20" name="Shape 18"/>
          <p:cNvSpPr/>
          <p:nvPr/>
        </p:nvSpPr>
        <p:spPr>
          <a:xfrm>
            <a:off x="7744968" y="4160520"/>
            <a:ext cx="82296" cy="82296"/>
          </a:xfrm>
          <a:prstGeom prst="rect">
            <a:avLst/>
          </a:prstGeom>
          <a:solidFill>
            <a:srgbClr val="16243F"/>
          </a:solidFill>
          <a:ln w="12700">
            <a:solidFill>
              <a:srgbClr val="16243F"/>
            </a:solidFill>
            <a:prstDash val="solid"/>
          </a:ln>
        </p:spPr>
      </p:sp>
      <p:sp>
        <p:nvSpPr>
          <p:cNvPr id="21" name="Shape 19"/>
          <p:cNvSpPr/>
          <p:nvPr/>
        </p:nvSpPr>
        <p:spPr>
          <a:xfrm>
            <a:off x="7744968" y="4361688"/>
            <a:ext cx="82296" cy="82296"/>
          </a:xfrm>
          <a:prstGeom prst="rect">
            <a:avLst/>
          </a:prstGeom>
          <a:solidFill>
            <a:srgbClr val="16243F"/>
          </a:solidFill>
          <a:ln w="12700">
            <a:solidFill>
              <a:srgbClr val="16243F"/>
            </a:solidFill>
            <a:prstDash val="solid"/>
          </a:ln>
        </p:spPr>
      </p:sp>
      <p:sp>
        <p:nvSpPr>
          <p:cNvPr id="22" name="Text 20"/>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23" name="Text 21"/>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sp>
        <p:nvSpPr>
          <p:cNvPr id="24" name="Text 22"/>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30/40   ·   Blok IV</a:t>
            </a:r>
            <a:endParaRPr lang="en-US" sz="800" dirty="0"/>
          </a:p>
        </p:txBody>
      </p:sp>
      <p:grpSp>
        <p:nvGrpSpPr>
          <p:cNvPr id="37" name="Grupa 36"/>
          <p:cNvGrpSpPr/>
          <p:nvPr/>
        </p:nvGrpSpPr>
        <p:grpSpPr>
          <a:xfrm>
            <a:off x="4453053" y="144373"/>
            <a:ext cx="4528511" cy="1127238"/>
            <a:chOff x="4568341" y="1965961"/>
            <a:chExt cx="4299133" cy="1127238"/>
          </a:xfrm>
        </p:grpSpPr>
        <p:sp>
          <p:nvSpPr>
            <p:cNvPr id="38" name="Shape 30"/>
            <p:cNvSpPr/>
            <p:nvPr/>
          </p:nvSpPr>
          <p:spPr>
            <a:xfrm>
              <a:off x="4568341" y="1965961"/>
              <a:ext cx="4299133" cy="1127238"/>
            </a:xfrm>
            <a:prstGeom prst="roundRect">
              <a:avLst>
                <a:gd name="adj" fmla="val 2791"/>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39" name="Text 31"/>
            <p:cNvSpPr/>
            <p:nvPr/>
          </p:nvSpPr>
          <p:spPr>
            <a:xfrm>
              <a:off x="4667149" y="2020108"/>
              <a:ext cx="3873347"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p:sp>
          <p:nvSpPr>
            <p:cNvPr id="40" name="Text 32"/>
            <p:cNvSpPr/>
            <p:nvPr/>
          </p:nvSpPr>
          <p:spPr>
            <a:xfrm>
              <a:off x="4667149" y="2331720"/>
              <a:ext cx="4144428" cy="646331"/>
            </a:xfrm>
            <a:prstGeom prst="rect">
              <a:avLst/>
            </a:prstGeom>
            <a:noFill/>
            <a:ln/>
          </p:spPr>
          <p:txBody>
            <a:bodyPr wrap="square" lIns="0" tIns="0" rIns="0" bIns="0" rtlCol="0" anchor="t">
              <a:spAutoFit/>
            </a:bodyPr>
            <a:lstStyle/>
            <a:p>
              <a:pPr algn="ctr"/>
              <a:r>
                <a:rPr lang="pl-PL" sz="1200" b="1" dirty="0">
                  <a:solidFill>
                    <a:srgbClr val="16243F"/>
                  </a:solidFill>
                  <a:latin typeface="Calibri" pitchFamily="34" charset="0"/>
                  <a:ea typeface="Calibri" pitchFamily="34" charset="-122"/>
                  <a:cs typeface="Calibri" pitchFamily="34" charset="-120"/>
                </a:rPr>
                <a:t>E(C) = 110 000 </a:t>
              </a:r>
              <a:r>
                <a:rPr lang="pl-PL" sz="1200" b="1" dirty="0" smtClean="0">
                  <a:solidFill>
                    <a:srgbClr val="16243F"/>
                  </a:solidFill>
                  <a:latin typeface="Calibri" pitchFamily="34" charset="0"/>
                  <a:ea typeface="Calibri" pitchFamily="34" charset="-122"/>
                  <a:cs typeface="Calibri" pitchFamily="34" charset="-120"/>
                </a:rPr>
                <a:t>zł  	E(D</a:t>
              </a:r>
              <a:r>
                <a:rPr lang="pl-PL" sz="1200" b="1" dirty="0">
                  <a:solidFill>
                    <a:srgbClr val="16243F"/>
                  </a:solidFill>
                  <a:latin typeface="Calibri" pitchFamily="34" charset="0"/>
                  <a:ea typeface="Calibri" pitchFamily="34" charset="-122"/>
                  <a:cs typeface="Calibri" pitchFamily="34" charset="-120"/>
                </a:rPr>
                <a:t>) = 500 000 </a:t>
              </a:r>
              <a:r>
                <a:rPr lang="pl-PL" sz="1200" b="1" dirty="0" smtClean="0">
                  <a:solidFill>
                    <a:srgbClr val="16243F"/>
                  </a:solidFill>
                  <a:latin typeface="Calibri" pitchFamily="34" charset="0"/>
                  <a:ea typeface="Calibri" pitchFamily="34" charset="-122"/>
                  <a:cs typeface="Calibri" pitchFamily="34" charset="-120"/>
                </a:rPr>
                <a:t>zł </a:t>
              </a:r>
            </a:p>
            <a:p>
              <a:endParaRPr lang="pl-PL" sz="600" dirty="0">
                <a:solidFill>
                  <a:srgbClr val="16243F"/>
                </a:solidFill>
                <a:latin typeface="Calibri" pitchFamily="34" charset="0"/>
                <a:ea typeface="Calibri" pitchFamily="34" charset="-122"/>
                <a:cs typeface="Calibri" pitchFamily="34" charset="-120"/>
              </a:endParaRPr>
            </a:p>
            <a:p>
              <a:pPr algn="ctr"/>
              <a:r>
                <a:rPr lang="pl-PL" sz="1200" dirty="0" smtClean="0">
                  <a:solidFill>
                    <a:srgbClr val="16243F"/>
                  </a:solidFill>
                  <a:latin typeface="Calibri" pitchFamily="34" charset="0"/>
                  <a:ea typeface="Calibri" pitchFamily="34" charset="-122"/>
                  <a:cs typeface="Calibri" pitchFamily="34" charset="-120"/>
                </a:rPr>
                <a:t>Ile osób </a:t>
              </a:r>
              <a:r>
                <a:rPr lang="pl-PL" sz="1200" dirty="0">
                  <a:solidFill>
                    <a:srgbClr val="16243F"/>
                  </a:solidFill>
                  <a:latin typeface="Calibri" pitchFamily="34" charset="0"/>
                  <a:ea typeface="Calibri" pitchFamily="34" charset="-122"/>
                  <a:cs typeface="Calibri" pitchFamily="34" charset="-120"/>
                </a:rPr>
                <a:t>wybrało A+D lub B+C</a:t>
              </a:r>
              <a:r>
                <a:rPr lang="pl-PL" sz="1200" spc="-20" dirty="0">
                  <a:solidFill>
                    <a:srgbClr val="16243F"/>
                  </a:solidFill>
                  <a:latin typeface="Calibri" pitchFamily="34" charset="0"/>
                  <a:ea typeface="Calibri" pitchFamily="34" charset="-122"/>
                  <a:cs typeface="Calibri" pitchFamily="34" charset="-120"/>
                </a:rPr>
                <a:t> </a:t>
              </a:r>
              <a:r>
                <a:rPr lang="pl-PL" sz="1200" spc="-40" dirty="0">
                  <a:solidFill>
                    <a:srgbClr val="16243F"/>
                  </a:solidFill>
                  <a:latin typeface="Calibri" pitchFamily="34" charset="0"/>
                  <a:ea typeface="Calibri" pitchFamily="34" charset="-122"/>
                  <a:cs typeface="Calibri" pitchFamily="34" charset="-120"/>
                </a:rPr>
                <a:t>(spójne z teorią oczekiwanej użyteczności) </a:t>
              </a:r>
              <a:r>
                <a:rPr lang="pl-PL" sz="1200" dirty="0">
                  <a:solidFill>
                    <a:srgbClr val="16243F"/>
                  </a:solidFill>
                  <a:latin typeface="Calibri" pitchFamily="34" charset="0"/>
                  <a:ea typeface="Calibri" pitchFamily="34" charset="-122"/>
                  <a:cs typeface="Calibri" pitchFamily="34" charset="-120"/>
                </a:rPr>
                <a:t>vs A+C lub B+D </a:t>
              </a:r>
              <a:r>
                <a:rPr lang="pl-PL" sz="1200" spc="-40" dirty="0">
                  <a:solidFill>
                    <a:srgbClr val="16243F"/>
                  </a:solidFill>
                  <a:latin typeface="Calibri" pitchFamily="34" charset="0"/>
                  <a:ea typeface="Calibri" pitchFamily="34" charset="-122"/>
                  <a:cs typeface="Calibri" pitchFamily="34" charset="-120"/>
                </a:rPr>
                <a:t>(naruszające aksjomat niezależności).</a:t>
              </a:r>
            </a:p>
          </p:txBody>
        </p:sp>
      </p:grpSp>
      <p:grpSp>
        <p:nvGrpSpPr>
          <p:cNvPr id="43" name="Grupa 42"/>
          <p:cNvGrpSpPr/>
          <p:nvPr/>
        </p:nvGrpSpPr>
        <p:grpSpPr>
          <a:xfrm>
            <a:off x="457200" y="1651348"/>
            <a:ext cx="8229600" cy="1062337"/>
            <a:chOff x="457200" y="1651348"/>
            <a:chExt cx="8229600" cy="1062337"/>
          </a:xfrm>
        </p:grpSpPr>
        <p:grpSp>
          <p:nvGrpSpPr>
            <p:cNvPr id="25" name="Grupa 24"/>
            <p:cNvGrpSpPr/>
            <p:nvPr/>
          </p:nvGrpSpPr>
          <p:grpSpPr>
            <a:xfrm>
              <a:off x="457200" y="1651348"/>
              <a:ext cx="3840480" cy="1062337"/>
              <a:chOff x="457200" y="1874520"/>
              <a:chExt cx="3840480" cy="1062337"/>
            </a:xfrm>
          </p:grpSpPr>
          <p:sp>
            <p:nvSpPr>
              <p:cNvPr id="7" name="Shape 5"/>
              <p:cNvSpPr/>
              <p:nvPr/>
            </p:nvSpPr>
            <p:spPr>
              <a:xfrm>
                <a:off x="457200" y="1874520"/>
                <a:ext cx="3683620" cy="1062337"/>
              </a:xfrm>
              <a:prstGeom prst="roundRect">
                <a:avLst>
                  <a:gd name="adj" fmla="val 3000"/>
                </a:avLst>
              </a:prstGeom>
              <a:solidFill>
                <a:srgbClr val="FFFFFF"/>
              </a:solidFill>
              <a:ln w="19050">
                <a:solidFill>
                  <a:schemeClr val="accent1"/>
                </a:solidFill>
                <a:prstDash val="solid"/>
              </a:ln>
              <a:effectLst>
                <a:outerShdw blurRad="88900" dist="25400" dir="5400000" algn="bl" rotWithShape="0">
                  <a:srgbClr val="000000">
                    <a:alpha val="10000"/>
                  </a:srgbClr>
                </a:outerShdw>
              </a:effectLst>
            </p:spPr>
          </p:sp>
          <p:sp>
            <p:nvSpPr>
              <p:cNvPr id="8" name="Text 6"/>
              <p:cNvSpPr/>
              <p:nvPr/>
            </p:nvSpPr>
            <p:spPr>
              <a:xfrm>
                <a:off x="810322" y="1987593"/>
                <a:ext cx="3479924" cy="274320"/>
              </a:xfrm>
              <a:prstGeom prst="rect">
                <a:avLst/>
              </a:prstGeom>
              <a:noFill/>
              <a:ln/>
            </p:spPr>
            <p:txBody>
              <a:bodyPr wrap="square" lIns="0" tIns="0" rIns="0" bIns="0" rtlCol="0" anchor="ctr"/>
              <a:lstStyle/>
              <a:p>
                <a:pPr marL="0" indent="0">
                  <a:buNone/>
                </a:pPr>
                <a:r>
                  <a:rPr lang="en-US" b="1" dirty="0">
                    <a:solidFill>
                      <a:srgbClr val="16243F"/>
                    </a:solidFill>
                    <a:latin typeface="Cambria" pitchFamily="34" charset="0"/>
                    <a:ea typeface="Cambria" pitchFamily="34" charset="-122"/>
                    <a:cs typeface="Cambria" pitchFamily="34" charset="-120"/>
                  </a:rPr>
                  <a:t>Loteria A</a:t>
                </a:r>
                <a:endParaRPr lang="en-US" dirty="0"/>
              </a:p>
            </p:txBody>
          </p:sp>
          <p:sp>
            <p:nvSpPr>
              <p:cNvPr id="9" name="Text 7"/>
              <p:cNvSpPr/>
              <p:nvPr/>
            </p:nvSpPr>
            <p:spPr>
              <a:xfrm>
                <a:off x="817756" y="2261912"/>
                <a:ext cx="3479924" cy="600383"/>
              </a:xfrm>
              <a:prstGeom prst="rect">
                <a:avLst/>
              </a:prstGeom>
              <a:noFill/>
              <a:ln/>
            </p:spPr>
            <p:txBody>
              <a:bodyPr wrap="square" lIns="0" tIns="0" rIns="0" bIns="0" rtlCol="0" anchor="ctr"/>
              <a:lstStyle/>
              <a:p>
                <a:pPr marL="0" indent="0">
                  <a:buNone/>
                </a:pPr>
                <a:r>
                  <a:rPr lang="pl-PL" sz="1200" dirty="0" smtClean="0">
                    <a:solidFill>
                      <a:srgbClr val="2B2D33"/>
                    </a:solidFill>
                    <a:latin typeface="Calibri" pitchFamily="34" charset="0"/>
                    <a:ea typeface="Calibri" pitchFamily="34" charset="-122"/>
                    <a:cs typeface="Calibri" pitchFamily="34" charset="-120"/>
                  </a:rPr>
                  <a:t>100% szans na 1 000 000 zł</a:t>
                </a:r>
                <a:endParaRPr lang="pl-PL" sz="1200" dirty="0"/>
              </a:p>
            </p:txBody>
          </p:sp>
        </p:grpSp>
        <p:grpSp>
          <p:nvGrpSpPr>
            <p:cNvPr id="26" name="Grupa 25"/>
            <p:cNvGrpSpPr/>
            <p:nvPr/>
          </p:nvGrpSpPr>
          <p:grpSpPr>
            <a:xfrm>
              <a:off x="4663440" y="1651348"/>
              <a:ext cx="4023360" cy="1062337"/>
              <a:chOff x="4663440" y="1874520"/>
              <a:chExt cx="4023360" cy="1062337"/>
            </a:xfrm>
          </p:grpSpPr>
          <p:sp>
            <p:nvSpPr>
              <p:cNvPr id="10" name="Shape 8"/>
              <p:cNvSpPr/>
              <p:nvPr/>
            </p:nvSpPr>
            <p:spPr>
              <a:xfrm>
                <a:off x="4663440" y="1874520"/>
                <a:ext cx="4023360" cy="1062337"/>
              </a:xfrm>
              <a:prstGeom prst="roundRect">
                <a:avLst>
                  <a:gd name="adj" fmla="val 3000"/>
                </a:avLst>
              </a:prstGeom>
              <a:solidFill>
                <a:srgbClr val="FFFFFF"/>
              </a:solidFill>
              <a:ln w="19050">
                <a:solidFill>
                  <a:srgbClr val="FF0000"/>
                </a:solidFill>
                <a:prstDash val="solid"/>
              </a:ln>
              <a:effectLst>
                <a:outerShdw blurRad="88900" dist="25400" dir="5400000" algn="bl" rotWithShape="0">
                  <a:srgbClr val="000000">
                    <a:alpha val="10000"/>
                  </a:srgbClr>
                </a:outerShdw>
              </a:effectLst>
            </p:spPr>
          </p:sp>
          <p:sp>
            <p:nvSpPr>
              <p:cNvPr id="11" name="Text 9"/>
              <p:cNvSpPr/>
              <p:nvPr/>
            </p:nvSpPr>
            <p:spPr>
              <a:xfrm>
                <a:off x="5070088" y="1987593"/>
                <a:ext cx="3426398" cy="274320"/>
              </a:xfrm>
              <a:prstGeom prst="rect">
                <a:avLst/>
              </a:prstGeom>
              <a:noFill/>
              <a:ln/>
            </p:spPr>
            <p:txBody>
              <a:bodyPr wrap="square" lIns="0" tIns="0" rIns="0" bIns="0" rtlCol="0" anchor="ctr"/>
              <a:lstStyle/>
              <a:p>
                <a:pPr marL="0" indent="0">
                  <a:buNone/>
                </a:pPr>
                <a:r>
                  <a:rPr lang="en-US" b="1" dirty="0">
                    <a:solidFill>
                      <a:srgbClr val="16243F"/>
                    </a:solidFill>
                    <a:latin typeface="Cambria" pitchFamily="34" charset="0"/>
                    <a:ea typeface="Cambria" pitchFamily="34" charset="-122"/>
                    <a:cs typeface="Cambria" pitchFamily="34" charset="-120"/>
                  </a:rPr>
                  <a:t>Loteria B</a:t>
                </a:r>
                <a:endParaRPr lang="en-US" dirty="0"/>
              </a:p>
            </p:txBody>
          </p:sp>
          <p:sp>
            <p:nvSpPr>
              <p:cNvPr id="12" name="Text 10"/>
              <p:cNvSpPr/>
              <p:nvPr/>
            </p:nvSpPr>
            <p:spPr>
              <a:xfrm>
                <a:off x="5077522" y="2261913"/>
                <a:ext cx="3426398" cy="600382"/>
              </a:xfrm>
              <a:prstGeom prst="rect">
                <a:avLst/>
              </a:prstGeom>
              <a:noFill/>
              <a:ln/>
            </p:spPr>
            <p:txBody>
              <a:bodyPr wrap="square" lIns="0" tIns="0" rIns="0" bIns="0" rtlCol="0" anchor="ctr"/>
              <a:lstStyle/>
              <a:p>
                <a:pPr marL="0" indent="0">
                  <a:buNone/>
                </a:pPr>
                <a:r>
                  <a:rPr lang="pl-PL" sz="1200" dirty="0" smtClean="0">
                    <a:solidFill>
                      <a:srgbClr val="2B2D33"/>
                    </a:solidFill>
                    <a:latin typeface="Calibri" pitchFamily="34" charset="0"/>
                    <a:ea typeface="Calibri" pitchFamily="34" charset="-122"/>
                    <a:cs typeface="Calibri" pitchFamily="34" charset="-120"/>
                  </a:rPr>
                  <a:t>89% szans na 1 000 000 zł</a:t>
                </a:r>
                <a:endParaRPr lang="pl-PL" sz="1200" dirty="0" smtClean="0"/>
              </a:p>
              <a:p>
                <a:pPr marL="0" indent="0">
                  <a:buNone/>
                </a:pPr>
                <a:r>
                  <a:rPr lang="pl-PL" sz="1200" dirty="0" smtClean="0">
                    <a:solidFill>
                      <a:srgbClr val="2B2D33"/>
                    </a:solidFill>
                    <a:latin typeface="Calibri" pitchFamily="34" charset="0"/>
                    <a:ea typeface="Calibri" pitchFamily="34" charset="-122"/>
                    <a:cs typeface="Calibri" pitchFamily="34" charset="-120"/>
                  </a:rPr>
                  <a:t>10% szans na 5 000 000 zł</a:t>
                </a:r>
                <a:endParaRPr lang="pl-PL" sz="1200" dirty="0" smtClean="0"/>
              </a:p>
              <a:p>
                <a:pPr marL="0" indent="0">
                  <a:buNone/>
                </a:pPr>
                <a:r>
                  <a:rPr lang="pl-PL" sz="1200" dirty="0" smtClean="0">
                    <a:solidFill>
                      <a:srgbClr val="2B2D33"/>
                    </a:solidFill>
                    <a:latin typeface="Calibri" pitchFamily="34" charset="0"/>
                    <a:ea typeface="Calibri" pitchFamily="34" charset="-122"/>
                    <a:cs typeface="Calibri" pitchFamily="34" charset="-120"/>
                  </a:rPr>
                  <a:t>1% szans na 0 zł</a:t>
                </a:r>
                <a:endParaRPr lang="pl-PL" sz="1200" dirty="0"/>
              </a:p>
            </p:txBody>
          </p:sp>
        </p:grpSp>
        <p:sp>
          <p:nvSpPr>
            <p:cNvPr id="41" name="Text 4"/>
            <p:cNvSpPr/>
            <p:nvPr/>
          </p:nvSpPr>
          <p:spPr>
            <a:xfrm>
              <a:off x="4060903" y="2033240"/>
              <a:ext cx="609971" cy="257519"/>
            </a:xfrm>
            <a:prstGeom prst="rect">
              <a:avLst/>
            </a:prstGeom>
            <a:noFill/>
            <a:ln/>
          </p:spPr>
          <p:txBody>
            <a:bodyPr wrap="square" lIns="0" tIns="0" rIns="0" bIns="0" rtlCol="0" anchor="ctr"/>
            <a:lstStyle/>
            <a:p>
              <a:pPr marL="0" indent="0" algn="ctr">
                <a:buNone/>
              </a:pPr>
              <a:r>
                <a:rPr lang="pl-PL" sz="2800" b="1" i="1" dirty="0" smtClean="0">
                  <a:solidFill>
                    <a:srgbClr val="16243F"/>
                  </a:solidFill>
                  <a:latin typeface="Bell MT" panose="02020503060305020303" pitchFamily="18" charset="0"/>
                  <a:ea typeface="Calibri" pitchFamily="34" charset="-122"/>
                  <a:cs typeface="Calibri" pitchFamily="34" charset="-120"/>
                </a:rPr>
                <a:t>vs</a:t>
              </a:r>
              <a:endParaRPr lang="pl-PL" sz="2800" i="1" dirty="0">
                <a:latin typeface="Bell MT" panose="02020503060305020303" pitchFamily="18" charset="0"/>
              </a:endParaRPr>
            </a:p>
          </p:txBody>
        </p:sp>
      </p:grpSp>
      <p:grpSp>
        <p:nvGrpSpPr>
          <p:cNvPr id="44" name="Grupa 43"/>
          <p:cNvGrpSpPr/>
          <p:nvPr/>
        </p:nvGrpSpPr>
        <p:grpSpPr>
          <a:xfrm>
            <a:off x="457200" y="2898425"/>
            <a:ext cx="8229600" cy="987775"/>
            <a:chOff x="457200" y="2822748"/>
            <a:chExt cx="8229600" cy="1062337"/>
          </a:xfrm>
        </p:grpSpPr>
        <p:grpSp>
          <p:nvGrpSpPr>
            <p:cNvPr id="27" name="Grupa 26"/>
            <p:cNvGrpSpPr/>
            <p:nvPr/>
          </p:nvGrpSpPr>
          <p:grpSpPr>
            <a:xfrm>
              <a:off x="457200" y="2822748"/>
              <a:ext cx="3840480" cy="1062337"/>
              <a:chOff x="457200" y="1874520"/>
              <a:chExt cx="3840480" cy="1062337"/>
            </a:xfrm>
          </p:grpSpPr>
          <p:sp>
            <p:nvSpPr>
              <p:cNvPr id="28" name="Shape 5"/>
              <p:cNvSpPr/>
              <p:nvPr/>
            </p:nvSpPr>
            <p:spPr>
              <a:xfrm>
                <a:off x="457200" y="1874520"/>
                <a:ext cx="3683620" cy="1062337"/>
              </a:xfrm>
              <a:prstGeom prst="roundRect">
                <a:avLst>
                  <a:gd name="adj" fmla="val 3000"/>
                </a:avLst>
              </a:prstGeom>
              <a:solidFill>
                <a:srgbClr val="FFFFFF"/>
              </a:solidFill>
              <a:ln w="19050">
                <a:solidFill>
                  <a:schemeClr val="accent4"/>
                </a:solidFill>
                <a:prstDash val="solid"/>
              </a:ln>
              <a:effectLst>
                <a:outerShdw blurRad="88900" dist="25400" dir="5400000" algn="bl" rotWithShape="0">
                  <a:srgbClr val="000000">
                    <a:alpha val="10000"/>
                  </a:srgbClr>
                </a:outerShdw>
              </a:effectLst>
            </p:spPr>
          </p:sp>
          <p:sp>
            <p:nvSpPr>
              <p:cNvPr id="29" name="Text 6"/>
              <p:cNvSpPr/>
              <p:nvPr/>
            </p:nvSpPr>
            <p:spPr>
              <a:xfrm>
                <a:off x="802888" y="1987593"/>
                <a:ext cx="3487358" cy="274320"/>
              </a:xfrm>
              <a:prstGeom prst="rect">
                <a:avLst/>
              </a:prstGeom>
              <a:noFill/>
              <a:ln/>
            </p:spPr>
            <p:txBody>
              <a:bodyPr wrap="square" lIns="0" tIns="0" rIns="0" bIns="0" rtlCol="0" anchor="ctr"/>
              <a:lstStyle/>
              <a:p>
                <a:pPr marL="0" indent="0">
                  <a:buNone/>
                </a:pPr>
                <a:r>
                  <a:rPr lang="en-US" b="1" dirty="0">
                    <a:solidFill>
                      <a:srgbClr val="16243F"/>
                    </a:solidFill>
                    <a:latin typeface="Cambria" pitchFamily="34" charset="0"/>
                    <a:ea typeface="Cambria" pitchFamily="34" charset="-122"/>
                    <a:cs typeface="Cambria" pitchFamily="34" charset="-120"/>
                  </a:rPr>
                  <a:t>Loteria </a:t>
                </a:r>
                <a:r>
                  <a:rPr lang="pl-PL" b="1" dirty="0" smtClean="0">
                    <a:solidFill>
                      <a:srgbClr val="16243F"/>
                    </a:solidFill>
                    <a:latin typeface="Cambria" pitchFamily="34" charset="0"/>
                    <a:ea typeface="Cambria" pitchFamily="34" charset="-122"/>
                    <a:cs typeface="Cambria" pitchFamily="34" charset="-120"/>
                  </a:rPr>
                  <a:t>C</a:t>
                </a:r>
                <a:endParaRPr lang="en-US" dirty="0"/>
              </a:p>
            </p:txBody>
          </p:sp>
          <p:sp>
            <p:nvSpPr>
              <p:cNvPr id="30" name="Text 7"/>
              <p:cNvSpPr/>
              <p:nvPr/>
            </p:nvSpPr>
            <p:spPr>
              <a:xfrm>
                <a:off x="810322" y="2261912"/>
                <a:ext cx="3487358" cy="600383"/>
              </a:xfrm>
              <a:prstGeom prst="rect">
                <a:avLst/>
              </a:prstGeom>
              <a:noFill/>
              <a:ln/>
            </p:spPr>
            <p:txBody>
              <a:bodyPr wrap="square" lIns="0" tIns="0" rIns="0" bIns="0" rtlCol="0" anchor="ctr"/>
              <a:lstStyle/>
              <a:p>
                <a:r>
                  <a:rPr lang="pl-PL" sz="1200" dirty="0" smtClean="0">
                    <a:solidFill>
                      <a:srgbClr val="2B2D33"/>
                    </a:solidFill>
                    <a:latin typeface="Calibri" pitchFamily="34" charset="0"/>
                    <a:ea typeface="Calibri" pitchFamily="34" charset="-122"/>
                    <a:cs typeface="Calibri" pitchFamily="34" charset="-120"/>
                  </a:rPr>
                  <a:t>11% szans na 1 000 000 zł</a:t>
                </a:r>
                <a:endParaRPr lang="pl-PL" sz="1200" dirty="0" smtClean="0"/>
              </a:p>
              <a:p>
                <a:r>
                  <a:rPr lang="pl-PL" sz="1200" dirty="0" smtClean="0">
                    <a:solidFill>
                      <a:srgbClr val="2B2D33"/>
                    </a:solidFill>
                    <a:latin typeface="Calibri" pitchFamily="34" charset="0"/>
                    <a:ea typeface="Calibri" pitchFamily="34" charset="-122"/>
                    <a:cs typeface="Calibri" pitchFamily="34" charset="-120"/>
                  </a:rPr>
                  <a:t>89% szans na 0 zł</a:t>
                </a:r>
                <a:endParaRPr lang="pl-PL" sz="1200" dirty="0"/>
              </a:p>
            </p:txBody>
          </p:sp>
        </p:grpSp>
        <p:grpSp>
          <p:nvGrpSpPr>
            <p:cNvPr id="31" name="Grupa 30"/>
            <p:cNvGrpSpPr/>
            <p:nvPr/>
          </p:nvGrpSpPr>
          <p:grpSpPr>
            <a:xfrm>
              <a:off x="4663440" y="2822748"/>
              <a:ext cx="4023360" cy="1062337"/>
              <a:chOff x="4663440" y="1874520"/>
              <a:chExt cx="4023360" cy="1062337"/>
            </a:xfrm>
          </p:grpSpPr>
          <p:sp>
            <p:nvSpPr>
              <p:cNvPr id="32" name="Shape 8"/>
              <p:cNvSpPr/>
              <p:nvPr/>
            </p:nvSpPr>
            <p:spPr>
              <a:xfrm>
                <a:off x="4663440" y="1874520"/>
                <a:ext cx="4023360" cy="1062337"/>
              </a:xfrm>
              <a:prstGeom prst="roundRect">
                <a:avLst>
                  <a:gd name="adj" fmla="val 3000"/>
                </a:avLst>
              </a:prstGeom>
              <a:solidFill>
                <a:srgbClr val="FFFFFF"/>
              </a:solidFill>
              <a:ln w="19050">
                <a:solidFill>
                  <a:schemeClr val="accent6"/>
                </a:solidFill>
                <a:prstDash val="solid"/>
              </a:ln>
              <a:effectLst>
                <a:outerShdw blurRad="88900" dist="25400" dir="5400000" algn="bl" rotWithShape="0">
                  <a:srgbClr val="000000">
                    <a:alpha val="10000"/>
                  </a:srgbClr>
                </a:outerShdw>
              </a:effectLst>
            </p:spPr>
          </p:sp>
          <p:sp>
            <p:nvSpPr>
              <p:cNvPr id="33" name="Text 9"/>
              <p:cNvSpPr/>
              <p:nvPr/>
            </p:nvSpPr>
            <p:spPr>
              <a:xfrm>
                <a:off x="5062654" y="1987593"/>
                <a:ext cx="3433832" cy="274320"/>
              </a:xfrm>
              <a:prstGeom prst="rect">
                <a:avLst/>
              </a:prstGeom>
              <a:noFill/>
              <a:ln/>
            </p:spPr>
            <p:txBody>
              <a:bodyPr wrap="square" lIns="0" tIns="0" rIns="0" bIns="0" rtlCol="0" anchor="ctr"/>
              <a:lstStyle/>
              <a:p>
                <a:r>
                  <a:rPr lang="en-US" b="1" dirty="0">
                    <a:solidFill>
                      <a:srgbClr val="16243F"/>
                    </a:solidFill>
                    <a:latin typeface="Cambria" pitchFamily="34" charset="0"/>
                    <a:ea typeface="Cambria" pitchFamily="34" charset="-122"/>
                    <a:cs typeface="Cambria" pitchFamily="34" charset="-120"/>
                  </a:rPr>
                  <a:t>Loteria D</a:t>
                </a:r>
                <a:endParaRPr lang="en-US" b="1" dirty="0">
                  <a:solidFill>
                    <a:srgbClr val="16243F"/>
                  </a:solidFill>
                  <a:latin typeface="Cambria" pitchFamily="34" charset="0"/>
                  <a:ea typeface="Cambria" pitchFamily="34" charset="-122"/>
                  <a:cs typeface="Cambria" pitchFamily="34" charset="-120"/>
                </a:endParaRPr>
              </a:p>
            </p:txBody>
          </p:sp>
          <p:sp>
            <p:nvSpPr>
              <p:cNvPr id="34" name="Text 10"/>
              <p:cNvSpPr/>
              <p:nvPr/>
            </p:nvSpPr>
            <p:spPr>
              <a:xfrm>
                <a:off x="5070088" y="2261913"/>
                <a:ext cx="3433832" cy="600382"/>
              </a:xfrm>
              <a:prstGeom prst="rect">
                <a:avLst/>
              </a:prstGeom>
              <a:noFill/>
              <a:ln/>
            </p:spPr>
            <p:txBody>
              <a:bodyPr wrap="square" lIns="0" tIns="0" rIns="0" bIns="0" rtlCol="0" anchor="ctr"/>
              <a:lstStyle/>
              <a:p>
                <a:r>
                  <a:rPr lang="pl-PL" sz="1200" dirty="0" smtClean="0">
                    <a:solidFill>
                      <a:srgbClr val="2B2D33"/>
                    </a:solidFill>
                    <a:latin typeface="Calibri" pitchFamily="34" charset="0"/>
                    <a:ea typeface="Calibri" pitchFamily="34" charset="-122"/>
                    <a:cs typeface="Calibri" pitchFamily="34" charset="-120"/>
                  </a:rPr>
                  <a:t>10% szans na 5 000 000 zł</a:t>
                </a:r>
                <a:endParaRPr lang="pl-PL" sz="1200" dirty="0" smtClean="0"/>
              </a:p>
              <a:p>
                <a:r>
                  <a:rPr lang="pl-PL" sz="1200" dirty="0" smtClean="0">
                    <a:solidFill>
                      <a:srgbClr val="2B2D33"/>
                    </a:solidFill>
                    <a:latin typeface="Calibri" pitchFamily="34" charset="0"/>
                    <a:ea typeface="Calibri" pitchFamily="34" charset="-122"/>
                    <a:cs typeface="Calibri" pitchFamily="34" charset="-120"/>
                  </a:rPr>
                  <a:t>90% szans na 0 zł</a:t>
                </a:r>
                <a:endParaRPr lang="pl-PL" sz="1200" dirty="0"/>
              </a:p>
            </p:txBody>
          </p:sp>
        </p:grpSp>
        <p:sp>
          <p:nvSpPr>
            <p:cNvPr id="42" name="Text 4"/>
            <p:cNvSpPr/>
            <p:nvPr/>
          </p:nvSpPr>
          <p:spPr>
            <a:xfrm>
              <a:off x="4059044" y="3167431"/>
              <a:ext cx="609971" cy="257519"/>
            </a:xfrm>
            <a:prstGeom prst="rect">
              <a:avLst/>
            </a:prstGeom>
            <a:noFill/>
            <a:ln/>
          </p:spPr>
          <p:txBody>
            <a:bodyPr wrap="square" lIns="0" tIns="0" rIns="0" bIns="0" rtlCol="0" anchor="ctr"/>
            <a:lstStyle/>
            <a:p>
              <a:pPr marL="0" indent="0" algn="ctr">
                <a:buNone/>
              </a:pPr>
              <a:r>
                <a:rPr lang="pl-PL" sz="2800" b="1" i="1" dirty="0" smtClean="0">
                  <a:solidFill>
                    <a:srgbClr val="16243F"/>
                  </a:solidFill>
                  <a:latin typeface="Bell MT" panose="02020503060305020303" pitchFamily="18" charset="0"/>
                  <a:ea typeface="Calibri" pitchFamily="34" charset="-122"/>
                  <a:cs typeface="Calibri" pitchFamily="34" charset="-120"/>
                </a:rPr>
                <a:t>vs</a:t>
              </a:r>
              <a:endParaRPr lang="pl-PL" sz="2800" i="1" dirty="0">
                <a:latin typeface="Bell MT" panose="02020503060305020303"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AE4A57"/>
          </a:solidFill>
          <a:ln w="12700">
            <a:solidFill>
              <a:srgbClr val="AE4A57"/>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IV · RYZYKO I NIEPEWNOŚĆ</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Teoria perspektywy </a:t>
            </a:r>
            <a:r>
              <a:rPr lang="en-US" sz="2400" dirty="0">
                <a:solidFill>
                  <a:srgbClr val="16243F"/>
                </a:solidFill>
                <a:latin typeface="Cambria" pitchFamily="34" charset="0"/>
                <a:ea typeface="Cambria" pitchFamily="34" charset="-122"/>
                <a:cs typeface="Cambria" pitchFamily="34" charset="-120"/>
              </a:rPr>
              <a:t>(Kahneman i Tversky, 1979)</a:t>
            </a:r>
            <a:endParaRPr lang="en-US" sz="2400" dirty="0"/>
          </a:p>
        </p:txBody>
      </p:sp>
      <p:sp>
        <p:nvSpPr>
          <p:cNvPr id="5" name="Shape 3"/>
          <p:cNvSpPr/>
          <p:nvPr/>
        </p:nvSpPr>
        <p:spPr>
          <a:xfrm>
            <a:off x="457200" y="1417320"/>
            <a:ext cx="8229600" cy="685800"/>
          </a:xfrm>
          <a:prstGeom prst="roundRect">
            <a:avLst>
              <a:gd name="adj" fmla="val 8000"/>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6" name="Text 4"/>
          <p:cNvSpPr/>
          <p:nvPr/>
        </p:nvSpPr>
        <p:spPr>
          <a:xfrm>
            <a:off x="640080" y="1490472"/>
            <a:ext cx="7863840" cy="274320"/>
          </a:xfrm>
          <a:prstGeom prst="rect">
            <a:avLst/>
          </a:prstGeom>
          <a:noFill/>
          <a:ln/>
        </p:spPr>
        <p:txBody>
          <a:bodyPr wrap="square" lIns="0" tIns="0" rIns="0" bIns="0" rtlCol="0" anchor="ctr"/>
          <a:lstStyle/>
          <a:p>
            <a:pPr marL="0" indent="0">
              <a:buNone/>
            </a:pPr>
            <a:r>
              <a:rPr lang="pl-PL" sz="1600" b="1" dirty="0" smtClean="0">
                <a:solidFill>
                  <a:srgbClr val="16243F"/>
                </a:solidFill>
                <a:latin typeface="Cambria" pitchFamily="34" charset="0"/>
                <a:ea typeface="Cambria" pitchFamily="34" charset="-122"/>
                <a:cs typeface="Cambria" pitchFamily="34" charset="-120"/>
              </a:rPr>
              <a:t>Punkt odniesienia</a:t>
            </a:r>
            <a:endParaRPr lang="pl-PL" sz="1600" dirty="0"/>
          </a:p>
        </p:txBody>
      </p:sp>
      <p:sp>
        <p:nvSpPr>
          <p:cNvPr id="7" name="Text 5"/>
          <p:cNvSpPr/>
          <p:nvPr/>
        </p:nvSpPr>
        <p:spPr>
          <a:xfrm>
            <a:off x="640080" y="1764792"/>
            <a:ext cx="7863840" cy="320040"/>
          </a:xfrm>
          <a:prstGeom prst="rect">
            <a:avLst/>
          </a:prstGeom>
          <a:noFill/>
          <a:ln/>
        </p:spPr>
        <p:txBody>
          <a:bodyPr wrap="square" lIns="0" tIns="0" rIns="0" bIns="0" rtlCol="0" anchor="ctr"/>
          <a:lstStyle/>
          <a:p>
            <a:pPr marL="0" indent="0">
              <a:buNone/>
            </a:pPr>
            <a:r>
              <a:rPr lang="pl-PL" sz="1200" dirty="0" smtClean="0">
                <a:solidFill>
                  <a:schemeClr val="tx2">
                    <a:lumMod val="50000"/>
                  </a:schemeClr>
                </a:solidFill>
                <a:latin typeface="Calibri" pitchFamily="34" charset="0"/>
                <a:ea typeface="Calibri" pitchFamily="34" charset="-122"/>
                <a:cs typeface="Calibri" pitchFamily="34" charset="-120"/>
              </a:rPr>
              <a:t>wyniki oceniane jako zyski lub straty względem punktu odniesienia, nie w wartościach absolutnych</a:t>
            </a:r>
            <a:endParaRPr lang="pl-PL" sz="1200" dirty="0">
              <a:solidFill>
                <a:schemeClr val="tx2">
                  <a:lumMod val="50000"/>
                </a:schemeClr>
              </a:solidFill>
            </a:endParaRPr>
          </a:p>
        </p:txBody>
      </p:sp>
      <p:sp>
        <p:nvSpPr>
          <p:cNvPr id="8" name="Shape 6"/>
          <p:cNvSpPr/>
          <p:nvPr/>
        </p:nvSpPr>
        <p:spPr>
          <a:xfrm>
            <a:off x="457200" y="2194560"/>
            <a:ext cx="8229600" cy="685800"/>
          </a:xfrm>
          <a:prstGeom prst="roundRect">
            <a:avLst>
              <a:gd name="adj" fmla="val 8000"/>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9" name="Text 7"/>
          <p:cNvSpPr/>
          <p:nvPr/>
        </p:nvSpPr>
        <p:spPr>
          <a:xfrm>
            <a:off x="640080" y="2267712"/>
            <a:ext cx="7863840" cy="274320"/>
          </a:xfrm>
          <a:prstGeom prst="rect">
            <a:avLst/>
          </a:prstGeom>
          <a:noFill/>
          <a:ln/>
        </p:spPr>
        <p:txBody>
          <a:bodyPr wrap="square" lIns="0" tIns="0" rIns="0" bIns="0" rtlCol="0" anchor="ctr"/>
          <a:lstStyle/>
          <a:p>
            <a:pPr marL="0" indent="0">
              <a:buNone/>
            </a:pPr>
            <a:r>
              <a:rPr lang="pl-PL" sz="1600" b="1" dirty="0" smtClean="0">
                <a:solidFill>
                  <a:srgbClr val="16243F"/>
                </a:solidFill>
                <a:latin typeface="Cambria" pitchFamily="34" charset="0"/>
                <a:ea typeface="Cambria" pitchFamily="34" charset="-122"/>
                <a:cs typeface="Cambria" pitchFamily="34" charset="-120"/>
              </a:rPr>
              <a:t>Awersja do straty</a:t>
            </a:r>
            <a:endParaRPr lang="pl-PL" sz="1600" dirty="0"/>
          </a:p>
        </p:txBody>
      </p:sp>
      <p:sp>
        <p:nvSpPr>
          <p:cNvPr id="10" name="Text 8"/>
          <p:cNvSpPr/>
          <p:nvPr/>
        </p:nvSpPr>
        <p:spPr>
          <a:xfrm>
            <a:off x="640080" y="2542032"/>
            <a:ext cx="7863840" cy="320040"/>
          </a:xfrm>
          <a:prstGeom prst="rect">
            <a:avLst/>
          </a:prstGeom>
          <a:noFill/>
          <a:ln/>
        </p:spPr>
        <p:txBody>
          <a:bodyPr wrap="square" lIns="0" tIns="0" rIns="0" bIns="0" rtlCol="0" anchor="ctr"/>
          <a:lstStyle/>
          <a:p>
            <a:pPr marL="0" indent="0">
              <a:buNone/>
            </a:pPr>
            <a:r>
              <a:rPr lang="pl-PL" sz="1200" dirty="0" smtClean="0">
                <a:solidFill>
                  <a:schemeClr val="tx2">
                    <a:lumMod val="50000"/>
                  </a:schemeClr>
                </a:solidFill>
                <a:latin typeface="Calibri" pitchFamily="34" charset="0"/>
                <a:ea typeface="Calibri" pitchFamily="34" charset="-122"/>
                <a:cs typeface="Calibri" pitchFamily="34" charset="-120"/>
              </a:rPr>
              <a:t>strata boli ok. 2–2,5× mocniej niż odpowiadający jej zysk cieszy</a:t>
            </a:r>
            <a:endParaRPr lang="pl-PL" sz="1200" dirty="0">
              <a:solidFill>
                <a:schemeClr val="tx2">
                  <a:lumMod val="50000"/>
                </a:schemeClr>
              </a:solidFill>
            </a:endParaRPr>
          </a:p>
        </p:txBody>
      </p:sp>
      <p:sp>
        <p:nvSpPr>
          <p:cNvPr id="11" name="Shape 9"/>
          <p:cNvSpPr/>
          <p:nvPr/>
        </p:nvSpPr>
        <p:spPr>
          <a:xfrm>
            <a:off x="457200" y="2971800"/>
            <a:ext cx="8229600" cy="685800"/>
          </a:xfrm>
          <a:prstGeom prst="roundRect">
            <a:avLst>
              <a:gd name="adj" fmla="val 8000"/>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12" name="Text 10"/>
          <p:cNvSpPr/>
          <p:nvPr/>
        </p:nvSpPr>
        <p:spPr>
          <a:xfrm>
            <a:off x="640080" y="3044952"/>
            <a:ext cx="7863840" cy="274320"/>
          </a:xfrm>
          <a:prstGeom prst="rect">
            <a:avLst/>
          </a:prstGeom>
          <a:noFill/>
          <a:ln/>
        </p:spPr>
        <p:txBody>
          <a:bodyPr wrap="square" lIns="0" tIns="0" rIns="0" bIns="0" rtlCol="0" anchor="ctr"/>
          <a:lstStyle/>
          <a:p>
            <a:pPr marL="0" indent="0">
              <a:buNone/>
            </a:pPr>
            <a:r>
              <a:rPr lang="pl-PL" sz="1600" b="1" dirty="0" smtClean="0">
                <a:solidFill>
                  <a:srgbClr val="16243F"/>
                </a:solidFill>
                <a:latin typeface="Cambria" pitchFamily="34" charset="0"/>
                <a:ea typeface="Cambria" pitchFamily="34" charset="-122"/>
                <a:cs typeface="Cambria" pitchFamily="34" charset="-120"/>
              </a:rPr>
              <a:t>Ważenie prawdopodobieństw</a:t>
            </a:r>
            <a:endParaRPr lang="pl-PL" sz="1600" dirty="0"/>
          </a:p>
        </p:txBody>
      </p:sp>
      <p:sp>
        <p:nvSpPr>
          <p:cNvPr id="13" name="Text 11"/>
          <p:cNvSpPr/>
          <p:nvPr/>
        </p:nvSpPr>
        <p:spPr>
          <a:xfrm>
            <a:off x="640080" y="3319272"/>
            <a:ext cx="7863840" cy="320040"/>
          </a:xfrm>
          <a:prstGeom prst="rect">
            <a:avLst/>
          </a:prstGeom>
          <a:noFill/>
          <a:ln/>
        </p:spPr>
        <p:txBody>
          <a:bodyPr wrap="square" lIns="0" tIns="0" rIns="0" bIns="0" rtlCol="0" anchor="ctr"/>
          <a:lstStyle/>
          <a:p>
            <a:r>
              <a:rPr lang="pl-PL" sz="1100" dirty="0">
                <a:solidFill>
                  <a:schemeClr val="tx2">
                    <a:lumMod val="50000"/>
                  </a:schemeClr>
                </a:solidFill>
                <a:latin typeface="Calibri" pitchFamily="34" charset="0"/>
                <a:ea typeface="Calibri" pitchFamily="34" charset="-122"/>
                <a:cs typeface="Calibri" pitchFamily="34" charset="-120"/>
              </a:rPr>
              <a:t>małe prawdopodobieństwa są przeszacowywane, a duże niedoszacowywane</a:t>
            </a:r>
          </a:p>
        </p:txBody>
      </p:sp>
      <p:sp>
        <p:nvSpPr>
          <p:cNvPr id="14" name="Shape 12"/>
          <p:cNvSpPr/>
          <p:nvPr/>
        </p:nvSpPr>
        <p:spPr>
          <a:xfrm>
            <a:off x="457200" y="3749040"/>
            <a:ext cx="8229600" cy="685800"/>
          </a:xfrm>
          <a:prstGeom prst="roundRect">
            <a:avLst>
              <a:gd name="adj" fmla="val 8000"/>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15" name="Text 13"/>
          <p:cNvSpPr/>
          <p:nvPr/>
        </p:nvSpPr>
        <p:spPr>
          <a:xfrm>
            <a:off x="640080" y="3822192"/>
            <a:ext cx="7863840" cy="274320"/>
          </a:xfrm>
          <a:prstGeom prst="rect">
            <a:avLst/>
          </a:prstGeom>
          <a:noFill/>
          <a:ln/>
        </p:spPr>
        <p:txBody>
          <a:bodyPr wrap="square" lIns="0" tIns="0" rIns="0" bIns="0" rtlCol="0" anchor="ctr"/>
          <a:lstStyle/>
          <a:p>
            <a:pPr marL="0" indent="0">
              <a:buNone/>
            </a:pPr>
            <a:r>
              <a:rPr lang="pl-PL" sz="1600" b="1" dirty="0" smtClean="0">
                <a:solidFill>
                  <a:srgbClr val="16243F"/>
                </a:solidFill>
                <a:latin typeface="Cambria" pitchFamily="34" charset="0"/>
                <a:ea typeface="Cambria" pitchFamily="34" charset="-122"/>
                <a:cs typeface="Cambria" pitchFamily="34" charset="-120"/>
              </a:rPr>
              <a:t>Czteropolowy wzorzec ryzyka</a:t>
            </a:r>
            <a:endParaRPr lang="pl-PL" sz="1600" dirty="0"/>
          </a:p>
        </p:txBody>
      </p:sp>
      <p:sp>
        <p:nvSpPr>
          <p:cNvPr id="16" name="Text 14"/>
          <p:cNvSpPr/>
          <p:nvPr/>
        </p:nvSpPr>
        <p:spPr>
          <a:xfrm>
            <a:off x="640080" y="4096512"/>
            <a:ext cx="7946360" cy="320040"/>
          </a:xfrm>
          <a:prstGeom prst="rect">
            <a:avLst/>
          </a:prstGeom>
          <a:noFill/>
          <a:ln/>
        </p:spPr>
        <p:txBody>
          <a:bodyPr wrap="square" lIns="0" tIns="0" rIns="0" bIns="0" rtlCol="0" anchor="ctr"/>
          <a:lstStyle/>
          <a:p>
            <a:pPr marL="0" indent="0">
              <a:buNone/>
            </a:pPr>
            <a:r>
              <a:rPr lang="pl-PL" sz="1200" spc="-20" dirty="0" smtClean="0">
                <a:solidFill>
                  <a:schemeClr val="tx2">
                    <a:lumMod val="50000"/>
                  </a:schemeClr>
                </a:solidFill>
                <a:latin typeface="Calibri" pitchFamily="34" charset="0"/>
                <a:ea typeface="Calibri" pitchFamily="34" charset="-122"/>
                <a:cs typeface="Calibri" pitchFamily="34" charset="-120"/>
              </a:rPr>
              <a:t>poszukiwanie ryzyka przy małych szansach zysku i pewnych stratach; unikanie ryzyka przy pewnych zyskach i małych szansach straty</a:t>
            </a:r>
            <a:endParaRPr lang="pl-PL" sz="1200" spc="-20" dirty="0">
              <a:solidFill>
                <a:schemeClr val="tx2">
                  <a:lumMod val="50000"/>
                </a:schemeClr>
              </a:solidFill>
            </a:endParaRPr>
          </a:p>
        </p:txBody>
      </p:sp>
      <p:sp>
        <p:nvSpPr>
          <p:cNvPr id="17" name="Text 15"/>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32/40   ·   Blok IV</a:t>
            </a:r>
            <a:endParaRPr lang="en-US" sz="8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AE4A57"/>
          </a:solidFill>
          <a:ln w="12700">
            <a:solidFill>
              <a:srgbClr val="AE4A57"/>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IV · RYZYKO I NIEPEWNOŚĆ</a:t>
            </a:r>
            <a:endParaRPr lang="en-US" sz="900" dirty="0"/>
          </a:p>
        </p:txBody>
      </p:sp>
      <p:sp>
        <p:nvSpPr>
          <p:cNvPr id="4" name="Text 2"/>
          <p:cNvSpPr/>
          <p:nvPr/>
        </p:nvSpPr>
        <p:spPr>
          <a:xfrm>
            <a:off x="457200" y="676656"/>
            <a:ext cx="4427034"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Paradoks Ellsberga </a:t>
            </a:r>
            <a:r>
              <a:rPr lang="en-US" sz="2400" dirty="0">
                <a:solidFill>
                  <a:srgbClr val="16243F"/>
                </a:solidFill>
                <a:latin typeface="Cambria" pitchFamily="34" charset="0"/>
                <a:ea typeface="Cambria" pitchFamily="34" charset="-122"/>
                <a:cs typeface="Cambria" pitchFamily="34" charset="-120"/>
              </a:rPr>
              <a:t>(1961)</a:t>
            </a:r>
            <a:endParaRPr lang="en-US" sz="2400" dirty="0"/>
          </a:p>
        </p:txBody>
      </p:sp>
      <p:sp>
        <p:nvSpPr>
          <p:cNvPr id="5" name="Text 3"/>
          <p:cNvSpPr/>
          <p:nvPr/>
        </p:nvSpPr>
        <p:spPr>
          <a:xfrm>
            <a:off x="457200" y="1275588"/>
            <a:ext cx="8686800" cy="297180"/>
          </a:xfrm>
          <a:prstGeom prst="rect">
            <a:avLst/>
          </a:prstGeom>
          <a:noFill/>
          <a:ln/>
        </p:spPr>
        <p:txBody>
          <a:bodyPr wrap="square" lIns="0" tIns="0" rIns="0" bIns="0" rtlCol="0" anchor="ctr"/>
          <a:lstStyle/>
          <a:p>
            <a:pPr marL="0" indent="0">
              <a:buNone/>
            </a:pPr>
            <a:r>
              <a:rPr lang="pl-PL" sz="1400" b="1" spc="-20" dirty="0" smtClean="0">
                <a:solidFill>
                  <a:srgbClr val="2B2D33"/>
                </a:solidFill>
                <a:latin typeface="Calibri" pitchFamily="34" charset="0"/>
                <a:ea typeface="Calibri" pitchFamily="34" charset="-122"/>
                <a:cs typeface="Calibri" pitchFamily="34" charset="-120"/>
              </a:rPr>
              <a:t>Urna A</a:t>
            </a:r>
            <a:r>
              <a:rPr lang="pl-PL" sz="1400" spc="-20" dirty="0" smtClean="0">
                <a:solidFill>
                  <a:srgbClr val="2B2D33"/>
                </a:solidFill>
                <a:latin typeface="Calibri" pitchFamily="34" charset="0"/>
                <a:ea typeface="Calibri" pitchFamily="34" charset="-122"/>
                <a:cs typeface="Calibri" pitchFamily="34" charset="-120"/>
              </a:rPr>
              <a:t>: 50 kul czerwonych i 50 czarnych (znane proporcje). </a:t>
            </a:r>
            <a:r>
              <a:rPr lang="pl-PL" sz="1400" b="1" spc="-20" dirty="0" smtClean="0">
                <a:solidFill>
                  <a:srgbClr val="2B2D33"/>
                </a:solidFill>
                <a:latin typeface="Calibri" pitchFamily="34" charset="0"/>
                <a:ea typeface="Calibri" pitchFamily="34" charset="-122"/>
                <a:cs typeface="Calibri" pitchFamily="34" charset="-120"/>
              </a:rPr>
              <a:t>Urna B</a:t>
            </a:r>
            <a:r>
              <a:rPr lang="pl-PL" sz="1400" spc="-20" dirty="0" smtClean="0">
                <a:solidFill>
                  <a:srgbClr val="2B2D33"/>
                </a:solidFill>
                <a:latin typeface="Calibri" pitchFamily="34" charset="0"/>
                <a:ea typeface="Calibri" pitchFamily="34" charset="-122"/>
                <a:cs typeface="Calibri" pitchFamily="34" charset="-120"/>
              </a:rPr>
              <a:t>: 100 kul czerwonych i czarnych w nieznanej proporcji</a:t>
            </a:r>
            <a:endParaRPr lang="pl-PL" sz="1400" spc="-20" dirty="0"/>
          </a:p>
        </p:txBody>
      </p:sp>
      <p:sp>
        <p:nvSpPr>
          <p:cNvPr id="6" name="Shape 4"/>
          <p:cNvSpPr/>
          <p:nvPr/>
        </p:nvSpPr>
        <p:spPr>
          <a:xfrm>
            <a:off x="457200" y="1687068"/>
            <a:ext cx="4248000" cy="457200"/>
          </a:xfrm>
          <a:prstGeom prst="roundRect">
            <a:avLst>
              <a:gd name="adj" fmla="val 12000"/>
            </a:avLst>
          </a:prstGeom>
          <a:solidFill>
            <a:srgbClr val="EDF1F7"/>
          </a:solidFill>
          <a:ln w="12700">
            <a:solidFill>
              <a:srgbClr val="E1E4EA"/>
            </a:solidFill>
            <a:prstDash val="solid"/>
          </a:ln>
        </p:spPr>
        <p:txBody>
          <a:bodyPr anchor="ctr"/>
          <a:lstStyle/>
          <a:p>
            <a:r>
              <a:rPr lang="pl-PL" sz="1200" b="1" dirty="0">
                <a:solidFill>
                  <a:srgbClr val="16243F"/>
                </a:solidFill>
                <a:latin typeface="Calibri" pitchFamily="34" charset="0"/>
                <a:ea typeface="Calibri" pitchFamily="34" charset="-122"/>
                <a:cs typeface="Calibri" pitchFamily="34" charset="-120"/>
              </a:rPr>
              <a:t>Runda 1: </a:t>
            </a:r>
            <a:r>
              <a:rPr lang="pl-PL" sz="1200" dirty="0">
                <a:solidFill>
                  <a:srgbClr val="16243F"/>
                </a:solidFill>
                <a:latin typeface="Calibri" pitchFamily="34" charset="0"/>
                <a:ea typeface="Calibri" pitchFamily="34" charset="-122"/>
                <a:cs typeface="Calibri" pitchFamily="34" charset="-120"/>
              </a:rPr>
              <a:t>Z której urny wolisz losować, obstawiając </a:t>
            </a:r>
            <a:br>
              <a:rPr lang="pl-PL" sz="1200" dirty="0">
                <a:solidFill>
                  <a:srgbClr val="16243F"/>
                </a:solidFill>
                <a:latin typeface="Calibri" pitchFamily="34" charset="0"/>
                <a:ea typeface="Calibri" pitchFamily="34" charset="-122"/>
                <a:cs typeface="Calibri" pitchFamily="34" charset="-120"/>
              </a:rPr>
            </a:br>
            <a:r>
              <a:rPr lang="pl-PL" sz="1200" dirty="0">
                <a:solidFill>
                  <a:srgbClr val="16243F"/>
                </a:solidFill>
                <a:latin typeface="Calibri" pitchFamily="34" charset="0"/>
                <a:ea typeface="Calibri" pitchFamily="34" charset="-122"/>
                <a:cs typeface="Calibri" pitchFamily="34" charset="-120"/>
              </a:rPr>
              <a:t>kolor czerwony (wygrana przy trafieniu</a:t>
            </a:r>
            <a:r>
              <a:rPr lang="pl-PL" sz="1200" dirty="0" smtClean="0">
                <a:solidFill>
                  <a:srgbClr val="16243F"/>
                </a:solidFill>
                <a:latin typeface="Calibri" pitchFamily="34" charset="0"/>
                <a:ea typeface="Calibri" pitchFamily="34" charset="-122"/>
                <a:cs typeface="Calibri" pitchFamily="34" charset="-120"/>
              </a:rPr>
              <a:t>)?</a:t>
            </a:r>
            <a:endParaRPr lang="pl-PL" sz="1200" dirty="0">
              <a:solidFill>
                <a:srgbClr val="16243F"/>
              </a:solidFill>
              <a:latin typeface="Calibri" pitchFamily="34" charset="0"/>
              <a:ea typeface="Calibri" pitchFamily="34" charset="-122"/>
              <a:cs typeface="Calibri" pitchFamily="34" charset="-120"/>
            </a:endParaRPr>
          </a:p>
        </p:txBody>
      </p:sp>
      <p:grpSp>
        <p:nvGrpSpPr>
          <p:cNvPr id="57" name="Grupa 56"/>
          <p:cNvGrpSpPr/>
          <p:nvPr/>
        </p:nvGrpSpPr>
        <p:grpSpPr>
          <a:xfrm>
            <a:off x="457200" y="2218690"/>
            <a:ext cx="4248000" cy="1059386"/>
            <a:chOff x="457200" y="2390058"/>
            <a:chExt cx="4248000" cy="1201248"/>
          </a:xfrm>
        </p:grpSpPr>
        <p:grpSp>
          <p:nvGrpSpPr>
            <p:cNvPr id="37" name="Grupa 36"/>
            <p:cNvGrpSpPr/>
            <p:nvPr/>
          </p:nvGrpSpPr>
          <p:grpSpPr>
            <a:xfrm>
              <a:off x="457200" y="2390058"/>
              <a:ext cx="4248000" cy="360000"/>
              <a:chOff x="457200" y="2476314"/>
              <a:chExt cx="4206240" cy="360000"/>
            </a:xfrm>
          </p:grpSpPr>
          <p:sp>
            <p:nvSpPr>
              <p:cNvPr id="8" name="Shape 6"/>
              <p:cNvSpPr/>
              <p:nvPr/>
            </p:nvSpPr>
            <p:spPr>
              <a:xfrm>
                <a:off x="457200" y="2476314"/>
                <a:ext cx="4206240" cy="360000"/>
              </a:xfrm>
              <a:prstGeom prst="roundRect">
                <a:avLst>
                  <a:gd name="adj" fmla="val 14286"/>
                </a:avLst>
              </a:prstGeom>
              <a:solidFill>
                <a:srgbClr val="FFFFFF"/>
              </a:solidFill>
              <a:ln w="12700">
                <a:solidFill>
                  <a:srgbClr val="E1E4EA"/>
                </a:solidFill>
                <a:prstDash val="solid"/>
              </a:ln>
            </p:spPr>
          </p:sp>
          <p:sp>
            <p:nvSpPr>
              <p:cNvPr id="9" name="Shape 7"/>
              <p:cNvSpPr/>
              <p:nvPr/>
            </p:nvSpPr>
            <p:spPr>
              <a:xfrm>
                <a:off x="563362" y="2550461"/>
                <a:ext cx="196054" cy="224514"/>
              </a:xfrm>
              <a:prstGeom prst="ellipse">
                <a:avLst/>
              </a:prstGeom>
              <a:solidFill>
                <a:srgbClr val="EDF1F7"/>
              </a:solidFill>
              <a:ln w="12700">
                <a:solidFill>
                  <a:srgbClr val="16243F"/>
                </a:solidFill>
                <a:prstDash val="solid"/>
              </a:ln>
            </p:spPr>
          </p:sp>
          <p:sp>
            <p:nvSpPr>
              <p:cNvPr id="10" name="Text 8"/>
              <p:cNvSpPr/>
              <p:nvPr/>
            </p:nvSpPr>
            <p:spPr>
              <a:xfrm>
                <a:off x="548640" y="2542032"/>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1" name="Text 9"/>
              <p:cNvSpPr/>
              <p:nvPr/>
            </p:nvSpPr>
            <p:spPr>
              <a:xfrm>
                <a:off x="859536" y="2476314"/>
                <a:ext cx="3694176" cy="360000"/>
              </a:xfrm>
              <a:prstGeom prst="rect">
                <a:avLst/>
              </a:prstGeom>
              <a:noFill/>
              <a:ln/>
            </p:spPr>
            <p:txBody>
              <a:bodyPr wrap="square" lIns="0" tIns="0" rIns="0" bIns="0" rtlCol="0" anchor="ctr"/>
              <a:lstStyle/>
              <a:p>
                <a:pPr marL="0" indent="0">
                  <a:buNone/>
                </a:pPr>
                <a:r>
                  <a:rPr lang="en-US" sz="1200" b="1" dirty="0">
                    <a:solidFill>
                      <a:srgbClr val="2B2D33"/>
                    </a:solidFill>
                    <a:latin typeface="Calibri" pitchFamily="34" charset="0"/>
                    <a:ea typeface="Calibri" pitchFamily="34" charset="-122"/>
                    <a:cs typeface="Calibri" pitchFamily="34" charset="-120"/>
                  </a:rPr>
                  <a:t>Urna A </a:t>
                </a:r>
                <a:r>
                  <a:rPr lang="en-US" sz="1200" dirty="0">
                    <a:solidFill>
                      <a:srgbClr val="2B2D33"/>
                    </a:solidFill>
                    <a:latin typeface="Calibri" pitchFamily="34" charset="0"/>
                    <a:ea typeface="Calibri" pitchFamily="34" charset="-122"/>
                    <a:cs typeface="Calibri" pitchFamily="34" charset="-120"/>
                  </a:rPr>
                  <a:t>(znane proporcje)</a:t>
                </a:r>
                <a:endParaRPr lang="en-US" sz="1200" dirty="0"/>
              </a:p>
            </p:txBody>
          </p:sp>
        </p:grpSp>
        <p:grpSp>
          <p:nvGrpSpPr>
            <p:cNvPr id="38" name="Grupa 37"/>
            <p:cNvGrpSpPr/>
            <p:nvPr/>
          </p:nvGrpSpPr>
          <p:grpSpPr>
            <a:xfrm>
              <a:off x="457200" y="2810682"/>
              <a:ext cx="4248000" cy="360000"/>
              <a:chOff x="457200" y="2951802"/>
              <a:chExt cx="4206240" cy="360000"/>
            </a:xfrm>
          </p:grpSpPr>
          <p:sp>
            <p:nvSpPr>
              <p:cNvPr id="12" name="Shape 10"/>
              <p:cNvSpPr/>
              <p:nvPr/>
            </p:nvSpPr>
            <p:spPr>
              <a:xfrm>
                <a:off x="457200" y="2951802"/>
                <a:ext cx="4206240" cy="360000"/>
              </a:xfrm>
              <a:prstGeom prst="roundRect">
                <a:avLst>
                  <a:gd name="adj" fmla="val 14286"/>
                </a:avLst>
              </a:prstGeom>
              <a:solidFill>
                <a:srgbClr val="FFFFFF"/>
              </a:solidFill>
              <a:ln w="12700">
                <a:solidFill>
                  <a:srgbClr val="E1E4EA"/>
                </a:solidFill>
                <a:prstDash val="solid"/>
              </a:ln>
            </p:spPr>
          </p:sp>
          <p:sp>
            <p:nvSpPr>
              <p:cNvPr id="13" name="Shape 11"/>
              <p:cNvSpPr/>
              <p:nvPr/>
            </p:nvSpPr>
            <p:spPr>
              <a:xfrm>
                <a:off x="563362" y="3025949"/>
                <a:ext cx="196054" cy="224514"/>
              </a:xfrm>
              <a:prstGeom prst="ellipse">
                <a:avLst/>
              </a:prstGeom>
              <a:solidFill>
                <a:srgbClr val="EDF1F7"/>
              </a:solidFill>
              <a:ln w="12700">
                <a:solidFill>
                  <a:srgbClr val="16243F"/>
                </a:solidFill>
                <a:prstDash val="solid"/>
              </a:ln>
            </p:spPr>
          </p:sp>
          <p:sp>
            <p:nvSpPr>
              <p:cNvPr id="14" name="Text 12"/>
              <p:cNvSpPr/>
              <p:nvPr/>
            </p:nvSpPr>
            <p:spPr>
              <a:xfrm>
                <a:off x="548640" y="3017520"/>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5" name="Text 13"/>
              <p:cNvSpPr/>
              <p:nvPr/>
            </p:nvSpPr>
            <p:spPr>
              <a:xfrm>
                <a:off x="859536" y="2951802"/>
                <a:ext cx="3694176" cy="360000"/>
              </a:xfrm>
              <a:prstGeom prst="rect">
                <a:avLst/>
              </a:prstGeom>
              <a:noFill/>
              <a:ln/>
            </p:spPr>
            <p:txBody>
              <a:bodyPr wrap="square" lIns="0" tIns="0" rIns="0" bIns="0" rtlCol="0" anchor="ctr"/>
              <a:lstStyle/>
              <a:p>
                <a:pPr marL="0" indent="0">
                  <a:buNone/>
                </a:pPr>
                <a:r>
                  <a:rPr lang="en-US" sz="1200" b="1" dirty="0">
                    <a:solidFill>
                      <a:srgbClr val="2B2D33"/>
                    </a:solidFill>
                    <a:latin typeface="Calibri" pitchFamily="34" charset="0"/>
                    <a:ea typeface="Calibri" pitchFamily="34" charset="-122"/>
                    <a:cs typeface="Calibri" pitchFamily="34" charset="-120"/>
                  </a:rPr>
                  <a:t>Urna B </a:t>
                </a:r>
                <a:r>
                  <a:rPr lang="en-US" sz="1200" dirty="0">
                    <a:solidFill>
                      <a:srgbClr val="2B2D33"/>
                    </a:solidFill>
                    <a:latin typeface="Calibri" pitchFamily="34" charset="0"/>
                    <a:ea typeface="Calibri" pitchFamily="34" charset="-122"/>
                    <a:cs typeface="Calibri" pitchFamily="34" charset="-120"/>
                  </a:rPr>
                  <a:t>(nieznana proporcja)</a:t>
                </a:r>
                <a:endParaRPr lang="en-US" sz="1200" dirty="0"/>
              </a:p>
            </p:txBody>
          </p:sp>
        </p:grpSp>
        <p:grpSp>
          <p:nvGrpSpPr>
            <p:cNvPr id="39" name="Grupa 38"/>
            <p:cNvGrpSpPr/>
            <p:nvPr/>
          </p:nvGrpSpPr>
          <p:grpSpPr>
            <a:xfrm>
              <a:off x="457200" y="3231306"/>
              <a:ext cx="4248000" cy="360000"/>
              <a:chOff x="457200" y="3434724"/>
              <a:chExt cx="4206240" cy="360000"/>
            </a:xfrm>
          </p:grpSpPr>
          <p:sp>
            <p:nvSpPr>
              <p:cNvPr id="16" name="Shape 14"/>
              <p:cNvSpPr/>
              <p:nvPr/>
            </p:nvSpPr>
            <p:spPr>
              <a:xfrm>
                <a:off x="457200" y="3434724"/>
                <a:ext cx="4206240" cy="360000"/>
              </a:xfrm>
              <a:prstGeom prst="roundRect">
                <a:avLst>
                  <a:gd name="adj" fmla="val 14286"/>
                </a:avLst>
              </a:prstGeom>
              <a:solidFill>
                <a:srgbClr val="FFFFFF"/>
              </a:solidFill>
              <a:ln w="12700">
                <a:solidFill>
                  <a:srgbClr val="E1E4EA"/>
                </a:solidFill>
                <a:prstDash val="solid"/>
              </a:ln>
            </p:spPr>
          </p:sp>
          <p:sp>
            <p:nvSpPr>
              <p:cNvPr id="17" name="Shape 15"/>
              <p:cNvSpPr/>
              <p:nvPr/>
            </p:nvSpPr>
            <p:spPr>
              <a:xfrm>
                <a:off x="570723" y="3501437"/>
                <a:ext cx="196054" cy="224514"/>
              </a:xfrm>
              <a:prstGeom prst="ellipse">
                <a:avLst/>
              </a:prstGeom>
              <a:solidFill>
                <a:srgbClr val="EDF1F7"/>
              </a:solidFill>
              <a:ln w="12700">
                <a:solidFill>
                  <a:srgbClr val="16243F"/>
                </a:solidFill>
                <a:prstDash val="solid"/>
              </a:ln>
            </p:spPr>
          </p:sp>
          <p:sp>
            <p:nvSpPr>
              <p:cNvPr id="18" name="Text 16"/>
              <p:cNvSpPr/>
              <p:nvPr/>
            </p:nvSpPr>
            <p:spPr>
              <a:xfrm>
                <a:off x="548640" y="3493008"/>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C</a:t>
                </a:r>
                <a:endParaRPr lang="en-US" sz="1000" dirty="0"/>
              </a:p>
            </p:txBody>
          </p:sp>
          <p:sp>
            <p:nvSpPr>
              <p:cNvPr id="19" name="Text 17"/>
              <p:cNvSpPr/>
              <p:nvPr/>
            </p:nvSpPr>
            <p:spPr>
              <a:xfrm>
                <a:off x="859536" y="3434724"/>
                <a:ext cx="3694176" cy="360000"/>
              </a:xfrm>
              <a:prstGeom prst="rect">
                <a:avLst/>
              </a:prstGeom>
              <a:noFill/>
              <a:ln/>
            </p:spPr>
            <p:txBody>
              <a:bodyPr wrap="square" lIns="0" tIns="0" rIns="0" bIns="0" rtlCol="0" anchor="ctr"/>
              <a:lstStyle/>
              <a:p>
                <a:pPr marL="0" indent="0">
                  <a:buNone/>
                </a:pPr>
                <a:r>
                  <a:rPr lang="en-US" sz="1200" b="1" dirty="0">
                    <a:solidFill>
                      <a:srgbClr val="2B2D33"/>
                    </a:solidFill>
                    <a:latin typeface="Calibri" pitchFamily="34" charset="0"/>
                    <a:ea typeface="Calibri" pitchFamily="34" charset="-122"/>
                    <a:cs typeface="Calibri" pitchFamily="34" charset="-120"/>
                  </a:rPr>
                  <a:t>Bez różnicy</a:t>
                </a:r>
                <a:endParaRPr lang="en-US" sz="1200" b="1" dirty="0"/>
              </a:p>
            </p:txBody>
          </p:sp>
        </p:grpSp>
      </p:grpSp>
      <p:sp>
        <p:nvSpPr>
          <p:cNvPr id="23" name="Shape 21"/>
          <p:cNvSpPr/>
          <p:nvPr/>
        </p:nvSpPr>
        <p:spPr>
          <a:xfrm>
            <a:off x="7406640" y="4041648"/>
            <a:ext cx="1280160" cy="758952"/>
          </a:xfrm>
          <a:prstGeom prst="roundRect">
            <a:avLst>
              <a:gd name="adj" fmla="val 6000"/>
            </a:avLst>
          </a:prstGeom>
          <a:solidFill>
            <a:srgbClr val="EDF1F7"/>
          </a:solidFill>
          <a:ln w="12700">
            <a:solidFill>
              <a:srgbClr val="E1E4EA"/>
            </a:solidFill>
            <a:prstDash val="solid"/>
          </a:ln>
        </p:spPr>
      </p:sp>
      <p:sp>
        <p:nvSpPr>
          <p:cNvPr id="24" name="Shape 22"/>
          <p:cNvSpPr/>
          <p:nvPr/>
        </p:nvSpPr>
        <p:spPr>
          <a:xfrm>
            <a:off x="7516368" y="4133088"/>
            <a:ext cx="365760" cy="365760"/>
          </a:xfrm>
          <a:prstGeom prst="rect">
            <a:avLst/>
          </a:prstGeom>
          <a:solidFill>
            <a:srgbClr val="FFFFFF"/>
          </a:solidFill>
          <a:ln w="19050">
            <a:solidFill>
              <a:srgbClr val="16243F"/>
            </a:solidFill>
            <a:prstDash val="solid"/>
          </a:ln>
        </p:spPr>
      </p:sp>
      <p:sp>
        <p:nvSpPr>
          <p:cNvPr id="25" name="Shape 23"/>
          <p:cNvSpPr/>
          <p:nvPr/>
        </p:nvSpPr>
        <p:spPr>
          <a:xfrm>
            <a:off x="7543800" y="4160520"/>
            <a:ext cx="82296" cy="82296"/>
          </a:xfrm>
          <a:prstGeom prst="rect">
            <a:avLst/>
          </a:prstGeom>
          <a:solidFill>
            <a:srgbClr val="16243F"/>
          </a:solidFill>
          <a:ln w="12700">
            <a:solidFill>
              <a:srgbClr val="16243F"/>
            </a:solidFill>
            <a:prstDash val="solid"/>
          </a:ln>
        </p:spPr>
      </p:sp>
      <p:sp>
        <p:nvSpPr>
          <p:cNvPr id="26" name="Shape 24"/>
          <p:cNvSpPr/>
          <p:nvPr/>
        </p:nvSpPr>
        <p:spPr>
          <a:xfrm>
            <a:off x="7543800" y="4361688"/>
            <a:ext cx="82296" cy="82296"/>
          </a:xfrm>
          <a:prstGeom prst="rect">
            <a:avLst/>
          </a:prstGeom>
          <a:solidFill>
            <a:srgbClr val="16243F"/>
          </a:solidFill>
          <a:ln w="12700">
            <a:solidFill>
              <a:srgbClr val="16243F"/>
            </a:solidFill>
            <a:prstDash val="solid"/>
          </a:ln>
        </p:spPr>
      </p:sp>
      <p:sp>
        <p:nvSpPr>
          <p:cNvPr id="27" name="Shape 25"/>
          <p:cNvSpPr/>
          <p:nvPr/>
        </p:nvSpPr>
        <p:spPr>
          <a:xfrm>
            <a:off x="7644384" y="4261104"/>
            <a:ext cx="82296" cy="82296"/>
          </a:xfrm>
          <a:prstGeom prst="rect">
            <a:avLst/>
          </a:prstGeom>
          <a:solidFill>
            <a:srgbClr val="16243F"/>
          </a:solidFill>
          <a:ln w="12700">
            <a:solidFill>
              <a:srgbClr val="16243F"/>
            </a:solidFill>
            <a:prstDash val="solid"/>
          </a:ln>
        </p:spPr>
      </p:sp>
      <p:sp>
        <p:nvSpPr>
          <p:cNvPr id="28" name="Shape 26"/>
          <p:cNvSpPr/>
          <p:nvPr/>
        </p:nvSpPr>
        <p:spPr>
          <a:xfrm>
            <a:off x="7744968" y="4160520"/>
            <a:ext cx="82296" cy="82296"/>
          </a:xfrm>
          <a:prstGeom prst="rect">
            <a:avLst/>
          </a:prstGeom>
          <a:solidFill>
            <a:srgbClr val="16243F"/>
          </a:solidFill>
          <a:ln w="12700">
            <a:solidFill>
              <a:srgbClr val="16243F"/>
            </a:solidFill>
            <a:prstDash val="solid"/>
          </a:ln>
        </p:spPr>
      </p:sp>
      <p:sp>
        <p:nvSpPr>
          <p:cNvPr id="29" name="Shape 27"/>
          <p:cNvSpPr/>
          <p:nvPr/>
        </p:nvSpPr>
        <p:spPr>
          <a:xfrm>
            <a:off x="7744968" y="4361688"/>
            <a:ext cx="82296" cy="82296"/>
          </a:xfrm>
          <a:prstGeom prst="rect">
            <a:avLst/>
          </a:prstGeom>
          <a:solidFill>
            <a:srgbClr val="16243F"/>
          </a:solidFill>
          <a:ln w="12700">
            <a:solidFill>
              <a:srgbClr val="16243F"/>
            </a:solidFill>
            <a:prstDash val="solid"/>
          </a:ln>
        </p:spPr>
      </p:sp>
      <p:sp>
        <p:nvSpPr>
          <p:cNvPr id="30" name="Text 28"/>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31" name="Text 29"/>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36" name="Grupa 35"/>
          <p:cNvGrpSpPr/>
          <p:nvPr/>
        </p:nvGrpSpPr>
        <p:grpSpPr>
          <a:xfrm>
            <a:off x="5111530" y="1883664"/>
            <a:ext cx="3747033" cy="1883664"/>
            <a:chOff x="5129560" y="1965960"/>
            <a:chExt cx="3557239" cy="1883664"/>
          </a:xfrm>
        </p:grpSpPr>
        <p:sp>
          <p:nvSpPr>
            <p:cNvPr id="32" name="Shape 30"/>
            <p:cNvSpPr/>
            <p:nvPr/>
          </p:nvSpPr>
          <p:spPr>
            <a:xfrm>
              <a:off x="5129560" y="1965960"/>
              <a:ext cx="3557239" cy="1883664"/>
            </a:xfrm>
            <a:prstGeom prst="roundRect">
              <a:avLst>
                <a:gd name="adj" fmla="val 2791"/>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33" name="Text 31"/>
            <p:cNvSpPr/>
            <p:nvPr/>
          </p:nvSpPr>
          <p:spPr>
            <a:xfrm>
              <a:off x="5239289" y="2057400"/>
              <a:ext cx="3301206"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p:sp>
          <p:nvSpPr>
            <p:cNvPr id="34" name="Text 32"/>
            <p:cNvSpPr/>
            <p:nvPr/>
          </p:nvSpPr>
          <p:spPr>
            <a:xfrm>
              <a:off x="5239289" y="2331720"/>
              <a:ext cx="3358300" cy="1415772"/>
            </a:xfrm>
            <a:prstGeom prst="rect">
              <a:avLst/>
            </a:prstGeom>
            <a:noFill/>
            <a:ln/>
          </p:spPr>
          <p:txBody>
            <a:bodyPr wrap="square" lIns="0" tIns="0" rIns="0" bIns="0" rtlCol="0" anchor="t">
              <a:spAutoFit/>
            </a:bodyPr>
            <a:lstStyle/>
            <a:p>
              <a:r>
                <a:rPr lang="pl-PL" sz="1200" dirty="0">
                  <a:solidFill>
                    <a:srgbClr val="16243F"/>
                  </a:solidFill>
                  <a:latin typeface="Calibri" pitchFamily="34" charset="0"/>
                  <a:ea typeface="Calibri" pitchFamily="34" charset="-122"/>
                  <a:cs typeface="Calibri" pitchFamily="34" charset="-120"/>
                </a:rPr>
                <a:t>Większość wybiera urnę A w OBU rundach, mimo </a:t>
              </a:r>
              <a:br>
                <a:rPr lang="pl-PL" sz="1200" dirty="0">
                  <a:solidFill>
                    <a:srgbClr val="16243F"/>
                  </a:solidFill>
                  <a:latin typeface="Calibri" pitchFamily="34" charset="0"/>
                  <a:ea typeface="Calibri" pitchFamily="34" charset="-122"/>
                  <a:cs typeface="Calibri" pitchFamily="34" charset="-120"/>
                </a:rPr>
              </a:br>
              <a:r>
                <a:rPr lang="pl-PL" sz="1200" dirty="0">
                  <a:solidFill>
                    <a:srgbClr val="16243F"/>
                  </a:solidFill>
                  <a:latin typeface="Calibri" pitchFamily="34" charset="0"/>
                  <a:ea typeface="Calibri" pitchFamily="34" charset="-122"/>
                  <a:cs typeface="Calibri" pitchFamily="34" charset="-120"/>
                </a:rPr>
                <a:t>że wybór ten jest logicznie niespójny (</a:t>
              </a:r>
              <a:r>
                <a:rPr lang="pl-PL" sz="1200" dirty="0" err="1">
                  <a:solidFill>
                    <a:srgbClr val="16243F"/>
                  </a:solidFill>
                  <a:latin typeface="Calibri" pitchFamily="34" charset="0"/>
                  <a:ea typeface="Calibri" pitchFamily="34" charset="-122"/>
                  <a:cs typeface="Calibri" pitchFamily="34" charset="-120"/>
                </a:rPr>
                <a:t>Ellsberg</a:t>
              </a:r>
              <a:r>
                <a:rPr lang="pl-PL" sz="1200" dirty="0">
                  <a:solidFill>
                    <a:srgbClr val="16243F"/>
                  </a:solidFill>
                  <a:latin typeface="Calibri" pitchFamily="34" charset="0"/>
                  <a:ea typeface="Calibri" pitchFamily="34" charset="-122"/>
                  <a:cs typeface="Calibri" pitchFamily="34" charset="-120"/>
                </a:rPr>
                <a:t>, 1961).</a:t>
              </a:r>
            </a:p>
            <a:p>
              <a:pPr marL="0" indent="0">
                <a:buNone/>
              </a:pPr>
              <a:endParaRPr lang="en-US" sz="800" dirty="0"/>
            </a:p>
            <a:p>
              <a:r>
                <a:rPr lang="pl-PL" sz="1200" spc="-30" dirty="0">
                  <a:solidFill>
                    <a:srgbClr val="16243F"/>
                  </a:solidFill>
                  <a:latin typeface="Calibri" pitchFamily="34" charset="0"/>
                  <a:ea typeface="Calibri" pitchFamily="34" charset="-122"/>
                  <a:cs typeface="Calibri" pitchFamily="34" charset="-120"/>
                </a:rPr>
                <a:t>Jeśli urna A jest preferowana dla czerwonego, to urna B musi być preferowana dla czarnego, by preferencje były spójne </a:t>
              </a:r>
              <a:r>
                <a:rPr lang="pl-PL" sz="1200" spc="-30" dirty="0" smtClean="0">
                  <a:solidFill>
                    <a:srgbClr val="16243F"/>
                  </a:solidFill>
                  <a:latin typeface="Calibri" pitchFamily="34" charset="0"/>
                  <a:ea typeface="Calibri" pitchFamily="34" charset="-122"/>
                  <a:cs typeface="Calibri" pitchFamily="34" charset="-120"/>
                </a:rPr>
                <a:t/>
              </a:r>
              <a:br>
                <a:rPr lang="pl-PL" sz="1200" spc="-30" dirty="0" smtClean="0">
                  <a:solidFill>
                    <a:srgbClr val="16243F"/>
                  </a:solidFill>
                  <a:latin typeface="Calibri" pitchFamily="34" charset="0"/>
                  <a:ea typeface="Calibri" pitchFamily="34" charset="-122"/>
                  <a:cs typeface="Calibri" pitchFamily="34" charset="-120"/>
                </a:rPr>
              </a:br>
              <a:r>
                <a:rPr lang="pl-PL" sz="1200" spc="-30" dirty="0" smtClean="0">
                  <a:solidFill>
                    <a:srgbClr val="16243F"/>
                  </a:solidFill>
                  <a:latin typeface="Calibri" pitchFamily="34" charset="0"/>
                  <a:ea typeface="Calibri" pitchFamily="34" charset="-122"/>
                  <a:cs typeface="Calibri" pitchFamily="34" charset="-120"/>
                </a:rPr>
                <a:t>z </a:t>
              </a:r>
              <a:r>
                <a:rPr lang="pl-PL" sz="1200" spc="-30" dirty="0">
                  <a:solidFill>
                    <a:srgbClr val="16243F"/>
                  </a:solidFill>
                  <a:latin typeface="Calibri" pitchFamily="34" charset="0"/>
                  <a:ea typeface="Calibri" pitchFamily="34" charset="-122"/>
                  <a:cs typeface="Calibri" pitchFamily="34" charset="-120"/>
                </a:rPr>
                <a:t>jakimkolwiek subiektywnym prawdopodobieństwem. Ludzie unikają niejednoznaczności silniej niż wynikałoby to </a:t>
              </a:r>
              <a:r>
                <a:rPr lang="pl-PL" sz="1200" spc="-30" dirty="0" smtClean="0">
                  <a:solidFill>
                    <a:srgbClr val="16243F"/>
                  </a:solidFill>
                  <a:latin typeface="Calibri" pitchFamily="34" charset="0"/>
                  <a:ea typeface="Calibri" pitchFamily="34" charset="-122"/>
                  <a:cs typeface="Calibri" pitchFamily="34" charset="-120"/>
                </a:rPr>
                <a:t/>
              </a:r>
              <a:br>
                <a:rPr lang="pl-PL" sz="1200" spc="-30" dirty="0" smtClean="0">
                  <a:solidFill>
                    <a:srgbClr val="16243F"/>
                  </a:solidFill>
                  <a:latin typeface="Calibri" pitchFamily="34" charset="0"/>
                  <a:ea typeface="Calibri" pitchFamily="34" charset="-122"/>
                  <a:cs typeface="Calibri" pitchFamily="34" charset="-120"/>
                </a:rPr>
              </a:br>
              <a:r>
                <a:rPr lang="pl-PL" sz="1200" spc="-30" dirty="0" smtClean="0">
                  <a:solidFill>
                    <a:srgbClr val="16243F"/>
                  </a:solidFill>
                  <a:latin typeface="Calibri" pitchFamily="34" charset="0"/>
                  <a:ea typeface="Calibri" pitchFamily="34" charset="-122"/>
                  <a:cs typeface="Calibri" pitchFamily="34" charset="-120"/>
                </a:rPr>
                <a:t>z </a:t>
              </a:r>
              <a:r>
                <a:rPr lang="pl-PL" sz="1200" spc="-30" dirty="0">
                  <a:solidFill>
                    <a:srgbClr val="16243F"/>
                  </a:solidFill>
                  <a:latin typeface="Calibri" pitchFamily="34" charset="0"/>
                  <a:ea typeface="Calibri" pitchFamily="34" charset="-122"/>
                  <a:cs typeface="Calibri" pitchFamily="34" charset="-120"/>
                </a:rPr>
                <a:t>rachunku prawdopodobieństwa.</a:t>
              </a:r>
              <a:endParaRPr lang="pl-PL" sz="1200" spc="-30" dirty="0">
                <a:solidFill>
                  <a:srgbClr val="16243F"/>
                </a:solidFill>
                <a:latin typeface="Calibri" pitchFamily="34" charset="0"/>
                <a:ea typeface="Calibri" pitchFamily="34" charset="-122"/>
                <a:cs typeface="Calibri" pitchFamily="34" charset="-120"/>
              </a:endParaRPr>
            </a:p>
          </p:txBody>
        </p:sp>
      </p:grpSp>
      <p:sp>
        <p:nvSpPr>
          <p:cNvPr id="35" name="Text 33"/>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33/40   ·   Blok IV</a:t>
            </a:r>
            <a:endParaRPr lang="en-US" sz="800" dirty="0"/>
          </a:p>
        </p:txBody>
      </p:sp>
      <p:grpSp>
        <p:nvGrpSpPr>
          <p:cNvPr id="74" name="Grupa 73"/>
          <p:cNvGrpSpPr/>
          <p:nvPr/>
        </p:nvGrpSpPr>
        <p:grpSpPr>
          <a:xfrm>
            <a:off x="457200" y="3411306"/>
            <a:ext cx="4248000" cy="1459566"/>
            <a:chOff x="457200" y="3525012"/>
            <a:chExt cx="4248000" cy="1459566"/>
          </a:xfrm>
        </p:grpSpPr>
        <p:sp>
          <p:nvSpPr>
            <p:cNvPr id="40" name="Shape 4"/>
            <p:cNvSpPr/>
            <p:nvPr/>
          </p:nvSpPr>
          <p:spPr>
            <a:xfrm>
              <a:off x="457200" y="3525012"/>
              <a:ext cx="4248000" cy="324612"/>
            </a:xfrm>
            <a:prstGeom prst="roundRect">
              <a:avLst/>
            </a:prstGeom>
            <a:solidFill>
              <a:srgbClr val="EDF1F7"/>
            </a:solidFill>
            <a:ln w="12700">
              <a:solidFill>
                <a:srgbClr val="E1E4EA"/>
              </a:solidFill>
              <a:prstDash val="solid"/>
            </a:ln>
          </p:spPr>
          <p:txBody>
            <a:bodyPr anchor="ctr"/>
            <a:lstStyle/>
            <a:p>
              <a:r>
                <a:rPr lang="pl-PL" sz="1200" b="1" dirty="0">
                  <a:solidFill>
                    <a:srgbClr val="16243F"/>
                  </a:solidFill>
                  <a:latin typeface="Calibri" pitchFamily="34" charset="0"/>
                  <a:ea typeface="Calibri" pitchFamily="34" charset="-122"/>
                  <a:cs typeface="Calibri" pitchFamily="34" charset="-120"/>
                </a:rPr>
                <a:t>Runda </a:t>
              </a:r>
              <a:r>
                <a:rPr lang="pl-PL" sz="1200" b="1" dirty="0" smtClean="0">
                  <a:solidFill>
                    <a:srgbClr val="16243F"/>
                  </a:solidFill>
                  <a:latin typeface="Calibri" pitchFamily="34" charset="0"/>
                  <a:ea typeface="Calibri" pitchFamily="34" charset="-122"/>
                  <a:cs typeface="Calibri" pitchFamily="34" charset="-120"/>
                </a:rPr>
                <a:t>2: </a:t>
              </a:r>
              <a:r>
                <a:rPr lang="pl-PL" sz="1200" dirty="0">
                  <a:solidFill>
                    <a:srgbClr val="16243F"/>
                  </a:solidFill>
                  <a:latin typeface="Calibri" pitchFamily="34" charset="0"/>
                  <a:ea typeface="Calibri" pitchFamily="34" charset="-122"/>
                  <a:cs typeface="Calibri" pitchFamily="34" charset="-120"/>
                </a:rPr>
                <a:t>to samo pytanie dla koloru </a:t>
              </a:r>
              <a:r>
                <a:rPr lang="pl-PL" sz="1200" dirty="0" smtClean="0">
                  <a:solidFill>
                    <a:srgbClr val="16243F"/>
                  </a:solidFill>
                  <a:latin typeface="Calibri" pitchFamily="34" charset="0"/>
                  <a:ea typeface="Calibri" pitchFamily="34" charset="-122"/>
                  <a:cs typeface="Calibri" pitchFamily="34" charset="-120"/>
                </a:rPr>
                <a:t>czarnego</a:t>
              </a:r>
              <a:endParaRPr lang="pl-PL" sz="1200" dirty="0">
                <a:solidFill>
                  <a:srgbClr val="16243F"/>
                </a:solidFill>
                <a:latin typeface="Calibri" pitchFamily="34" charset="0"/>
                <a:ea typeface="Calibri" pitchFamily="34" charset="-122"/>
                <a:cs typeface="Calibri" pitchFamily="34" charset="-120"/>
              </a:endParaRPr>
            </a:p>
          </p:txBody>
        </p:sp>
        <p:grpSp>
          <p:nvGrpSpPr>
            <p:cNvPr id="58" name="Grupa 57"/>
            <p:cNvGrpSpPr/>
            <p:nvPr/>
          </p:nvGrpSpPr>
          <p:grpSpPr>
            <a:xfrm>
              <a:off x="457200" y="3925192"/>
              <a:ext cx="4248000" cy="1059386"/>
              <a:chOff x="457200" y="2390058"/>
              <a:chExt cx="4248000" cy="1201248"/>
            </a:xfrm>
          </p:grpSpPr>
          <p:grpSp>
            <p:nvGrpSpPr>
              <p:cNvPr id="59" name="Grupa 58"/>
              <p:cNvGrpSpPr/>
              <p:nvPr/>
            </p:nvGrpSpPr>
            <p:grpSpPr>
              <a:xfrm>
                <a:off x="457200" y="2390058"/>
                <a:ext cx="4248000" cy="360000"/>
                <a:chOff x="457200" y="2476314"/>
                <a:chExt cx="4206240" cy="360000"/>
              </a:xfrm>
            </p:grpSpPr>
            <p:sp>
              <p:nvSpPr>
                <p:cNvPr id="70" name="Shape 6"/>
                <p:cNvSpPr/>
                <p:nvPr/>
              </p:nvSpPr>
              <p:spPr>
                <a:xfrm>
                  <a:off x="457200" y="2476314"/>
                  <a:ext cx="4206240" cy="360000"/>
                </a:xfrm>
                <a:prstGeom prst="roundRect">
                  <a:avLst/>
                </a:prstGeom>
                <a:solidFill>
                  <a:srgbClr val="FFFFFF"/>
                </a:solidFill>
                <a:ln w="12700">
                  <a:solidFill>
                    <a:srgbClr val="E1E4EA"/>
                  </a:solidFill>
                  <a:prstDash val="solid"/>
                </a:ln>
              </p:spPr>
            </p:sp>
            <p:sp>
              <p:nvSpPr>
                <p:cNvPr id="71" name="Shape 7"/>
                <p:cNvSpPr/>
                <p:nvPr/>
              </p:nvSpPr>
              <p:spPr>
                <a:xfrm>
                  <a:off x="563362" y="2550461"/>
                  <a:ext cx="196054" cy="224514"/>
                </a:xfrm>
                <a:prstGeom prst="roundRect">
                  <a:avLst/>
                </a:prstGeom>
                <a:solidFill>
                  <a:srgbClr val="EDF1F7"/>
                </a:solidFill>
                <a:ln w="12700">
                  <a:solidFill>
                    <a:srgbClr val="16243F"/>
                  </a:solidFill>
                  <a:prstDash val="solid"/>
                </a:ln>
              </p:spPr>
            </p:sp>
            <p:sp>
              <p:nvSpPr>
                <p:cNvPr id="72" name="Text 8"/>
                <p:cNvSpPr/>
                <p:nvPr/>
              </p:nvSpPr>
              <p:spPr>
                <a:xfrm>
                  <a:off x="548640" y="2542032"/>
                  <a:ext cx="237744" cy="237744"/>
                </a:xfrm>
                <a:prstGeom prst="round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73" name="Text 9"/>
                <p:cNvSpPr/>
                <p:nvPr/>
              </p:nvSpPr>
              <p:spPr>
                <a:xfrm>
                  <a:off x="859536" y="2476314"/>
                  <a:ext cx="3694176" cy="360000"/>
                </a:xfrm>
                <a:prstGeom prst="roundRect">
                  <a:avLst/>
                </a:prstGeom>
                <a:noFill/>
                <a:ln/>
              </p:spPr>
              <p:txBody>
                <a:bodyPr wrap="square" lIns="0" tIns="0" rIns="0" bIns="0" rtlCol="0" anchor="ctr"/>
                <a:lstStyle/>
                <a:p>
                  <a:pPr marL="0" indent="0">
                    <a:buNone/>
                  </a:pPr>
                  <a:r>
                    <a:rPr lang="en-US" sz="1200" b="1" dirty="0">
                      <a:solidFill>
                        <a:srgbClr val="2B2D33"/>
                      </a:solidFill>
                      <a:latin typeface="Calibri" pitchFamily="34" charset="0"/>
                      <a:ea typeface="Calibri" pitchFamily="34" charset="-122"/>
                      <a:cs typeface="Calibri" pitchFamily="34" charset="-120"/>
                    </a:rPr>
                    <a:t>Urna A </a:t>
                  </a:r>
                  <a:r>
                    <a:rPr lang="en-US" sz="1200" dirty="0">
                      <a:solidFill>
                        <a:srgbClr val="2B2D33"/>
                      </a:solidFill>
                      <a:latin typeface="Calibri" pitchFamily="34" charset="0"/>
                      <a:ea typeface="Calibri" pitchFamily="34" charset="-122"/>
                      <a:cs typeface="Calibri" pitchFamily="34" charset="-120"/>
                    </a:rPr>
                    <a:t>(znane proporcje)</a:t>
                  </a:r>
                  <a:endParaRPr lang="en-US" sz="1200" dirty="0"/>
                </a:p>
              </p:txBody>
            </p:sp>
          </p:grpSp>
          <p:grpSp>
            <p:nvGrpSpPr>
              <p:cNvPr id="60" name="Grupa 59"/>
              <p:cNvGrpSpPr/>
              <p:nvPr/>
            </p:nvGrpSpPr>
            <p:grpSpPr>
              <a:xfrm>
                <a:off x="457200" y="2810682"/>
                <a:ext cx="4248000" cy="360000"/>
                <a:chOff x="457200" y="2951802"/>
                <a:chExt cx="4206240" cy="360000"/>
              </a:xfrm>
            </p:grpSpPr>
            <p:sp>
              <p:nvSpPr>
                <p:cNvPr id="66" name="Shape 10"/>
                <p:cNvSpPr/>
                <p:nvPr/>
              </p:nvSpPr>
              <p:spPr>
                <a:xfrm>
                  <a:off x="457200" y="2951802"/>
                  <a:ext cx="4206240" cy="360000"/>
                </a:xfrm>
                <a:prstGeom prst="roundRect">
                  <a:avLst/>
                </a:prstGeom>
                <a:solidFill>
                  <a:srgbClr val="FFFFFF"/>
                </a:solidFill>
                <a:ln w="12700">
                  <a:solidFill>
                    <a:srgbClr val="E1E4EA"/>
                  </a:solidFill>
                  <a:prstDash val="solid"/>
                </a:ln>
              </p:spPr>
            </p:sp>
            <p:sp>
              <p:nvSpPr>
                <p:cNvPr id="67" name="Shape 11"/>
                <p:cNvSpPr/>
                <p:nvPr/>
              </p:nvSpPr>
              <p:spPr>
                <a:xfrm>
                  <a:off x="563362" y="3025949"/>
                  <a:ext cx="196054" cy="224514"/>
                </a:xfrm>
                <a:prstGeom prst="roundRect">
                  <a:avLst/>
                </a:prstGeom>
                <a:solidFill>
                  <a:srgbClr val="EDF1F7"/>
                </a:solidFill>
                <a:ln w="12700">
                  <a:solidFill>
                    <a:srgbClr val="16243F"/>
                  </a:solidFill>
                  <a:prstDash val="solid"/>
                </a:ln>
              </p:spPr>
            </p:sp>
            <p:sp>
              <p:nvSpPr>
                <p:cNvPr id="68" name="Text 12"/>
                <p:cNvSpPr/>
                <p:nvPr/>
              </p:nvSpPr>
              <p:spPr>
                <a:xfrm>
                  <a:off x="548640" y="3017520"/>
                  <a:ext cx="237744" cy="237744"/>
                </a:xfrm>
                <a:prstGeom prst="round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69" name="Text 13"/>
                <p:cNvSpPr/>
                <p:nvPr/>
              </p:nvSpPr>
              <p:spPr>
                <a:xfrm>
                  <a:off x="859536" y="2951802"/>
                  <a:ext cx="3694176" cy="360000"/>
                </a:xfrm>
                <a:prstGeom prst="roundRect">
                  <a:avLst/>
                </a:prstGeom>
                <a:noFill/>
                <a:ln/>
              </p:spPr>
              <p:txBody>
                <a:bodyPr wrap="square" lIns="0" tIns="0" rIns="0" bIns="0" rtlCol="0" anchor="ctr"/>
                <a:lstStyle/>
                <a:p>
                  <a:pPr marL="0" indent="0">
                    <a:buNone/>
                  </a:pPr>
                  <a:r>
                    <a:rPr lang="en-US" sz="1200" b="1" dirty="0">
                      <a:solidFill>
                        <a:srgbClr val="2B2D33"/>
                      </a:solidFill>
                      <a:latin typeface="Calibri" pitchFamily="34" charset="0"/>
                      <a:ea typeface="Calibri" pitchFamily="34" charset="-122"/>
                      <a:cs typeface="Calibri" pitchFamily="34" charset="-120"/>
                    </a:rPr>
                    <a:t>Urna B </a:t>
                  </a:r>
                  <a:r>
                    <a:rPr lang="en-US" sz="1200" dirty="0">
                      <a:solidFill>
                        <a:srgbClr val="2B2D33"/>
                      </a:solidFill>
                      <a:latin typeface="Calibri" pitchFamily="34" charset="0"/>
                      <a:ea typeface="Calibri" pitchFamily="34" charset="-122"/>
                      <a:cs typeface="Calibri" pitchFamily="34" charset="-120"/>
                    </a:rPr>
                    <a:t>(nieznana proporcja)</a:t>
                  </a:r>
                  <a:endParaRPr lang="en-US" sz="1200" dirty="0"/>
                </a:p>
              </p:txBody>
            </p:sp>
          </p:grpSp>
          <p:grpSp>
            <p:nvGrpSpPr>
              <p:cNvPr id="61" name="Grupa 60"/>
              <p:cNvGrpSpPr/>
              <p:nvPr/>
            </p:nvGrpSpPr>
            <p:grpSpPr>
              <a:xfrm>
                <a:off x="457200" y="3231306"/>
                <a:ext cx="4248000" cy="360000"/>
                <a:chOff x="457200" y="3434724"/>
                <a:chExt cx="4206240" cy="360000"/>
              </a:xfrm>
            </p:grpSpPr>
            <p:sp>
              <p:nvSpPr>
                <p:cNvPr id="62" name="Shape 14"/>
                <p:cNvSpPr/>
                <p:nvPr/>
              </p:nvSpPr>
              <p:spPr>
                <a:xfrm>
                  <a:off x="457200" y="3434724"/>
                  <a:ext cx="4206240" cy="360000"/>
                </a:xfrm>
                <a:prstGeom prst="roundRect">
                  <a:avLst/>
                </a:prstGeom>
                <a:solidFill>
                  <a:srgbClr val="FFFFFF"/>
                </a:solidFill>
                <a:ln w="12700">
                  <a:solidFill>
                    <a:srgbClr val="E1E4EA"/>
                  </a:solidFill>
                  <a:prstDash val="solid"/>
                </a:ln>
              </p:spPr>
            </p:sp>
            <p:sp>
              <p:nvSpPr>
                <p:cNvPr id="63" name="Shape 15"/>
                <p:cNvSpPr/>
                <p:nvPr/>
              </p:nvSpPr>
              <p:spPr>
                <a:xfrm>
                  <a:off x="570723" y="3501437"/>
                  <a:ext cx="196054" cy="224514"/>
                </a:xfrm>
                <a:prstGeom prst="roundRect">
                  <a:avLst/>
                </a:prstGeom>
                <a:solidFill>
                  <a:srgbClr val="EDF1F7"/>
                </a:solidFill>
                <a:ln w="12700">
                  <a:solidFill>
                    <a:srgbClr val="16243F"/>
                  </a:solidFill>
                  <a:prstDash val="solid"/>
                </a:ln>
              </p:spPr>
            </p:sp>
            <p:sp>
              <p:nvSpPr>
                <p:cNvPr id="64" name="Text 16"/>
                <p:cNvSpPr/>
                <p:nvPr/>
              </p:nvSpPr>
              <p:spPr>
                <a:xfrm>
                  <a:off x="548640" y="3493008"/>
                  <a:ext cx="237744" cy="237744"/>
                </a:xfrm>
                <a:prstGeom prst="roundRect">
                  <a:avLst/>
                </a:prstGeom>
                <a:noFill/>
                <a:ln/>
              </p:spPr>
              <p:txBody>
                <a:bodyPr wrap="square" lIns="0" tIns="0" rIns="0" bIns="0" rtlCol="0" anchor="ctr"/>
                <a:lstStyle/>
                <a:p>
                  <a:pPr marL="0" indent="0" algn="ctr">
                    <a:buNone/>
                  </a:pPr>
                  <a:r>
                    <a:rPr lang="en-US" sz="1000" b="1" dirty="0">
                      <a:solidFill>
                        <a:srgbClr val="16243F"/>
                      </a:solidFill>
                    </a:rPr>
                    <a:t>C</a:t>
                  </a:r>
                  <a:endParaRPr lang="en-US" sz="1000" dirty="0"/>
                </a:p>
              </p:txBody>
            </p:sp>
            <p:sp>
              <p:nvSpPr>
                <p:cNvPr id="65" name="Text 17"/>
                <p:cNvSpPr/>
                <p:nvPr/>
              </p:nvSpPr>
              <p:spPr>
                <a:xfrm>
                  <a:off x="859536" y="3434724"/>
                  <a:ext cx="3694176" cy="360000"/>
                </a:xfrm>
                <a:prstGeom prst="roundRect">
                  <a:avLst/>
                </a:prstGeom>
                <a:noFill/>
                <a:ln/>
              </p:spPr>
              <p:txBody>
                <a:bodyPr wrap="square" lIns="0" tIns="0" rIns="0" bIns="0" rtlCol="0" anchor="ctr"/>
                <a:lstStyle/>
                <a:p>
                  <a:pPr marL="0" indent="0">
                    <a:buNone/>
                  </a:pPr>
                  <a:r>
                    <a:rPr lang="en-US" sz="1200" b="1" dirty="0">
                      <a:solidFill>
                        <a:srgbClr val="2B2D33"/>
                      </a:solidFill>
                      <a:latin typeface="Calibri" pitchFamily="34" charset="0"/>
                      <a:ea typeface="Calibri" pitchFamily="34" charset="-122"/>
                      <a:cs typeface="Calibri" pitchFamily="34" charset="-120"/>
                    </a:rPr>
                    <a:t>Bez różnicy</a:t>
                  </a:r>
                  <a:endParaRPr lang="en-US" sz="1200" b="1" dirty="0"/>
                </a:p>
              </p:txBody>
            </p:sp>
          </p:grpSp>
        </p:grpSp>
      </p:grpSp>
      <p:sp>
        <p:nvSpPr>
          <p:cNvPr id="75" name="Shape 13"/>
          <p:cNvSpPr/>
          <p:nvPr/>
        </p:nvSpPr>
        <p:spPr>
          <a:xfrm>
            <a:off x="5111529" y="1678849"/>
            <a:ext cx="3747033" cy="140808"/>
          </a:xfrm>
          <a:prstGeom prst="roundRect">
            <a:avLst>
              <a:gd name="adj" fmla="val 17647"/>
            </a:avLst>
          </a:prstGeom>
          <a:solidFill>
            <a:srgbClr val="C07A35"/>
          </a:solidFill>
          <a:ln w="12700">
            <a:solidFill>
              <a:srgbClr val="C07A35"/>
            </a:solidFill>
            <a:prstDash val="solid"/>
          </a:ln>
        </p:spPr>
        <p:txBody>
          <a:bodyPr anchor="ctr"/>
          <a:lstStyle/>
          <a:p>
            <a:pPr algn="ctr"/>
            <a:r>
              <a:rPr lang="en-US" sz="900" b="1" dirty="0">
                <a:solidFill>
                  <a:srgbClr val="FFFFFF"/>
                </a:solidFill>
                <a:latin typeface="Calibri" pitchFamily="34" charset="0"/>
                <a:ea typeface="Calibri" pitchFamily="34" charset="-122"/>
                <a:cs typeface="Calibri" pitchFamily="34" charset="-120"/>
              </a:rPr>
              <a:t>ZAGŁOSUJ PRZED UJAWNIENIEM </a:t>
            </a:r>
            <a:r>
              <a:rPr lang="en-US" sz="900" b="1" dirty="0" smtClean="0">
                <a:solidFill>
                  <a:srgbClr val="FFFFFF"/>
                </a:solidFill>
                <a:latin typeface="Calibri" pitchFamily="34" charset="0"/>
                <a:ea typeface="Calibri" pitchFamily="34" charset="-122"/>
                <a:cs typeface="Calibri" pitchFamily="34" charset="-120"/>
              </a:rPr>
              <a:t>ROZWIĄZANIA</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500"/>
                                        <p:tgtEl>
                                          <p:spTgt spid="7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5"/>
                                        </p:tgtEl>
                                        <p:attrNameLst>
                                          <p:attrName>style.visibility</p:attrName>
                                        </p:attrNameLst>
                                      </p:cBhvr>
                                      <p:to>
                                        <p:strVal val="visible"/>
                                      </p:to>
                                    </p:set>
                                    <p:animEffect transition="in" filter="fade">
                                      <p:cBhvr>
                                        <p:cTn id="12" dur="500"/>
                                        <p:tgtEl>
                                          <p:spTgt spid="75"/>
                                        </p:tgtEl>
                                      </p:cBhvr>
                                    </p:animEffect>
                                    <p:anim calcmode="lin" valueType="num">
                                      <p:cBhvr>
                                        <p:cTn id="13" dur="500" fill="hold"/>
                                        <p:tgtEl>
                                          <p:spTgt spid="75"/>
                                        </p:tgtEl>
                                        <p:attrNameLst>
                                          <p:attrName>ppt_x</p:attrName>
                                        </p:attrNameLst>
                                      </p:cBhvr>
                                      <p:tavLst>
                                        <p:tav tm="0">
                                          <p:val>
                                            <p:strVal val="#ppt_x"/>
                                          </p:val>
                                        </p:tav>
                                        <p:tav tm="100000">
                                          <p:val>
                                            <p:strVal val="#ppt_x"/>
                                          </p:val>
                                        </p:tav>
                                      </p:tavLst>
                                    </p:anim>
                                    <p:anim calcmode="lin" valueType="num">
                                      <p:cBhvr>
                                        <p:cTn id="14" dur="500" fill="hold"/>
                                        <p:tgtEl>
                                          <p:spTgt spid="7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anim calcmode="lin" valueType="num">
                                      <p:cBhvr>
                                        <p:cTn id="20" dur="500" fill="hold"/>
                                        <p:tgtEl>
                                          <p:spTgt spid="36"/>
                                        </p:tgtEl>
                                        <p:attrNameLst>
                                          <p:attrName>ppt_x</p:attrName>
                                        </p:attrNameLst>
                                      </p:cBhvr>
                                      <p:tavLst>
                                        <p:tav tm="0">
                                          <p:val>
                                            <p:strVal val="#ppt_x"/>
                                          </p:val>
                                        </p:tav>
                                        <p:tav tm="100000">
                                          <p:val>
                                            <p:strVal val="#ppt_x"/>
                                          </p:val>
                                        </p:tav>
                                      </p:tavLst>
                                    </p:anim>
                                    <p:anim calcmode="lin" valueType="num">
                                      <p:cBhvr>
                                        <p:cTn id="21" dur="5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AE4A57"/>
          </a:solidFill>
          <a:ln w="12700">
            <a:solidFill>
              <a:srgbClr val="AE4A57"/>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IV · RYZYKO I NIEPEWNOŚĆ</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Ryzyko kontra niejednoznaczność</a:t>
            </a:r>
            <a:endParaRPr lang="en-US" sz="2400" dirty="0"/>
          </a:p>
        </p:txBody>
      </p:sp>
      <p:sp>
        <p:nvSpPr>
          <p:cNvPr id="5" name="Shape 3"/>
          <p:cNvSpPr/>
          <p:nvPr/>
        </p:nvSpPr>
        <p:spPr>
          <a:xfrm>
            <a:off x="516636" y="1691640"/>
            <a:ext cx="4206240" cy="337362"/>
          </a:xfrm>
          <a:prstGeom prst="roundRect">
            <a:avLst>
              <a:gd name="adj" fmla="val 14286"/>
            </a:avLst>
          </a:prstGeom>
          <a:solidFill>
            <a:srgbClr val="EDF1F7"/>
          </a:solidFill>
          <a:ln w="12700">
            <a:solidFill>
              <a:srgbClr val="E1E4EA"/>
            </a:solidFill>
            <a:prstDash val="solid"/>
          </a:ln>
        </p:spPr>
        <p:txBody>
          <a:bodyPr anchor="ctr"/>
          <a:lstStyle/>
          <a:p>
            <a:r>
              <a:rPr lang="pl-PL" sz="1400" b="1" dirty="0" smtClean="0">
                <a:solidFill>
                  <a:srgbClr val="16243F"/>
                </a:solidFill>
                <a:latin typeface="Calibri" pitchFamily="34" charset="0"/>
                <a:ea typeface="Calibri" pitchFamily="34" charset="-122"/>
                <a:cs typeface="Calibri" pitchFamily="34" charset="-120"/>
              </a:rPr>
              <a:t>Którą loterię wybierasz?</a:t>
            </a:r>
            <a:endParaRPr lang="pl-PL" sz="1400" dirty="0"/>
          </a:p>
        </p:txBody>
      </p:sp>
      <p:grpSp>
        <p:nvGrpSpPr>
          <p:cNvPr id="32" name="Grupa 31"/>
          <p:cNvGrpSpPr/>
          <p:nvPr/>
        </p:nvGrpSpPr>
        <p:grpSpPr>
          <a:xfrm>
            <a:off x="516636" y="2121408"/>
            <a:ext cx="4206240" cy="457200"/>
            <a:chOff x="457200" y="1627632"/>
            <a:chExt cx="4206240" cy="457200"/>
          </a:xfrm>
        </p:grpSpPr>
        <p:sp>
          <p:nvSpPr>
            <p:cNvPr id="7" name="Shape 5"/>
            <p:cNvSpPr/>
            <p:nvPr/>
          </p:nvSpPr>
          <p:spPr>
            <a:xfrm>
              <a:off x="457200" y="1627632"/>
              <a:ext cx="4206240" cy="457200"/>
            </a:xfrm>
            <a:prstGeom prst="roundRect">
              <a:avLst>
                <a:gd name="adj" fmla="val 12000"/>
              </a:avLst>
            </a:prstGeom>
            <a:solidFill>
              <a:srgbClr val="FFFFFF"/>
            </a:solidFill>
            <a:ln w="12700">
              <a:solidFill>
                <a:srgbClr val="E1E4EA"/>
              </a:solidFill>
              <a:prstDash val="solid"/>
            </a:ln>
          </p:spPr>
        </p:sp>
        <p:sp>
          <p:nvSpPr>
            <p:cNvPr id="8" name="Shape 6"/>
            <p:cNvSpPr/>
            <p:nvPr/>
          </p:nvSpPr>
          <p:spPr>
            <a:xfrm>
              <a:off x="548640" y="1737360"/>
              <a:ext cx="237744" cy="237744"/>
            </a:xfrm>
            <a:prstGeom prst="ellipse">
              <a:avLst/>
            </a:prstGeom>
            <a:solidFill>
              <a:srgbClr val="EDF1F7"/>
            </a:solidFill>
            <a:ln w="12700">
              <a:solidFill>
                <a:srgbClr val="16243F"/>
              </a:solidFill>
              <a:prstDash val="solid"/>
            </a:ln>
          </p:spPr>
        </p:sp>
        <p:sp>
          <p:nvSpPr>
            <p:cNvPr id="9" name="Text 7"/>
            <p:cNvSpPr/>
            <p:nvPr/>
          </p:nvSpPr>
          <p:spPr>
            <a:xfrm>
              <a:off x="548640" y="1737360"/>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0" name="Text 8"/>
            <p:cNvSpPr/>
            <p:nvPr/>
          </p:nvSpPr>
          <p:spPr>
            <a:xfrm>
              <a:off x="859536" y="1627632"/>
              <a:ext cx="3694176" cy="4572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Dokładnie 30% szans na wygraną</a:t>
              </a:r>
              <a:endParaRPr lang="en-US" sz="1200" dirty="0"/>
            </a:p>
          </p:txBody>
        </p:sp>
      </p:grpSp>
      <p:grpSp>
        <p:nvGrpSpPr>
          <p:cNvPr id="31" name="Grupa 30"/>
          <p:cNvGrpSpPr/>
          <p:nvPr/>
        </p:nvGrpSpPr>
        <p:grpSpPr>
          <a:xfrm>
            <a:off x="516636" y="2633472"/>
            <a:ext cx="4206240" cy="457200"/>
            <a:chOff x="457200" y="2176272"/>
            <a:chExt cx="4206240" cy="457200"/>
          </a:xfrm>
        </p:grpSpPr>
        <p:sp>
          <p:nvSpPr>
            <p:cNvPr id="11" name="Shape 9"/>
            <p:cNvSpPr/>
            <p:nvPr/>
          </p:nvSpPr>
          <p:spPr>
            <a:xfrm>
              <a:off x="457200" y="2176272"/>
              <a:ext cx="4206240" cy="457200"/>
            </a:xfrm>
            <a:prstGeom prst="roundRect">
              <a:avLst>
                <a:gd name="adj" fmla="val 12000"/>
              </a:avLst>
            </a:prstGeom>
            <a:solidFill>
              <a:srgbClr val="FFFFFF"/>
            </a:solidFill>
            <a:ln w="12700">
              <a:solidFill>
                <a:srgbClr val="E1E4EA"/>
              </a:solidFill>
              <a:prstDash val="solid"/>
            </a:ln>
          </p:spPr>
        </p:sp>
        <p:sp>
          <p:nvSpPr>
            <p:cNvPr id="12" name="Shape 10"/>
            <p:cNvSpPr/>
            <p:nvPr/>
          </p:nvSpPr>
          <p:spPr>
            <a:xfrm>
              <a:off x="548640" y="2286000"/>
              <a:ext cx="237744" cy="237744"/>
            </a:xfrm>
            <a:prstGeom prst="ellipse">
              <a:avLst/>
            </a:prstGeom>
            <a:solidFill>
              <a:srgbClr val="EDF1F7"/>
            </a:solidFill>
            <a:ln w="12700">
              <a:solidFill>
                <a:srgbClr val="16243F"/>
              </a:solidFill>
              <a:prstDash val="solid"/>
            </a:ln>
          </p:spPr>
        </p:sp>
        <p:sp>
          <p:nvSpPr>
            <p:cNvPr id="13" name="Text 11"/>
            <p:cNvSpPr/>
            <p:nvPr/>
          </p:nvSpPr>
          <p:spPr>
            <a:xfrm>
              <a:off x="548640" y="2286000"/>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4" name="Text 12"/>
            <p:cNvSpPr/>
            <p:nvPr/>
          </p:nvSpPr>
          <p:spPr>
            <a:xfrm>
              <a:off x="859536" y="2176272"/>
              <a:ext cx="3694176" cy="457200"/>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Nieznana szansa, prawdopodobnie między 10% a 50%</a:t>
              </a:r>
              <a:endParaRPr lang="en-US" sz="1200" dirty="0"/>
            </a:p>
          </p:txBody>
        </p:sp>
      </p:grpSp>
      <p:sp>
        <p:nvSpPr>
          <p:cNvPr id="17" name="Shape 15"/>
          <p:cNvSpPr/>
          <p:nvPr/>
        </p:nvSpPr>
        <p:spPr>
          <a:xfrm>
            <a:off x="7406640" y="4041648"/>
            <a:ext cx="1280160" cy="914400"/>
          </a:xfrm>
          <a:prstGeom prst="roundRect">
            <a:avLst>
              <a:gd name="adj" fmla="val 6000"/>
            </a:avLst>
          </a:prstGeom>
          <a:solidFill>
            <a:srgbClr val="EDF1F7"/>
          </a:solidFill>
          <a:ln w="12700">
            <a:solidFill>
              <a:srgbClr val="E1E4EA"/>
            </a:solidFill>
            <a:prstDash val="solid"/>
          </a:ln>
        </p:spPr>
      </p:sp>
      <p:sp>
        <p:nvSpPr>
          <p:cNvPr id="18" name="Shape 16"/>
          <p:cNvSpPr/>
          <p:nvPr/>
        </p:nvSpPr>
        <p:spPr>
          <a:xfrm>
            <a:off x="7516368" y="4133088"/>
            <a:ext cx="365760" cy="365760"/>
          </a:xfrm>
          <a:prstGeom prst="rect">
            <a:avLst/>
          </a:prstGeom>
          <a:solidFill>
            <a:srgbClr val="FFFFFF"/>
          </a:solidFill>
          <a:ln w="19050">
            <a:solidFill>
              <a:srgbClr val="16243F"/>
            </a:solidFill>
            <a:prstDash val="solid"/>
          </a:ln>
        </p:spPr>
      </p:sp>
      <p:sp>
        <p:nvSpPr>
          <p:cNvPr id="19" name="Shape 17"/>
          <p:cNvSpPr/>
          <p:nvPr/>
        </p:nvSpPr>
        <p:spPr>
          <a:xfrm>
            <a:off x="7543800" y="4160520"/>
            <a:ext cx="82296" cy="82296"/>
          </a:xfrm>
          <a:prstGeom prst="rect">
            <a:avLst/>
          </a:prstGeom>
          <a:solidFill>
            <a:srgbClr val="16243F"/>
          </a:solidFill>
          <a:ln w="12700">
            <a:solidFill>
              <a:srgbClr val="16243F"/>
            </a:solidFill>
            <a:prstDash val="solid"/>
          </a:ln>
        </p:spPr>
      </p:sp>
      <p:sp>
        <p:nvSpPr>
          <p:cNvPr id="20" name="Shape 18"/>
          <p:cNvSpPr/>
          <p:nvPr/>
        </p:nvSpPr>
        <p:spPr>
          <a:xfrm>
            <a:off x="7543800" y="4361688"/>
            <a:ext cx="82296" cy="82296"/>
          </a:xfrm>
          <a:prstGeom prst="rect">
            <a:avLst/>
          </a:prstGeom>
          <a:solidFill>
            <a:srgbClr val="16243F"/>
          </a:solidFill>
          <a:ln w="12700">
            <a:solidFill>
              <a:srgbClr val="16243F"/>
            </a:solidFill>
            <a:prstDash val="solid"/>
          </a:ln>
        </p:spPr>
      </p:sp>
      <p:sp>
        <p:nvSpPr>
          <p:cNvPr id="21" name="Shape 19"/>
          <p:cNvSpPr/>
          <p:nvPr/>
        </p:nvSpPr>
        <p:spPr>
          <a:xfrm>
            <a:off x="7644384" y="4261104"/>
            <a:ext cx="82296" cy="82296"/>
          </a:xfrm>
          <a:prstGeom prst="rect">
            <a:avLst/>
          </a:prstGeom>
          <a:solidFill>
            <a:srgbClr val="16243F"/>
          </a:solidFill>
          <a:ln w="12700">
            <a:solidFill>
              <a:srgbClr val="16243F"/>
            </a:solidFill>
            <a:prstDash val="solid"/>
          </a:ln>
        </p:spPr>
      </p:sp>
      <p:sp>
        <p:nvSpPr>
          <p:cNvPr id="22" name="Shape 20"/>
          <p:cNvSpPr/>
          <p:nvPr/>
        </p:nvSpPr>
        <p:spPr>
          <a:xfrm>
            <a:off x="7744968" y="4160520"/>
            <a:ext cx="82296" cy="82296"/>
          </a:xfrm>
          <a:prstGeom prst="rect">
            <a:avLst/>
          </a:prstGeom>
          <a:solidFill>
            <a:srgbClr val="16243F"/>
          </a:solidFill>
          <a:ln w="12700">
            <a:solidFill>
              <a:srgbClr val="16243F"/>
            </a:solidFill>
            <a:prstDash val="solid"/>
          </a:ln>
        </p:spPr>
      </p:sp>
      <p:sp>
        <p:nvSpPr>
          <p:cNvPr id="23" name="Shape 21"/>
          <p:cNvSpPr/>
          <p:nvPr/>
        </p:nvSpPr>
        <p:spPr>
          <a:xfrm>
            <a:off x="7744968" y="4361688"/>
            <a:ext cx="82296" cy="82296"/>
          </a:xfrm>
          <a:prstGeom prst="rect">
            <a:avLst/>
          </a:prstGeom>
          <a:solidFill>
            <a:srgbClr val="16243F"/>
          </a:solidFill>
          <a:ln w="12700">
            <a:solidFill>
              <a:srgbClr val="16243F"/>
            </a:solidFill>
            <a:prstDash val="solid"/>
          </a:ln>
        </p:spPr>
      </p:sp>
      <p:sp>
        <p:nvSpPr>
          <p:cNvPr id="24" name="Text 22"/>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25" name="Text 23"/>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30" name="Grupa 29"/>
          <p:cNvGrpSpPr/>
          <p:nvPr/>
        </p:nvGrpSpPr>
        <p:grpSpPr>
          <a:xfrm>
            <a:off x="5209082" y="1883664"/>
            <a:ext cx="3441142" cy="1797948"/>
            <a:chOff x="5245658" y="1691640"/>
            <a:chExt cx="3441142" cy="1797948"/>
          </a:xfrm>
        </p:grpSpPr>
        <p:sp>
          <p:nvSpPr>
            <p:cNvPr id="26" name="Shape 24"/>
            <p:cNvSpPr/>
            <p:nvPr/>
          </p:nvSpPr>
          <p:spPr>
            <a:xfrm>
              <a:off x="5245658" y="1691640"/>
              <a:ext cx="3441142" cy="1797948"/>
            </a:xfrm>
            <a:prstGeom prst="roundRect">
              <a:avLst>
                <a:gd name="adj" fmla="val 2449"/>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27" name="Text 25"/>
            <p:cNvSpPr/>
            <p:nvPr/>
          </p:nvSpPr>
          <p:spPr>
            <a:xfrm>
              <a:off x="5399908" y="1730737"/>
              <a:ext cx="3110608"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p:sp>
          <p:nvSpPr>
            <p:cNvPr id="28" name="Text 26"/>
            <p:cNvSpPr/>
            <p:nvPr/>
          </p:nvSpPr>
          <p:spPr>
            <a:xfrm>
              <a:off x="5392413" y="2016472"/>
              <a:ext cx="3256912" cy="1384995"/>
            </a:xfrm>
            <a:prstGeom prst="rect">
              <a:avLst/>
            </a:prstGeom>
            <a:noFill/>
            <a:ln/>
          </p:spPr>
          <p:txBody>
            <a:bodyPr wrap="square" lIns="0" tIns="0" rIns="0" bIns="0" rtlCol="0" anchor="t">
              <a:spAutoFit/>
            </a:bodyPr>
            <a:lstStyle/>
            <a:p>
              <a:pPr marL="0" indent="0">
                <a:buNone/>
              </a:pPr>
              <a:r>
                <a:rPr lang="pl-PL" sz="1200" dirty="0" smtClean="0">
                  <a:solidFill>
                    <a:srgbClr val="16243F"/>
                  </a:solidFill>
                  <a:latin typeface="Calibri" pitchFamily="34" charset="0"/>
                  <a:ea typeface="Calibri" pitchFamily="34" charset="-122"/>
                  <a:cs typeface="Calibri" pitchFamily="34" charset="-120"/>
                </a:rPr>
                <a:t>Obie opcje mają identyczną oczekiwaną wartość średniego prawdopodobieństwa (30%). Mimo to większość badanych preferuje opcję ze znaną wartością, a to </a:t>
              </a:r>
              <a:r>
                <a:rPr lang="pl-PL" sz="1200" dirty="0" err="1" smtClean="0">
                  <a:solidFill>
                    <a:srgbClr val="16243F"/>
                  </a:solidFill>
                  <a:latin typeface="Calibri" pitchFamily="34" charset="0"/>
                  <a:ea typeface="Calibri" pitchFamily="34" charset="-122"/>
                  <a:cs typeface="Calibri" pitchFamily="34" charset="-120"/>
                </a:rPr>
                <a:t>ambiguity</a:t>
              </a:r>
              <a:r>
                <a:rPr lang="pl-PL" sz="1200" dirty="0" smtClean="0">
                  <a:solidFill>
                    <a:srgbClr val="16243F"/>
                  </a:solidFill>
                  <a:latin typeface="Calibri" pitchFamily="34" charset="0"/>
                  <a:ea typeface="Calibri" pitchFamily="34" charset="-122"/>
                  <a:cs typeface="Calibri" pitchFamily="34" charset="-120"/>
                </a:rPr>
                <a:t> </a:t>
              </a:r>
              <a:r>
                <a:rPr lang="pl-PL" sz="1200" dirty="0" err="1" smtClean="0">
                  <a:solidFill>
                    <a:srgbClr val="16243F"/>
                  </a:solidFill>
                  <a:latin typeface="Calibri" pitchFamily="34" charset="0"/>
                  <a:ea typeface="Calibri" pitchFamily="34" charset="-122"/>
                  <a:cs typeface="Calibri" pitchFamily="34" charset="-120"/>
                </a:rPr>
                <a:t>aversion</a:t>
              </a:r>
              <a:r>
                <a:rPr lang="pl-PL" sz="1200" dirty="0" smtClean="0">
                  <a:solidFill>
                    <a:srgbClr val="16243F"/>
                  </a:solidFill>
                  <a:latin typeface="Calibri" pitchFamily="34" charset="0"/>
                  <a:ea typeface="Calibri" pitchFamily="34" charset="-122"/>
                  <a:cs typeface="Calibri" pitchFamily="34" charset="-120"/>
                </a:rPr>
                <a:t> (niechęć do niejednoznaczności) w czystej postaci.</a:t>
              </a:r>
              <a:endParaRPr lang="pl-PL" sz="1200" dirty="0" smtClean="0"/>
            </a:p>
            <a:p>
              <a:pPr marL="0" indent="0">
                <a:buNone/>
              </a:pPr>
              <a:endParaRPr lang="pl-PL" sz="600" dirty="0" smtClean="0"/>
            </a:p>
            <a:p>
              <a:pPr marL="0" indent="0">
                <a:buNone/>
              </a:pPr>
              <a:r>
                <a:rPr lang="pl-PL" sz="1200" dirty="0" smtClean="0">
                  <a:solidFill>
                    <a:srgbClr val="16243F"/>
                  </a:solidFill>
                  <a:latin typeface="Calibri" pitchFamily="34" charset="0"/>
                  <a:ea typeface="Calibri" pitchFamily="34" charset="-122"/>
                  <a:cs typeface="Calibri" pitchFamily="34" charset="-120"/>
                </a:rPr>
                <a:t>Warto porównać rozkład odpowiedzi z paradoksem </a:t>
              </a:r>
              <a:r>
                <a:rPr lang="pl-PL" sz="1200" dirty="0" err="1" smtClean="0">
                  <a:solidFill>
                    <a:srgbClr val="16243F"/>
                  </a:solidFill>
                  <a:latin typeface="Calibri" pitchFamily="34" charset="0"/>
                  <a:ea typeface="Calibri" pitchFamily="34" charset="-122"/>
                  <a:cs typeface="Calibri" pitchFamily="34" charset="-120"/>
                </a:rPr>
                <a:t>Ellsberga</a:t>
              </a:r>
              <a:r>
                <a:rPr lang="pl-PL" sz="1200" dirty="0" smtClean="0">
                  <a:solidFill>
                    <a:srgbClr val="16243F"/>
                  </a:solidFill>
                  <a:latin typeface="Calibri" pitchFamily="34" charset="0"/>
                  <a:ea typeface="Calibri" pitchFamily="34" charset="-122"/>
                  <a:cs typeface="Calibri" pitchFamily="34" charset="-120"/>
                </a:rPr>
                <a:t> (slajd 33): to samo zjawisko, inny format.</a:t>
              </a:r>
              <a:endParaRPr lang="pl-PL" sz="1200" dirty="0"/>
            </a:p>
          </p:txBody>
        </p:sp>
      </p:grpSp>
      <p:sp>
        <p:nvSpPr>
          <p:cNvPr id="29" name="Text 27"/>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34/40   ·   Blok IV</a:t>
            </a:r>
            <a:endParaRPr lang="en-US" sz="800" dirty="0"/>
          </a:p>
        </p:txBody>
      </p:sp>
      <p:sp>
        <p:nvSpPr>
          <p:cNvPr id="33" name="Shape 13"/>
          <p:cNvSpPr/>
          <p:nvPr/>
        </p:nvSpPr>
        <p:spPr>
          <a:xfrm>
            <a:off x="5209082" y="1693463"/>
            <a:ext cx="3441142" cy="125416"/>
          </a:xfrm>
          <a:prstGeom prst="roundRect">
            <a:avLst>
              <a:gd name="adj" fmla="val 17647"/>
            </a:avLst>
          </a:prstGeom>
          <a:solidFill>
            <a:srgbClr val="C07A35"/>
          </a:solidFill>
          <a:ln w="12700">
            <a:solidFill>
              <a:srgbClr val="C07A35"/>
            </a:solidFill>
            <a:prstDash val="solid"/>
          </a:ln>
        </p:spPr>
        <p:txBody>
          <a:bodyPr anchor="ctr"/>
          <a:lstStyle/>
          <a:p>
            <a:pPr algn="ctr"/>
            <a:r>
              <a:rPr lang="en-US" sz="900" b="1" dirty="0">
                <a:solidFill>
                  <a:srgbClr val="FFFFFF"/>
                </a:solidFill>
                <a:latin typeface="Calibri" pitchFamily="34" charset="0"/>
                <a:ea typeface="Calibri" pitchFamily="34" charset="-122"/>
                <a:cs typeface="Calibri" pitchFamily="34" charset="-120"/>
              </a:rPr>
              <a:t>ZAGŁOSUJ PRZED UJAWNIENIEM </a:t>
            </a:r>
            <a:r>
              <a:rPr lang="en-US" sz="900" b="1" dirty="0" smtClean="0">
                <a:solidFill>
                  <a:srgbClr val="FFFFFF"/>
                </a:solidFill>
                <a:latin typeface="Calibri" pitchFamily="34" charset="0"/>
                <a:ea typeface="Calibri" pitchFamily="34" charset="-122"/>
                <a:cs typeface="Calibri" pitchFamily="34" charset="-120"/>
              </a:rPr>
              <a:t>ROZWIĄZANIA</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anim calcmode="lin" valueType="num">
                                      <p:cBhvr>
                                        <p:cTn id="8" dur="500" fill="hold"/>
                                        <p:tgtEl>
                                          <p:spTgt spid="33"/>
                                        </p:tgtEl>
                                        <p:attrNameLst>
                                          <p:attrName>ppt_x</p:attrName>
                                        </p:attrNameLst>
                                      </p:cBhvr>
                                      <p:tavLst>
                                        <p:tav tm="0">
                                          <p:val>
                                            <p:strVal val="#ppt_x"/>
                                          </p:val>
                                        </p:tav>
                                        <p:tav tm="100000">
                                          <p:val>
                                            <p:strVal val="#ppt_x"/>
                                          </p:val>
                                        </p:tav>
                                      </p:tavLst>
                                    </p:anim>
                                    <p:anim calcmode="lin" valueType="num">
                                      <p:cBhvr>
                                        <p:cTn id="9" dur="5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500"/>
                                        <p:tgtEl>
                                          <p:spTgt spid="30"/>
                                        </p:tgtEl>
                                      </p:cBhvr>
                                    </p:animEffect>
                                    <p:anim calcmode="lin" valueType="num">
                                      <p:cBhvr>
                                        <p:cTn id="15" dur="500" fill="hold"/>
                                        <p:tgtEl>
                                          <p:spTgt spid="30"/>
                                        </p:tgtEl>
                                        <p:attrNameLst>
                                          <p:attrName>ppt_x</p:attrName>
                                        </p:attrNameLst>
                                      </p:cBhvr>
                                      <p:tavLst>
                                        <p:tav tm="0">
                                          <p:val>
                                            <p:strVal val="#ppt_x"/>
                                          </p:val>
                                        </p:tav>
                                        <p:tav tm="100000">
                                          <p:val>
                                            <p:strVal val="#ppt_x"/>
                                          </p:val>
                                        </p:tav>
                                      </p:tavLst>
                                    </p:anim>
                                    <p:anim calcmode="lin" valueType="num">
                                      <p:cBhvr>
                                        <p:cTn id="16" dur="5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AE4A57"/>
          </a:solidFill>
          <a:ln w="12700">
            <a:solidFill>
              <a:srgbClr val="AE4A57"/>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IV · RYZYKO I NIEPEWNOŚĆ</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Efekt ramowania </a:t>
            </a:r>
            <a:r>
              <a:rPr lang="en-US" sz="2400" dirty="0">
                <a:solidFill>
                  <a:srgbClr val="16243F"/>
                </a:solidFill>
                <a:latin typeface="Cambria" pitchFamily="34" charset="0"/>
                <a:ea typeface="Cambria" pitchFamily="34" charset="-122"/>
                <a:cs typeface="Cambria" pitchFamily="34" charset="-120"/>
              </a:rPr>
              <a:t>(framing effect)</a:t>
            </a:r>
            <a:endParaRPr lang="en-US" sz="2400" dirty="0"/>
          </a:p>
        </p:txBody>
      </p:sp>
      <p:sp>
        <p:nvSpPr>
          <p:cNvPr id="5" name="Text 3"/>
          <p:cNvSpPr/>
          <p:nvPr/>
        </p:nvSpPr>
        <p:spPr>
          <a:xfrm>
            <a:off x="470916" y="1265589"/>
            <a:ext cx="8229600" cy="320040"/>
          </a:xfrm>
          <a:prstGeom prst="rect">
            <a:avLst/>
          </a:prstGeom>
          <a:noFill/>
          <a:ln/>
        </p:spPr>
        <p:txBody>
          <a:bodyPr wrap="square" lIns="0" tIns="0" rIns="0" bIns="0" rtlCol="0" anchor="ctr"/>
          <a:lstStyle/>
          <a:p>
            <a:pPr marL="0" indent="0">
              <a:buNone/>
            </a:pPr>
            <a:r>
              <a:rPr lang="en-US" sz="1600" dirty="0">
                <a:solidFill>
                  <a:srgbClr val="2B2D33"/>
                </a:solidFill>
                <a:latin typeface="Calibri" pitchFamily="34" charset="0"/>
                <a:ea typeface="Calibri" pitchFamily="34" charset="-122"/>
                <a:cs typeface="Calibri" pitchFamily="34" charset="-120"/>
              </a:rPr>
              <a:t>Choroba zagraża 600 osobom. Dostępny jest program interwencji.</a:t>
            </a:r>
            <a:endParaRPr lang="en-US" sz="1600" dirty="0"/>
          </a:p>
        </p:txBody>
      </p:sp>
      <p:sp>
        <p:nvSpPr>
          <p:cNvPr id="6" name="Shape 4"/>
          <p:cNvSpPr/>
          <p:nvPr/>
        </p:nvSpPr>
        <p:spPr>
          <a:xfrm>
            <a:off x="457200" y="1783080"/>
            <a:ext cx="4023360" cy="1527048"/>
          </a:xfrm>
          <a:prstGeom prst="roundRect">
            <a:avLst>
              <a:gd name="adj" fmla="val 3158"/>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7" name="Text 5"/>
          <p:cNvSpPr/>
          <p:nvPr/>
        </p:nvSpPr>
        <p:spPr>
          <a:xfrm>
            <a:off x="640080" y="1901952"/>
            <a:ext cx="3657600" cy="274320"/>
          </a:xfrm>
          <a:prstGeom prst="rect">
            <a:avLst/>
          </a:prstGeom>
          <a:noFill/>
          <a:ln/>
        </p:spPr>
        <p:txBody>
          <a:bodyPr wrap="square" lIns="0" tIns="0" rIns="0" bIns="0" rtlCol="0" anchor="ctr"/>
          <a:lstStyle/>
          <a:p>
            <a:pPr marL="0" indent="0">
              <a:buNone/>
            </a:pPr>
            <a:r>
              <a:rPr lang="en-US" b="1" dirty="0">
                <a:solidFill>
                  <a:srgbClr val="0F6E6E"/>
                </a:solidFill>
                <a:latin typeface="Cambria" pitchFamily="34" charset="0"/>
                <a:ea typeface="Cambria" pitchFamily="34" charset="-122"/>
                <a:cs typeface="Cambria" pitchFamily="34" charset="-120"/>
              </a:rPr>
              <a:t>Grupa A </a:t>
            </a:r>
            <a:r>
              <a:rPr lang="en-US" b="1" dirty="0" smtClean="0">
                <a:solidFill>
                  <a:srgbClr val="0F6E6E"/>
                </a:solidFill>
                <a:latin typeface="Cambria" pitchFamily="34" charset="0"/>
                <a:ea typeface="Cambria" pitchFamily="34" charset="-122"/>
                <a:cs typeface="Cambria" pitchFamily="34" charset="-120"/>
              </a:rPr>
              <a:t>- </a:t>
            </a:r>
            <a:r>
              <a:rPr lang="en-US" b="1" dirty="0">
                <a:solidFill>
                  <a:srgbClr val="0F6E6E"/>
                </a:solidFill>
                <a:latin typeface="Cambria" pitchFamily="34" charset="0"/>
                <a:ea typeface="Cambria" pitchFamily="34" charset="-122"/>
                <a:cs typeface="Cambria" pitchFamily="34" charset="-120"/>
              </a:rPr>
              <a:t>rama zysku</a:t>
            </a:r>
            <a:endParaRPr lang="en-US" dirty="0"/>
          </a:p>
        </p:txBody>
      </p:sp>
      <p:sp>
        <p:nvSpPr>
          <p:cNvPr id="8" name="Text 6"/>
          <p:cNvSpPr/>
          <p:nvPr/>
        </p:nvSpPr>
        <p:spPr>
          <a:xfrm>
            <a:off x="640080" y="2240280"/>
            <a:ext cx="3657600" cy="886968"/>
          </a:xfrm>
          <a:prstGeom prst="rect">
            <a:avLst/>
          </a:prstGeom>
          <a:noFill/>
          <a:ln/>
        </p:spPr>
        <p:txBody>
          <a:bodyPr wrap="square" lIns="0" tIns="0" rIns="0" bIns="0" rtlCol="0" anchor="ctr"/>
          <a:lstStyle/>
          <a:p>
            <a:r>
              <a:rPr lang="pl-PL" sz="1400" b="1" dirty="0">
                <a:solidFill>
                  <a:srgbClr val="2B2D33"/>
                </a:solidFill>
                <a:latin typeface="Calibri" pitchFamily="34" charset="0"/>
                <a:ea typeface="Calibri" pitchFamily="34" charset="-122"/>
                <a:cs typeface="Calibri" pitchFamily="34" charset="-120"/>
              </a:rPr>
              <a:t>Program X: </a:t>
            </a:r>
            <a:r>
              <a:rPr lang="pl-PL" sz="1400" dirty="0">
                <a:solidFill>
                  <a:srgbClr val="2B2D33"/>
                </a:solidFill>
                <a:latin typeface="Calibri" pitchFamily="34" charset="0"/>
                <a:ea typeface="Calibri" pitchFamily="34" charset="-122"/>
                <a:cs typeface="Calibri" pitchFamily="34" charset="-120"/>
              </a:rPr>
              <a:t>uratuje dokładnie 200 osób</a:t>
            </a:r>
          </a:p>
          <a:p>
            <a:r>
              <a:rPr lang="pl-PL" sz="1400" b="1" dirty="0">
                <a:solidFill>
                  <a:srgbClr val="2B2D33"/>
                </a:solidFill>
                <a:latin typeface="Calibri" pitchFamily="34" charset="0"/>
                <a:ea typeface="Calibri" pitchFamily="34" charset="-122"/>
                <a:cs typeface="Calibri" pitchFamily="34" charset="-120"/>
              </a:rPr>
              <a:t>Program Y: </a:t>
            </a:r>
            <a:r>
              <a:rPr lang="pl-PL" sz="1400" dirty="0">
                <a:solidFill>
                  <a:srgbClr val="2B2D33"/>
                </a:solidFill>
                <a:latin typeface="Calibri" pitchFamily="34" charset="0"/>
                <a:ea typeface="Calibri" pitchFamily="34" charset="-122"/>
                <a:cs typeface="Calibri" pitchFamily="34" charset="-120"/>
              </a:rPr>
              <a:t>1/3 szans uratować 600 osób, </a:t>
            </a:r>
            <a:br>
              <a:rPr lang="pl-PL" sz="1400" dirty="0">
                <a:solidFill>
                  <a:srgbClr val="2B2D33"/>
                </a:solidFill>
                <a:latin typeface="Calibri" pitchFamily="34" charset="0"/>
                <a:ea typeface="Calibri" pitchFamily="34" charset="-122"/>
                <a:cs typeface="Calibri" pitchFamily="34" charset="-120"/>
              </a:rPr>
            </a:br>
            <a:r>
              <a:rPr lang="pl-PL" sz="1400" dirty="0">
                <a:solidFill>
                  <a:srgbClr val="2B2D33"/>
                </a:solidFill>
                <a:latin typeface="Calibri" pitchFamily="34" charset="0"/>
                <a:ea typeface="Calibri" pitchFamily="34" charset="-122"/>
                <a:cs typeface="Calibri" pitchFamily="34" charset="-120"/>
              </a:rPr>
              <a:t>2/3 szans, że nikt nie zostanie uratowany</a:t>
            </a:r>
            <a:endParaRPr lang="pl-PL" sz="1400" dirty="0">
              <a:solidFill>
                <a:srgbClr val="2B2D33"/>
              </a:solidFill>
              <a:latin typeface="Calibri" pitchFamily="34" charset="0"/>
              <a:ea typeface="Calibri" pitchFamily="34" charset="-122"/>
              <a:cs typeface="Calibri" pitchFamily="34" charset="-120"/>
            </a:endParaRPr>
          </a:p>
        </p:txBody>
      </p:sp>
      <p:sp>
        <p:nvSpPr>
          <p:cNvPr id="9" name="Shape 7"/>
          <p:cNvSpPr/>
          <p:nvPr/>
        </p:nvSpPr>
        <p:spPr>
          <a:xfrm>
            <a:off x="4663440" y="1783080"/>
            <a:ext cx="4023360" cy="1527048"/>
          </a:xfrm>
          <a:prstGeom prst="roundRect">
            <a:avLst>
              <a:gd name="adj" fmla="val 3158"/>
            </a:avLst>
          </a:prstGeom>
          <a:solidFill>
            <a:srgbClr val="FFFFFF"/>
          </a:solidFill>
          <a:ln w="12700">
            <a:solidFill>
              <a:srgbClr val="AE4A57"/>
            </a:solidFill>
            <a:prstDash val="solid"/>
          </a:ln>
          <a:effectLst>
            <a:outerShdw blurRad="88900" dist="25400" dir="5400000" algn="bl" rotWithShape="0">
              <a:srgbClr val="000000">
                <a:alpha val="10000"/>
              </a:srgbClr>
            </a:outerShdw>
          </a:effectLst>
        </p:spPr>
      </p:sp>
      <p:sp>
        <p:nvSpPr>
          <p:cNvPr id="10" name="Text 8"/>
          <p:cNvSpPr/>
          <p:nvPr/>
        </p:nvSpPr>
        <p:spPr>
          <a:xfrm>
            <a:off x="4846320" y="1901952"/>
            <a:ext cx="3657600" cy="274320"/>
          </a:xfrm>
          <a:prstGeom prst="rect">
            <a:avLst/>
          </a:prstGeom>
          <a:noFill/>
          <a:ln/>
        </p:spPr>
        <p:txBody>
          <a:bodyPr wrap="square" lIns="0" tIns="0" rIns="0" bIns="0" rtlCol="0" anchor="ctr"/>
          <a:lstStyle/>
          <a:p>
            <a:pPr marL="0" indent="0">
              <a:buNone/>
            </a:pPr>
            <a:r>
              <a:rPr lang="en-US" b="1" dirty="0">
                <a:solidFill>
                  <a:srgbClr val="AE4A57"/>
                </a:solidFill>
                <a:latin typeface="Cambria" pitchFamily="34" charset="0"/>
                <a:ea typeface="Cambria" pitchFamily="34" charset="-122"/>
                <a:cs typeface="Cambria" pitchFamily="34" charset="-120"/>
              </a:rPr>
              <a:t>Grupa B </a:t>
            </a:r>
            <a:r>
              <a:rPr lang="en-US" b="1" dirty="0" smtClean="0">
                <a:solidFill>
                  <a:srgbClr val="AE4A57"/>
                </a:solidFill>
                <a:latin typeface="Cambria" pitchFamily="34" charset="0"/>
                <a:ea typeface="Cambria" pitchFamily="34" charset="-122"/>
                <a:cs typeface="Cambria" pitchFamily="34" charset="-120"/>
              </a:rPr>
              <a:t>- </a:t>
            </a:r>
            <a:r>
              <a:rPr lang="en-US" b="1" dirty="0">
                <a:solidFill>
                  <a:srgbClr val="AE4A57"/>
                </a:solidFill>
                <a:latin typeface="Cambria" pitchFamily="34" charset="0"/>
                <a:ea typeface="Cambria" pitchFamily="34" charset="-122"/>
                <a:cs typeface="Cambria" pitchFamily="34" charset="-120"/>
              </a:rPr>
              <a:t>rama straty</a:t>
            </a:r>
            <a:endParaRPr lang="en-US" dirty="0"/>
          </a:p>
        </p:txBody>
      </p:sp>
      <p:sp>
        <p:nvSpPr>
          <p:cNvPr id="11" name="Text 9"/>
          <p:cNvSpPr/>
          <p:nvPr/>
        </p:nvSpPr>
        <p:spPr>
          <a:xfrm>
            <a:off x="4846320" y="2240280"/>
            <a:ext cx="3657600" cy="886968"/>
          </a:xfrm>
          <a:prstGeom prst="rect">
            <a:avLst/>
          </a:prstGeom>
          <a:noFill/>
          <a:ln/>
        </p:spPr>
        <p:txBody>
          <a:bodyPr wrap="square" lIns="0" tIns="0" rIns="0" bIns="0" rtlCol="0" anchor="ctr"/>
          <a:lstStyle/>
          <a:p>
            <a:r>
              <a:rPr lang="pl-PL" sz="1400" b="1" dirty="0">
                <a:solidFill>
                  <a:srgbClr val="2B2D33"/>
                </a:solidFill>
                <a:latin typeface="Calibri" pitchFamily="34" charset="0"/>
                <a:ea typeface="Calibri" pitchFamily="34" charset="-122"/>
                <a:cs typeface="Calibri" pitchFamily="34" charset="-120"/>
              </a:rPr>
              <a:t>Program X: </a:t>
            </a:r>
            <a:r>
              <a:rPr lang="pl-PL" sz="1400" dirty="0">
                <a:solidFill>
                  <a:srgbClr val="2B2D33"/>
                </a:solidFill>
                <a:latin typeface="Calibri" pitchFamily="34" charset="0"/>
                <a:ea typeface="Calibri" pitchFamily="34" charset="-122"/>
                <a:cs typeface="Calibri" pitchFamily="34" charset="-120"/>
              </a:rPr>
              <a:t>dokładnie 400 osób umrze</a:t>
            </a:r>
          </a:p>
          <a:p>
            <a:r>
              <a:rPr lang="pl-PL" sz="1400" b="1" dirty="0">
                <a:solidFill>
                  <a:srgbClr val="2B2D33"/>
                </a:solidFill>
                <a:latin typeface="Calibri" pitchFamily="34" charset="0"/>
                <a:ea typeface="Calibri" pitchFamily="34" charset="-122"/>
                <a:cs typeface="Calibri" pitchFamily="34" charset="-120"/>
              </a:rPr>
              <a:t>Program Y: </a:t>
            </a:r>
            <a:r>
              <a:rPr lang="pl-PL" sz="1400" dirty="0">
                <a:solidFill>
                  <a:srgbClr val="2B2D33"/>
                </a:solidFill>
                <a:latin typeface="Calibri" pitchFamily="34" charset="0"/>
                <a:ea typeface="Calibri" pitchFamily="34" charset="-122"/>
                <a:cs typeface="Calibri" pitchFamily="34" charset="-120"/>
              </a:rPr>
              <a:t>1/3 szans, że nikt nie umrze, </a:t>
            </a:r>
            <a:br>
              <a:rPr lang="pl-PL" sz="1400" dirty="0">
                <a:solidFill>
                  <a:srgbClr val="2B2D33"/>
                </a:solidFill>
                <a:latin typeface="Calibri" pitchFamily="34" charset="0"/>
                <a:ea typeface="Calibri" pitchFamily="34" charset="-122"/>
                <a:cs typeface="Calibri" pitchFamily="34" charset="-120"/>
              </a:rPr>
            </a:br>
            <a:r>
              <a:rPr lang="pl-PL" sz="1400" dirty="0">
                <a:solidFill>
                  <a:srgbClr val="2B2D33"/>
                </a:solidFill>
                <a:latin typeface="Calibri" pitchFamily="34" charset="0"/>
                <a:ea typeface="Calibri" pitchFamily="34" charset="-122"/>
                <a:cs typeface="Calibri" pitchFamily="34" charset="-120"/>
              </a:rPr>
              <a:t>                     2/3 szans, że umrze 600 osób</a:t>
            </a:r>
            <a:endParaRPr lang="pl-PL" sz="1400" dirty="0">
              <a:solidFill>
                <a:srgbClr val="2B2D33"/>
              </a:solidFill>
              <a:latin typeface="Calibri" pitchFamily="34" charset="0"/>
              <a:ea typeface="Calibri" pitchFamily="34" charset="-122"/>
              <a:cs typeface="Calibri" pitchFamily="34" charset="-120"/>
            </a:endParaRPr>
          </a:p>
        </p:txBody>
      </p:sp>
      <p:sp>
        <p:nvSpPr>
          <p:cNvPr id="12" name="Shape 10"/>
          <p:cNvSpPr/>
          <p:nvPr/>
        </p:nvSpPr>
        <p:spPr>
          <a:xfrm>
            <a:off x="457200" y="3401568"/>
            <a:ext cx="8229600" cy="384048"/>
          </a:xfrm>
          <a:prstGeom prst="roundRect">
            <a:avLst>
              <a:gd name="adj" fmla="val 14286"/>
            </a:avLst>
          </a:prstGeom>
          <a:solidFill>
            <a:srgbClr val="EDF1F7"/>
          </a:solidFill>
          <a:ln w="12700">
            <a:solidFill>
              <a:srgbClr val="E1E4EA"/>
            </a:solidFill>
            <a:prstDash val="solid"/>
          </a:ln>
        </p:spPr>
      </p:sp>
      <p:sp>
        <p:nvSpPr>
          <p:cNvPr id="13" name="Text 11"/>
          <p:cNvSpPr/>
          <p:nvPr/>
        </p:nvSpPr>
        <p:spPr>
          <a:xfrm>
            <a:off x="630936" y="3401568"/>
            <a:ext cx="7909560" cy="384048"/>
          </a:xfrm>
          <a:prstGeom prst="rect">
            <a:avLst/>
          </a:prstGeom>
          <a:noFill/>
          <a:ln/>
        </p:spPr>
        <p:txBody>
          <a:bodyPr wrap="square" lIns="0" tIns="0" rIns="0" bIns="0" rtlCol="0" anchor="ctr"/>
          <a:lstStyle/>
          <a:p>
            <a:pPr marL="0" indent="0" algn="ctr">
              <a:buNone/>
            </a:pPr>
            <a:r>
              <a:rPr lang="en-US" sz="1600" dirty="0">
                <a:solidFill>
                  <a:srgbClr val="16243F"/>
                </a:solidFill>
                <a:latin typeface="Calibri" pitchFamily="34" charset="0"/>
                <a:ea typeface="Calibri" pitchFamily="34" charset="-122"/>
                <a:cs typeface="Calibri" pitchFamily="34" charset="-120"/>
              </a:rPr>
              <a:t>Głosuj: </a:t>
            </a:r>
            <a:r>
              <a:rPr lang="en-US" sz="1600" b="1" dirty="0">
                <a:solidFill>
                  <a:srgbClr val="16243F"/>
                </a:solidFill>
                <a:latin typeface="Calibri" pitchFamily="34" charset="0"/>
                <a:ea typeface="Calibri" pitchFamily="34" charset="-122"/>
                <a:cs typeface="Calibri" pitchFamily="34" charset="-120"/>
              </a:rPr>
              <a:t>Program X czy Program Y? </a:t>
            </a:r>
            <a:r>
              <a:rPr lang="en-US" sz="1400" i="1" dirty="0">
                <a:solidFill>
                  <a:srgbClr val="16243F"/>
                </a:solidFill>
                <a:latin typeface="Calibri" pitchFamily="34" charset="0"/>
                <a:ea typeface="Calibri" pitchFamily="34" charset="-122"/>
                <a:cs typeface="Calibri" pitchFamily="34" charset="-120"/>
              </a:rPr>
              <a:t>(odpowiedz zgodnie z wersją, którą właśnie przeczytałeś/aś)</a:t>
            </a:r>
            <a:endParaRPr lang="en-US" sz="1400" dirty="0"/>
          </a:p>
        </p:txBody>
      </p:sp>
      <p:sp>
        <p:nvSpPr>
          <p:cNvPr id="14" name="Shape 12"/>
          <p:cNvSpPr/>
          <p:nvPr/>
        </p:nvSpPr>
        <p:spPr>
          <a:xfrm>
            <a:off x="457200" y="4041648"/>
            <a:ext cx="4206240" cy="310896"/>
          </a:xfrm>
          <a:prstGeom prst="roundRect">
            <a:avLst>
              <a:gd name="adj" fmla="val 17647"/>
            </a:avLst>
          </a:prstGeom>
          <a:solidFill>
            <a:srgbClr val="C07A35"/>
          </a:solidFill>
          <a:ln w="12700">
            <a:solidFill>
              <a:srgbClr val="C07A35"/>
            </a:solidFill>
            <a:prstDash val="solid"/>
          </a:ln>
        </p:spPr>
      </p:sp>
      <p:sp>
        <p:nvSpPr>
          <p:cNvPr id="15" name="Text 13"/>
          <p:cNvSpPr/>
          <p:nvPr/>
        </p:nvSpPr>
        <p:spPr>
          <a:xfrm>
            <a:off x="457200" y="4041648"/>
            <a:ext cx="420624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ZAGŁOSUJ PRZED UJAWNIENIEM ROZWIĄZANIA</a:t>
            </a:r>
            <a:endParaRPr lang="en-US" sz="850" dirty="0"/>
          </a:p>
        </p:txBody>
      </p:sp>
      <p:sp>
        <p:nvSpPr>
          <p:cNvPr id="16" name="Shape 14"/>
          <p:cNvSpPr/>
          <p:nvPr/>
        </p:nvSpPr>
        <p:spPr>
          <a:xfrm>
            <a:off x="7406640" y="4041648"/>
            <a:ext cx="1280160" cy="701337"/>
          </a:xfrm>
          <a:prstGeom prst="roundRect">
            <a:avLst>
              <a:gd name="adj" fmla="val 6000"/>
            </a:avLst>
          </a:prstGeom>
          <a:solidFill>
            <a:srgbClr val="EDF1F7"/>
          </a:solidFill>
          <a:ln w="12700">
            <a:solidFill>
              <a:srgbClr val="E1E4EA"/>
            </a:solidFill>
            <a:prstDash val="solid"/>
          </a:ln>
        </p:spPr>
      </p:sp>
      <p:sp>
        <p:nvSpPr>
          <p:cNvPr id="17" name="Shape 15"/>
          <p:cNvSpPr/>
          <p:nvPr/>
        </p:nvSpPr>
        <p:spPr>
          <a:xfrm>
            <a:off x="7516368" y="4133088"/>
            <a:ext cx="365760" cy="365760"/>
          </a:xfrm>
          <a:prstGeom prst="rect">
            <a:avLst/>
          </a:prstGeom>
          <a:solidFill>
            <a:srgbClr val="FFFFFF"/>
          </a:solidFill>
          <a:ln w="19050">
            <a:solidFill>
              <a:srgbClr val="16243F"/>
            </a:solidFill>
            <a:prstDash val="solid"/>
          </a:ln>
        </p:spPr>
      </p:sp>
      <p:sp>
        <p:nvSpPr>
          <p:cNvPr id="18" name="Shape 16"/>
          <p:cNvSpPr/>
          <p:nvPr/>
        </p:nvSpPr>
        <p:spPr>
          <a:xfrm>
            <a:off x="7543800" y="4160520"/>
            <a:ext cx="82296" cy="82296"/>
          </a:xfrm>
          <a:prstGeom prst="rect">
            <a:avLst/>
          </a:prstGeom>
          <a:solidFill>
            <a:srgbClr val="16243F"/>
          </a:solidFill>
          <a:ln w="12700">
            <a:solidFill>
              <a:srgbClr val="16243F"/>
            </a:solidFill>
            <a:prstDash val="solid"/>
          </a:ln>
        </p:spPr>
      </p:sp>
      <p:sp>
        <p:nvSpPr>
          <p:cNvPr id="19" name="Shape 17"/>
          <p:cNvSpPr/>
          <p:nvPr/>
        </p:nvSpPr>
        <p:spPr>
          <a:xfrm>
            <a:off x="7543800" y="4361688"/>
            <a:ext cx="82296" cy="82296"/>
          </a:xfrm>
          <a:prstGeom prst="rect">
            <a:avLst/>
          </a:prstGeom>
          <a:solidFill>
            <a:srgbClr val="16243F"/>
          </a:solidFill>
          <a:ln w="12700">
            <a:solidFill>
              <a:srgbClr val="16243F"/>
            </a:solidFill>
            <a:prstDash val="solid"/>
          </a:ln>
        </p:spPr>
      </p:sp>
      <p:sp>
        <p:nvSpPr>
          <p:cNvPr id="20" name="Shape 18"/>
          <p:cNvSpPr/>
          <p:nvPr/>
        </p:nvSpPr>
        <p:spPr>
          <a:xfrm>
            <a:off x="7644384" y="4261104"/>
            <a:ext cx="82296" cy="82296"/>
          </a:xfrm>
          <a:prstGeom prst="rect">
            <a:avLst/>
          </a:prstGeom>
          <a:solidFill>
            <a:srgbClr val="16243F"/>
          </a:solidFill>
          <a:ln w="12700">
            <a:solidFill>
              <a:srgbClr val="16243F"/>
            </a:solidFill>
            <a:prstDash val="solid"/>
          </a:ln>
        </p:spPr>
      </p:sp>
      <p:sp>
        <p:nvSpPr>
          <p:cNvPr id="21" name="Shape 19"/>
          <p:cNvSpPr/>
          <p:nvPr/>
        </p:nvSpPr>
        <p:spPr>
          <a:xfrm>
            <a:off x="7744968" y="4160520"/>
            <a:ext cx="82296" cy="82296"/>
          </a:xfrm>
          <a:prstGeom prst="rect">
            <a:avLst/>
          </a:prstGeom>
          <a:solidFill>
            <a:srgbClr val="16243F"/>
          </a:solidFill>
          <a:ln w="12700">
            <a:solidFill>
              <a:srgbClr val="16243F"/>
            </a:solidFill>
            <a:prstDash val="solid"/>
          </a:ln>
        </p:spPr>
      </p:sp>
      <p:sp>
        <p:nvSpPr>
          <p:cNvPr id="22" name="Shape 20"/>
          <p:cNvSpPr/>
          <p:nvPr/>
        </p:nvSpPr>
        <p:spPr>
          <a:xfrm>
            <a:off x="7744968" y="4361688"/>
            <a:ext cx="82296" cy="82296"/>
          </a:xfrm>
          <a:prstGeom prst="rect">
            <a:avLst/>
          </a:prstGeom>
          <a:solidFill>
            <a:srgbClr val="16243F"/>
          </a:solidFill>
          <a:ln w="12700">
            <a:solidFill>
              <a:srgbClr val="16243F"/>
            </a:solidFill>
            <a:prstDash val="solid"/>
          </a:ln>
        </p:spPr>
      </p:sp>
      <p:sp>
        <p:nvSpPr>
          <p:cNvPr id="23" name="Text 21"/>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24" name="Text 22"/>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sp>
        <p:nvSpPr>
          <p:cNvPr id="25" name="Text 23"/>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35/40   ·   Blok IV</a:t>
            </a:r>
            <a:endParaRPr lang="en-US" sz="8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6B5B95"/>
          </a:solidFill>
          <a:ln w="12700">
            <a:solidFill>
              <a:srgbClr val="6B5B9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V · PRZYCZYNOWOŚĆ I GRY</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Eksperyment myślowy Hume'a: </a:t>
            </a:r>
            <a:r>
              <a:rPr lang="en-US" sz="2400" dirty="0">
                <a:solidFill>
                  <a:srgbClr val="16243F"/>
                </a:solidFill>
                <a:latin typeface="Cambria" pitchFamily="34" charset="0"/>
                <a:ea typeface="Cambria" pitchFamily="34" charset="-122"/>
                <a:cs typeface="Cambria" pitchFamily="34" charset="-120"/>
              </a:rPr>
              <a:t>przyczynowość</a:t>
            </a:r>
            <a:endParaRPr lang="en-US" sz="2400" dirty="0"/>
          </a:p>
        </p:txBody>
      </p:sp>
      <p:sp>
        <p:nvSpPr>
          <p:cNvPr id="5" name="Text 3"/>
          <p:cNvSpPr/>
          <p:nvPr/>
        </p:nvSpPr>
        <p:spPr>
          <a:xfrm>
            <a:off x="457200" y="1371600"/>
            <a:ext cx="8229600" cy="685800"/>
          </a:xfrm>
          <a:prstGeom prst="rect">
            <a:avLst/>
          </a:prstGeom>
          <a:noFill/>
          <a:ln/>
        </p:spPr>
        <p:txBody>
          <a:bodyPr wrap="square" lIns="0" tIns="0" rIns="0" bIns="0" rtlCol="0" anchor="ctr"/>
          <a:lstStyle/>
          <a:p>
            <a:pPr marL="0" indent="0">
              <a:buNone/>
            </a:pPr>
            <a:r>
              <a:rPr lang="en-US" sz="1400" dirty="0">
                <a:solidFill>
                  <a:srgbClr val="2B2D33"/>
                </a:solidFill>
                <a:latin typeface="Calibri" pitchFamily="34" charset="0"/>
                <a:ea typeface="Calibri" pitchFamily="34" charset="-122"/>
                <a:cs typeface="Calibri" pitchFamily="34" charset="-120"/>
              </a:rPr>
              <a:t>David Hume: obserwujemy zawsze tylko następstwo zdarzeń (A, potem B) </a:t>
            </a:r>
            <a:r>
              <a:rPr lang="en-US" sz="1400" dirty="0" smtClean="0">
                <a:solidFill>
                  <a:srgbClr val="2B2D33"/>
                </a:solidFill>
                <a:latin typeface="Calibri" pitchFamily="34" charset="0"/>
                <a:ea typeface="Calibri" pitchFamily="34" charset="-122"/>
                <a:cs typeface="Calibri" pitchFamily="34" charset="-120"/>
              </a:rPr>
              <a:t>- </a:t>
            </a:r>
            <a:r>
              <a:rPr lang="en-US" sz="1400" dirty="0">
                <a:solidFill>
                  <a:srgbClr val="2B2D33"/>
                </a:solidFill>
                <a:latin typeface="Calibri" pitchFamily="34" charset="0"/>
                <a:ea typeface="Calibri" pitchFamily="34" charset="-122"/>
                <a:cs typeface="Calibri" pitchFamily="34" charset="-120"/>
              </a:rPr>
              <a:t>nigdy samego 'wiązania przyczynowego'. Skąd zatem bierze się nasze przekonanie o przyczynowości?</a:t>
            </a:r>
            <a:endParaRPr lang="en-US" sz="1400" dirty="0"/>
          </a:p>
        </p:txBody>
      </p:sp>
      <p:sp>
        <p:nvSpPr>
          <p:cNvPr id="6" name="Shape 4"/>
          <p:cNvSpPr/>
          <p:nvPr/>
        </p:nvSpPr>
        <p:spPr>
          <a:xfrm>
            <a:off x="457200" y="2148840"/>
            <a:ext cx="6720840" cy="411480"/>
          </a:xfrm>
          <a:prstGeom prst="roundRect">
            <a:avLst>
              <a:gd name="adj" fmla="val 12000"/>
            </a:avLst>
          </a:prstGeom>
          <a:solidFill>
            <a:srgbClr val="EDF1F7"/>
          </a:solidFill>
          <a:ln w="12700">
            <a:solidFill>
              <a:srgbClr val="E1E4EA"/>
            </a:solidFill>
            <a:prstDash val="solid"/>
          </a:ln>
        </p:spPr>
      </p:sp>
      <p:sp>
        <p:nvSpPr>
          <p:cNvPr id="7" name="Text 5"/>
          <p:cNvSpPr/>
          <p:nvPr/>
        </p:nvSpPr>
        <p:spPr>
          <a:xfrm>
            <a:off x="594360" y="2148840"/>
            <a:ext cx="6446520" cy="411480"/>
          </a:xfrm>
          <a:prstGeom prst="rect">
            <a:avLst/>
          </a:prstGeom>
          <a:noFill/>
          <a:ln/>
        </p:spPr>
        <p:txBody>
          <a:bodyPr wrap="square" lIns="0" tIns="0" rIns="0" bIns="0" rtlCol="0" anchor="ctr"/>
          <a:lstStyle/>
          <a:p>
            <a:pPr marL="0" indent="0">
              <a:buNone/>
            </a:pPr>
            <a:r>
              <a:rPr lang="en-US" sz="1400" b="1" dirty="0">
                <a:solidFill>
                  <a:srgbClr val="16243F"/>
                </a:solidFill>
                <a:latin typeface="Calibri" pitchFamily="34" charset="0"/>
                <a:ea typeface="Calibri" pitchFamily="34" charset="-122"/>
                <a:cs typeface="Calibri" pitchFamily="34" charset="-120"/>
              </a:rPr>
              <a:t>Chmura słów: Co sprawia, że uznajemy jedno zdarzenie za przyczynę drugiego?</a:t>
            </a:r>
            <a:endParaRPr lang="en-US" sz="1400" dirty="0"/>
          </a:p>
        </p:txBody>
      </p:sp>
      <p:sp>
        <p:nvSpPr>
          <p:cNvPr id="8" name="Shape 6"/>
          <p:cNvSpPr/>
          <p:nvPr/>
        </p:nvSpPr>
        <p:spPr>
          <a:xfrm>
            <a:off x="457200" y="2651760"/>
            <a:ext cx="8229600" cy="1234440"/>
          </a:xfrm>
          <a:prstGeom prst="roundRect">
            <a:avLst>
              <a:gd name="adj" fmla="val 4444"/>
            </a:avLst>
          </a:prstGeom>
          <a:solidFill>
            <a:srgbClr val="EDF1F7"/>
          </a:solidFill>
          <a:ln w="12700">
            <a:solidFill>
              <a:srgbClr val="E1E4EA"/>
            </a:solidFill>
            <a:prstDash val="solid"/>
          </a:ln>
        </p:spPr>
      </p:sp>
      <p:sp>
        <p:nvSpPr>
          <p:cNvPr id="9" name="Text 7"/>
          <p:cNvSpPr/>
          <p:nvPr/>
        </p:nvSpPr>
        <p:spPr>
          <a:xfrm>
            <a:off x="640080" y="2743200"/>
            <a:ext cx="7863840" cy="411480"/>
          </a:xfrm>
          <a:prstGeom prst="rect">
            <a:avLst/>
          </a:prstGeom>
          <a:noFill/>
          <a:ln/>
        </p:spPr>
        <p:txBody>
          <a:bodyPr wrap="square" lIns="0" tIns="0" rIns="0" bIns="0" rtlCol="0" anchor="ctr"/>
          <a:lstStyle/>
          <a:p>
            <a:pPr marL="0" indent="0">
              <a:buNone/>
            </a:pPr>
            <a:r>
              <a:rPr lang="pl-PL" sz="1200" dirty="0" smtClean="0">
                <a:solidFill>
                  <a:srgbClr val="16243F"/>
                </a:solidFill>
                <a:latin typeface="Calibri" pitchFamily="34" charset="0"/>
                <a:ea typeface="Calibri" pitchFamily="34" charset="-122"/>
                <a:cs typeface="Calibri" pitchFamily="34" charset="-120"/>
              </a:rPr>
              <a:t>Typ pytania: chmura słów (</a:t>
            </a:r>
            <a:r>
              <a:rPr lang="pl-PL" sz="1200" dirty="0" err="1" smtClean="0">
                <a:solidFill>
                  <a:srgbClr val="16243F"/>
                </a:solidFill>
                <a:latin typeface="Calibri" pitchFamily="34" charset="0"/>
                <a:ea typeface="Calibri" pitchFamily="34" charset="-122"/>
                <a:cs typeface="Calibri" pitchFamily="34" charset="-120"/>
              </a:rPr>
              <a:t>word</a:t>
            </a:r>
            <a:r>
              <a:rPr lang="pl-PL" sz="1200" dirty="0" smtClean="0">
                <a:solidFill>
                  <a:srgbClr val="16243F"/>
                </a:solidFill>
                <a:latin typeface="Calibri" pitchFamily="34" charset="0"/>
                <a:ea typeface="Calibri" pitchFamily="34" charset="-122"/>
                <a:cs typeface="Calibri" pitchFamily="34" charset="-120"/>
              </a:rPr>
              <a:t> </a:t>
            </a:r>
            <a:r>
              <a:rPr lang="pl-PL" sz="1200" dirty="0" err="1" smtClean="0">
                <a:solidFill>
                  <a:srgbClr val="16243F"/>
                </a:solidFill>
                <a:latin typeface="Calibri" pitchFamily="34" charset="0"/>
                <a:ea typeface="Calibri" pitchFamily="34" charset="-122"/>
                <a:cs typeface="Calibri" pitchFamily="34" charset="-120"/>
              </a:rPr>
              <a:t>cloud</a:t>
            </a:r>
            <a:r>
              <a:rPr lang="pl-PL" sz="1200" dirty="0" smtClean="0">
                <a:solidFill>
                  <a:srgbClr val="16243F"/>
                </a:solidFill>
                <a:latin typeface="Calibri" pitchFamily="34" charset="0"/>
                <a:ea typeface="Calibri" pitchFamily="34" charset="-122"/>
                <a:cs typeface="Calibri" pitchFamily="34" charset="-120"/>
              </a:rPr>
              <a:t>) - studenci wpisują pojedyncze słowa lub krótkie frazy, agregowane wizualnie wg częstości.</a:t>
            </a:r>
            <a:endParaRPr lang="pl-PL" sz="1200" dirty="0"/>
          </a:p>
        </p:txBody>
      </p:sp>
      <p:sp>
        <p:nvSpPr>
          <p:cNvPr id="10" name="Text 8"/>
          <p:cNvSpPr/>
          <p:nvPr/>
        </p:nvSpPr>
        <p:spPr>
          <a:xfrm>
            <a:off x="640080" y="3200400"/>
            <a:ext cx="7863840" cy="621792"/>
          </a:xfrm>
          <a:prstGeom prst="rect">
            <a:avLst/>
          </a:prstGeom>
          <a:noFill/>
          <a:ln/>
        </p:spPr>
        <p:txBody>
          <a:bodyPr wrap="square" lIns="0" tIns="0" rIns="0" bIns="0" rtlCol="0" anchor="ctr"/>
          <a:lstStyle/>
          <a:p>
            <a:pPr marL="0" indent="0">
              <a:buNone/>
            </a:pPr>
            <a:r>
              <a:rPr lang="pl-PL" sz="1200" i="1" dirty="0" smtClean="0">
                <a:solidFill>
                  <a:srgbClr val="5B6472"/>
                </a:solidFill>
                <a:latin typeface="Calibri" pitchFamily="34" charset="0"/>
                <a:ea typeface="Calibri" pitchFamily="34" charset="-122"/>
                <a:cs typeface="Calibri" pitchFamily="34" charset="-120"/>
              </a:rPr>
              <a:t>Po zebraniu odpowiedzi: uporządkuj je na kategorie - następstwo czasowe, współwystępowanie, mechanizm, interwencja, kontrfaktyczność.</a:t>
            </a:r>
            <a:endParaRPr lang="pl-PL" sz="1200" dirty="0"/>
          </a:p>
        </p:txBody>
      </p:sp>
      <p:sp>
        <p:nvSpPr>
          <p:cNvPr id="11" name="Shape 9"/>
          <p:cNvSpPr/>
          <p:nvPr/>
        </p:nvSpPr>
        <p:spPr>
          <a:xfrm>
            <a:off x="7406640" y="4041648"/>
            <a:ext cx="1280160" cy="813816"/>
          </a:xfrm>
          <a:prstGeom prst="roundRect">
            <a:avLst>
              <a:gd name="adj" fmla="val 6000"/>
            </a:avLst>
          </a:prstGeom>
          <a:solidFill>
            <a:srgbClr val="EDF1F7"/>
          </a:solidFill>
          <a:ln w="12700">
            <a:solidFill>
              <a:srgbClr val="E1E4EA"/>
            </a:solidFill>
            <a:prstDash val="solid"/>
          </a:ln>
        </p:spPr>
      </p:sp>
      <p:sp>
        <p:nvSpPr>
          <p:cNvPr id="12" name="Shape 10"/>
          <p:cNvSpPr/>
          <p:nvPr/>
        </p:nvSpPr>
        <p:spPr>
          <a:xfrm>
            <a:off x="7516368" y="4133088"/>
            <a:ext cx="365760" cy="365760"/>
          </a:xfrm>
          <a:prstGeom prst="rect">
            <a:avLst/>
          </a:prstGeom>
          <a:solidFill>
            <a:srgbClr val="FFFFFF"/>
          </a:solidFill>
          <a:ln w="19050">
            <a:solidFill>
              <a:srgbClr val="16243F"/>
            </a:solidFill>
            <a:prstDash val="solid"/>
          </a:ln>
        </p:spPr>
      </p:sp>
      <p:sp>
        <p:nvSpPr>
          <p:cNvPr id="13" name="Shape 11"/>
          <p:cNvSpPr/>
          <p:nvPr/>
        </p:nvSpPr>
        <p:spPr>
          <a:xfrm>
            <a:off x="7543800" y="4160520"/>
            <a:ext cx="82296" cy="82296"/>
          </a:xfrm>
          <a:prstGeom prst="rect">
            <a:avLst/>
          </a:prstGeom>
          <a:solidFill>
            <a:srgbClr val="16243F"/>
          </a:solidFill>
          <a:ln w="12700">
            <a:solidFill>
              <a:srgbClr val="16243F"/>
            </a:solidFill>
            <a:prstDash val="solid"/>
          </a:ln>
        </p:spPr>
      </p:sp>
      <p:sp>
        <p:nvSpPr>
          <p:cNvPr id="14" name="Shape 12"/>
          <p:cNvSpPr/>
          <p:nvPr/>
        </p:nvSpPr>
        <p:spPr>
          <a:xfrm>
            <a:off x="7543800" y="4361688"/>
            <a:ext cx="82296" cy="82296"/>
          </a:xfrm>
          <a:prstGeom prst="rect">
            <a:avLst/>
          </a:prstGeom>
          <a:solidFill>
            <a:srgbClr val="16243F"/>
          </a:solidFill>
          <a:ln w="12700">
            <a:solidFill>
              <a:srgbClr val="16243F"/>
            </a:solidFill>
            <a:prstDash val="solid"/>
          </a:ln>
        </p:spPr>
      </p:sp>
      <p:sp>
        <p:nvSpPr>
          <p:cNvPr id="15" name="Shape 13"/>
          <p:cNvSpPr/>
          <p:nvPr/>
        </p:nvSpPr>
        <p:spPr>
          <a:xfrm>
            <a:off x="7644384" y="4261104"/>
            <a:ext cx="82296" cy="82296"/>
          </a:xfrm>
          <a:prstGeom prst="rect">
            <a:avLst/>
          </a:prstGeom>
          <a:solidFill>
            <a:srgbClr val="16243F"/>
          </a:solidFill>
          <a:ln w="12700">
            <a:solidFill>
              <a:srgbClr val="16243F"/>
            </a:solidFill>
            <a:prstDash val="solid"/>
          </a:ln>
        </p:spPr>
      </p:sp>
      <p:sp>
        <p:nvSpPr>
          <p:cNvPr id="16" name="Shape 14"/>
          <p:cNvSpPr/>
          <p:nvPr/>
        </p:nvSpPr>
        <p:spPr>
          <a:xfrm>
            <a:off x="7744968" y="4160520"/>
            <a:ext cx="82296" cy="82296"/>
          </a:xfrm>
          <a:prstGeom prst="rect">
            <a:avLst/>
          </a:prstGeom>
          <a:solidFill>
            <a:srgbClr val="16243F"/>
          </a:solidFill>
          <a:ln w="12700">
            <a:solidFill>
              <a:srgbClr val="16243F"/>
            </a:solidFill>
            <a:prstDash val="solid"/>
          </a:ln>
        </p:spPr>
      </p:sp>
      <p:sp>
        <p:nvSpPr>
          <p:cNvPr id="17" name="Shape 15"/>
          <p:cNvSpPr/>
          <p:nvPr/>
        </p:nvSpPr>
        <p:spPr>
          <a:xfrm>
            <a:off x="7744968" y="4361688"/>
            <a:ext cx="82296" cy="82296"/>
          </a:xfrm>
          <a:prstGeom prst="rect">
            <a:avLst/>
          </a:prstGeom>
          <a:solidFill>
            <a:srgbClr val="16243F"/>
          </a:solidFill>
          <a:ln w="12700">
            <a:solidFill>
              <a:srgbClr val="16243F"/>
            </a:solidFill>
            <a:prstDash val="solid"/>
          </a:ln>
        </p:spPr>
      </p:sp>
      <p:sp>
        <p:nvSpPr>
          <p:cNvPr id="18" name="Text 16"/>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19" name="Text 17"/>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sp>
        <p:nvSpPr>
          <p:cNvPr id="20" name="Text 18"/>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36/40   ·   Blok V</a:t>
            </a:r>
            <a:endParaRPr lang="en-US" sz="8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6B5B95"/>
          </a:solidFill>
          <a:ln w="12700">
            <a:solidFill>
              <a:srgbClr val="6B5B9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V · PRZYCZYNOWOŚĆ I GRY</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300" b="1" dirty="0">
                <a:solidFill>
                  <a:srgbClr val="16243F"/>
                </a:solidFill>
                <a:latin typeface="Cambria" pitchFamily="34" charset="0"/>
                <a:ea typeface="Cambria" pitchFamily="34" charset="-122"/>
                <a:cs typeface="Cambria" pitchFamily="34" charset="-120"/>
              </a:rPr>
              <a:t>Korelacja, predykcja i przyczynowość</a:t>
            </a:r>
            <a:endParaRPr lang="en-US" sz="2300" dirty="0"/>
          </a:p>
        </p:txBody>
      </p:sp>
      <p:sp>
        <p:nvSpPr>
          <p:cNvPr id="5" name="Text 3"/>
          <p:cNvSpPr/>
          <p:nvPr/>
        </p:nvSpPr>
        <p:spPr>
          <a:xfrm>
            <a:off x="457200" y="1371600"/>
            <a:ext cx="8229600" cy="548640"/>
          </a:xfrm>
          <a:prstGeom prst="rect">
            <a:avLst/>
          </a:prstGeom>
          <a:noFill/>
          <a:ln/>
        </p:spPr>
        <p:txBody>
          <a:bodyPr wrap="square" lIns="0" tIns="0" rIns="0" bIns="0" rtlCol="0" anchor="ctr"/>
          <a:lstStyle/>
          <a:p>
            <a:pPr marL="0" indent="0">
              <a:buNone/>
            </a:pPr>
            <a:r>
              <a:rPr lang="en-US" sz="1400" dirty="0">
                <a:solidFill>
                  <a:srgbClr val="2B2D33"/>
                </a:solidFill>
                <a:latin typeface="Calibri" pitchFamily="34" charset="0"/>
                <a:ea typeface="Calibri" pitchFamily="34" charset="-122"/>
                <a:cs typeface="Calibri" pitchFamily="34" charset="-120"/>
              </a:rPr>
              <a:t>Dane letnie: sprzedaż lodów rośnie. Temperatura rośnie. Liczba utonięć rośnie. </a:t>
            </a:r>
            <a:endParaRPr lang="pl-PL" sz="1400" dirty="0" smtClean="0">
              <a:solidFill>
                <a:srgbClr val="2B2D33"/>
              </a:solidFill>
              <a:latin typeface="Calibri" pitchFamily="34" charset="0"/>
              <a:ea typeface="Calibri" pitchFamily="34" charset="-122"/>
              <a:cs typeface="Calibri" pitchFamily="34" charset="-120"/>
            </a:endParaRPr>
          </a:p>
          <a:p>
            <a:pPr marL="0" indent="0">
              <a:buNone/>
            </a:pPr>
            <a:r>
              <a:rPr lang="en-US" sz="1400" dirty="0" smtClean="0">
                <a:solidFill>
                  <a:srgbClr val="2B2D33"/>
                </a:solidFill>
                <a:latin typeface="Calibri" pitchFamily="34" charset="0"/>
                <a:ea typeface="Calibri" pitchFamily="34" charset="-122"/>
                <a:cs typeface="Calibri" pitchFamily="34" charset="-120"/>
              </a:rPr>
              <a:t>Wszystkie </a:t>
            </a:r>
            <a:r>
              <a:rPr lang="en-US" sz="1400" dirty="0">
                <a:solidFill>
                  <a:srgbClr val="2B2D33"/>
                </a:solidFill>
                <a:latin typeface="Calibri" pitchFamily="34" charset="0"/>
                <a:ea typeface="Calibri" pitchFamily="34" charset="-122"/>
                <a:cs typeface="Calibri" pitchFamily="34" charset="-120"/>
              </a:rPr>
              <a:t>trzy zmienne są ze sobą silnie skorelowane.</a:t>
            </a:r>
            <a:endParaRPr lang="en-US" sz="1400" dirty="0"/>
          </a:p>
        </p:txBody>
      </p:sp>
      <p:sp>
        <p:nvSpPr>
          <p:cNvPr id="6" name="Shape 4"/>
          <p:cNvSpPr/>
          <p:nvPr/>
        </p:nvSpPr>
        <p:spPr>
          <a:xfrm>
            <a:off x="457200" y="2011680"/>
            <a:ext cx="4716966" cy="329184"/>
          </a:xfrm>
          <a:prstGeom prst="roundRect">
            <a:avLst>
              <a:gd name="adj" fmla="val 14286"/>
            </a:avLst>
          </a:prstGeom>
          <a:solidFill>
            <a:srgbClr val="EDF1F7"/>
          </a:solidFill>
          <a:ln w="12700">
            <a:solidFill>
              <a:srgbClr val="E1E4EA"/>
            </a:solidFill>
            <a:prstDash val="solid"/>
          </a:ln>
        </p:spPr>
      </p:sp>
      <p:sp>
        <p:nvSpPr>
          <p:cNvPr id="7" name="Text 5"/>
          <p:cNvSpPr/>
          <p:nvPr/>
        </p:nvSpPr>
        <p:spPr>
          <a:xfrm>
            <a:off x="594360" y="2011680"/>
            <a:ext cx="4407902" cy="329184"/>
          </a:xfrm>
          <a:prstGeom prst="rect">
            <a:avLst/>
          </a:prstGeom>
          <a:noFill/>
          <a:ln/>
        </p:spPr>
        <p:txBody>
          <a:bodyPr wrap="square" lIns="0" tIns="0" rIns="0" bIns="0" rtlCol="0" anchor="ctr"/>
          <a:lstStyle/>
          <a:p>
            <a:pPr marL="0" indent="0">
              <a:buNone/>
            </a:pPr>
            <a:r>
              <a:rPr lang="en-US" sz="1200" b="1" dirty="0">
                <a:solidFill>
                  <a:srgbClr val="16243F"/>
                </a:solidFill>
                <a:latin typeface="Calibri" pitchFamily="34" charset="0"/>
                <a:ea typeface="Calibri" pitchFamily="34" charset="-122"/>
                <a:cs typeface="Calibri" pitchFamily="34" charset="-120"/>
              </a:rPr>
              <a:t>Które związki mogą być przyczynowe?</a:t>
            </a:r>
            <a:r>
              <a:rPr lang="en-US" sz="1200" dirty="0">
                <a:solidFill>
                  <a:srgbClr val="16243F"/>
                </a:solidFill>
                <a:latin typeface="Calibri" pitchFamily="34" charset="0"/>
                <a:ea typeface="Calibri" pitchFamily="34" charset="-122"/>
                <a:cs typeface="Calibri" pitchFamily="34" charset="-120"/>
              </a:rPr>
              <a:t> (wielokrotny wybór)</a:t>
            </a:r>
            <a:endParaRPr lang="en-US" sz="1200" dirty="0"/>
          </a:p>
        </p:txBody>
      </p:sp>
      <p:sp>
        <p:nvSpPr>
          <p:cNvPr id="8" name="Shape 6"/>
          <p:cNvSpPr/>
          <p:nvPr/>
        </p:nvSpPr>
        <p:spPr>
          <a:xfrm>
            <a:off x="457200" y="2468880"/>
            <a:ext cx="4716966" cy="274320"/>
          </a:xfrm>
          <a:prstGeom prst="roundRect">
            <a:avLst>
              <a:gd name="adj" fmla="val 20000"/>
            </a:avLst>
          </a:prstGeom>
          <a:solidFill>
            <a:srgbClr val="FFFFFF"/>
          </a:solidFill>
          <a:ln w="12700">
            <a:solidFill>
              <a:srgbClr val="E1E4EA"/>
            </a:solidFill>
            <a:prstDash val="solid"/>
          </a:ln>
        </p:spPr>
      </p:sp>
      <p:sp>
        <p:nvSpPr>
          <p:cNvPr id="9" name="Shape 7"/>
          <p:cNvSpPr/>
          <p:nvPr/>
        </p:nvSpPr>
        <p:spPr>
          <a:xfrm>
            <a:off x="556074" y="2494602"/>
            <a:ext cx="216000" cy="216000"/>
          </a:xfrm>
          <a:prstGeom prst="ellipse">
            <a:avLst/>
          </a:prstGeom>
          <a:solidFill>
            <a:srgbClr val="EDF1F7"/>
          </a:solidFill>
          <a:ln w="12700">
            <a:solidFill>
              <a:srgbClr val="16243F"/>
            </a:solidFill>
            <a:prstDash val="solid"/>
          </a:ln>
        </p:spPr>
      </p:sp>
      <p:sp>
        <p:nvSpPr>
          <p:cNvPr id="10" name="Text 8"/>
          <p:cNvSpPr/>
          <p:nvPr/>
        </p:nvSpPr>
        <p:spPr>
          <a:xfrm>
            <a:off x="548640" y="2487168"/>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1" name="Text 9"/>
          <p:cNvSpPr/>
          <p:nvPr/>
        </p:nvSpPr>
        <p:spPr>
          <a:xfrm>
            <a:off x="859535" y="2468880"/>
            <a:ext cx="4142727" cy="274320"/>
          </a:xfrm>
          <a:prstGeom prst="rect">
            <a:avLst/>
          </a:prstGeom>
          <a:noFill/>
          <a:ln/>
        </p:spPr>
        <p:txBody>
          <a:bodyPr wrap="square" lIns="0" tIns="0" rIns="0" bIns="0" rtlCol="0" anchor="ctr"/>
          <a:lstStyle/>
          <a:p>
            <a:pPr marL="0" indent="0">
              <a:buNone/>
            </a:pPr>
            <a:r>
              <a:rPr lang="en-US" sz="1100" dirty="0">
                <a:solidFill>
                  <a:srgbClr val="2B2D33"/>
                </a:solidFill>
                <a:latin typeface="Calibri" pitchFamily="34" charset="0"/>
                <a:ea typeface="Calibri" pitchFamily="34" charset="-122"/>
                <a:cs typeface="Calibri" pitchFamily="34" charset="-120"/>
              </a:rPr>
              <a:t>Sprzedaż lodów → utonięcia (przyczynowy)</a:t>
            </a:r>
            <a:endParaRPr lang="en-US" sz="1100" dirty="0"/>
          </a:p>
        </p:txBody>
      </p:sp>
      <p:sp>
        <p:nvSpPr>
          <p:cNvPr id="12" name="Shape 10"/>
          <p:cNvSpPr/>
          <p:nvPr/>
        </p:nvSpPr>
        <p:spPr>
          <a:xfrm>
            <a:off x="457200" y="2834640"/>
            <a:ext cx="4716966" cy="274320"/>
          </a:xfrm>
          <a:prstGeom prst="roundRect">
            <a:avLst>
              <a:gd name="adj" fmla="val 20000"/>
            </a:avLst>
          </a:prstGeom>
          <a:solidFill>
            <a:srgbClr val="FFFFFF"/>
          </a:solidFill>
          <a:ln w="12700">
            <a:solidFill>
              <a:srgbClr val="E1E4EA"/>
            </a:solidFill>
            <a:prstDash val="solid"/>
          </a:ln>
        </p:spPr>
      </p:sp>
      <p:sp>
        <p:nvSpPr>
          <p:cNvPr id="13" name="Shape 11"/>
          <p:cNvSpPr/>
          <p:nvPr/>
        </p:nvSpPr>
        <p:spPr>
          <a:xfrm>
            <a:off x="556074" y="2860362"/>
            <a:ext cx="216000" cy="216000"/>
          </a:xfrm>
          <a:prstGeom prst="ellipse">
            <a:avLst/>
          </a:prstGeom>
          <a:solidFill>
            <a:srgbClr val="EDF1F7"/>
          </a:solidFill>
          <a:ln w="12700">
            <a:solidFill>
              <a:srgbClr val="16243F"/>
            </a:solidFill>
            <a:prstDash val="solid"/>
          </a:ln>
        </p:spPr>
      </p:sp>
      <p:sp>
        <p:nvSpPr>
          <p:cNvPr id="14" name="Text 12"/>
          <p:cNvSpPr/>
          <p:nvPr/>
        </p:nvSpPr>
        <p:spPr>
          <a:xfrm>
            <a:off x="548640" y="2852928"/>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5" name="Text 13"/>
          <p:cNvSpPr/>
          <p:nvPr/>
        </p:nvSpPr>
        <p:spPr>
          <a:xfrm>
            <a:off x="859535" y="2834640"/>
            <a:ext cx="4142727" cy="274320"/>
          </a:xfrm>
          <a:prstGeom prst="rect">
            <a:avLst/>
          </a:prstGeom>
          <a:noFill/>
          <a:ln/>
        </p:spPr>
        <p:txBody>
          <a:bodyPr wrap="square" lIns="0" tIns="0" rIns="0" bIns="0" rtlCol="0" anchor="ctr"/>
          <a:lstStyle/>
          <a:p>
            <a:pPr marL="0" indent="0">
              <a:buNone/>
            </a:pPr>
            <a:r>
              <a:rPr lang="en-US" sz="1100" dirty="0">
                <a:solidFill>
                  <a:srgbClr val="2B2D33"/>
                </a:solidFill>
                <a:latin typeface="Calibri" pitchFamily="34" charset="0"/>
                <a:ea typeface="Calibri" pitchFamily="34" charset="-122"/>
                <a:cs typeface="Calibri" pitchFamily="34" charset="-120"/>
              </a:rPr>
              <a:t>Temperatura → sprzedaż lodów (przyczynowy)</a:t>
            </a:r>
            <a:endParaRPr lang="en-US" sz="1100" dirty="0"/>
          </a:p>
        </p:txBody>
      </p:sp>
      <p:sp>
        <p:nvSpPr>
          <p:cNvPr id="16" name="Shape 14"/>
          <p:cNvSpPr/>
          <p:nvPr/>
        </p:nvSpPr>
        <p:spPr>
          <a:xfrm>
            <a:off x="457200" y="3200400"/>
            <a:ext cx="4716966" cy="274320"/>
          </a:xfrm>
          <a:prstGeom prst="roundRect">
            <a:avLst>
              <a:gd name="adj" fmla="val 20000"/>
            </a:avLst>
          </a:prstGeom>
          <a:solidFill>
            <a:srgbClr val="FFFFFF"/>
          </a:solidFill>
          <a:ln w="12700">
            <a:solidFill>
              <a:srgbClr val="E1E4EA"/>
            </a:solidFill>
            <a:prstDash val="solid"/>
          </a:ln>
        </p:spPr>
      </p:sp>
      <p:sp>
        <p:nvSpPr>
          <p:cNvPr id="17" name="Shape 15"/>
          <p:cNvSpPr/>
          <p:nvPr/>
        </p:nvSpPr>
        <p:spPr>
          <a:xfrm>
            <a:off x="556074" y="3226122"/>
            <a:ext cx="216000" cy="216000"/>
          </a:xfrm>
          <a:prstGeom prst="ellipse">
            <a:avLst/>
          </a:prstGeom>
          <a:solidFill>
            <a:srgbClr val="EDF1F7"/>
          </a:solidFill>
          <a:ln w="12700">
            <a:solidFill>
              <a:srgbClr val="16243F"/>
            </a:solidFill>
            <a:prstDash val="solid"/>
          </a:ln>
        </p:spPr>
      </p:sp>
      <p:sp>
        <p:nvSpPr>
          <p:cNvPr id="18" name="Text 16"/>
          <p:cNvSpPr/>
          <p:nvPr/>
        </p:nvSpPr>
        <p:spPr>
          <a:xfrm>
            <a:off x="548640" y="3218688"/>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C</a:t>
            </a:r>
            <a:endParaRPr lang="en-US" sz="1000" dirty="0"/>
          </a:p>
        </p:txBody>
      </p:sp>
      <p:sp>
        <p:nvSpPr>
          <p:cNvPr id="19" name="Text 17"/>
          <p:cNvSpPr/>
          <p:nvPr/>
        </p:nvSpPr>
        <p:spPr>
          <a:xfrm>
            <a:off x="859535" y="3200400"/>
            <a:ext cx="4142727" cy="274320"/>
          </a:xfrm>
          <a:prstGeom prst="rect">
            <a:avLst/>
          </a:prstGeom>
          <a:noFill/>
          <a:ln/>
        </p:spPr>
        <p:txBody>
          <a:bodyPr wrap="square" lIns="0" tIns="0" rIns="0" bIns="0" rtlCol="0" anchor="ctr"/>
          <a:lstStyle/>
          <a:p>
            <a:pPr marL="0" indent="0">
              <a:buNone/>
            </a:pPr>
            <a:r>
              <a:rPr lang="en-US" sz="1100" dirty="0">
                <a:solidFill>
                  <a:srgbClr val="2B2D33"/>
                </a:solidFill>
                <a:latin typeface="Calibri" pitchFamily="34" charset="0"/>
                <a:ea typeface="Calibri" pitchFamily="34" charset="-122"/>
                <a:cs typeface="Calibri" pitchFamily="34" charset="-120"/>
              </a:rPr>
              <a:t>Temperatura → utonięcia, przez więcej kąpiących się (przyczynowy)</a:t>
            </a:r>
            <a:endParaRPr lang="en-US" sz="1100" dirty="0"/>
          </a:p>
        </p:txBody>
      </p:sp>
      <p:sp>
        <p:nvSpPr>
          <p:cNvPr id="20" name="Shape 18"/>
          <p:cNvSpPr/>
          <p:nvPr/>
        </p:nvSpPr>
        <p:spPr>
          <a:xfrm>
            <a:off x="457200" y="3566160"/>
            <a:ext cx="4716966" cy="274320"/>
          </a:xfrm>
          <a:prstGeom prst="roundRect">
            <a:avLst>
              <a:gd name="adj" fmla="val 20000"/>
            </a:avLst>
          </a:prstGeom>
          <a:solidFill>
            <a:srgbClr val="FFFFFF"/>
          </a:solidFill>
          <a:ln w="12700">
            <a:solidFill>
              <a:srgbClr val="E1E4EA"/>
            </a:solidFill>
            <a:prstDash val="solid"/>
          </a:ln>
        </p:spPr>
      </p:sp>
      <p:sp>
        <p:nvSpPr>
          <p:cNvPr id="21" name="Shape 19"/>
          <p:cNvSpPr/>
          <p:nvPr/>
        </p:nvSpPr>
        <p:spPr>
          <a:xfrm>
            <a:off x="556074" y="3591882"/>
            <a:ext cx="216000" cy="216000"/>
          </a:xfrm>
          <a:prstGeom prst="ellipse">
            <a:avLst/>
          </a:prstGeom>
          <a:solidFill>
            <a:srgbClr val="EDF1F7"/>
          </a:solidFill>
          <a:ln w="12700">
            <a:solidFill>
              <a:srgbClr val="16243F"/>
            </a:solidFill>
            <a:prstDash val="solid"/>
          </a:ln>
        </p:spPr>
      </p:sp>
      <p:sp>
        <p:nvSpPr>
          <p:cNvPr id="22" name="Text 20"/>
          <p:cNvSpPr/>
          <p:nvPr/>
        </p:nvSpPr>
        <p:spPr>
          <a:xfrm>
            <a:off x="548640" y="3584448"/>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D</a:t>
            </a:r>
            <a:endParaRPr lang="en-US" sz="1000" dirty="0"/>
          </a:p>
        </p:txBody>
      </p:sp>
      <p:sp>
        <p:nvSpPr>
          <p:cNvPr id="23" name="Text 21"/>
          <p:cNvSpPr/>
          <p:nvPr/>
        </p:nvSpPr>
        <p:spPr>
          <a:xfrm>
            <a:off x="859535" y="3566160"/>
            <a:ext cx="4142727" cy="274320"/>
          </a:xfrm>
          <a:prstGeom prst="rect">
            <a:avLst/>
          </a:prstGeom>
          <a:noFill/>
          <a:ln/>
        </p:spPr>
        <p:txBody>
          <a:bodyPr wrap="square" lIns="0" tIns="0" rIns="0" bIns="0" rtlCol="0" anchor="ctr"/>
          <a:lstStyle/>
          <a:p>
            <a:pPr marL="0" indent="0">
              <a:buNone/>
            </a:pPr>
            <a:r>
              <a:rPr lang="en-US" sz="1100" dirty="0">
                <a:solidFill>
                  <a:srgbClr val="2B2D33"/>
                </a:solidFill>
                <a:latin typeface="Calibri" pitchFamily="34" charset="0"/>
                <a:ea typeface="Calibri" pitchFamily="34" charset="-122"/>
                <a:cs typeface="Calibri" pitchFamily="34" charset="-120"/>
              </a:rPr>
              <a:t>Sprzedaż lodów → temperatura (przyczynowy)</a:t>
            </a:r>
            <a:endParaRPr lang="en-US" sz="1100" dirty="0"/>
          </a:p>
        </p:txBody>
      </p:sp>
      <p:sp>
        <p:nvSpPr>
          <p:cNvPr id="26" name="Shape 24"/>
          <p:cNvSpPr/>
          <p:nvPr/>
        </p:nvSpPr>
        <p:spPr>
          <a:xfrm>
            <a:off x="7406640" y="4041648"/>
            <a:ext cx="1280160" cy="727126"/>
          </a:xfrm>
          <a:prstGeom prst="roundRect">
            <a:avLst>
              <a:gd name="adj" fmla="val 6000"/>
            </a:avLst>
          </a:prstGeom>
          <a:solidFill>
            <a:srgbClr val="EDF1F7"/>
          </a:solidFill>
          <a:ln w="12700">
            <a:solidFill>
              <a:srgbClr val="E1E4EA"/>
            </a:solidFill>
            <a:prstDash val="solid"/>
          </a:ln>
        </p:spPr>
      </p:sp>
      <p:sp>
        <p:nvSpPr>
          <p:cNvPr id="27" name="Shape 25"/>
          <p:cNvSpPr/>
          <p:nvPr/>
        </p:nvSpPr>
        <p:spPr>
          <a:xfrm>
            <a:off x="7516368" y="4133088"/>
            <a:ext cx="365760" cy="365760"/>
          </a:xfrm>
          <a:prstGeom prst="rect">
            <a:avLst/>
          </a:prstGeom>
          <a:solidFill>
            <a:srgbClr val="FFFFFF"/>
          </a:solidFill>
          <a:ln w="19050">
            <a:solidFill>
              <a:srgbClr val="16243F"/>
            </a:solidFill>
            <a:prstDash val="solid"/>
          </a:ln>
        </p:spPr>
      </p:sp>
      <p:sp>
        <p:nvSpPr>
          <p:cNvPr id="28" name="Shape 26"/>
          <p:cNvSpPr/>
          <p:nvPr/>
        </p:nvSpPr>
        <p:spPr>
          <a:xfrm>
            <a:off x="7543800" y="4160520"/>
            <a:ext cx="82296" cy="82296"/>
          </a:xfrm>
          <a:prstGeom prst="rect">
            <a:avLst/>
          </a:prstGeom>
          <a:solidFill>
            <a:srgbClr val="16243F"/>
          </a:solidFill>
          <a:ln w="12700">
            <a:solidFill>
              <a:srgbClr val="16243F"/>
            </a:solidFill>
            <a:prstDash val="solid"/>
          </a:ln>
        </p:spPr>
      </p:sp>
      <p:sp>
        <p:nvSpPr>
          <p:cNvPr id="29" name="Shape 27"/>
          <p:cNvSpPr/>
          <p:nvPr/>
        </p:nvSpPr>
        <p:spPr>
          <a:xfrm>
            <a:off x="7543800" y="4361688"/>
            <a:ext cx="82296" cy="82296"/>
          </a:xfrm>
          <a:prstGeom prst="rect">
            <a:avLst/>
          </a:prstGeom>
          <a:solidFill>
            <a:srgbClr val="16243F"/>
          </a:solidFill>
          <a:ln w="12700">
            <a:solidFill>
              <a:srgbClr val="16243F"/>
            </a:solidFill>
            <a:prstDash val="solid"/>
          </a:ln>
        </p:spPr>
      </p:sp>
      <p:sp>
        <p:nvSpPr>
          <p:cNvPr id="30" name="Shape 28"/>
          <p:cNvSpPr/>
          <p:nvPr/>
        </p:nvSpPr>
        <p:spPr>
          <a:xfrm>
            <a:off x="7644384" y="4261104"/>
            <a:ext cx="82296" cy="82296"/>
          </a:xfrm>
          <a:prstGeom prst="rect">
            <a:avLst/>
          </a:prstGeom>
          <a:solidFill>
            <a:srgbClr val="16243F"/>
          </a:solidFill>
          <a:ln w="12700">
            <a:solidFill>
              <a:srgbClr val="16243F"/>
            </a:solidFill>
            <a:prstDash val="solid"/>
          </a:ln>
        </p:spPr>
      </p:sp>
      <p:sp>
        <p:nvSpPr>
          <p:cNvPr id="31" name="Shape 29"/>
          <p:cNvSpPr/>
          <p:nvPr/>
        </p:nvSpPr>
        <p:spPr>
          <a:xfrm>
            <a:off x="7744968" y="4160520"/>
            <a:ext cx="82296" cy="82296"/>
          </a:xfrm>
          <a:prstGeom prst="rect">
            <a:avLst/>
          </a:prstGeom>
          <a:solidFill>
            <a:srgbClr val="16243F"/>
          </a:solidFill>
          <a:ln w="12700">
            <a:solidFill>
              <a:srgbClr val="16243F"/>
            </a:solidFill>
            <a:prstDash val="solid"/>
          </a:ln>
        </p:spPr>
      </p:sp>
      <p:sp>
        <p:nvSpPr>
          <p:cNvPr id="32" name="Shape 30"/>
          <p:cNvSpPr/>
          <p:nvPr/>
        </p:nvSpPr>
        <p:spPr>
          <a:xfrm>
            <a:off x="7744968" y="4361688"/>
            <a:ext cx="82296" cy="82296"/>
          </a:xfrm>
          <a:prstGeom prst="rect">
            <a:avLst/>
          </a:prstGeom>
          <a:solidFill>
            <a:srgbClr val="16243F"/>
          </a:solidFill>
          <a:ln w="12700">
            <a:solidFill>
              <a:srgbClr val="16243F"/>
            </a:solidFill>
            <a:prstDash val="solid"/>
          </a:ln>
        </p:spPr>
      </p:sp>
      <p:sp>
        <p:nvSpPr>
          <p:cNvPr id="33" name="Text 31"/>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34" name="Text 32"/>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grpSp>
        <p:nvGrpSpPr>
          <p:cNvPr id="39" name="Grupa 38"/>
          <p:cNvGrpSpPr/>
          <p:nvPr/>
        </p:nvGrpSpPr>
        <p:grpSpPr>
          <a:xfrm>
            <a:off x="5523571" y="2252722"/>
            <a:ext cx="3163229" cy="1660910"/>
            <a:chOff x="5523570" y="2011680"/>
            <a:chExt cx="3163229" cy="1660910"/>
          </a:xfrm>
        </p:grpSpPr>
        <p:sp>
          <p:nvSpPr>
            <p:cNvPr id="35" name="Shape 33"/>
            <p:cNvSpPr/>
            <p:nvPr/>
          </p:nvSpPr>
          <p:spPr>
            <a:xfrm>
              <a:off x="5523570" y="2011680"/>
              <a:ext cx="3163229" cy="1660910"/>
            </a:xfrm>
            <a:prstGeom prst="roundRect">
              <a:avLst>
                <a:gd name="adj" fmla="val 2857"/>
              </a:avLst>
            </a:prstGeom>
            <a:solidFill>
              <a:srgbClr val="FFFFFF"/>
            </a:solidFill>
            <a:ln w="12700">
              <a:solidFill>
                <a:srgbClr val="0F6E6E"/>
              </a:solidFill>
              <a:prstDash val="solid"/>
            </a:ln>
            <a:effectLst>
              <a:outerShdw blurRad="88900" dist="25400" dir="5400000" algn="bl" rotWithShape="0">
                <a:srgbClr val="000000">
                  <a:alpha val="10000"/>
                </a:srgbClr>
              </a:outerShdw>
            </a:effectLst>
          </p:spPr>
        </p:sp>
        <p:sp>
          <p:nvSpPr>
            <p:cNvPr id="36" name="Text 34"/>
            <p:cNvSpPr/>
            <p:nvPr/>
          </p:nvSpPr>
          <p:spPr>
            <a:xfrm>
              <a:off x="5633298" y="2088252"/>
              <a:ext cx="2907197" cy="237744"/>
            </a:xfrm>
            <a:prstGeom prst="rect">
              <a:avLst/>
            </a:prstGeom>
            <a:noFill/>
            <a:ln/>
          </p:spPr>
          <p:txBody>
            <a:bodyPr wrap="square" lIns="0" tIns="0" rIns="0" bIns="0" rtlCol="0" anchor="ctr"/>
            <a:lstStyle/>
            <a:p>
              <a:pPr marL="0" indent="0">
                <a:buNone/>
              </a:pPr>
              <a:r>
                <a:rPr lang="en-US" sz="1200" b="1" dirty="0">
                  <a:solidFill>
                    <a:srgbClr val="0F6E6E"/>
                  </a:solidFill>
                  <a:latin typeface="Calibri" pitchFamily="34" charset="0"/>
                  <a:ea typeface="Calibri" pitchFamily="34" charset="-122"/>
                  <a:cs typeface="Calibri" pitchFamily="34" charset="-120"/>
                </a:rPr>
                <a:t>PO ZAMKNIĘCIU GŁOSOWANIA</a:t>
              </a:r>
              <a:endParaRPr lang="en-US" sz="1200" dirty="0"/>
            </a:p>
          </p:txBody>
        </p:sp>
        <p:sp>
          <p:nvSpPr>
            <p:cNvPr id="37" name="Text 35"/>
            <p:cNvSpPr/>
            <p:nvPr/>
          </p:nvSpPr>
          <p:spPr>
            <a:xfrm>
              <a:off x="5633298" y="2385524"/>
              <a:ext cx="2946301" cy="1231106"/>
            </a:xfrm>
            <a:prstGeom prst="rect">
              <a:avLst/>
            </a:prstGeom>
            <a:noFill/>
            <a:ln/>
          </p:spPr>
          <p:txBody>
            <a:bodyPr wrap="square" lIns="0" tIns="0" rIns="0" bIns="0" rtlCol="0" anchor="t">
              <a:spAutoFit/>
            </a:bodyPr>
            <a:lstStyle/>
            <a:p>
              <a:pPr marL="0" indent="0">
                <a:buNone/>
              </a:pPr>
              <a:r>
                <a:rPr lang="pl-PL" sz="1200" b="1" dirty="0" smtClean="0">
                  <a:solidFill>
                    <a:srgbClr val="16243F"/>
                  </a:solidFill>
                  <a:latin typeface="Calibri" pitchFamily="34" charset="0"/>
                  <a:ea typeface="Calibri" pitchFamily="34" charset="-122"/>
                  <a:cs typeface="Calibri" pitchFamily="34" charset="-120"/>
                </a:rPr>
                <a:t>Poprawne: B i C</a:t>
              </a:r>
            </a:p>
            <a:p>
              <a:pPr marL="0" indent="0">
                <a:buNone/>
              </a:pPr>
              <a:r>
                <a:rPr lang="pl-PL" sz="1200" dirty="0" smtClean="0">
                  <a:solidFill>
                    <a:srgbClr val="16243F"/>
                  </a:solidFill>
                  <a:ea typeface="Calibri" pitchFamily="34" charset="-122"/>
                  <a:cs typeface="Calibri" pitchFamily="34" charset="-120"/>
                </a:rPr>
                <a:t>Temperatura jest wspólną przyczyną (zmienną zakłócającą) obu pozostałych zmiennych.</a:t>
              </a:r>
              <a:endParaRPr lang="pl-PL" sz="1200" dirty="0" smtClean="0"/>
            </a:p>
            <a:p>
              <a:pPr marL="0" indent="0">
                <a:buNone/>
              </a:pPr>
              <a:endParaRPr lang="pl-PL" sz="800" dirty="0" smtClean="0"/>
            </a:p>
            <a:p>
              <a:pPr marL="0" indent="0">
                <a:buNone/>
              </a:pPr>
              <a:r>
                <a:rPr lang="pl-PL" sz="1200" dirty="0" smtClean="0">
                  <a:solidFill>
                    <a:srgbClr val="16243F"/>
                  </a:solidFill>
                  <a:latin typeface="Calibri" pitchFamily="34" charset="0"/>
                  <a:ea typeface="Calibri" pitchFamily="34" charset="-122"/>
                  <a:cs typeface="Calibri" pitchFamily="34" charset="-120"/>
                </a:rPr>
                <a:t>A i D to pozorne związki (</a:t>
              </a:r>
              <a:r>
                <a:rPr lang="pl-PL" sz="1200" dirty="0" err="1" smtClean="0">
                  <a:solidFill>
                    <a:srgbClr val="16243F"/>
                  </a:solidFill>
                  <a:latin typeface="Calibri" pitchFamily="34" charset="0"/>
                  <a:ea typeface="Calibri" pitchFamily="34" charset="-122"/>
                  <a:cs typeface="Calibri" pitchFamily="34" charset="-120"/>
                </a:rPr>
                <a:t>spurious</a:t>
              </a:r>
              <a:r>
                <a:rPr lang="pl-PL" sz="1200" dirty="0" smtClean="0">
                  <a:solidFill>
                    <a:srgbClr val="16243F"/>
                  </a:solidFill>
                  <a:latin typeface="Calibri" pitchFamily="34" charset="0"/>
                  <a:ea typeface="Calibri" pitchFamily="34" charset="-122"/>
                  <a:cs typeface="Calibri" pitchFamily="34" charset="-120"/>
                </a:rPr>
                <a:t> </a:t>
              </a:r>
              <a:r>
                <a:rPr lang="pl-PL" sz="1200" dirty="0" err="1" smtClean="0">
                  <a:solidFill>
                    <a:srgbClr val="16243F"/>
                  </a:solidFill>
                  <a:latin typeface="Calibri" pitchFamily="34" charset="0"/>
                  <a:ea typeface="Calibri" pitchFamily="34" charset="-122"/>
                  <a:cs typeface="Calibri" pitchFamily="34" charset="-120"/>
                </a:rPr>
                <a:t>correlation</a:t>
              </a:r>
              <a:r>
                <a:rPr lang="pl-PL" sz="1200" dirty="0" smtClean="0">
                  <a:solidFill>
                    <a:srgbClr val="16243F"/>
                  </a:solidFill>
                  <a:latin typeface="Calibri" pitchFamily="34" charset="0"/>
                  <a:ea typeface="Calibri" pitchFamily="34" charset="-122"/>
                  <a:cs typeface="Calibri" pitchFamily="34" charset="-120"/>
                </a:rPr>
                <a:t>), czyli brak mechanizmu przyczynowego, mimo istotnej korelacji statystycznej.</a:t>
              </a:r>
              <a:endParaRPr lang="pl-PL" sz="1200" dirty="0"/>
            </a:p>
          </p:txBody>
        </p:sp>
      </p:grpSp>
      <p:sp>
        <p:nvSpPr>
          <p:cNvPr id="38" name="Text 36"/>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37/40   ·   Blok V</a:t>
            </a:r>
            <a:endParaRPr lang="en-US" sz="800" dirty="0"/>
          </a:p>
        </p:txBody>
      </p:sp>
      <p:sp>
        <p:nvSpPr>
          <p:cNvPr id="40" name="Shape 13"/>
          <p:cNvSpPr/>
          <p:nvPr/>
        </p:nvSpPr>
        <p:spPr>
          <a:xfrm>
            <a:off x="5520568" y="2039112"/>
            <a:ext cx="3163229" cy="154082"/>
          </a:xfrm>
          <a:prstGeom prst="roundRect">
            <a:avLst>
              <a:gd name="adj" fmla="val 17647"/>
            </a:avLst>
          </a:prstGeom>
          <a:solidFill>
            <a:srgbClr val="C07A35"/>
          </a:solidFill>
          <a:ln w="12700">
            <a:solidFill>
              <a:srgbClr val="C07A35"/>
            </a:solidFill>
            <a:prstDash val="solid"/>
          </a:ln>
        </p:spPr>
        <p:txBody>
          <a:bodyPr anchor="ctr"/>
          <a:lstStyle/>
          <a:p>
            <a:pPr algn="ctr"/>
            <a:r>
              <a:rPr lang="en-US" sz="900" b="1" dirty="0">
                <a:solidFill>
                  <a:srgbClr val="FFFFFF"/>
                </a:solidFill>
                <a:latin typeface="Calibri" pitchFamily="34" charset="0"/>
                <a:ea typeface="Calibri" pitchFamily="34" charset="-122"/>
                <a:cs typeface="Calibri" pitchFamily="34" charset="-120"/>
              </a:rPr>
              <a:t>ZAGŁOSUJ PRZED UJAWNIENIEM </a:t>
            </a:r>
            <a:r>
              <a:rPr lang="en-US" sz="900" b="1" dirty="0" smtClean="0">
                <a:solidFill>
                  <a:srgbClr val="FFFFFF"/>
                </a:solidFill>
                <a:latin typeface="Calibri" pitchFamily="34" charset="0"/>
                <a:ea typeface="Calibri" pitchFamily="34" charset="-122"/>
                <a:cs typeface="Calibri" pitchFamily="34" charset="-120"/>
              </a:rPr>
              <a:t>ROZWIĄZANIA</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anim calcmode="lin" valueType="num">
                                      <p:cBhvr>
                                        <p:cTn id="8" dur="500" fill="hold"/>
                                        <p:tgtEl>
                                          <p:spTgt spid="40"/>
                                        </p:tgtEl>
                                        <p:attrNameLst>
                                          <p:attrName>ppt_x</p:attrName>
                                        </p:attrNameLst>
                                      </p:cBhvr>
                                      <p:tavLst>
                                        <p:tav tm="0">
                                          <p:val>
                                            <p:strVal val="#ppt_x"/>
                                          </p:val>
                                        </p:tav>
                                        <p:tav tm="100000">
                                          <p:val>
                                            <p:strVal val="#ppt_x"/>
                                          </p:val>
                                        </p:tav>
                                      </p:tavLst>
                                    </p:anim>
                                    <p:anim calcmode="lin" valueType="num">
                                      <p:cBhvr>
                                        <p:cTn id="9" dur="5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fade">
                                      <p:cBhvr>
                                        <p:cTn id="14" dur="500"/>
                                        <p:tgtEl>
                                          <p:spTgt spid="39"/>
                                        </p:tgtEl>
                                      </p:cBhvr>
                                    </p:animEffect>
                                    <p:anim calcmode="lin" valueType="num">
                                      <p:cBhvr>
                                        <p:cTn id="15" dur="500" fill="hold"/>
                                        <p:tgtEl>
                                          <p:spTgt spid="39"/>
                                        </p:tgtEl>
                                        <p:attrNameLst>
                                          <p:attrName>ppt_x</p:attrName>
                                        </p:attrNameLst>
                                      </p:cBhvr>
                                      <p:tavLst>
                                        <p:tav tm="0">
                                          <p:val>
                                            <p:strVal val="#ppt_x"/>
                                          </p:val>
                                        </p:tav>
                                        <p:tav tm="100000">
                                          <p:val>
                                            <p:strVal val="#ppt_x"/>
                                          </p:val>
                                        </p:tav>
                                      </p:tavLst>
                                    </p:anim>
                                    <p:anim calcmode="lin" valueType="num">
                                      <p:cBhvr>
                                        <p:cTn id="16" dur="5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6B5B95"/>
          </a:solidFill>
          <a:ln w="12700">
            <a:solidFill>
              <a:srgbClr val="6B5B9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V · PRZYCZYNOWOŚĆ I GRY</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Paradoks Simpsona</a:t>
            </a:r>
            <a:endParaRPr lang="en-US" sz="2400" dirty="0"/>
          </a:p>
        </p:txBody>
      </p:sp>
      <p:sp>
        <p:nvSpPr>
          <p:cNvPr id="5" name="Text 3"/>
          <p:cNvSpPr/>
          <p:nvPr/>
        </p:nvSpPr>
        <p:spPr>
          <a:xfrm>
            <a:off x="457200" y="1298448"/>
            <a:ext cx="7370064" cy="438912"/>
          </a:xfrm>
          <a:prstGeom prst="rect">
            <a:avLst/>
          </a:prstGeom>
          <a:noFill/>
          <a:ln/>
        </p:spPr>
        <p:txBody>
          <a:bodyPr wrap="square" lIns="0" tIns="0" rIns="0" bIns="0" rtlCol="0" anchor="ctr"/>
          <a:lstStyle/>
          <a:p>
            <a:pPr marL="0" indent="0">
              <a:buNone/>
            </a:pPr>
            <a:r>
              <a:rPr lang="pl-PL" sz="1400" b="1" dirty="0" smtClean="0">
                <a:solidFill>
                  <a:srgbClr val="2B2D33"/>
                </a:solidFill>
                <a:latin typeface="Calibri" pitchFamily="34" charset="0"/>
                <a:ea typeface="Calibri" pitchFamily="34" charset="-122"/>
                <a:cs typeface="Calibri" pitchFamily="34" charset="-120"/>
              </a:rPr>
              <a:t>Terapia A </a:t>
            </a:r>
            <a:r>
              <a:rPr lang="pl-PL" sz="1400" dirty="0" smtClean="0">
                <a:solidFill>
                  <a:srgbClr val="2B2D33"/>
                </a:solidFill>
                <a:latin typeface="Calibri" pitchFamily="34" charset="0"/>
                <a:ea typeface="Calibri" pitchFamily="34" charset="-122"/>
                <a:cs typeface="Calibri" pitchFamily="34" charset="-120"/>
              </a:rPr>
              <a:t>- wyleczono 78% pacjentów (273/350). </a:t>
            </a:r>
            <a:r>
              <a:rPr lang="pl-PL" sz="1400" b="1" dirty="0" smtClean="0">
                <a:solidFill>
                  <a:srgbClr val="2B2D33"/>
                </a:solidFill>
                <a:latin typeface="Calibri" pitchFamily="34" charset="0"/>
                <a:ea typeface="Calibri" pitchFamily="34" charset="-122"/>
                <a:cs typeface="Calibri" pitchFamily="34" charset="-120"/>
              </a:rPr>
              <a:t>Terapia B </a:t>
            </a:r>
            <a:r>
              <a:rPr lang="pl-PL" sz="1400" dirty="0" smtClean="0">
                <a:solidFill>
                  <a:srgbClr val="2B2D33"/>
                </a:solidFill>
                <a:latin typeface="Calibri" pitchFamily="34" charset="0"/>
                <a:ea typeface="Calibri" pitchFamily="34" charset="-122"/>
                <a:cs typeface="Calibri" pitchFamily="34" charset="-120"/>
              </a:rPr>
              <a:t>- wyleczono 83% pacjentów (289/350).</a:t>
            </a:r>
            <a:endParaRPr lang="pl-PL" sz="1400" dirty="0"/>
          </a:p>
        </p:txBody>
      </p:sp>
      <p:sp>
        <p:nvSpPr>
          <p:cNvPr id="6" name="Shape 4"/>
          <p:cNvSpPr/>
          <p:nvPr/>
        </p:nvSpPr>
        <p:spPr>
          <a:xfrm>
            <a:off x="457200" y="1783080"/>
            <a:ext cx="6720840" cy="310896"/>
          </a:xfrm>
          <a:prstGeom prst="roundRect">
            <a:avLst>
              <a:gd name="adj" fmla="val 17647"/>
            </a:avLst>
          </a:prstGeom>
          <a:solidFill>
            <a:srgbClr val="EDF1F7"/>
          </a:solidFill>
          <a:ln w="12700">
            <a:solidFill>
              <a:srgbClr val="E1E4EA"/>
            </a:solidFill>
            <a:prstDash val="solid"/>
          </a:ln>
        </p:spPr>
      </p:sp>
      <p:sp>
        <p:nvSpPr>
          <p:cNvPr id="7" name="Text 5"/>
          <p:cNvSpPr/>
          <p:nvPr/>
        </p:nvSpPr>
        <p:spPr>
          <a:xfrm>
            <a:off x="594360" y="1783080"/>
            <a:ext cx="6446520" cy="310896"/>
          </a:xfrm>
          <a:prstGeom prst="rect">
            <a:avLst/>
          </a:prstGeom>
          <a:noFill/>
          <a:ln/>
        </p:spPr>
        <p:txBody>
          <a:bodyPr wrap="square" lIns="0" tIns="0" rIns="0" bIns="0" rtlCol="0" anchor="ctr"/>
          <a:lstStyle/>
          <a:p>
            <a:pPr marL="0" indent="0">
              <a:buNone/>
            </a:pPr>
            <a:r>
              <a:rPr lang="en-US" sz="1400" b="1" dirty="0" err="1">
                <a:solidFill>
                  <a:srgbClr val="16243F"/>
                </a:solidFill>
                <a:latin typeface="Calibri" pitchFamily="34" charset="0"/>
                <a:ea typeface="Calibri" pitchFamily="34" charset="-122"/>
                <a:cs typeface="Calibri" pitchFamily="34" charset="-120"/>
              </a:rPr>
              <a:t>Runda</a:t>
            </a:r>
            <a:r>
              <a:rPr lang="en-US" sz="1400" b="1" dirty="0">
                <a:solidFill>
                  <a:srgbClr val="16243F"/>
                </a:solidFill>
                <a:latin typeface="Calibri" pitchFamily="34" charset="0"/>
                <a:ea typeface="Calibri" pitchFamily="34" charset="-122"/>
                <a:cs typeface="Calibri" pitchFamily="34" charset="-120"/>
              </a:rPr>
              <a:t> 1: </a:t>
            </a:r>
            <a:r>
              <a:rPr lang="en-US" sz="1400" dirty="0">
                <a:solidFill>
                  <a:srgbClr val="16243F"/>
                </a:solidFill>
                <a:latin typeface="Calibri" pitchFamily="34" charset="0"/>
                <a:ea typeface="Calibri" pitchFamily="34" charset="-122"/>
                <a:cs typeface="Calibri" pitchFamily="34" charset="-120"/>
              </a:rPr>
              <a:t>Którą terapię uznajesz za skuteczniejszą?</a:t>
            </a:r>
            <a:endParaRPr lang="en-US" sz="1400" dirty="0"/>
          </a:p>
        </p:txBody>
      </p:sp>
      <p:grpSp>
        <p:nvGrpSpPr>
          <p:cNvPr id="33" name="Grupa 32"/>
          <p:cNvGrpSpPr/>
          <p:nvPr/>
        </p:nvGrpSpPr>
        <p:grpSpPr>
          <a:xfrm>
            <a:off x="457200" y="2231136"/>
            <a:ext cx="4206240" cy="329184"/>
            <a:chOff x="457200" y="2139696"/>
            <a:chExt cx="4206240" cy="329184"/>
          </a:xfrm>
        </p:grpSpPr>
        <p:sp>
          <p:nvSpPr>
            <p:cNvPr id="8" name="Shape 6"/>
            <p:cNvSpPr/>
            <p:nvPr/>
          </p:nvSpPr>
          <p:spPr>
            <a:xfrm>
              <a:off x="457200" y="2139696"/>
              <a:ext cx="4206240" cy="329184"/>
            </a:xfrm>
            <a:prstGeom prst="roundRect">
              <a:avLst>
                <a:gd name="adj" fmla="val 16667"/>
              </a:avLst>
            </a:prstGeom>
            <a:solidFill>
              <a:srgbClr val="FFFFFF"/>
            </a:solidFill>
            <a:ln w="12700">
              <a:solidFill>
                <a:srgbClr val="E1E4EA"/>
              </a:solidFill>
              <a:prstDash val="solid"/>
            </a:ln>
          </p:spPr>
        </p:sp>
        <p:sp>
          <p:nvSpPr>
            <p:cNvPr id="9" name="Shape 7"/>
            <p:cNvSpPr/>
            <p:nvPr/>
          </p:nvSpPr>
          <p:spPr>
            <a:xfrm>
              <a:off x="548640" y="2185416"/>
              <a:ext cx="237744" cy="237744"/>
            </a:xfrm>
            <a:prstGeom prst="ellipse">
              <a:avLst/>
            </a:prstGeom>
            <a:solidFill>
              <a:srgbClr val="EDF1F7"/>
            </a:solidFill>
            <a:ln w="12700">
              <a:solidFill>
                <a:srgbClr val="16243F"/>
              </a:solidFill>
              <a:prstDash val="solid"/>
            </a:ln>
          </p:spPr>
        </p:sp>
        <p:sp>
          <p:nvSpPr>
            <p:cNvPr id="10" name="Text 8"/>
            <p:cNvSpPr/>
            <p:nvPr/>
          </p:nvSpPr>
          <p:spPr>
            <a:xfrm>
              <a:off x="548640" y="2185416"/>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A</a:t>
              </a:r>
              <a:endParaRPr lang="en-US" sz="1000" dirty="0"/>
            </a:p>
          </p:txBody>
        </p:sp>
        <p:sp>
          <p:nvSpPr>
            <p:cNvPr id="11" name="Text 9"/>
            <p:cNvSpPr/>
            <p:nvPr/>
          </p:nvSpPr>
          <p:spPr>
            <a:xfrm>
              <a:off x="859536" y="2139696"/>
              <a:ext cx="3694176" cy="329184"/>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Terapia A</a:t>
              </a:r>
              <a:endParaRPr lang="en-US" sz="1200" dirty="0"/>
            </a:p>
          </p:txBody>
        </p:sp>
      </p:grpSp>
      <p:grpSp>
        <p:nvGrpSpPr>
          <p:cNvPr id="34" name="Grupa 33"/>
          <p:cNvGrpSpPr/>
          <p:nvPr/>
        </p:nvGrpSpPr>
        <p:grpSpPr>
          <a:xfrm>
            <a:off x="457200" y="2651760"/>
            <a:ext cx="4206240" cy="329184"/>
            <a:chOff x="457200" y="2560320"/>
            <a:chExt cx="4206240" cy="329184"/>
          </a:xfrm>
        </p:grpSpPr>
        <p:sp>
          <p:nvSpPr>
            <p:cNvPr id="12" name="Shape 10"/>
            <p:cNvSpPr/>
            <p:nvPr/>
          </p:nvSpPr>
          <p:spPr>
            <a:xfrm>
              <a:off x="457200" y="2560320"/>
              <a:ext cx="4206240" cy="329184"/>
            </a:xfrm>
            <a:prstGeom prst="roundRect">
              <a:avLst>
                <a:gd name="adj" fmla="val 16667"/>
              </a:avLst>
            </a:prstGeom>
            <a:solidFill>
              <a:srgbClr val="FFFFFF"/>
            </a:solidFill>
            <a:ln w="12700">
              <a:solidFill>
                <a:srgbClr val="E1E4EA"/>
              </a:solidFill>
              <a:prstDash val="solid"/>
            </a:ln>
          </p:spPr>
        </p:sp>
        <p:sp>
          <p:nvSpPr>
            <p:cNvPr id="13" name="Shape 11"/>
            <p:cNvSpPr/>
            <p:nvPr/>
          </p:nvSpPr>
          <p:spPr>
            <a:xfrm>
              <a:off x="548640" y="2606040"/>
              <a:ext cx="237744" cy="237744"/>
            </a:xfrm>
            <a:prstGeom prst="ellipse">
              <a:avLst/>
            </a:prstGeom>
            <a:solidFill>
              <a:srgbClr val="EDF1F7"/>
            </a:solidFill>
            <a:ln w="12700">
              <a:solidFill>
                <a:srgbClr val="16243F"/>
              </a:solidFill>
              <a:prstDash val="solid"/>
            </a:ln>
          </p:spPr>
        </p:sp>
        <p:sp>
          <p:nvSpPr>
            <p:cNvPr id="14" name="Text 12"/>
            <p:cNvSpPr/>
            <p:nvPr/>
          </p:nvSpPr>
          <p:spPr>
            <a:xfrm>
              <a:off x="548640" y="2606040"/>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B</a:t>
              </a:r>
              <a:endParaRPr lang="en-US" sz="1000" dirty="0"/>
            </a:p>
          </p:txBody>
        </p:sp>
        <p:sp>
          <p:nvSpPr>
            <p:cNvPr id="15" name="Text 13"/>
            <p:cNvSpPr/>
            <p:nvPr/>
          </p:nvSpPr>
          <p:spPr>
            <a:xfrm>
              <a:off x="859536" y="2560320"/>
              <a:ext cx="3694176" cy="329184"/>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Terapia B</a:t>
              </a:r>
              <a:endParaRPr lang="en-US" sz="1200" dirty="0"/>
            </a:p>
          </p:txBody>
        </p:sp>
      </p:grpSp>
      <p:grpSp>
        <p:nvGrpSpPr>
          <p:cNvPr id="35" name="Grupa 34"/>
          <p:cNvGrpSpPr/>
          <p:nvPr/>
        </p:nvGrpSpPr>
        <p:grpSpPr>
          <a:xfrm>
            <a:off x="457200" y="3072384"/>
            <a:ext cx="4206240" cy="329184"/>
            <a:chOff x="457200" y="2980944"/>
            <a:chExt cx="4206240" cy="329184"/>
          </a:xfrm>
        </p:grpSpPr>
        <p:sp>
          <p:nvSpPr>
            <p:cNvPr id="16" name="Shape 14"/>
            <p:cNvSpPr/>
            <p:nvPr/>
          </p:nvSpPr>
          <p:spPr>
            <a:xfrm>
              <a:off x="457200" y="2980944"/>
              <a:ext cx="4206240" cy="329184"/>
            </a:xfrm>
            <a:prstGeom prst="roundRect">
              <a:avLst>
                <a:gd name="adj" fmla="val 16667"/>
              </a:avLst>
            </a:prstGeom>
            <a:solidFill>
              <a:srgbClr val="FFFFFF"/>
            </a:solidFill>
            <a:ln w="12700">
              <a:solidFill>
                <a:srgbClr val="E1E4EA"/>
              </a:solidFill>
              <a:prstDash val="solid"/>
            </a:ln>
          </p:spPr>
        </p:sp>
        <p:sp>
          <p:nvSpPr>
            <p:cNvPr id="17" name="Shape 15"/>
            <p:cNvSpPr/>
            <p:nvPr/>
          </p:nvSpPr>
          <p:spPr>
            <a:xfrm>
              <a:off x="548640" y="3026664"/>
              <a:ext cx="237744" cy="237744"/>
            </a:xfrm>
            <a:prstGeom prst="ellipse">
              <a:avLst/>
            </a:prstGeom>
            <a:solidFill>
              <a:srgbClr val="EDF1F7"/>
            </a:solidFill>
            <a:ln w="12700">
              <a:solidFill>
                <a:srgbClr val="16243F"/>
              </a:solidFill>
              <a:prstDash val="solid"/>
            </a:ln>
          </p:spPr>
        </p:sp>
        <p:sp>
          <p:nvSpPr>
            <p:cNvPr id="18" name="Text 16"/>
            <p:cNvSpPr/>
            <p:nvPr/>
          </p:nvSpPr>
          <p:spPr>
            <a:xfrm>
              <a:off x="548640" y="3026664"/>
              <a:ext cx="237744" cy="237744"/>
            </a:xfrm>
            <a:prstGeom prst="rect">
              <a:avLst/>
            </a:prstGeom>
            <a:noFill/>
            <a:ln/>
          </p:spPr>
          <p:txBody>
            <a:bodyPr wrap="square" lIns="0" tIns="0" rIns="0" bIns="0" rtlCol="0" anchor="ctr"/>
            <a:lstStyle/>
            <a:p>
              <a:pPr marL="0" indent="0" algn="ctr">
                <a:buNone/>
              </a:pPr>
              <a:r>
                <a:rPr lang="en-US" sz="1000" b="1" dirty="0">
                  <a:solidFill>
                    <a:srgbClr val="16243F"/>
                  </a:solidFill>
                </a:rPr>
                <a:t>C</a:t>
              </a:r>
              <a:endParaRPr lang="en-US" sz="1000" dirty="0"/>
            </a:p>
          </p:txBody>
        </p:sp>
        <p:sp>
          <p:nvSpPr>
            <p:cNvPr id="19" name="Text 17"/>
            <p:cNvSpPr/>
            <p:nvPr/>
          </p:nvSpPr>
          <p:spPr>
            <a:xfrm>
              <a:off x="859536" y="2980944"/>
              <a:ext cx="3694176" cy="329184"/>
            </a:xfrm>
            <a:prstGeom prst="rect">
              <a:avLst/>
            </a:prstGeom>
            <a:noFill/>
            <a:ln/>
          </p:spPr>
          <p:txBody>
            <a:bodyPr wrap="square" lIns="0" tIns="0" rIns="0" bIns="0" rtlCol="0" anchor="ctr"/>
            <a:lstStyle/>
            <a:p>
              <a:pPr marL="0" indent="0">
                <a:buNone/>
              </a:pPr>
              <a:r>
                <a:rPr lang="en-US" sz="1200" dirty="0">
                  <a:solidFill>
                    <a:srgbClr val="2B2D33"/>
                  </a:solidFill>
                  <a:latin typeface="Calibri" pitchFamily="34" charset="0"/>
                  <a:ea typeface="Calibri" pitchFamily="34" charset="-122"/>
                  <a:cs typeface="Calibri" pitchFamily="34" charset="-120"/>
                </a:rPr>
                <a:t>Nie da się stwierdzić</a:t>
              </a:r>
              <a:endParaRPr lang="en-US" sz="1200" dirty="0"/>
            </a:p>
          </p:txBody>
        </p:sp>
      </p:grpSp>
      <p:sp>
        <p:nvSpPr>
          <p:cNvPr id="20" name="Text 18"/>
          <p:cNvSpPr/>
          <p:nvPr/>
        </p:nvSpPr>
        <p:spPr>
          <a:xfrm>
            <a:off x="457200" y="3401568"/>
            <a:ext cx="4206240" cy="640080"/>
          </a:xfrm>
          <a:prstGeom prst="rect">
            <a:avLst/>
          </a:prstGeom>
          <a:noFill/>
          <a:ln/>
        </p:spPr>
        <p:txBody>
          <a:bodyPr wrap="square" lIns="0" tIns="0" rIns="0" bIns="0" rtlCol="0" anchor="ctr"/>
          <a:lstStyle/>
          <a:p>
            <a:r>
              <a:rPr lang="pl-PL" sz="950" i="1" dirty="0">
                <a:solidFill>
                  <a:srgbClr val="5B6472"/>
                </a:solidFill>
                <a:latin typeface="Calibri" pitchFamily="34" charset="0"/>
                <a:ea typeface="Calibri" pitchFamily="34" charset="-122"/>
                <a:cs typeface="Calibri" pitchFamily="34" charset="-120"/>
              </a:rPr>
              <a:t>Runda 2 - dane w podgrupach: </a:t>
            </a:r>
          </a:p>
          <a:p>
            <a:r>
              <a:rPr lang="pl-PL" sz="950" i="1" dirty="0">
                <a:solidFill>
                  <a:srgbClr val="5B6472"/>
                </a:solidFill>
                <a:latin typeface="Calibri" pitchFamily="34" charset="0"/>
                <a:ea typeface="Calibri" pitchFamily="34" charset="-122"/>
                <a:cs typeface="Calibri" pitchFamily="34" charset="-120"/>
              </a:rPr>
              <a:t>Pacjenci z łagodnymi objawami: A wyleczono 93% (81/87), B - 87% (234/270). </a:t>
            </a:r>
          </a:p>
          <a:p>
            <a:r>
              <a:rPr lang="pl-PL" sz="950" i="1" dirty="0">
                <a:solidFill>
                  <a:srgbClr val="5B6472"/>
                </a:solidFill>
                <a:latin typeface="Calibri" pitchFamily="34" charset="0"/>
                <a:ea typeface="Calibri" pitchFamily="34" charset="-122"/>
                <a:cs typeface="Calibri" pitchFamily="34" charset="-120"/>
              </a:rPr>
              <a:t>Pacjenci z ciężkimi objawami: A wyleczono 73% (192/263), B - 69% (55/80).</a:t>
            </a:r>
            <a:endParaRPr lang="pl-PL" sz="950" i="1" dirty="0">
              <a:solidFill>
                <a:srgbClr val="5B6472"/>
              </a:solidFill>
              <a:latin typeface="Calibri" pitchFamily="34" charset="0"/>
              <a:ea typeface="Calibri" pitchFamily="34" charset="-122"/>
              <a:cs typeface="Calibri" pitchFamily="34" charset="-120"/>
            </a:endParaRPr>
          </a:p>
        </p:txBody>
      </p:sp>
      <p:sp>
        <p:nvSpPr>
          <p:cNvPr id="21" name="Shape 19"/>
          <p:cNvSpPr/>
          <p:nvPr/>
        </p:nvSpPr>
        <p:spPr>
          <a:xfrm>
            <a:off x="457200" y="4041648"/>
            <a:ext cx="4206240" cy="310896"/>
          </a:xfrm>
          <a:prstGeom prst="roundRect">
            <a:avLst>
              <a:gd name="adj" fmla="val 17647"/>
            </a:avLst>
          </a:prstGeom>
          <a:solidFill>
            <a:srgbClr val="C07A35"/>
          </a:solidFill>
          <a:ln w="12700">
            <a:solidFill>
              <a:srgbClr val="C07A35"/>
            </a:solidFill>
            <a:prstDash val="solid"/>
          </a:ln>
        </p:spPr>
      </p:sp>
      <p:sp>
        <p:nvSpPr>
          <p:cNvPr id="22" name="Text 20"/>
          <p:cNvSpPr/>
          <p:nvPr/>
        </p:nvSpPr>
        <p:spPr>
          <a:xfrm>
            <a:off x="457200" y="4041648"/>
            <a:ext cx="420624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ZAGŁOSUJ PRZED UJAWNIENIEM ROZWIĄZANIA</a:t>
            </a:r>
            <a:endParaRPr lang="en-US" sz="850" dirty="0"/>
          </a:p>
        </p:txBody>
      </p:sp>
      <p:sp>
        <p:nvSpPr>
          <p:cNvPr id="23" name="Shape 21"/>
          <p:cNvSpPr/>
          <p:nvPr/>
        </p:nvSpPr>
        <p:spPr>
          <a:xfrm>
            <a:off x="7406640" y="4041648"/>
            <a:ext cx="1280160" cy="760811"/>
          </a:xfrm>
          <a:prstGeom prst="roundRect">
            <a:avLst>
              <a:gd name="adj" fmla="val 6000"/>
            </a:avLst>
          </a:prstGeom>
          <a:solidFill>
            <a:srgbClr val="EDF1F7"/>
          </a:solidFill>
          <a:ln w="12700">
            <a:solidFill>
              <a:srgbClr val="E1E4EA"/>
            </a:solidFill>
            <a:prstDash val="solid"/>
          </a:ln>
        </p:spPr>
      </p:sp>
      <p:sp>
        <p:nvSpPr>
          <p:cNvPr id="24" name="Shape 22"/>
          <p:cNvSpPr/>
          <p:nvPr/>
        </p:nvSpPr>
        <p:spPr>
          <a:xfrm>
            <a:off x="7516368" y="4133088"/>
            <a:ext cx="365760" cy="365760"/>
          </a:xfrm>
          <a:prstGeom prst="rect">
            <a:avLst/>
          </a:prstGeom>
          <a:solidFill>
            <a:srgbClr val="FFFFFF"/>
          </a:solidFill>
          <a:ln w="19050">
            <a:solidFill>
              <a:srgbClr val="16243F"/>
            </a:solidFill>
            <a:prstDash val="solid"/>
          </a:ln>
        </p:spPr>
      </p:sp>
      <p:sp>
        <p:nvSpPr>
          <p:cNvPr id="25" name="Shape 23"/>
          <p:cNvSpPr/>
          <p:nvPr/>
        </p:nvSpPr>
        <p:spPr>
          <a:xfrm>
            <a:off x="7543800" y="4160520"/>
            <a:ext cx="82296" cy="82296"/>
          </a:xfrm>
          <a:prstGeom prst="rect">
            <a:avLst/>
          </a:prstGeom>
          <a:solidFill>
            <a:srgbClr val="16243F"/>
          </a:solidFill>
          <a:ln w="12700">
            <a:solidFill>
              <a:srgbClr val="16243F"/>
            </a:solidFill>
            <a:prstDash val="solid"/>
          </a:ln>
        </p:spPr>
      </p:sp>
      <p:sp>
        <p:nvSpPr>
          <p:cNvPr id="26" name="Shape 24"/>
          <p:cNvSpPr/>
          <p:nvPr/>
        </p:nvSpPr>
        <p:spPr>
          <a:xfrm>
            <a:off x="7543800" y="4361688"/>
            <a:ext cx="82296" cy="82296"/>
          </a:xfrm>
          <a:prstGeom prst="rect">
            <a:avLst/>
          </a:prstGeom>
          <a:solidFill>
            <a:srgbClr val="16243F"/>
          </a:solidFill>
          <a:ln w="12700">
            <a:solidFill>
              <a:srgbClr val="16243F"/>
            </a:solidFill>
            <a:prstDash val="solid"/>
          </a:ln>
        </p:spPr>
      </p:sp>
      <p:sp>
        <p:nvSpPr>
          <p:cNvPr id="27" name="Shape 25"/>
          <p:cNvSpPr/>
          <p:nvPr/>
        </p:nvSpPr>
        <p:spPr>
          <a:xfrm>
            <a:off x="7644384" y="4261104"/>
            <a:ext cx="82296" cy="82296"/>
          </a:xfrm>
          <a:prstGeom prst="rect">
            <a:avLst/>
          </a:prstGeom>
          <a:solidFill>
            <a:srgbClr val="16243F"/>
          </a:solidFill>
          <a:ln w="12700">
            <a:solidFill>
              <a:srgbClr val="16243F"/>
            </a:solidFill>
            <a:prstDash val="solid"/>
          </a:ln>
        </p:spPr>
      </p:sp>
      <p:sp>
        <p:nvSpPr>
          <p:cNvPr id="28" name="Shape 26"/>
          <p:cNvSpPr/>
          <p:nvPr/>
        </p:nvSpPr>
        <p:spPr>
          <a:xfrm>
            <a:off x="7744968" y="4160520"/>
            <a:ext cx="82296" cy="82296"/>
          </a:xfrm>
          <a:prstGeom prst="rect">
            <a:avLst/>
          </a:prstGeom>
          <a:solidFill>
            <a:srgbClr val="16243F"/>
          </a:solidFill>
          <a:ln w="12700">
            <a:solidFill>
              <a:srgbClr val="16243F"/>
            </a:solidFill>
            <a:prstDash val="solid"/>
          </a:ln>
        </p:spPr>
      </p:sp>
      <p:sp>
        <p:nvSpPr>
          <p:cNvPr id="29" name="Shape 27"/>
          <p:cNvSpPr/>
          <p:nvPr/>
        </p:nvSpPr>
        <p:spPr>
          <a:xfrm>
            <a:off x="7744968" y="4361688"/>
            <a:ext cx="82296" cy="82296"/>
          </a:xfrm>
          <a:prstGeom prst="rect">
            <a:avLst/>
          </a:prstGeom>
          <a:solidFill>
            <a:srgbClr val="16243F"/>
          </a:solidFill>
          <a:ln w="12700">
            <a:solidFill>
              <a:srgbClr val="16243F"/>
            </a:solidFill>
            <a:prstDash val="solid"/>
          </a:ln>
        </p:spPr>
      </p:sp>
      <p:sp>
        <p:nvSpPr>
          <p:cNvPr id="30" name="Text 28"/>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31" name="Text 29"/>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sp>
        <p:nvSpPr>
          <p:cNvPr id="32" name="Text 30"/>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38/40   ·   Blok V</a:t>
            </a:r>
            <a:endParaRPr lang="en-US" sz="8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6B5B95"/>
          </a:solidFill>
          <a:ln w="12700">
            <a:solidFill>
              <a:srgbClr val="6B5B95"/>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BLOK V · PRZYCZYNOWOŚĆ I GRY</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Teoria gier: dylemat więźnia i </a:t>
            </a:r>
            <a:r>
              <a:rPr lang="en-US" sz="2400" b="1" dirty="0" err="1">
                <a:solidFill>
                  <a:srgbClr val="16243F"/>
                </a:solidFill>
                <a:latin typeface="Cambria" pitchFamily="34" charset="0"/>
                <a:ea typeface="Cambria" pitchFamily="34" charset="-122"/>
                <a:cs typeface="Cambria" pitchFamily="34" charset="-120"/>
              </a:rPr>
              <a:t>gra</a:t>
            </a:r>
            <a:r>
              <a:rPr lang="en-US" sz="2400" b="1" dirty="0">
                <a:solidFill>
                  <a:srgbClr val="16243F"/>
                </a:solidFill>
                <a:latin typeface="Cambria" pitchFamily="34" charset="0"/>
                <a:ea typeface="Cambria" pitchFamily="34" charset="-122"/>
                <a:cs typeface="Cambria" pitchFamily="34" charset="-120"/>
              </a:rPr>
              <a:t> ultimatum</a:t>
            </a:r>
            <a:endParaRPr lang="en-US" sz="2400" dirty="0"/>
          </a:p>
        </p:txBody>
      </p:sp>
      <p:sp>
        <p:nvSpPr>
          <p:cNvPr id="5" name="Shape 3"/>
          <p:cNvSpPr/>
          <p:nvPr/>
        </p:nvSpPr>
        <p:spPr>
          <a:xfrm>
            <a:off x="457200" y="1371600"/>
            <a:ext cx="4023360" cy="1334429"/>
          </a:xfrm>
          <a:prstGeom prst="roundRect">
            <a:avLst>
              <a:gd name="adj" fmla="val 3243"/>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6" name="Text 4"/>
          <p:cNvSpPr/>
          <p:nvPr/>
        </p:nvSpPr>
        <p:spPr>
          <a:xfrm>
            <a:off x="640080" y="1463040"/>
            <a:ext cx="3657600" cy="274320"/>
          </a:xfrm>
          <a:prstGeom prst="rect">
            <a:avLst/>
          </a:prstGeom>
          <a:noFill/>
          <a:ln/>
        </p:spPr>
        <p:txBody>
          <a:bodyPr wrap="square" lIns="0" tIns="0" rIns="0" bIns="0" rtlCol="0" anchor="ctr"/>
          <a:lstStyle/>
          <a:p>
            <a:pPr marL="0" indent="0">
              <a:buNone/>
            </a:pPr>
            <a:r>
              <a:rPr lang="en-US" b="1" dirty="0">
                <a:solidFill>
                  <a:srgbClr val="16243F"/>
                </a:solidFill>
                <a:latin typeface="Cambria" pitchFamily="34" charset="0"/>
                <a:ea typeface="Cambria" pitchFamily="34" charset="-122"/>
                <a:cs typeface="Cambria" pitchFamily="34" charset="-120"/>
              </a:rPr>
              <a:t>Gra ultimatum</a:t>
            </a:r>
            <a:endParaRPr lang="en-US" dirty="0"/>
          </a:p>
        </p:txBody>
      </p:sp>
      <p:sp>
        <p:nvSpPr>
          <p:cNvPr id="7" name="Text 5"/>
          <p:cNvSpPr/>
          <p:nvPr/>
        </p:nvSpPr>
        <p:spPr>
          <a:xfrm>
            <a:off x="640080" y="1783080"/>
            <a:ext cx="3723764" cy="795528"/>
          </a:xfrm>
          <a:prstGeom prst="rect">
            <a:avLst/>
          </a:prstGeom>
          <a:noFill/>
          <a:ln/>
        </p:spPr>
        <p:txBody>
          <a:bodyPr wrap="square" lIns="0" tIns="0" rIns="0" bIns="0" rtlCol="0" anchor="ctr"/>
          <a:lstStyle/>
          <a:p>
            <a:pPr marL="0" indent="0">
              <a:buNone/>
            </a:pPr>
            <a:r>
              <a:rPr lang="pl-PL" sz="1200" dirty="0" smtClean="0">
                <a:solidFill>
                  <a:srgbClr val="2B2D33"/>
                </a:solidFill>
                <a:latin typeface="Calibri" pitchFamily="34" charset="0"/>
                <a:ea typeface="Calibri" pitchFamily="34" charset="-122"/>
                <a:cs typeface="Calibri" pitchFamily="34" charset="-120"/>
              </a:rPr>
              <a:t>Gracz A dzieli 100 zł między siebie i gracza B. Gracz B może zaakceptować podział lub odrzucić - wtedy obaj dostają 0 zł.</a:t>
            </a:r>
            <a:endParaRPr lang="pl-PL" sz="1200" dirty="0"/>
          </a:p>
        </p:txBody>
      </p:sp>
      <p:sp>
        <p:nvSpPr>
          <p:cNvPr id="8" name="Shape 6"/>
          <p:cNvSpPr/>
          <p:nvPr/>
        </p:nvSpPr>
        <p:spPr>
          <a:xfrm>
            <a:off x="4663440" y="1371600"/>
            <a:ext cx="4023360" cy="1334429"/>
          </a:xfrm>
          <a:prstGeom prst="roundRect">
            <a:avLst>
              <a:gd name="adj" fmla="val 3243"/>
            </a:avLst>
          </a:prstGeom>
          <a:solidFill>
            <a:srgbClr val="FFFFFF"/>
          </a:solidFill>
          <a:ln w="12700">
            <a:solidFill>
              <a:srgbClr val="E1E4EA"/>
            </a:solidFill>
            <a:prstDash val="solid"/>
          </a:ln>
          <a:effectLst>
            <a:outerShdw blurRad="88900" dist="25400" dir="5400000" algn="bl" rotWithShape="0">
              <a:srgbClr val="000000">
                <a:alpha val="10000"/>
              </a:srgbClr>
            </a:outerShdw>
          </a:effectLst>
        </p:spPr>
      </p:sp>
      <p:sp>
        <p:nvSpPr>
          <p:cNvPr id="9" name="Text 7"/>
          <p:cNvSpPr/>
          <p:nvPr/>
        </p:nvSpPr>
        <p:spPr>
          <a:xfrm>
            <a:off x="4846320" y="1463040"/>
            <a:ext cx="3657600" cy="274320"/>
          </a:xfrm>
          <a:prstGeom prst="rect">
            <a:avLst/>
          </a:prstGeom>
          <a:noFill/>
          <a:ln/>
        </p:spPr>
        <p:txBody>
          <a:bodyPr wrap="square" lIns="0" tIns="0" rIns="0" bIns="0" rtlCol="0" anchor="ctr"/>
          <a:lstStyle/>
          <a:p>
            <a:pPr marL="0" indent="0">
              <a:buNone/>
            </a:pPr>
            <a:r>
              <a:rPr lang="en-US" b="1" dirty="0">
                <a:solidFill>
                  <a:srgbClr val="16243F"/>
                </a:solidFill>
                <a:latin typeface="Cambria" pitchFamily="34" charset="0"/>
                <a:ea typeface="Cambria" pitchFamily="34" charset="-122"/>
                <a:cs typeface="Cambria" pitchFamily="34" charset="-120"/>
              </a:rPr>
              <a:t>Aukcja o dolara</a:t>
            </a:r>
            <a:endParaRPr lang="en-US" dirty="0"/>
          </a:p>
        </p:txBody>
      </p:sp>
      <p:sp>
        <p:nvSpPr>
          <p:cNvPr id="10" name="Text 8"/>
          <p:cNvSpPr/>
          <p:nvPr/>
        </p:nvSpPr>
        <p:spPr>
          <a:xfrm>
            <a:off x="4772722" y="1783080"/>
            <a:ext cx="3731198" cy="795528"/>
          </a:xfrm>
          <a:prstGeom prst="rect">
            <a:avLst/>
          </a:prstGeom>
          <a:noFill/>
          <a:ln/>
        </p:spPr>
        <p:txBody>
          <a:bodyPr wrap="square" lIns="0" tIns="0" rIns="0" bIns="0" rtlCol="0" anchor="ctr"/>
          <a:lstStyle/>
          <a:p>
            <a:pPr marL="0" indent="0">
              <a:buNone/>
            </a:pPr>
            <a:r>
              <a:rPr lang="pl-PL" sz="1200" dirty="0" smtClean="0">
                <a:solidFill>
                  <a:srgbClr val="2B2D33"/>
                </a:solidFill>
                <a:latin typeface="Calibri" pitchFamily="34" charset="0"/>
                <a:ea typeface="Calibri" pitchFamily="34" charset="-122"/>
                <a:cs typeface="Calibri" pitchFamily="34" charset="-120"/>
              </a:rPr>
              <a:t>Licytacja dolara - zarówno zwycięzca, jak i drugi w kolejności licytant płacą swoją ostatnią ofertę. Prowadzi do eskalacji zaangażowania.</a:t>
            </a:r>
            <a:endParaRPr lang="pl-PL" sz="1200" dirty="0"/>
          </a:p>
        </p:txBody>
      </p:sp>
      <p:sp>
        <p:nvSpPr>
          <p:cNvPr id="11" name="Shape 9"/>
          <p:cNvSpPr/>
          <p:nvPr/>
        </p:nvSpPr>
        <p:spPr>
          <a:xfrm>
            <a:off x="457200" y="2876047"/>
            <a:ext cx="8229600" cy="671229"/>
          </a:xfrm>
          <a:prstGeom prst="roundRect">
            <a:avLst>
              <a:gd name="adj" fmla="val 10000"/>
            </a:avLst>
          </a:prstGeom>
          <a:solidFill>
            <a:srgbClr val="EDF1F7"/>
          </a:solidFill>
          <a:ln w="12700">
            <a:solidFill>
              <a:srgbClr val="E1E4EA"/>
            </a:solidFill>
            <a:prstDash val="solid"/>
          </a:ln>
        </p:spPr>
      </p:sp>
      <p:sp>
        <p:nvSpPr>
          <p:cNvPr id="12" name="Text 10"/>
          <p:cNvSpPr/>
          <p:nvPr/>
        </p:nvSpPr>
        <p:spPr>
          <a:xfrm>
            <a:off x="640080" y="2876047"/>
            <a:ext cx="7931491" cy="671229"/>
          </a:xfrm>
          <a:prstGeom prst="rect">
            <a:avLst/>
          </a:prstGeom>
          <a:noFill/>
          <a:ln/>
        </p:spPr>
        <p:txBody>
          <a:bodyPr wrap="square" lIns="0" tIns="0" rIns="0" bIns="0" rtlCol="0" anchor="ctr"/>
          <a:lstStyle/>
          <a:p>
            <a:r>
              <a:rPr lang="pl-PL" sz="1400" dirty="0" smtClean="0">
                <a:solidFill>
                  <a:srgbClr val="16243F"/>
                </a:solidFill>
                <a:latin typeface="Calibri" pitchFamily="34" charset="0"/>
                <a:ea typeface="Calibri" pitchFamily="34" charset="-122"/>
                <a:cs typeface="Calibri" pitchFamily="34" charset="-120"/>
              </a:rPr>
              <a:t>Odpowiedz liczbowo: </a:t>
            </a:r>
            <a:endParaRPr lang="pl-PL" sz="1400" dirty="0">
              <a:solidFill>
                <a:srgbClr val="16243F"/>
              </a:solidFill>
              <a:latin typeface="Calibri" pitchFamily="34" charset="0"/>
              <a:ea typeface="Calibri" pitchFamily="34" charset="-122"/>
              <a:cs typeface="Calibri" pitchFamily="34" charset="-120"/>
            </a:endParaRPr>
          </a:p>
          <a:p>
            <a:pPr algn="ctr"/>
            <a:r>
              <a:rPr lang="pl-PL" sz="1400" b="1" dirty="0">
                <a:solidFill>
                  <a:srgbClr val="16243F"/>
                </a:solidFill>
                <a:latin typeface="Calibri" pitchFamily="34" charset="0"/>
                <a:ea typeface="Calibri" pitchFamily="34" charset="-122"/>
                <a:cs typeface="Calibri" pitchFamily="34" charset="-120"/>
              </a:rPr>
              <a:t>Jaka jest minimalna oferta (z 100 zł), którą byś zaakceptował/a jako gracz B w grze ultimatum?</a:t>
            </a:r>
            <a:endParaRPr lang="pl-PL" sz="1400" b="1" dirty="0">
              <a:solidFill>
                <a:srgbClr val="16243F"/>
              </a:solidFill>
              <a:latin typeface="Calibri" pitchFamily="34" charset="0"/>
              <a:ea typeface="Calibri" pitchFamily="34" charset="-122"/>
              <a:cs typeface="Calibri" pitchFamily="34" charset="-120"/>
            </a:endParaRPr>
          </a:p>
        </p:txBody>
      </p:sp>
      <p:sp>
        <p:nvSpPr>
          <p:cNvPr id="13" name="Shape 11"/>
          <p:cNvSpPr/>
          <p:nvPr/>
        </p:nvSpPr>
        <p:spPr>
          <a:xfrm>
            <a:off x="457200" y="4041648"/>
            <a:ext cx="4206240" cy="310896"/>
          </a:xfrm>
          <a:prstGeom prst="roundRect">
            <a:avLst>
              <a:gd name="adj" fmla="val 17647"/>
            </a:avLst>
          </a:prstGeom>
          <a:solidFill>
            <a:srgbClr val="C07A35"/>
          </a:solidFill>
          <a:ln w="12700">
            <a:solidFill>
              <a:srgbClr val="C07A35"/>
            </a:solidFill>
            <a:prstDash val="solid"/>
          </a:ln>
        </p:spPr>
      </p:sp>
      <p:sp>
        <p:nvSpPr>
          <p:cNvPr id="14" name="Text 12"/>
          <p:cNvSpPr/>
          <p:nvPr/>
        </p:nvSpPr>
        <p:spPr>
          <a:xfrm>
            <a:off x="457200" y="4041648"/>
            <a:ext cx="420624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ZAGŁOSUJ PRZED UJAWNIENIEM ROZWIĄZANIA</a:t>
            </a:r>
            <a:endParaRPr lang="en-US" sz="850" dirty="0"/>
          </a:p>
        </p:txBody>
      </p:sp>
      <p:sp>
        <p:nvSpPr>
          <p:cNvPr id="15" name="Shape 13"/>
          <p:cNvSpPr/>
          <p:nvPr/>
        </p:nvSpPr>
        <p:spPr>
          <a:xfrm>
            <a:off x="7406640" y="4041648"/>
            <a:ext cx="1280160" cy="723640"/>
          </a:xfrm>
          <a:prstGeom prst="roundRect">
            <a:avLst>
              <a:gd name="adj" fmla="val 6000"/>
            </a:avLst>
          </a:prstGeom>
          <a:solidFill>
            <a:srgbClr val="EDF1F7"/>
          </a:solidFill>
          <a:ln w="12700">
            <a:solidFill>
              <a:srgbClr val="E1E4EA"/>
            </a:solidFill>
            <a:prstDash val="solid"/>
          </a:ln>
        </p:spPr>
      </p:sp>
      <p:sp>
        <p:nvSpPr>
          <p:cNvPr id="16" name="Shape 14"/>
          <p:cNvSpPr/>
          <p:nvPr/>
        </p:nvSpPr>
        <p:spPr>
          <a:xfrm>
            <a:off x="7516368" y="4133088"/>
            <a:ext cx="365760" cy="365760"/>
          </a:xfrm>
          <a:prstGeom prst="rect">
            <a:avLst/>
          </a:prstGeom>
          <a:solidFill>
            <a:srgbClr val="FFFFFF"/>
          </a:solidFill>
          <a:ln w="19050">
            <a:solidFill>
              <a:srgbClr val="16243F"/>
            </a:solidFill>
            <a:prstDash val="solid"/>
          </a:ln>
        </p:spPr>
      </p:sp>
      <p:sp>
        <p:nvSpPr>
          <p:cNvPr id="17" name="Shape 15"/>
          <p:cNvSpPr/>
          <p:nvPr/>
        </p:nvSpPr>
        <p:spPr>
          <a:xfrm>
            <a:off x="7543800" y="4160520"/>
            <a:ext cx="82296" cy="82296"/>
          </a:xfrm>
          <a:prstGeom prst="rect">
            <a:avLst/>
          </a:prstGeom>
          <a:solidFill>
            <a:srgbClr val="16243F"/>
          </a:solidFill>
          <a:ln w="12700">
            <a:solidFill>
              <a:srgbClr val="16243F"/>
            </a:solidFill>
            <a:prstDash val="solid"/>
          </a:ln>
        </p:spPr>
      </p:sp>
      <p:sp>
        <p:nvSpPr>
          <p:cNvPr id="18" name="Shape 16"/>
          <p:cNvSpPr/>
          <p:nvPr/>
        </p:nvSpPr>
        <p:spPr>
          <a:xfrm>
            <a:off x="7543800" y="4361688"/>
            <a:ext cx="82296" cy="82296"/>
          </a:xfrm>
          <a:prstGeom prst="rect">
            <a:avLst/>
          </a:prstGeom>
          <a:solidFill>
            <a:srgbClr val="16243F"/>
          </a:solidFill>
          <a:ln w="12700">
            <a:solidFill>
              <a:srgbClr val="16243F"/>
            </a:solidFill>
            <a:prstDash val="solid"/>
          </a:ln>
        </p:spPr>
      </p:sp>
      <p:sp>
        <p:nvSpPr>
          <p:cNvPr id="19" name="Shape 17"/>
          <p:cNvSpPr/>
          <p:nvPr/>
        </p:nvSpPr>
        <p:spPr>
          <a:xfrm>
            <a:off x="7644384" y="4261104"/>
            <a:ext cx="82296" cy="82296"/>
          </a:xfrm>
          <a:prstGeom prst="rect">
            <a:avLst/>
          </a:prstGeom>
          <a:solidFill>
            <a:srgbClr val="16243F"/>
          </a:solidFill>
          <a:ln w="12700">
            <a:solidFill>
              <a:srgbClr val="16243F"/>
            </a:solidFill>
            <a:prstDash val="solid"/>
          </a:ln>
        </p:spPr>
      </p:sp>
      <p:sp>
        <p:nvSpPr>
          <p:cNvPr id="20" name="Shape 18"/>
          <p:cNvSpPr/>
          <p:nvPr/>
        </p:nvSpPr>
        <p:spPr>
          <a:xfrm>
            <a:off x="7744968" y="4160520"/>
            <a:ext cx="82296" cy="82296"/>
          </a:xfrm>
          <a:prstGeom prst="rect">
            <a:avLst/>
          </a:prstGeom>
          <a:solidFill>
            <a:srgbClr val="16243F"/>
          </a:solidFill>
          <a:ln w="12700">
            <a:solidFill>
              <a:srgbClr val="16243F"/>
            </a:solidFill>
            <a:prstDash val="solid"/>
          </a:ln>
        </p:spPr>
      </p:sp>
      <p:sp>
        <p:nvSpPr>
          <p:cNvPr id="21" name="Shape 19"/>
          <p:cNvSpPr/>
          <p:nvPr/>
        </p:nvSpPr>
        <p:spPr>
          <a:xfrm>
            <a:off x="7744968" y="4361688"/>
            <a:ext cx="82296" cy="82296"/>
          </a:xfrm>
          <a:prstGeom prst="rect">
            <a:avLst/>
          </a:prstGeom>
          <a:solidFill>
            <a:srgbClr val="16243F"/>
          </a:solidFill>
          <a:ln w="12700">
            <a:solidFill>
              <a:srgbClr val="16243F"/>
            </a:solidFill>
            <a:prstDash val="solid"/>
          </a:ln>
        </p:spPr>
      </p:sp>
      <p:sp>
        <p:nvSpPr>
          <p:cNvPr id="22" name="Text 20"/>
          <p:cNvSpPr/>
          <p:nvPr/>
        </p:nvSpPr>
        <p:spPr>
          <a:xfrm>
            <a:off x="7516368" y="4498848"/>
            <a:ext cx="365760" cy="146304"/>
          </a:xfrm>
          <a:prstGeom prst="rect">
            <a:avLst/>
          </a:prstGeom>
          <a:noFill/>
          <a:ln/>
        </p:spPr>
        <p:txBody>
          <a:bodyPr wrap="square" lIns="0" tIns="0" rIns="0" bIns="0" rtlCol="0" anchor="ctr"/>
          <a:lstStyle/>
          <a:p>
            <a:pPr marL="0" indent="0" algn="ctr">
              <a:buNone/>
            </a:pPr>
            <a:r>
              <a:rPr lang="en-US" sz="600" dirty="0">
                <a:solidFill>
                  <a:srgbClr val="5B6472"/>
                </a:solidFill>
                <a:latin typeface="Calibri" pitchFamily="34" charset="0"/>
                <a:ea typeface="Calibri" pitchFamily="34" charset="-122"/>
                <a:cs typeface="Calibri" pitchFamily="34" charset="-120"/>
              </a:rPr>
              <a:t>kod QR</a:t>
            </a:r>
            <a:endParaRPr lang="en-US" sz="600" dirty="0"/>
          </a:p>
        </p:txBody>
      </p:sp>
      <p:sp>
        <p:nvSpPr>
          <p:cNvPr id="23" name="Text 21"/>
          <p:cNvSpPr/>
          <p:nvPr/>
        </p:nvSpPr>
        <p:spPr>
          <a:xfrm>
            <a:off x="7936992" y="4078224"/>
            <a:ext cx="713232" cy="841248"/>
          </a:xfrm>
          <a:prstGeom prst="rect">
            <a:avLst/>
          </a:prstGeom>
          <a:noFill/>
          <a:ln/>
        </p:spPr>
        <p:txBody>
          <a:bodyPr wrap="square" lIns="0" tIns="0" rIns="0" bIns="0" rtlCol="0" anchor="ctr"/>
          <a:lstStyle/>
          <a:p>
            <a:pPr marL="0" indent="0">
              <a:buNone/>
            </a:pPr>
            <a:r>
              <a:rPr lang="en-US" sz="660" b="1" dirty="0">
                <a:solidFill>
                  <a:srgbClr val="16243F"/>
                </a:solidFill>
                <a:latin typeface="Calibri" pitchFamily="34" charset="0"/>
                <a:ea typeface="Calibri" pitchFamily="34" charset="-122"/>
                <a:cs typeface="Calibri" pitchFamily="34" charset="-120"/>
              </a:rPr>
              <a:t>Slido</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slido.com</a:t>
            </a:r>
            <a:endParaRPr lang="en-US" sz="660" dirty="0"/>
          </a:p>
          <a:p>
            <a:pPr marL="0" indent="0">
              <a:buNone/>
            </a:pPr>
            <a:r>
              <a:rPr lang="en-US" sz="660" b="1" dirty="0">
                <a:solidFill>
                  <a:srgbClr val="16243F"/>
                </a:solidFill>
                <a:latin typeface="Calibri" pitchFamily="34" charset="0"/>
                <a:ea typeface="Calibri" pitchFamily="34" charset="-122"/>
                <a:cs typeface="Calibri" pitchFamily="34" charset="-120"/>
              </a:rPr>
              <a:t>kod: INTUICJA2026</a:t>
            </a:r>
            <a:endParaRPr lang="en-US" sz="660" dirty="0"/>
          </a:p>
        </p:txBody>
      </p:sp>
      <p:sp>
        <p:nvSpPr>
          <p:cNvPr id="24" name="Text 22"/>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39/40   ·   Blok V</a:t>
            </a:r>
            <a:endParaRPr lang="en-US" sz="8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457200" y="292608"/>
            <a:ext cx="2468880" cy="292608"/>
          </a:xfrm>
          <a:prstGeom prst="roundRect">
            <a:avLst>
              <a:gd name="adj" fmla="val 18750"/>
            </a:avLst>
          </a:prstGeom>
          <a:solidFill>
            <a:srgbClr val="16243F"/>
          </a:solidFill>
          <a:ln w="12700">
            <a:solidFill>
              <a:srgbClr val="16243F"/>
            </a:solidFill>
            <a:prstDash val="solid"/>
          </a:ln>
        </p:spPr>
      </p:sp>
      <p:sp>
        <p:nvSpPr>
          <p:cNvPr id="3" name="Text 1"/>
          <p:cNvSpPr/>
          <p:nvPr/>
        </p:nvSpPr>
        <p:spPr>
          <a:xfrm>
            <a:off x="457200" y="292608"/>
            <a:ext cx="24688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PODSUMOWANIE · POST-TEST</a:t>
            </a:r>
            <a:endParaRPr lang="en-US" sz="900" dirty="0"/>
          </a:p>
        </p:txBody>
      </p:sp>
      <p:sp>
        <p:nvSpPr>
          <p:cNvPr id="4" name="Text 2"/>
          <p:cNvSpPr/>
          <p:nvPr/>
        </p:nvSpPr>
        <p:spPr>
          <a:xfrm>
            <a:off x="457200" y="676656"/>
            <a:ext cx="8229600" cy="777240"/>
          </a:xfrm>
          <a:prstGeom prst="rect">
            <a:avLst/>
          </a:prstGeom>
          <a:noFill/>
          <a:ln/>
        </p:spPr>
        <p:txBody>
          <a:bodyPr wrap="square" lIns="0" tIns="0" rIns="0" bIns="0" rtlCol="0" anchor="ctr"/>
          <a:lstStyle/>
          <a:p>
            <a:pPr marL="0" indent="0">
              <a:buNone/>
            </a:pPr>
            <a:r>
              <a:rPr lang="en-US" sz="2400" b="1" dirty="0">
                <a:solidFill>
                  <a:srgbClr val="16243F"/>
                </a:solidFill>
                <a:latin typeface="Cambria" pitchFamily="34" charset="0"/>
                <a:ea typeface="Cambria" pitchFamily="34" charset="-122"/>
                <a:cs typeface="Cambria" pitchFamily="34" charset="-120"/>
              </a:rPr>
              <a:t>Czy grupa poprawiła swoje decyzje?</a:t>
            </a:r>
            <a:endParaRPr lang="en-US" sz="2400" dirty="0"/>
          </a:p>
        </p:txBody>
      </p:sp>
      <p:sp>
        <p:nvSpPr>
          <p:cNvPr id="5" name="Text 3"/>
          <p:cNvSpPr/>
          <p:nvPr/>
        </p:nvSpPr>
        <p:spPr>
          <a:xfrm>
            <a:off x="457200" y="1234440"/>
            <a:ext cx="8229600" cy="320040"/>
          </a:xfrm>
          <a:prstGeom prst="rect">
            <a:avLst/>
          </a:prstGeom>
          <a:noFill/>
          <a:ln/>
        </p:spPr>
        <p:txBody>
          <a:bodyPr wrap="square" lIns="0" tIns="0" rIns="0" bIns="0" rtlCol="0" anchor="ctr"/>
          <a:lstStyle/>
          <a:p>
            <a:pPr marL="0" indent="0">
              <a:buNone/>
            </a:pPr>
            <a:r>
              <a:rPr lang="pl-PL" sz="1400" i="1" dirty="0" smtClean="0">
                <a:solidFill>
                  <a:srgbClr val="5B6472"/>
                </a:solidFill>
                <a:latin typeface="Calibri" pitchFamily="34" charset="0"/>
                <a:ea typeface="Calibri" pitchFamily="34" charset="-122"/>
                <a:cs typeface="Calibri" pitchFamily="34" charset="-120"/>
              </a:rPr>
              <a:t>Powtórzenie pięciu pytań ze slajdu 3 oraz porównanie odpowiedzi przed i po wykładzie</a:t>
            </a:r>
            <a:endParaRPr lang="pl-PL" sz="1400" dirty="0"/>
          </a:p>
        </p:txBody>
      </p:sp>
      <p:graphicFrame>
        <p:nvGraphicFramePr>
          <p:cNvPr id="6" name="Chart 0"/>
          <p:cNvGraphicFramePr/>
          <p:nvPr>
            <p:extLst>
              <p:ext uri="{D42A27DB-BD31-4B8C-83A1-F6EECF244321}">
                <p14:modId xmlns:p14="http://schemas.microsoft.com/office/powerpoint/2010/main" val="1623779499"/>
              </p:ext>
            </p:extLst>
          </p:nvPr>
        </p:nvGraphicFramePr>
        <p:xfrm>
          <a:off x="457200" y="1674171"/>
          <a:ext cx="8229600" cy="2305482"/>
        </p:xfrm>
        <a:graphic>
          <a:graphicData uri="http://schemas.openxmlformats.org/drawingml/2006/chart">
            <c:chart xmlns:c="http://schemas.openxmlformats.org/drawingml/2006/chart" xmlns:r="http://schemas.openxmlformats.org/officeDocument/2006/relationships" r:id="rId3"/>
          </a:graphicData>
        </a:graphic>
      </p:graphicFrame>
      <p:grpSp>
        <p:nvGrpSpPr>
          <p:cNvPr id="10" name="Grupa 9"/>
          <p:cNvGrpSpPr/>
          <p:nvPr/>
        </p:nvGrpSpPr>
        <p:grpSpPr>
          <a:xfrm>
            <a:off x="457200" y="4080237"/>
            <a:ext cx="8229600" cy="773152"/>
            <a:chOff x="457200" y="3961507"/>
            <a:chExt cx="8229600" cy="773152"/>
          </a:xfrm>
        </p:grpSpPr>
        <p:sp>
          <p:nvSpPr>
            <p:cNvPr id="7" name="Shape 4"/>
            <p:cNvSpPr/>
            <p:nvPr/>
          </p:nvSpPr>
          <p:spPr>
            <a:xfrm>
              <a:off x="457200" y="3961507"/>
              <a:ext cx="8229600" cy="773152"/>
            </a:xfrm>
            <a:prstGeom prst="roundRect">
              <a:avLst>
                <a:gd name="adj" fmla="val 4444"/>
              </a:avLst>
            </a:prstGeom>
            <a:solidFill>
              <a:srgbClr val="EDF1F7"/>
            </a:solidFill>
            <a:ln w="12700">
              <a:solidFill>
                <a:srgbClr val="E1E4EA"/>
              </a:solidFill>
              <a:prstDash val="solid"/>
            </a:ln>
          </p:spPr>
        </p:sp>
        <p:sp>
          <p:nvSpPr>
            <p:cNvPr id="8" name="Text 5"/>
            <p:cNvSpPr/>
            <p:nvPr/>
          </p:nvSpPr>
          <p:spPr>
            <a:xfrm>
              <a:off x="512956" y="4044176"/>
              <a:ext cx="7990964" cy="600164"/>
            </a:xfrm>
            <a:prstGeom prst="rect">
              <a:avLst/>
            </a:prstGeom>
            <a:noFill/>
            <a:ln/>
          </p:spPr>
          <p:txBody>
            <a:bodyPr wrap="square" lIns="0" tIns="0" rIns="0" bIns="0" rtlCol="0" anchor="t">
              <a:spAutoFit/>
            </a:bodyPr>
            <a:lstStyle/>
            <a:p>
              <a:pPr marL="0" indent="0">
                <a:buNone/>
              </a:pPr>
              <a:r>
                <a:rPr lang="en-US" sz="1300" b="1" dirty="0">
                  <a:solidFill>
                    <a:srgbClr val="16243F"/>
                  </a:solidFill>
                  <a:latin typeface="Calibri" pitchFamily="34" charset="0"/>
                  <a:ea typeface="Calibri" pitchFamily="34" charset="-122"/>
                  <a:cs typeface="Calibri" pitchFamily="34" charset="-120"/>
                </a:rPr>
                <a:t>Procedury debiasingowe</a:t>
              </a:r>
              <a:r>
                <a:rPr lang="en-US" sz="1300" dirty="0">
                  <a:solidFill>
                    <a:srgbClr val="16243F"/>
                  </a:solidFill>
                  <a:latin typeface="Calibri" pitchFamily="34" charset="0"/>
                  <a:ea typeface="Calibri" pitchFamily="34" charset="-122"/>
                  <a:cs typeface="Calibri" pitchFamily="34" charset="-120"/>
                </a:rPr>
                <a:t>: częstości bazowe → klasa odniesienia → częstości naturalne → drzewa zdarzeń → ryzyko vs niejednoznaczność → korelacja ≠ predykcja ≠ przyczynowość → prognozy rejestrowane z wyprzedzeniem → kalibracja → agregacja niezależnych ocen → symulacje Monte Carlo → analiza wrażliwości → hipotezy alternatywne.</a:t>
              </a:r>
              <a:endParaRPr lang="en-US" sz="1300" dirty="0"/>
            </a:p>
          </p:txBody>
        </p:sp>
      </p:grpSp>
      <p:sp>
        <p:nvSpPr>
          <p:cNvPr id="9" name="Text 6"/>
          <p:cNvSpPr/>
          <p:nvPr/>
        </p:nvSpPr>
        <p:spPr>
          <a:xfrm>
            <a:off x="6675120" y="4919472"/>
            <a:ext cx="2011680" cy="182880"/>
          </a:xfrm>
          <a:prstGeom prst="rect">
            <a:avLst/>
          </a:prstGeom>
          <a:noFill/>
          <a:ln/>
        </p:spPr>
        <p:txBody>
          <a:bodyPr wrap="square" lIns="0" tIns="0" rIns="0" bIns="0" rtlCol="0" anchor="ctr"/>
          <a:lstStyle/>
          <a:p>
            <a:pPr marL="0" indent="0" algn="r">
              <a:buNone/>
            </a:pPr>
            <a:r>
              <a:rPr lang="en-US" sz="800" dirty="0">
                <a:solidFill>
                  <a:srgbClr val="5B6472"/>
                </a:solidFill>
                <a:latin typeface="Calibri" pitchFamily="34" charset="0"/>
                <a:ea typeface="Calibri" pitchFamily="34" charset="-122"/>
                <a:cs typeface="Calibri" pitchFamily="34" charset="-120"/>
              </a:rPr>
              <a:t>40/40   ·   Podsumowanie</a:t>
            </a:r>
            <a:endParaRPr lang="en-US" sz="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9720</Words>
  <Application>Microsoft Office PowerPoint</Application>
  <PresentationFormat>Pokaz na ekranie (16:9)</PresentationFormat>
  <Paragraphs>748</Paragraphs>
  <Slides>39</Slides>
  <Notes>39</Notes>
  <HiddenSlides>0</HiddenSlides>
  <MMClips>0</MMClips>
  <ScaleCrop>false</ScaleCrop>
  <HeadingPairs>
    <vt:vector size="6" baseType="variant">
      <vt:variant>
        <vt:lpstr>Używane czcionki</vt:lpstr>
      </vt:variant>
      <vt:variant>
        <vt:i4>6</vt:i4>
      </vt:variant>
      <vt:variant>
        <vt:lpstr>Motyw</vt:lpstr>
      </vt:variant>
      <vt:variant>
        <vt:i4>1</vt:i4>
      </vt:variant>
      <vt:variant>
        <vt:lpstr>Tytuły slajdów</vt:lpstr>
      </vt:variant>
      <vt:variant>
        <vt:i4>39</vt:i4>
      </vt:variant>
    </vt:vector>
  </HeadingPairs>
  <TitlesOfParts>
    <vt:vector size="46" baseType="lpstr">
      <vt:lpstr>Arial</vt:lpstr>
      <vt:lpstr>Bell MT</vt:lpstr>
      <vt:lpstr>Calibri</vt:lpstr>
      <vt:lpstr>Calibri Light</vt:lpstr>
      <vt:lpstr>Cambria</vt:lpstr>
      <vt:lpstr>Cambria Math</vt:lpstr>
      <vt:lpstr>Office Theme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Intuicja przeciwko prawdopodobieństwu</dc:title>
  <dc:subject>PptxGenJS Presentation</dc:subject>
  <dc:creator>dr inż. Mateusz Pomianek</dc:creator>
  <cp:lastModifiedBy>Mateusz Pomianek</cp:lastModifiedBy>
  <cp:revision>406</cp:revision>
  <dcterms:created xsi:type="dcterms:W3CDTF">2026-07-04T09:51:43Z</dcterms:created>
  <dcterms:modified xsi:type="dcterms:W3CDTF">2026-07-04T13:40:51Z</dcterms:modified>
</cp:coreProperties>
</file>